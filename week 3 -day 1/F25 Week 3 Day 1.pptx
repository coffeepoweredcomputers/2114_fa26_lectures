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Rokkitt"/>
      <p:regular r:id="rId24"/>
      <p:bold r:id="rId25"/>
      <p:italic r:id="rId26"/>
      <p:boldItalic r:id="rId27"/>
    </p:embeddedFont>
    <p:embeddedFont>
      <p:font typeface="PT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  <p:guide pos="7392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kkit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kkitt-italic.fntdata"/><Relationship Id="rId25" Type="http://schemas.openxmlformats.org/officeDocument/2006/relationships/font" Target="fonts/Rokkitt-bold.fntdata"/><Relationship Id="rId28" Type="http://schemas.openxmlformats.org/officeDocument/2006/relationships/font" Target="fonts/PTSans-regular.fntdata"/><Relationship Id="rId27" Type="http://schemas.openxmlformats.org/officeDocument/2006/relationships/font" Target="fonts/Rokkit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T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-boldItalic.fntdata"/><Relationship Id="rId30" Type="http://schemas.openxmlformats.org/officeDocument/2006/relationships/font" Target="fonts/PT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fd5257db6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2fd5257db6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2fd5257db6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bf1b20d1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7bf1b20d1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7bf1b20d1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won’t use multiple packages in this class.</a:t>
            </a:r>
            <a:endParaRPr/>
          </a:p>
        </p:txBody>
      </p:sp>
      <p:sp>
        <p:nvSpPr>
          <p:cNvPr id="184" name="Google Shape;1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Contact us if you cannot submit to Web-CAT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b8ceb908e_0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fb8ceb908e_0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 needed based on week 2</a:t>
            </a:r>
            <a:endParaRPr/>
          </a:p>
        </p:txBody>
      </p:sp>
      <p:sp>
        <p:nvSpPr>
          <p:cNvPr id="201" name="Google Shape;201;g2fb8ceb908e_0_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fb8ceb908e_0_0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2fb8ceb90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09" name="Google Shape;209;g2fb8ceb908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b8ceb908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15" name="Google Shape;215;g2fb8ceb908e_0_6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Go around the class and discuss Q5, Q6, Q7, Q8, Q9</a:t>
            </a:r>
            <a:endParaRPr/>
          </a:p>
        </p:txBody>
      </p:sp>
      <p:sp>
        <p:nvSpPr>
          <p:cNvPr id="223" name="Google Shape;2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b8ceb908e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2fb8ceb908e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2fb8ceb908e_0_1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b8ceb908e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2fb8ceb908e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2fb8ceb908e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8ce5577b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8ce5577b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48ce5577b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f025a34c5e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2f025a34c5e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Let them work on questions. Go around the lab.</a:t>
            </a:r>
            <a:endParaRPr/>
          </a:p>
        </p:txBody>
      </p:sp>
      <p:sp>
        <p:nvSpPr>
          <p:cNvPr id="253" name="Google Shape;253;g2f025a34c5e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f025a34c5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2f025a34c5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Move to Codeworkout to explain the problem and comeback to discuss solution</a:t>
            </a:r>
            <a:endParaRPr/>
          </a:p>
        </p:txBody>
      </p:sp>
      <p:sp>
        <p:nvSpPr>
          <p:cNvPr id="260" name="Google Shape;260;g2f025a34c5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f025a34c5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2f025a34c5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Solution: </a:t>
            </a:r>
            <a:r>
              <a:rPr b="1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if (numberOfEntries == contents.length) { </a:t>
            </a:r>
            <a:r>
              <a:rPr b="1" i="1" lang="en-US" sz="18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//Size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                   return false;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               }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/>
          </a:p>
        </p:txBody>
      </p:sp>
      <p:sp>
        <p:nvSpPr>
          <p:cNvPr id="268" name="Google Shape;268;g2f025a34c5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f025a34c5e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2f025a34c5e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 (int i = 0; i &lt; numberOfEntries; i++) {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                  </a:t>
            </a:r>
            <a:r>
              <a:rPr b="1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if (contents[i].equals(anEntry)) {</a:t>
            </a:r>
            <a:r>
              <a:rPr b="1" i="1" lang="en-US" sz="18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//Content Duplicates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                       return false;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                   }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               }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               contents[numberOfEntries] = anEntry;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               numberOfEntries++;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             </a:t>
            </a:r>
            <a:r>
              <a:rPr b="1" i="1" lang="en-US" sz="180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 return true;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/>
          </a:p>
        </p:txBody>
      </p:sp>
      <p:sp>
        <p:nvSpPr>
          <p:cNvPr id="277" name="Google Shape;277;g2f025a34c5e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Show them code workout questions</a:t>
            </a:r>
            <a:endParaRPr/>
          </a:p>
        </p:txBody>
      </p:sp>
      <p:sp>
        <p:nvSpPr>
          <p:cNvPr id="293" name="Google Shape;2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1528762" y="1473243"/>
            <a:ext cx="9144000" cy="300744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1801368" y="1664208"/>
            <a:ext cx="8586216" cy="2176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venir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2487168" y="4142232"/>
            <a:ext cx="722376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110185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pictures">
  <p:cSld name="Title and Content with picture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5084064" y="1078992"/>
            <a:ext cx="627278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5084064" y="3355848"/>
            <a:ext cx="6272784" cy="2825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41648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>
            <p:ph idx="2" type="pic"/>
          </p:nvPr>
        </p:nvSpPr>
        <p:spPr>
          <a:xfrm>
            <a:off x="457200" y="603504"/>
            <a:ext cx="4050792" cy="55778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2 pictures">
  <p:cSld name="Title and Content with 2 picture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12648" y="1078992"/>
            <a:ext cx="6272784" cy="15361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12648" y="3355848"/>
            <a:ext cx="6272784" cy="2825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5605272" y="6356350"/>
            <a:ext cx="12801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6"/>
          <p:cNvSpPr/>
          <p:nvPr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>
            <p:ph idx="2" type="pic"/>
          </p:nvPr>
        </p:nvSpPr>
        <p:spPr>
          <a:xfrm>
            <a:off x="7680960" y="4352544"/>
            <a:ext cx="4507992" cy="2505456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6"/>
          <p:cNvSpPr/>
          <p:nvPr>
            <p:ph idx="3" type="pic"/>
          </p:nvPr>
        </p:nvSpPr>
        <p:spPr>
          <a:xfrm>
            <a:off x="7680960" y="0"/>
            <a:ext cx="4507992" cy="4123944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6"/>
          <p:cNvSpPr/>
          <p:nvPr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 txBox="1"/>
          <p:nvPr>
            <p:ph type="title"/>
          </p:nvPr>
        </p:nvSpPr>
        <p:spPr>
          <a:xfrm>
            <a:off x="1078992" y="1938528"/>
            <a:ext cx="7013448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8613648" y="1938528"/>
            <a:ext cx="2688336" cy="2990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7"/>
          <p:cNvSpPr/>
          <p:nvPr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venir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9"/>
          <p:cNvSpPr/>
          <p:nvPr>
            <p:ph idx="2" type="pic"/>
          </p:nvPr>
        </p:nvSpPr>
        <p:spPr>
          <a:xfrm>
            <a:off x="5422392" y="2798064"/>
            <a:ext cx="146304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9"/>
          <p:cNvSpPr/>
          <p:nvPr>
            <p:ph idx="3" type="pic"/>
          </p:nvPr>
        </p:nvSpPr>
        <p:spPr>
          <a:xfrm>
            <a:off x="576072" y="2798064"/>
            <a:ext cx="146304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/>
          <p:nvPr>
            <p:ph idx="4" type="pic"/>
          </p:nvPr>
        </p:nvSpPr>
        <p:spPr>
          <a:xfrm>
            <a:off x="7845552" y="2798064"/>
            <a:ext cx="146304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/>
          <p:nvPr>
            <p:ph idx="5" type="pic"/>
          </p:nvPr>
        </p:nvSpPr>
        <p:spPr>
          <a:xfrm>
            <a:off x="2999232" y="2798064"/>
            <a:ext cx="146304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9"/>
          <p:cNvSpPr/>
          <p:nvPr>
            <p:ph idx="6" type="pic"/>
          </p:nvPr>
        </p:nvSpPr>
        <p:spPr>
          <a:xfrm>
            <a:off x="10268712" y="2798064"/>
            <a:ext cx="1463040" cy="1481328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9"/>
          <p:cNvSpPr txBox="1"/>
          <p:nvPr>
            <p:ph idx="1" type="body"/>
          </p:nvPr>
        </p:nvSpPr>
        <p:spPr>
          <a:xfrm>
            <a:off x="5431536" y="4489704"/>
            <a:ext cx="1462088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7" type="body"/>
          </p:nvPr>
        </p:nvSpPr>
        <p:spPr>
          <a:xfrm>
            <a:off x="7845552" y="4489704"/>
            <a:ext cx="1462088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8" type="body"/>
          </p:nvPr>
        </p:nvSpPr>
        <p:spPr>
          <a:xfrm>
            <a:off x="10268712" y="4489704"/>
            <a:ext cx="1462088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9" type="body"/>
          </p:nvPr>
        </p:nvSpPr>
        <p:spPr>
          <a:xfrm>
            <a:off x="594360" y="4489704"/>
            <a:ext cx="1462088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3" type="body"/>
          </p:nvPr>
        </p:nvSpPr>
        <p:spPr>
          <a:xfrm>
            <a:off x="3008376" y="4489704"/>
            <a:ext cx="1462088" cy="64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0"/>
          <p:cNvSpPr txBox="1"/>
          <p:nvPr>
            <p:ph idx="2" type="body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3" type="body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0"/>
          <p:cNvSpPr txBox="1"/>
          <p:nvPr>
            <p:ph idx="4" type="body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0" type="dt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3 column">
  <p:cSld name="Comparison 3 colum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576072" y="2372650"/>
            <a:ext cx="32918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5" name="Google Shape;95;p11"/>
          <p:cNvSpPr txBox="1"/>
          <p:nvPr>
            <p:ph idx="2" type="body"/>
          </p:nvPr>
        </p:nvSpPr>
        <p:spPr>
          <a:xfrm>
            <a:off x="576072" y="3203688"/>
            <a:ext cx="329184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3" type="body"/>
          </p:nvPr>
        </p:nvSpPr>
        <p:spPr>
          <a:xfrm>
            <a:off x="4507992" y="2372650"/>
            <a:ext cx="32918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7" name="Google Shape;97;p11"/>
          <p:cNvSpPr txBox="1"/>
          <p:nvPr>
            <p:ph idx="4" type="body"/>
          </p:nvPr>
        </p:nvSpPr>
        <p:spPr>
          <a:xfrm>
            <a:off x="4507992" y="3203687"/>
            <a:ext cx="329184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idx="5" type="body"/>
          </p:nvPr>
        </p:nvSpPr>
        <p:spPr>
          <a:xfrm>
            <a:off x="8439912" y="2372650"/>
            <a:ext cx="32918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11"/>
          <p:cNvSpPr txBox="1"/>
          <p:nvPr>
            <p:ph idx="6" type="body"/>
          </p:nvPr>
        </p:nvSpPr>
        <p:spPr>
          <a:xfrm>
            <a:off x="8439912" y="3203687"/>
            <a:ext cx="329184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3 pictures">
  <p:cSld name="Title and Content with 3 picture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/>
          <p:nvPr/>
        </p:nvSpPr>
        <p:spPr>
          <a:xfrm>
            <a:off x="409575" y="633619"/>
            <a:ext cx="4927413" cy="54959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 txBox="1"/>
          <p:nvPr>
            <p:ph type="title"/>
          </p:nvPr>
        </p:nvSpPr>
        <p:spPr>
          <a:xfrm>
            <a:off x="841248" y="978408"/>
            <a:ext cx="4059936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>
            <a:off x="841248" y="2359152"/>
            <a:ext cx="405993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/>
          <p:nvPr>
            <p:ph idx="2" type="pic"/>
          </p:nvPr>
        </p:nvSpPr>
        <p:spPr>
          <a:xfrm>
            <a:off x="8961120" y="566928"/>
            <a:ext cx="2871216" cy="2340864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2"/>
          <p:cNvSpPr/>
          <p:nvPr>
            <p:ph idx="3" type="pic"/>
          </p:nvPr>
        </p:nvSpPr>
        <p:spPr>
          <a:xfrm>
            <a:off x="5843016" y="566928"/>
            <a:ext cx="2871216" cy="2340864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2"/>
          <p:cNvSpPr/>
          <p:nvPr>
            <p:ph idx="4" type="pic"/>
          </p:nvPr>
        </p:nvSpPr>
        <p:spPr>
          <a:xfrm>
            <a:off x="5843016" y="3108960"/>
            <a:ext cx="5989320" cy="3054096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idx="10" type="dt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4 pictures">
  <p:cSld name="Title and Content with 4 picture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/>
          <p:nvPr/>
        </p:nvSpPr>
        <p:spPr>
          <a:xfrm>
            <a:off x="7324344" y="630936"/>
            <a:ext cx="4517136" cy="54959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3"/>
          <p:cNvSpPr/>
          <p:nvPr>
            <p:ph idx="2" type="pic"/>
          </p:nvPr>
        </p:nvSpPr>
        <p:spPr>
          <a:xfrm>
            <a:off x="3767328" y="630936"/>
            <a:ext cx="3246120" cy="2688336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3"/>
          <p:cNvSpPr/>
          <p:nvPr>
            <p:ph idx="3" type="pic"/>
          </p:nvPr>
        </p:nvSpPr>
        <p:spPr>
          <a:xfrm>
            <a:off x="411480" y="630936"/>
            <a:ext cx="3246120" cy="2688336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3"/>
          <p:cNvSpPr/>
          <p:nvPr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>
            <p:ph idx="4" type="pic"/>
          </p:nvPr>
        </p:nvSpPr>
        <p:spPr>
          <a:xfrm>
            <a:off x="411480" y="3438144"/>
            <a:ext cx="3246120" cy="2688336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3"/>
          <p:cNvSpPr txBox="1"/>
          <p:nvPr>
            <p:ph idx="10" type="dt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>
            <p:ph idx="5" type="pic"/>
          </p:nvPr>
        </p:nvSpPr>
        <p:spPr>
          <a:xfrm>
            <a:off x="3767328" y="3438144"/>
            <a:ext cx="3246120" cy="2688336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6" type="body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3"/>
          <p:cNvSpPr txBox="1"/>
          <p:nvPr>
            <p:ph idx="7" type="body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3"/>
          <p:cNvSpPr/>
          <p:nvPr>
            <p:ph idx="8" type="pic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13"/>
          <p:cNvSpPr/>
          <p:nvPr>
            <p:ph idx="9" type="pic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13"/>
          <p:cNvSpPr/>
          <p:nvPr>
            <p:ph idx="13" type="pic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venir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5" name="Google Shape;145;p15"/>
          <p:cNvSpPr txBox="1"/>
          <p:nvPr>
            <p:ph idx="2" type="body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6" name="Google Shape;146;p15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venir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6"/>
          <p:cNvSpPr/>
          <p:nvPr>
            <p:ph idx="2" type="pic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5" name="Google Shape;155;p16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0" i="0" sz="4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urses.cs.vt.edu/~cs1114/api/student/TestableRandom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pythontutor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ctrTitle"/>
          </p:nvPr>
        </p:nvSpPr>
        <p:spPr>
          <a:xfrm>
            <a:off x="1801368" y="1664208"/>
            <a:ext cx="8586216" cy="2176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/>
              <a:t>CS 2114 - Data Structures &amp; Software Design</a:t>
            </a:r>
            <a:endParaRPr/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2487168" y="4142232"/>
            <a:ext cx="722376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Week 3 day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CS2114 Office Hours</a:t>
            </a:r>
            <a:endParaRPr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511975" y="1940725"/>
            <a:ext cx="112872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3200"/>
              <a:t>TA office hours are in Torg 1070</a:t>
            </a:r>
            <a:endParaRPr sz="3200"/>
          </a:p>
          <a:p>
            <a:pPr indent="-368300" lvl="1" marL="9144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</a:pPr>
            <a:r>
              <a:rPr lang="en-US" sz="2800"/>
              <a:t>Log in to My Digital Hand, add your name and photo!</a:t>
            </a:r>
            <a:endParaRPr sz="2800"/>
          </a:p>
          <a:p>
            <a:pPr indent="-3429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i="1" lang="en-US" sz="2400"/>
              <a:t>You should have received an email invite</a:t>
            </a:r>
            <a:endParaRPr i="1" sz="2400"/>
          </a:p>
          <a:p>
            <a:pPr indent="-3683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800"/>
              <a:t>Use My Digital Hand to line up once you arrive to Torg</a:t>
            </a:r>
            <a:endParaRPr sz="2800"/>
          </a:p>
          <a:p>
            <a:pPr indent="-3810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i="1" lang="en-US" sz="2400"/>
              <a:t>Describe what you need help with in detail</a:t>
            </a:r>
            <a:endParaRPr i="1" sz="2400"/>
          </a:p>
          <a:p>
            <a:pPr indent="-3683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800"/>
              <a:t>Keep your browser open to MDH and keep your volume on</a:t>
            </a:r>
            <a:endParaRPr sz="2800"/>
          </a:p>
          <a:p>
            <a:pPr indent="-3683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i="1" lang="en-US" sz="2400"/>
              <a:t>Pay attention so that you know when it is your turn!</a:t>
            </a:r>
            <a:endParaRPr i="1" sz="2400"/>
          </a:p>
          <a:p>
            <a:pPr indent="-3683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800"/>
              <a:t>CS2114 TAs should be on the far left of the room when you walk in</a:t>
            </a:r>
            <a:endParaRPr sz="2800"/>
          </a:p>
        </p:txBody>
      </p:sp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Class Business</a:t>
            </a:r>
            <a:endParaRPr/>
          </a:p>
        </p:txBody>
      </p:sp>
      <p:sp>
        <p:nvSpPr>
          <p:cNvPr id="179" name="Google Shape;179;p19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90725" y="2321175"/>
            <a:ext cx="112179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44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Canvas Calendar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Week 3 Schedule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 03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due this week.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 on </a:t>
            </a: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1</a:t>
            </a:r>
            <a:endParaRPr b="1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</a:rPr>
              <a:t>Peer+ credit for week 2 should be visible in canvas</a:t>
            </a:r>
            <a:endParaRPr sz="2600">
              <a:solidFill>
                <a:schemeClr val="dk1"/>
              </a:solidFill>
            </a:endParaRPr>
          </a:p>
          <a:p>
            <a:pPr indent="-4572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Optional MC questions </a:t>
            </a:r>
            <a:r>
              <a:rPr lang="en-US" sz="2600">
                <a:solidFill>
                  <a:schemeClr val="dk1"/>
                </a:solidFill>
              </a:rPr>
              <a:t>most weeks in Modules for extra practice/test prep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87" name="Google Shape;187;p20"/>
          <p:cNvSpPr txBox="1"/>
          <p:nvPr>
            <p:ph idx="4294967295" type="title"/>
          </p:nvPr>
        </p:nvSpPr>
        <p:spPr>
          <a:xfrm>
            <a:off x="0" y="11113"/>
            <a:ext cx="7707313" cy="831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venir"/>
              <a:buNone/>
            </a:pPr>
            <a:r>
              <a:rPr b="1" lang="en-US" sz="4800"/>
              <a:t>Lab 02 - Review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81222" y="1091267"/>
            <a:ext cx="11829555" cy="420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 emp1 = new Employee(param, param,..);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Possible or Not Posible?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PartTimeEmployee pt1 = new Employee(param, param,..); 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Possible or Not Posible?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 emp2 = new PartTimeEmployee(param, param,..); </a:t>
            </a: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Possible or Not Posible?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Also,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packages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folders for grouping similar classes.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 this can be useful for visibility modifiers… public, private, protected(child classes can access), and default is within the same package.</a:t>
            </a:r>
            <a:endParaRPr b="0" i="0" sz="2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95" name="Google Shape;195;p21"/>
          <p:cNvSpPr txBox="1"/>
          <p:nvPr>
            <p:ph idx="4294967295" type="title"/>
          </p:nvPr>
        </p:nvSpPr>
        <p:spPr>
          <a:xfrm>
            <a:off x="0" y="11113"/>
            <a:ext cx="7707313" cy="831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venir"/>
              <a:buNone/>
            </a:pPr>
            <a:r>
              <a:rPr b="1" lang="en-US" sz="4800"/>
              <a:t>Lab 03 - Hints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222745" y="1547622"/>
            <a:ext cx="5326717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1257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ADT vs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36524"/>
            <a:ext cx="5873255" cy="64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Project 1 Guidance</a:t>
            </a:r>
            <a:endParaRPr/>
          </a:p>
        </p:txBody>
      </p:sp>
      <p:sp>
        <p:nvSpPr>
          <p:cNvPr id="204" name="Google Shape;204;p22"/>
          <p:cNvSpPr txBox="1"/>
          <p:nvPr>
            <p:ph idx="1" type="body"/>
          </p:nvPr>
        </p:nvSpPr>
        <p:spPr>
          <a:xfrm>
            <a:off x="1115568" y="2478024"/>
            <a:ext cx="10168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695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Focus on setup of project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95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 u="sng">
                <a:latin typeface="Arial"/>
                <a:ea typeface="Arial"/>
                <a:cs typeface="Arial"/>
                <a:sym typeface="Arial"/>
              </a:rPr>
              <a:t>Finish the Bags content pages before starting project 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95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Go through the example code for window class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95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Demo setup and output as needed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695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Project 1 instructions reference Testable Random documentation: </a:t>
            </a:r>
            <a:r>
              <a:rPr b="1"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https://courses.cs.vt.edu/~cs1114/api/student/TestableRandom.html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1487424" y="548640"/>
            <a:ext cx="135576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Why We Use Peer Instruction</a:t>
            </a:r>
            <a:endParaRPr/>
          </a:p>
        </p:txBody>
      </p: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79499" y="2455299"/>
            <a:ext cx="13557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Research shows better student learning and satisfaction from active learning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Twice the learning gains in Physics 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Half grade improvement in Computer Science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Instructor displays hard multiple-choice question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Students vote individually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Discuss with peers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Students vote individually again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-US"/>
              <a:t>Instructor leads a discussion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Figure out your group of 3-4 students and move around as needed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type="title"/>
          </p:nvPr>
        </p:nvSpPr>
        <p:spPr>
          <a:xfrm>
            <a:off x="711200" y="457200"/>
            <a:ext cx="108711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Tips for a good group discussion</a:t>
            </a:r>
            <a:endParaRPr/>
          </a:p>
        </p:txBody>
      </p:sp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949661" y="1905000"/>
            <a:ext cx="10394400" cy="4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Take turns being the first one to talk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Once you all agree on the answer, </a:t>
            </a:r>
            <a:r>
              <a:rPr lang="en-US">
                <a:solidFill>
                  <a:schemeClr val="accent5"/>
                </a:solidFill>
              </a:rPr>
              <a:t>don’t stop</a:t>
            </a:r>
            <a:r>
              <a:rPr lang="en-US"/>
              <a:t>!</a:t>
            </a:r>
            <a:endParaRPr/>
          </a:p>
          <a:p>
            <a:pPr indent="-31241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Always </a:t>
            </a:r>
            <a:r>
              <a:rPr lang="en-US">
                <a:solidFill>
                  <a:schemeClr val="accent2"/>
                </a:solidFill>
              </a:rPr>
              <a:t>go over each wrong answer </a:t>
            </a:r>
            <a:r>
              <a:rPr lang="en-US"/>
              <a:t>and explain why it is wrong</a:t>
            </a:r>
            <a:endParaRPr/>
          </a:p>
          <a:p>
            <a:pPr indent="-251460" lvl="2" marL="11430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Also interesting and useful to think about why somebody might be tempted to choose it—why was that wrong answer included?</a:t>
            </a:r>
            <a:endParaRPr/>
          </a:p>
          <a:p>
            <a:pPr indent="-31241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Even if your group-mate has said something very clearly and correctly, it’s a good idea to </a:t>
            </a:r>
            <a:r>
              <a:rPr b="1" lang="en-US"/>
              <a:t>repeat it yourself</a:t>
            </a:r>
            <a:endParaRPr/>
          </a:p>
          <a:p>
            <a:pPr indent="-251460" lvl="2" marL="11430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“So, what I think you said was, …”</a:t>
            </a:r>
            <a:endParaRPr/>
          </a:p>
          <a:p>
            <a:pPr indent="-251460" lvl="2" marL="11430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Clr>
                <a:schemeClr val="accent5"/>
              </a:buClr>
              <a:buSzPts val="2400"/>
              <a:buChar char="•"/>
            </a:pPr>
            <a:r>
              <a:rPr b="1" lang="en-US">
                <a:solidFill>
                  <a:schemeClr val="accent5"/>
                </a:solidFill>
              </a:rPr>
              <a:t>Might seem pointless, but your brain will remember better if YOU say it too</a:t>
            </a:r>
            <a:endParaRPr/>
          </a:p>
        </p:txBody>
      </p:sp>
      <p:sp>
        <p:nvSpPr>
          <p:cNvPr id="219" name="Google Shape;219;p24"/>
          <p:cNvSpPr txBox="1"/>
          <p:nvPr>
            <p:ph idx="12" type="sldNum"/>
          </p:nvPr>
        </p:nvSpPr>
        <p:spPr>
          <a:xfrm>
            <a:off x="11387328" y="6356350"/>
            <a:ext cx="365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26" name="Google Shape;226;p25"/>
          <p:cNvSpPr txBox="1"/>
          <p:nvPr>
            <p:ph idx="4294967295" type="title"/>
          </p:nvPr>
        </p:nvSpPr>
        <p:spPr>
          <a:xfrm>
            <a:off x="0" y="1126681"/>
            <a:ext cx="7707313" cy="831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venir"/>
              <a:buNone/>
            </a:pPr>
            <a:r>
              <a:rPr b="1" lang="en-US" sz="4800"/>
              <a:t>Week 3 Day 1 Peer +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038" y="33325"/>
            <a:ext cx="5800725" cy="67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0" name="Google Shape;2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1850" y="143525"/>
            <a:ext cx="4761850" cy="6490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225" y="1799350"/>
            <a:ext cx="4648200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Tutor Demo - Object References</a:t>
            </a:r>
            <a:endParaRPr/>
          </a:p>
        </p:txBody>
      </p:sp>
      <p:sp>
        <p:nvSpPr>
          <p:cNvPr id="248" name="Google Shape;248;p28"/>
          <p:cNvSpPr txBox="1"/>
          <p:nvPr>
            <p:ph idx="1" type="body"/>
          </p:nvPr>
        </p:nvSpPr>
        <p:spPr>
          <a:xfrm>
            <a:off x="1115568" y="2478024"/>
            <a:ext cx="10168200" cy="369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eclipse, can download </a:t>
            </a:r>
            <a:r>
              <a:rPr b="1" lang="en-US"/>
              <a:t>ObjectReferencesDemo (use blue down arrow)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Open </a:t>
            </a:r>
            <a:r>
              <a:rPr b="1" lang="en-US" u="sng">
                <a:solidFill>
                  <a:schemeClr val="hlink"/>
                </a:solidFill>
                <a:hlinkClick r:id="rId3"/>
              </a:rPr>
              <a:t>pythontutor.com</a:t>
            </a:r>
            <a:r>
              <a:rPr b="1" lang="en-US"/>
              <a:t>, choose Java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Paste the Employee class in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Trace code using Next button</a:t>
            </a:r>
            <a:endParaRPr b="1"/>
          </a:p>
        </p:txBody>
      </p:sp>
      <p:sp>
        <p:nvSpPr>
          <p:cNvPr id="249" name="Google Shape;249;p28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29"/>
          <p:cNvSpPr txBox="1"/>
          <p:nvPr>
            <p:ph idx="4294967295" type="title"/>
          </p:nvPr>
        </p:nvSpPr>
        <p:spPr>
          <a:xfrm>
            <a:off x="0" y="1126681"/>
            <a:ext cx="77073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venir"/>
              <a:buNone/>
            </a:pPr>
            <a:r>
              <a:rPr b="1" lang="en-US" sz="4800"/>
              <a:t>CW – Week 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30"/>
          <p:cNvSpPr txBox="1"/>
          <p:nvPr>
            <p:ph idx="4294967295" type="title"/>
          </p:nvPr>
        </p:nvSpPr>
        <p:spPr>
          <a:xfrm>
            <a:off x="0" y="11113"/>
            <a:ext cx="77073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venir"/>
              <a:buNone/>
            </a:pPr>
            <a:r>
              <a:rPr b="1" lang="en-US" sz="4800"/>
              <a:t>Code Workouts – Q1</a:t>
            </a:r>
            <a:endParaRPr/>
          </a:p>
        </p:txBody>
      </p:sp>
      <p:sp>
        <p:nvSpPr>
          <p:cNvPr id="264" name="Google Shape;264;p30"/>
          <p:cNvSpPr txBox="1"/>
          <p:nvPr/>
        </p:nvSpPr>
        <p:spPr>
          <a:xfrm>
            <a:off x="184645" y="1077722"/>
            <a:ext cx="1159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DA2B4"/>
                </a:solidFill>
                <a:latin typeface="Rokkitt"/>
                <a:ea typeface="Rokkitt"/>
                <a:cs typeface="Rokkitt"/>
                <a:sym typeface="Rokkitt"/>
              </a:rPr>
              <a:t>X670: Turn Bag to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31"/>
          <p:cNvSpPr txBox="1"/>
          <p:nvPr>
            <p:ph idx="4294967295" type="title"/>
          </p:nvPr>
        </p:nvSpPr>
        <p:spPr>
          <a:xfrm>
            <a:off x="0" y="11113"/>
            <a:ext cx="77073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venir"/>
              <a:buNone/>
            </a:pPr>
            <a:r>
              <a:rPr b="1" lang="en-US" sz="4800"/>
              <a:t>Code Workouts – Q1</a:t>
            </a:r>
            <a:endParaRPr/>
          </a:p>
        </p:txBody>
      </p:sp>
      <p:sp>
        <p:nvSpPr>
          <p:cNvPr id="272" name="Google Shape;272;p31"/>
          <p:cNvSpPr txBox="1"/>
          <p:nvPr/>
        </p:nvSpPr>
        <p:spPr>
          <a:xfrm>
            <a:off x="197345" y="1027609"/>
            <a:ext cx="11598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33"/>
                </a:solidFill>
                <a:latin typeface="PT Sans"/>
                <a:ea typeface="PT Sans"/>
                <a:cs typeface="PT Sans"/>
                <a:sym typeface="PT Sans"/>
              </a:rPr>
              <a:t>This arrayBag is of a fixed length. It will </a:t>
            </a:r>
            <a:r>
              <a:rPr b="0" i="1" lang="en-US" sz="2800" u="none" cap="none" strike="noStrike">
                <a:solidFill>
                  <a:srgbClr val="333333"/>
                </a:solidFill>
                <a:latin typeface="PT Sans"/>
                <a:ea typeface="PT Sans"/>
                <a:cs typeface="PT Sans"/>
                <a:sym typeface="PT Sans"/>
              </a:rPr>
              <a:t>not</a:t>
            </a:r>
            <a:r>
              <a:rPr b="0" i="0" lang="en-US" sz="2800" u="none" cap="none" strike="noStrike">
                <a:solidFill>
                  <a:srgbClr val="333333"/>
                </a:solidFill>
                <a:latin typeface="PT Sans"/>
                <a:ea typeface="PT Sans"/>
                <a:cs typeface="PT Sans"/>
                <a:sym typeface="PT Sans"/>
              </a:rPr>
              <a:t> have the expandCapacity method available. Once the bag is full, nothing else can be added.  </a:t>
            </a:r>
            <a:r>
              <a:rPr b="1" i="0" lang="en-US" sz="2800" u="sng" cap="none" strike="noStrike">
                <a:solidFill>
                  <a:srgbClr val="FF0000"/>
                </a:solidFill>
                <a:latin typeface="PT Sans"/>
                <a:ea typeface="PT Sans"/>
                <a:cs typeface="PT Sans"/>
                <a:sym typeface="PT Sans"/>
              </a:rPr>
              <a:t>//SIZE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333333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3195827" y="3984367"/>
            <a:ext cx="4285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How to implement it?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HINT: Which method can help?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32"/>
          <p:cNvSpPr txBox="1"/>
          <p:nvPr>
            <p:ph idx="4294967295" type="title"/>
          </p:nvPr>
        </p:nvSpPr>
        <p:spPr>
          <a:xfrm>
            <a:off x="0" y="11113"/>
            <a:ext cx="77073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venir"/>
              <a:buNone/>
            </a:pPr>
            <a:r>
              <a:rPr b="1" lang="en-US" sz="4800"/>
              <a:t>Code Workouts – Q1</a:t>
            </a:r>
            <a:endParaRPr/>
          </a:p>
        </p:txBody>
      </p:sp>
      <p:sp>
        <p:nvSpPr>
          <p:cNvPr id="281" name="Google Shape;281;p32"/>
          <p:cNvSpPr txBox="1"/>
          <p:nvPr/>
        </p:nvSpPr>
        <p:spPr>
          <a:xfrm>
            <a:off x="197345" y="1027609"/>
            <a:ext cx="115983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33"/>
                </a:solidFill>
                <a:latin typeface="PT Sans"/>
                <a:ea typeface="PT Sans"/>
                <a:cs typeface="PT Sans"/>
                <a:sym typeface="PT Sans"/>
              </a:rPr>
              <a:t>When invoked the method takes the T parameter anEntry and determines if anEntry already exists in the bag.  </a:t>
            </a:r>
            <a:r>
              <a:rPr b="1" i="0" lang="en-US" sz="2800" u="sng" cap="none" strike="noStrike">
                <a:solidFill>
                  <a:srgbClr val="FF0000"/>
                </a:solidFill>
                <a:latin typeface="PT Sans"/>
                <a:ea typeface="PT Sans"/>
                <a:cs typeface="PT Sans"/>
                <a:sym typeface="PT Sans"/>
              </a:rPr>
              <a:t>// CHECK DUPLICATES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33333"/>
                </a:solidFill>
                <a:latin typeface="PT Sans"/>
                <a:ea typeface="PT Sans"/>
                <a:cs typeface="PT Sans"/>
                <a:sym typeface="PT Sans"/>
              </a:rPr>
              <a:t> If the bag does not already contain anEntry then the method attempts to add it to the bag, and return true.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33333"/>
                </a:solidFill>
                <a:latin typeface="PT Sans"/>
                <a:ea typeface="PT Sans"/>
                <a:cs typeface="PT Sans"/>
                <a:sym typeface="PT Sans"/>
              </a:rPr>
              <a:t> If the bag already contained anEntry the method </a:t>
            </a:r>
            <a:r>
              <a:rPr b="0" i="1" lang="en-US" sz="2800" u="none" cap="none" strike="noStrike">
                <a:solidFill>
                  <a:srgbClr val="333333"/>
                </a:solidFill>
                <a:latin typeface="PT Sans"/>
                <a:ea typeface="PT Sans"/>
                <a:cs typeface="PT Sans"/>
                <a:sym typeface="PT Sans"/>
              </a:rPr>
              <a:t>does not</a:t>
            </a:r>
            <a:r>
              <a:rPr b="0" i="0" lang="en-US" sz="2800" u="none" cap="none" strike="noStrike">
                <a:solidFill>
                  <a:srgbClr val="333333"/>
                </a:solidFill>
                <a:latin typeface="PT Sans"/>
                <a:ea typeface="PT Sans"/>
                <a:cs typeface="PT Sans"/>
                <a:sym typeface="PT Sans"/>
              </a:rPr>
              <a:t> attempt to add anEntry and returns false.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333333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33333"/>
                </a:solidFill>
                <a:latin typeface="PT Sans"/>
                <a:ea typeface="PT Sans"/>
                <a:cs typeface="PT Sans"/>
                <a:sym typeface="PT Sans"/>
              </a:rPr>
              <a:t> Remember to review the Bags module, specifically the add() method implementation for Bags as it will be helpful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88" name="Google Shape;288;p33"/>
          <p:cNvSpPr txBox="1"/>
          <p:nvPr>
            <p:ph idx="4294967295" type="title"/>
          </p:nvPr>
        </p:nvSpPr>
        <p:spPr>
          <a:xfrm>
            <a:off x="0" y="11113"/>
            <a:ext cx="8202613" cy="831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venir"/>
              <a:buNone/>
            </a:pPr>
            <a:r>
              <a:rPr b="1" lang="en-US" sz="4800"/>
              <a:t>Next Class</a:t>
            </a:r>
            <a:endParaRPr/>
          </a:p>
        </p:txBody>
      </p:sp>
      <p:sp>
        <p:nvSpPr>
          <p:cNvPr id="289" name="Google Shape;289;p33"/>
          <p:cNvSpPr txBox="1"/>
          <p:nvPr/>
        </p:nvSpPr>
        <p:spPr>
          <a:xfrm>
            <a:off x="190294" y="1189607"/>
            <a:ext cx="118113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576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 03 is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due this week. - Please submit Lab 3 to webCAT using Eclipse and if facing any issues   contact any TA.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Post Lab 03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also due this week.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76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doing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1.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76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Labs are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Mandatory.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76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use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piazza heavily.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You can </a:t>
            </a:r>
            <a:r>
              <a:rPr lang="en-US" sz="2000"/>
              <a:t>filter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select for Instructor posts so you don’t miss any announcements.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4"/>
          <p:cNvSpPr/>
          <p:nvPr/>
        </p:nvSpPr>
        <p:spPr>
          <a:xfrm flipH="1" rot="10800000">
            <a:off x="578652" y="4501201"/>
            <a:ext cx="11034696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8" name="Google Shape;298;p34"/>
          <p:cNvSpPr txBox="1"/>
          <p:nvPr>
            <p:ph type="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venir"/>
              <a:buNone/>
            </a:pPr>
            <a:r>
              <a:rPr b="1" lang="en-US" sz="4800"/>
              <a:t>Thanks</a:t>
            </a:r>
            <a:endParaRPr/>
          </a:p>
        </p:txBody>
      </p:sp>
      <p:sp>
        <p:nvSpPr>
          <p:cNvPr id="299" name="Google Shape;299;p34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4"/>
          <p:cNvSpPr/>
          <p:nvPr/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miling Face with No Fill" id="301" name="Google Shape;3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0099" y="625683"/>
            <a:ext cx="5455380" cy="545538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4"/>
          <p:cNvSpPr txBox="1"/>
          <p:nvPr>
            <p:ph idx="12" type="sldNum"/>
          </p:nvPr>
        </p:nvSpPr>
        <p:spPr>
          <a:xfrm>
            <a:off x="9926319" y="6356350"/>
            <a:ext cx="17876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929292"/>
                </a:solidFill>
              </a:rPr>
              <a:t>‹#›</a:t>
            </a:fld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