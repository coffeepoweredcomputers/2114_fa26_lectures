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assessment touches both columns — the emphasis in the open-ended projects is on the design-oriented skills; homework, exams, and peer instruction lean on the engineering side.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assessment touches both columns — the emphasis in the open-ended projects is on the design-oriented skills; homework, exams, and peer instruction lean on the engineering side.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assessment touches both columns — the emphasis in the open-ended projects is on the design-oriented skills; homework, exams, and peer instruction lean on the engineering side.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 about this: neither piece is a polished, road-tested system. Say plainly that we expect to change things mid-semester, and that we’d rather hear it early than at the 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 about this: neither piece is a polished, road-tested system. Say plainly that we expect to change things mid-semester, and that we’d rather hear it early than at the end.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 about this: neither piece is a polished, road-tested system. Say plainly that we expect to change things mid-semester, and that we’d rather hear it early than at the end.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 about this: neither piece is a polished, road-tested system. Say plainly that we expect to change things mid-semester, and that we’d rather hear it early than at the end.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strands, one purpose. Name the TA research explicitly — students rarely hear that the staff are being supported too. Promise to share what we find; that promise is the reason the room should care.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strands, one purpose. Name the TA research explicitly — students rarely hear that the staff are being supported too. Promise to share what we find; that promise is the reason the room should care.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strands, one purpose. Name the TA research explicitly — students rarely hear that the staff are being supported too. Promise to share what we find; that promise is the reason the room should care.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strands, one purpose. Name the TA research explicitly — students rarely hear that the staff are being supported too. Promise to share what we find; that promise is the reason the room should care.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Let the question sit before the semester map answers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the version numbers in Challenge Exercise 01 before class and say them out loud here — matching them keeps a student's build identical to the graders'. The JDK also carries the debugger and javadoc, worth mentioning off-slide. The legacy deck pinned Eclipse 2023-09, JDK 17 and compiler compliance at 11 or below, but those were Web-CAT constraints — re-verify against the current PrairieLearn and GitHub toolchain. The "3 Billion Devices" line is Oracle's actual installer copy — the laugh is that it never changed; the teaching point is that all three billion run the same .class file.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the version numbers in Challenge Exercise 01 before class and say them out loud here — matching them keeps a student's build identical to the graders'. The JDK also carries the debugger and javadoc, worth mentioning off-slide. The legacy deck pinned Eclipse 2023-09, JDK 17 and compiler compliance at 11 or below, but those were Web-CAT constraints — re-verify against the current PrairieLearn and GitHub toolchain. The "3 Billion Devices" line is Oracle's actual installer copy — the laugh is that it never changed; the teaching point is that all three billion run the same .class file.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the version numbers in Challenge Exercise 01 before class and say them out loud here — matching them keeps a student's build identical to the graders'. The JDK also carries the debugger and javadoc, worth mentioning off-slide. The legacy deck pinned Eclipse 2023-09, JDK 17 and compiler compliance at 11 or below, but those were Web-CAT constraints — re-verify against the current PrairieLearn and GitHub toolchain. The "3 Billion Devices" line is Oracle's actual installer copy — the laugh is that it never changed; the teaching point is that all three billion run the same .class file.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the version numbers in Challenge Exercise 01 before class and say them out loud here — matching them keeps a student's build identical to the graders'. The JDK also carries the debugger and javadoc, worth mentioning off-slide. The legacy deck pinned Eclipse 2023-09, JDK 17 and compiler compliance at 11 or below, but those were Web-CAT constraints — re-verify against the current PrairieLearn and GitHub toolchain. The "3 Billion Devices" line is Oracle's actual installer copy — the laugh is that it never changed; the teaching point is that all three billion run the same .class file.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the version numbers in Challenge Exercise 01 before class and say them out loud here — matching them keeps a student's build identical to the graders'. The JDK also carries the debugger and javadoc, worth mentioning off-slide. The legacy deck pinned Eclipse 2023-09, JDK 17 and compiler compliance at 11 or below, but those were Web-CAT constraints — re-verify against the current PrairieLearn and GitHub toolchain. The "3 Billion Devices" line is Oracle's actual installer copy — the laugh is that it never changed; the teaching point is that all three billion run the same .class file.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the version numbers in Challenge Exercise 01 before class and say them out loud here — matching them keeps a student's build identical to the graders'. The JDK also carries the debugger and javadoc, worth mentioning off-slide. The legacy deck pinned Eclipse 2023-09, JDK 17 and compiler compliance at 11 or below, but those were Web-CAT constraints — re-verify against the current PrairieLearn and GitHub toolchain. The "3 Billion Devices" line is Oracle's actual installer copy — the laugh is that it never changed; the teaching point is that all three billion run the same .class file.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the version numbers in Challenge Exercise 01 before class and say them out loud here — matching them keeps a student's build identical to the graders'. The JDK also carries the debugger and javadoc, worth mentioning off-slide. The legacy deck pinned Eclipse 2023-09, JDK 17 and compiler compliance at 11 or below, but those were Web-CAT constraints — re-verify against the current PrairieLearn and GitHub toolchain. The "3 Billion Devices" line is Oracle's actual installer copy — the laugh is that it never changed; the teaching point is that all three billion run the same .class file.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the version numbers in Challenge Exercise 01 before class and say them out loud here — matching them keeps a student's build identical to the graders'. The JDK also carries the debugger and javadoc, worth mentioning off-slide. The legacy deck pinned Eclipse 2023-09, JDK 17 and compiler compliance at 11 or below, but those were Web-CAT constraints — re-verify against the current PrairieLearn and GitHub toolchain. The "3 Billion Devices" line is Oracle's actual installer copy — the laugh is that it never changed; the teaching point is that all three billion run the same .class file.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the version numbers in Challenge Exercise 01 before class and say them out loud here — matching them keeps a student's build identical to the graders'. The JDK also carries the debugger and javadoc, worth mentioning off-slide. The legacy deck pinned Eclipse 2023-09, JDK 17 and compiler compliance at 11 or below, but those were Web-CAT constraints — re-verify against the current PrairieLearn and GitHub toolchain. The "3 Billion Devices" line is Oracle's actual installer copy — the laugh is that it never changed; the teaching point is that all three billion run the same .class file.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the version numbers in Challenge Exercise 01 before class and say them out loud here — matching them keeps a student's build identical to the graders'. The JDK also carries the debugger and javadoc, worth mentioning off-slide. The legacy deck pinned Eclipse 2023-09, JDK 17 and compiler compliance at 11 or below, but those were Web-CAT constraints — re-verify against the current PrairieLearn and GitHub toolchain. The "3 Billion Devices" line is Oracle's actual installer copy — the laugh is that it never changed; the teaching point is that all three billion run the same .class file.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slide 4 back up, exactly as it ended. Then: one more thing. Ethics joins the lineup the same way design and decomposition did — it's a skill of the discipline, not a bolt-on unit. This is the door into the next few slides.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slide 4 back up, exactly as it ended. Then: one more thing. Ethics joins the lineup the same way design and decomposition did — it's a skill of the discipline, not a bolt-on unit. This is the door into the next few slides.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first line flatly and then stop talking for a beat. Don’t hedge it and don’t immediately rescue it — the discomfort is the content. The honest position isn’t “it’s fine,” it’s “it isn’t fine, we’re using it anyway, and that obliges us to think.”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first line flatly and then stop talking for a beat. Don’t hedge it and don’t immediately rescue it — the discomfort is the content. The honest position isn’t “it’s fine,” it’s “it isn’t fine, we’re using it anyway, and that obliges us to think.”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first line flatly and then stop talking for a beat. Don’t hedge it and don’t immediately rescue it — the discomfort is the content. The honest position isn’t “it’s fine,” it’s “it isn’t fine, we’re using it anyway, and that obliges us to think.”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for the next stretch, put up right after “so what do we do with that?” — three things to plant, then the rest of the deck waters each one. Name them plainly, one step at a time, and don’t argue for any of them here; each has its own slides. Then leave all three up for a beat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for the next stretch, put up right after “so what do we do with that?” — three things to plant, then the rest of the deck waters each one. Name them plainly, one step at a time, and don’t argue for any of them here; each has its own slides. Then leave all three up for a beat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for the next stretch, put up right after “so what do we do with that?” — three things to plant, then the rest of the deck waters each one. Name them plainly, one step at a time, and don’t argue for any of them here; each has its own slides. Then leave all three up for a beat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for the next stretch, put up right after “so what do we do with that?” — three things to plant, then the rest of the deck waters each one. Name them plainly, one step at a time, and don’t argue for any of them here; each has its own slides. Then leave all three up for a beat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veil and actually ask the question — doctors are the profession everyone grants is virtuous, so what is there even to say? Then advance: the veil lifts and this is what got said. The whole point of her line is that it does not conclude “so quit.” It concludes “so you owe something.” Let the gloss land, then advance — the next slide turns the same sentence on you.</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veil and actually ask the question — doctors are the profession everyone grants is virtuous, so what is there even to say? Then advance: the veil lifts and this is what got said. The whole point of her line is that it does not conclude “so quit.” It concludes “so you owe something.” Let the gloss land, then advance — the next slide turns the same sentence on you.</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veil and actually ask the question — doctors are the profession everyone grants is virtuous, so what is there even to say? Then advance: the veil lifts and this is what got said. The whole point of her line is that it does not conclude “so quit.” It concludes “so you owe something.” Let the gloss land, then advance — the next slide turns the same sentence on you.</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sentence is on screen from the start — say your own version in your own voice and point out that the only thing that changed is the profession. Let it sit; naming your own position is what earns the right to ask them about theirs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before revealing the cards — they will get most of these. The answer isn’t abstinence; nobody here is quitting software. The answer is that you now know the bill exists and roughly who it lands 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before revealing the cards — they will get most of these. The answer isn’t abstinence; nobody here is quitting software. The answer is that you now know the bill exists and roughly who it lands 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before revealing the cards — they will get most of these. The answer isn’t abstinence; nobody here is quitting software. The answer is that you now know the bill exists and roughly who it lands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before revealing the cards — they will get most of these. The answer isn’t abstinence; nobody here is quitting software. The answer is that you now know the bill exists and roughly who it lands 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on step 0 and actually ask the room — most will not place the face, a few will. Give them the Saturn V first; that is the version of him NASA put on television. Then the V-2: fired at London and Antwerp, and say plainly that the labour was slave labour — more people died building it than were killed by it. The Lehrer line is satire, not a quotation from von Braun, so say so. Then stop and let the last question sit; do not answer it. — Image credits (all public domain, no attribution required): portrait, NASA / MSFC, Fred Deaton, May 1964. Saturn V, NASA / KSC, Apollo 11 launch, 16 July 1969. V-2, UK Crown Copyright expired, Operation Backfire, Cuxhaven, October 1945.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on step 0 and actually ask the room — most will not place the face, a few will. Give them the Saturn V first; that is the version of him NASA put on television. Then the V-2: fired at London and Antwerp, and say plainly that the labour was slave labour — more people died building it than were killed by it. The Lehrer line is satire, not a quotation from von Braun, so say so. Then stop and let the last question sit; do not answer it. — Image credits (all public domain, no attribution required): portrait, NASA / MSFC, Fred Deaton, May 1964. Saturn V, NASA / KSC, Apollo 11 launch, 16 July 1969. V-2, UK Crown Copyright expired, Operation Backfire, Cuxhaven, October 1945.</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on step 0 and actually ask the room — most will not place the face, a few will. Give them the Saturn V first; that is the version of him NASA put on television. Then the V-2: fired at London and Antwerp, and say plainly that the labour was slave labour — more people died building it than were killed by it. The Lehrer line is satire, not a quotation from von Braun, so say so. Then stop and let the last question sit; do not answer it. — Image credits (all public domain, no attribution required): portrait, NASA / MSFC, Fred Deaton, May 1964. Saturn V, NASA / KSC, Apollo 11 launch, 16 July 1969. V-2, UK Crown Copyright expired, Operation Backfire, Cuxhaven, October 1945.</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on step 0 and actually ask the room — most will not place the face, a few will. Give them the Saturn V first; that is the version of him NASA put on television. Then the V-2: fired at London and Antwerp, and say plainly that the labour was slave labour — more people died building it than were killed by it. The Lehrer line is satire, not a quotation from von Braun, so say so. Then stop and let the last question sit; do not answer it. — Image credits (all public domain, no attribution required): portrait, NASA / MSFC, Fred Deaton, May 1964. Saturn V, NASA / KSC, Apollo 11 launch, 16 July 1969. V-2, UK Crown Copyright expired, Operation Backfire, Cuxhaven, October 1945.</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motto out loud with the weight on “and” — the speed and the breakage were always sold as a package, not a trade-off anyone agreed to. Then take it apart slowly; leave a beat between each question. The last one is the whole slide: “things” is a euphemism, and it is doing a lot of work. Connect it straight back to von Braun — same dodge, better branding.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motto out loud with the weight on “and” — the speed and the breakage were always sold as a package, not a trade-off anyone agreed to. Then take it apart slowly; leave a beat between each question. The last one is the whole slide: “things” is a euphemism, and it is doing a lot of work. Connect it straight back to von Braun — same dodge, better branding.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motto out loud with the weight on “and” — the speed and the breakage were always sold as a package, not a trade-off anyone agreed to. Then take it apart slowly; leave a beat between each question. The last one is the whole slide: “things” is a euphemism, and it is doing a lot of work. Connect it straight back to von Braun — same dodge, better branding.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responsibility is boxes piled into your wheelbarrow — each one limits how freely you can roam. Everyone in this room has a different load already: a visa, student loan debt, family responsibilities. But everyone here is young, and whatever agency you have, it is likely the most you will ever have in your life. The career decisions you make now are the most impactful you will ever make. Step through boxes 1–5 (the bar drains with each), land the takeaway on step 6, then hit step 7 — the beard goes gray — and let it sit: this is a whole career going by with the barrow still in hand.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responsibility is boxes piled into your wheelbarrow — each one limits how freely you can roam. Everyone in this room has a different load already: a visa, student loan debt, family responsibilities. But everyone here is young, and whatever agency you have, it is likely the most you will ever have in your life. The career decisions you make now are the most impactful you will ever make. Step through boxes 1–5 (the bar drains with each), land the takeaway on step 6, then hit step 7 — the beard goes gray — and let it sit: this is a whole career going by with the barrow still in hand.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responsibility is boxes piled into your wheelbarrow — each one limits how freely you can roam. Everyone in this room has a different load already: a visa, student loan debt, family responsibilities. But everyone here is young, and whatever agency you have, it is likely the most you will ever have in your life. The career decisions you make now are the most impactful you will ever make. Step through boxes 1–5 (the bar drains with each), land the takeaway on step 6, then hit step 7 — the beard goes gray — and let it sit: this is a whole career going by with the barrow still in hand.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responsibility is boxes piled into your wheelbarrow — each one limits how freely you can roam. Everyone in this room has a different load already: a visa, student loan debt, family responsibilities. But everyone here is young, and whatever agency you have, it is likely the most you will ever have in your life. The career decisions you make now are the most impactful you will ever make. Step through boxes 1–5 (the bar drains with each), land the takeaway on step 6, then hit step 7 — the beard goes gray — and let it sit: this is a whole career going by with the barrow still in hand.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responsibility is boxes piled into your wheelbarrow — each one limits how freely you can roam. Everyone in this room has a different load already: a visa, student loan debt, family responsibilities. But everyone here is young, and whatever agency you have, it is likely the most you will ever have in your life. The career decisions you make now are the most impactful you will ever make. Step through boxes 1–5 (the bar drains with each), land the takeaway on step 6, then hit step 7 — the beard goes gray — and let it sit: this is a whole career going by with the barrow still in hand.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responsibility is boxes piled into your wheelbarrow — each one limits how freely you can roam. Everyone in this room has a different load already: a visa, student loan debt, family responsibilities. But everyone here is young, and whatever agency you have, it is likely the most you will ever have in your life. The career decisions you make now are the most impactful you will ever make. Step through boxes 1–5 (the bar drains with each), land the takeaway on step 6, then hit step 7 — the beard goes gray — and let it sit: this is a whole career going by with the barrow still in hand.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responsibility is boxes piled into your wheelbarrow — each one limits how freely you can roam. Everyone in this room has a different load already: a visa, student loan debt, family responsibilities. But everyone here is young, and whatever agency you have, it is likely the most you will ever have in your life. The career decisions you make now are the most impactful you will ever make. Step through boxes 1–5 (the bar drains with each), land the takeaway on step 6, then hit step 7 — the beard goes gray — and let it sit: this is a whole career going by with the barrow still in hand.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responsibility is boxes piled into your wheelbarrow — each one limits how freely you can roam. Everyone in this room has a different load already: a visa, student loan debt, family responsibilities. But everyone here is young, and whatever agency you have, it is likely the most you will ever have in your life. The career decisions you make now are the most impactful you will ever make. Step through boxes 1–5 (the bar drains with each), land the takeaway on step 6, then hit step 7 — the beard goes gray — and let it sit: this is a whole career going by with the barrow still in hand.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Callback to the Facebook motto, now that agency is on the table: same sentence shape, but each half answers the question the original dodged — “to where?” becomes deciding where to move; “break things” becomes getting there thoughtfully. Read it once, plainly, and move on — the closing slide does the rest.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jpg"/><Relationship Id="rId10" Type="http://schemas.openxmlformats.org/officeDocument/2006/relationships/image" Target="../media/image10.jpg"/><Relationship Id="rId11" Type="http://schemas.openxmlformats.org/officeDocument/2006/relationships/image" Target="../media/image11.jpg"/><Relationship Id="rId12" Type="http://schemas.openxmlformats.org/officeDocument/2006/relationships/image" Target="../media/image12.jpg"/><Relationship Id="rId13" Type="http://schemas.openxmlformats.org/officeDocument/2006/relationships/image" Target="../media/image13.jpg"/><Relationship Id="rId14"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6.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png"/><Relationship Id="rId4" Type="http://schemas.openxmlformats.org/officeDocument/2006/relationships/image" Target="../media/image23.jpg"/><Relationship Id="rId5" Type="http://schemas.openxmlformats.org/officeDocument/2006/relationships/image" Target="../media/image24.jpg"/><Relationship Id="rId6" Type="http://schemas.openxmlformats.org/officeDocument/2006/relationships/image" Target="../media/image25.jpg"/><Relationship Id="rId7" Type="http://schemas.openxmlformats.org/officeDocument/2006/relationships/image" Target="../media/image26.jpg"/><Relationship Id="rId8" Type="http://schemas.openxmlformats.org/officeDocument/2006/relationships/image" Target="../media/image2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28.png"/><Relationship Id="rId4" Type="http://schemas.openxmlformats.org/officeDocument/2006/relationships/image" Target="../media/image29.jp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20.png"/><Relationship Id="rId8" Type="http://schemas.openxmlformats.org/officeDocument/2006/relationships/image" Target="../media/image32.png"/><Relationship Id="rId9"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4.jpg"/><Relationship Id="rId4" Type="http://schemas.openxmlformats.org/officeDocument/2006/relationships/image" Target="../media/image35.jp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notesSlide" Target="../notesSlides/notesSl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9.jpg"/><Relationship Id="rId4" Type="http://schemas.openxmlformats.org/officeDocument/2006/relationships/image" Target="../media/image40.jpg"/><Relationship Id="rId5" Type="http://schemas.openxmlformats.org/officeDocument/2006/relationships/image" Target="../media/image35.jp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notesSlide" Target="../notesSlides/notes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1.jpg"/><Relationship Id="rId4" Type="http://schemas.openxmlformats.org/officeDocument/2006/relationships/image" Target="../media/image40.jpg"/><Relationship Id="rId5" Type="http://schemas.openxmlformats.org/officeDocument/2006/relationships/image" Target="../media/image42.jpg"/><Relationship Id="rId6" Type="http://schemas.openxmlformats.org/officeDocument/2006/relationships/image" Target="../media/image35.jp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image" Target="../media/image38.png"/><Relationship Id="rId10"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3.png"/><Relationship Id="rId4" Type="http://schemas.openxmlformats.org/officeDocument/2006/relationships/notesSlide" Target="../notesSlides/notesSlide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notesSlide" Target="../notesSlides/notes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5.png"/><Relationship Id="rId4"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png"/><Relationship Id="rId8" Type="http://schemas.openxmlformats.org/officeDocument/2006/relationships/image" Target="../media/image53.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28.png"/><Relationship Id="rId4" Type="http://schemas.openxmlformats.org/officeDocument/2006/relationships/image" Target="../media/image29.jp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20.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notesSlide" Target="../notesSlides/notesSlide2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image" Target="../media/image61.png"/><Relationship Id="rId11" Type="http://schemas.openxmlformats.org/officeDocument/2006/relationships/notesSlide" Target="../notesSlides/notesSlide2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62.jpg"/><Relationship Id="rId4" Type="http://schemas.openxmlformats.org/officeDocument/2006/relationships/notesSlide" Target="../notesSlides/notesSlide2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image" Target="../media/image65.jpg"/><Relationship Id="rId6" Type="http://schemas.openxmlformats.org/officeDocument/2006/relationships/notesSlide" Target="../notesSlides/notesSlide2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66.jpg"/><Relationship Id="rId4" Type="http://schemas.openxmlformats.org/officeDocument/2006/relationships/image" Target="../media/image64.jpg"/><Relationship Id="rId5" Type="http://schemas.openxmlformats.org/officeDocument/2006/relationships/image" Target="../media/image65.jpg"/><Relationship Id="rId6" Type="http://schemas.openxmlformats.org/officeDocument/2006/relationships/image" Target="../media/image67.jpg"/><Relationship Id="rId7" Type="http://schemas.openxmlformats.org/officeDocument/2006/relationships/image" Target="../media/image68.jpg"/><Relationship Id="rId8" Type="http://schemas.openxmlformats.org/officeDocument/2006/relationships/notesSlide" Target="../notesSlides/notesSlide3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69.jpg"/><Relationship Id="rId4" Type="http://schemas.openxmlformats.org/officeDocument/2006/relationships/image" Target="../media/image64.jpg"/><Relationship Id="rId5" Type="http://schemas.openxmlformats.org/officeDocument/2006/relationships/image" Target="../media/image65.jpg"/><Relationship Id="rId6" Type="http://schemas.openxmlformats.org/officeDocument/2006/relationships/image" Target="../media/image70.jpg"/><Relationship Id="rId7" Type="http://schemas.openxmlformats.org/officeDocument/2006/relationships/image" Target="../media/image68.jpg"/><Relationship Id="rId8" Type="http://schemas.openxmlformats.org/officeDocument/2006/relationships/image" Target="../media/image71.jpg"/><Relationship Id="rId9" Type="http://schemas.openxmlformats.org/officeDocument/2006/relationships/image" Target="../media/image72.jpg"/><Relationship Id="rId10" Type="http://schemas.openxmlformats.org/officeDocument/2006/relationships/notesSlide" Target="../notesSlides/notesSlide3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jpg"/><Relationship Id="rId3" Type="http://schemas.openxmlformats.org/officeDocument/2006/relationships/notesSlide" Target="../notesSlides/notesSlide3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74.jpg"/><Relationship Id="rId4" Type="http://schemas.openxmlformats.org/officeDocument/2006/relationships/notesSlide" Target="../notesSlides/notesSlide3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74.jpg"/><Relationship Id="rId4" Type="http://schemas.openxmlformats.org/officeDocument/2006/relationships/notesSlide" Target="../notesSlides/notesSlide3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75.jpg"/><Relationship Id="rId4" Type="http://schemas.openxmlformats.org/officeDocument/2006/relationships/notesSlide" Target="../notesSlides/notesSlide3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76.png"/><Relationship Id="rId4" Type="http://schemas.openxmlformats.org/officeDocument/2006/relationships/notesSlide" Target="../notesSlides/notesSlide3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notesSlide" Target="../notesSlides/notesSlide3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jpg"/><Relationship Id="rId6" Type="http://schemas.openxmlformats.org/officeDocument/2006/relationships/notesSlide" Target="../notesSlides/notesSlide3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79.jpg"/><Relationship Id="rId4" Type="http://schemas.openxmlformats.org/officeDocument/2006/relationships/image" Target="../media/image80.jpg"/><Relationship Id="rId5" Type="http://schemas.openxmlformats.org/officeDocument/2006/relationships/notesSlide" Target="../notesSlides/notesSlide4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79.jpg"/><Relationship Id="rId4" Type="http://schemas.openxmlformats.org/officeDocument/2006/relationships/image" Target="../media/image80.jpg"/><Relationship Id="rId5" Type="http://schemas.openxmlformats.org/officeDocument/2006/relationships/image" Target="../media/image81.jpg"/><Relationship Id="rId6" Type="http://schemas.openxmlformats.org/officeDocument/2006/relationships/image" Target="../media/image82.jpg"/><Relationship Id="rId7" Type="http://schemas.openxmlformats.org/officeDocument/2006/relationships/notesSlide" Target="../notesSlides/notesSlide4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79.jpg"/><Relationship Id="rId4" Type="http://schemas.openxmlformats.org/officeDocument/2006/relationships/image" Target="../media/image80.jpg"/><Relationship Id="rId5" Type="http://schemas.openxmlformats.org/officeDocument/2006/relationships/image" Target="../media/image81.jpg"/><Relationship Id="rId6" Type="http://schemas.openxmlformats.org/officeDocument/2006/relationships/image" Target="../media/image82.jpg"/><Relationship Id="rId7" Type="http://schemas.openxmlformats.org/officeDocument/2006/relationships/image" Target="../media/image83.jpg"/><Relationship Id="rId8" Type="http://schemas.openxmlformats.org/officeDocument/2006/relationships/image" Target="../media/image84.jpg"/><Relationship Id="rId9" Type="http://schemas.openxmlformats.org/officeDocument/2006/relationships/notesSlide" Target="../notesSlides/notesSlide4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jpg"/><Relationship Id="rId3" Type="http://schemas.openxmlformats.org/officeDocument/2006/relationships/image" Target="../media/image86.jpg"/><Relationship Id="rId4" Type="http://schemas.openxmlformats.org/officeDocument/2006/relationships/image" Target="../media/image87.jpg"/><Relationship Id="rId5" Type="http://schemas.openxmlformats.org/officeDocument/2006/relationships/image" Target="../media/image88.jpg"/><Relationship Id="rId6" Type="http://schemas.openxmlformats.org/officeDocument/2006/relationships/image" Target="../media/image89.jpg"/><Relationship Id="rId7" Type="http://schemas.openxmlformats.org/officeDocument/2006/relationships/image" Target="../media/image90.jpg"/><Relationship Id="rId8" Type="http://schemas.openxmlformats.org/officeDocument/2006/relationships/image" Target="../media/image91.jpg"/><Relationship Id="rId9" Type="http://schemas.openxmlformats.org/officeDocument/2006/relationships/notesSlide" Target="../notesSlides/notesSlide4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92.png"/><Relationship Id="rId4" Type="http://schemas.openxmlformats.org/officeDocument/2006/relationships/image" Target="../media/image93.jpg"/><Relationship Id="rId5" Type="http://schemas.openxmlformats.org/officeDocument/2006/relationships/notesSlide" Target="../notesSlides/notesSlide4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94.jpg"/><Relationship Id="rId4" Type="http://schemas.openxmlformats.org/officeDocument/2006/relationships/image" Target="../media/image93.jpg"/><Relationship Id="rId5" Type="http://schemas.openxmlformats.org/officeDocument/2006/relationships/notesSlide" Target="../notesSlides/notesSlide4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95.jpg"/><Relationship Id="rId4" Type="http://schemas.openxmlformats.org/officeDocument/2006/relationships/image" Target="../media/image93.jpg"/><Relationship Id="rId5" Type="http://schemas.openxmlformats.org/officeDocument/2006/relationships/notesSlide" Target="../notesSlides/notesSlide4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96.jpg"/><Relationship Id="rId4" Type="http://schemas.openxmlformats.org/officeDocument/2006/relationships/image" Target="../media/image93.jpg"/><Relationship Id="rId5" Type="http://schemas.openxmlformats.org/officeDocument/2006/relationships/notesSlide" Target="../notesSlides/notesSlide5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97.jpg"/><Relationship Id="rId4" Type="http://schemas.openxmlformats.org/officeDocument/2006/relationships/image" Target="../media/image93.jpg"/><Relationship Id="rId5" Type="http://schemas.openxmlformats.org/officeDocument/2006/relationships/notesSlide" Target="../notesSlides/notesSlide5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98.jpg"/><Relationship Id="rId4" Type="http://schemas.openxmlformats.org/officeDocument/2006/relationships/image" Target="../media/image93.jpg"/><Relationship Id="rId5" Type="http://schemas.openxmlformats.org/officeDocument/2006/relationships/notesSlide" Target="../notesSlides/notesSlide5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98.jpg"/><Relationship Id="rId4" Type="http://schemas.openxmlformats.org/officeDocument/2006/relationships/image" Target="../media/image93.jpg"/><Relationship Id="rId5" Type="http://schemas.openxmlformats.org/officeDocument/2006/relationships/notesSlide" Target="../notesSlides/notesSlide5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98.jpg"/><Relationship Id="rId4" Type="http://schemas.openxmlformats.org/officeDocument/2006/relationships/image" Target="../media/image99.jpg"/><Relationship Id="rId5" Type="http://schemas.openxmlformats.org/officeDocument/2006/relationships/image" Target="../media/image100.jpg"/><Relationship Id="rId6" Type="http://schemas.openxmlformats.org/officeDocument/2006/relationships/notesSlide" Target="../notesSlides/notesSlide5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jpg"/><Relationship Id="rId3" Type="http://schemas.openxmlformats.org/officeDocument/2006/relationships/image" Target="../media/image102.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93ea381db9e1d7e0.jpg"/>
          <p:cNvPicPr>
            <a:picLocks noChangeAspect="1"/>
          </p:cNvPicPr>
          <p:nvPr/>
        </p:nvPicPr>
        <p:blipFill>
          <a:blip r:embed="rId2"/>
          <a:stretch>
            <a:fillRect/>
          </a:stretch>
        </p:blipFill>
        <p:spPr>
          <a:xfrm>
            <a:off x="0" y="4826000"/>
            <a:ext cx="12192000" cy="2032000"/>
          </a:xfrm>
          <a:prstGeom prst="rect">
            <a:avLst/>
          </a:prstGeom>
        </p:spPr>
      </p:pic>
      <p:sp>
        <p:nvSpPr>
          <p:cNvPr id="3" name="TextBox 2"/>
          <p:cNvSpPr txBox="1"/>
          <p:nvPr/>
        </p:nvSpPr>
        <p:spPr>
          <a:xfrm>
            <a:off x="539750" y="2333030"/>
            <a:ext cx="11112500" cy="365760"/>
          </a:xfrm>
          <a:prstGeom prst="rect">
            <a:avLst/>
          </a:prstGeom>
          <a:noFill/>
        </p:spPr>
        <p:txBody>
          <a:bodyPr wrap="none" lIns="0" rIns="0" tIns="0" bIns="0" anchor="ctr">
            <a:noAutofit/>
          </a:bodyPr>
          <a:lstStyle/>
          <a:p>
            <a:pPr algn="ctr">
              <a:lnSpc>
                <a:spcPts val="3479"/>
              </a:lnSpc>
            </a:pPr>
            <a:r>
              <a:rPr sz="2400" b="0" i="0" spc="336">
                <a:solidFill>
                  <a:srgbClr val="861F41"/>
                </a:solidFill>
                <a:latin typeface="Verdana"/>
              </a:rPr>
              <a:t>CS 2114 · FALL 2026 · WEEK 1</a:t>
            </a:r>
          </a:p>
        </p:txBody>
      </p:sp>
      <p:sp>
        <p:nvSpPr>
          <p:cNvPr id="4" name="TextBox 3"/>
          <p:cNvSpPr txBox="1"/>
          <p:nvPr/>
        </p:nvSpPr>
        <p:spPr>
          <a:xfrm>
            <a:off x="539750" y="2851150"/>
            <a:ext cx="11112500" cy="914400"/>
          </a:xfrm>
          <a:prstGeom prst="rect">
            <a:avLst/>
          </a:prstGeom>
          <a:noFill/>
        </p:spPr>
        <p:txBody>
          <a:bodyPr wrap="none" lIns="0" rIns="0" tIns="0" bIns="0" anchor="ctr">
            <a:noAutofit/>
          </a:bodyPr>
          <a:lstStyle/>
          <a:p>
            <a:pPr algn="ctr">
              <a:lnSpc>
                <a:spcPts val="6300"/>
              </a:lnSpc>
            </a:pPr>
            <a:r>
              <a:rPr sz="6000" b="1" i="0" spc="-120">
                <a:solidFill>
                  <a:srgbClr val="861F41"/>
                </a:solidFill>
                <a:latin typeface="Georgia"/>
              </a:rPr>
              <a:t>Software Design &amp; Data Structures</a:t>
            </a:r>
          </a:p>
        </p:txBody>
      </p:sp>
      <p:sp>
        <p:nvSpPr>
          <p:cNvPr id="5" name="TextBox 4"/>
          <p:cNvSpPr txBox="1"/>
          <p:nvPr/>
        </p:nvSpPr>
        <p:spPr>
          <a:xfrm>
            <a:off x="2831902" y="4032250"/>
            <a:ext cx="6528197" cy="365760"/>
          </a:xfrm>
          <a:prstGeom prst="rect">
            <a:avLst/>
          </a:prstGeom>
          <a:noFill/>
        </p:spPr>
        <p:txBody>
          <a:bodyPr wrap="none" lIns="0" rIns="0" tIns="0" bIns="0" anchor="ctr">
            <a:noAutofit/>
          </a:bodyPr>
          <a:lstStyle/>
          <a:p>
            <a:pPr algn="ctr">
              <a:lnSpc>
                <a:spcPts val="3479"/>
              </a:lnSpc>
            </a:pPr>
            <a:r>
              <a:rPr sz="2400" b="0" i="0">
                <a:solidFill>
                  <a:srgbClr val="B35510"/>
                </a:solidFill>
                <a:latin typeface="Verdana"/>
              </a:rPr>
              <a:t>Virginia Tech · Department of Computer Science</a:t>
            </a:r>
          </a:p>
        </p:txBody>
      </p:sp>
      <p:sp>
        <p:nvSpPr>
          <p:cNvPr id="6" name="Rounded Rectangle 5"/>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7" name="TextBox 6"/>
          <p:cNvSpPr txBox="1"/>
          <p:nvPr/>
        </p:nvSpPr>
        <p:spPr>
          <a:xfrm>
            <a:off x="11162804" y="6337300"/>
            <a:ext cx="571996"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 / 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pic>
        <p:nvPicPr>
          <p:cNvPr id="3" name="Picture 2" descr="aa173b34b5fe53c3.jpg"/>
          <p:cNvPicPr>
            <a:picLocks noChangeAspect="1"/>
          </p:cNvPicPr>
          <p:nvPr/>
        </p:nvPicPr>
        <p:blipFill>
          <a:blip r:embed="rId3"/>
          <a:stretch>
            <a:fillRect/>
          </a:stretch>
        </p:blipFill>
        <p:spPr>
          <a:xfrm>
            <a:off x="812800" y="609600"/>
            <a:ext cx="1600200" cy="1219200"/>
          </a:xfrm>
          <a:prstGeom prst="rect">
            <a:avLst/>
          </a:prstGeom>
        </p:spPr>
      </p:pic>
      <p:sp>
        <p:nvSpPr>
          <p:cNvPr id="4" name="TextBox 3"/>
          <p:cNvSpPr txBox="1"/>
          <p:nvPr/>
        </p:nvSpPr>
        <p:spPr>
          <a:xfrm>
            <a:off x="2616200" y="790575"/>
            <a:ext cx="2720380" cy="426720"/>
          </a:xfrm>
          <a:prstGeom prst="rect">
            <a:avLst/>
          </a:prstGeom>
          <a:noFill/>
        </p:spPr>
        <p:txBody>
          <a:bodyPr wrap="none" lIns="0" rIns="0" tIns="0" bIns="0" anchor="ctr">
            <a:noAutofit/>
          </a:bodyPr>
          <a:lstStyle/>
          <a:p>
            <a:pPr algn="l">
              <a:lnSpc>
                <a:spcPts val="3360"/>
              </a:lnSpc>
            </a:pPr>
            <a:r>
              <a:rPr sz="2800" b="0" i="0" spc="-28">
                <a:solidFill>
                  <a:srgbClr val="861F41"/>
                </a:solidFill>
                <a:latin typeface="Georgia"/>
              </a:rPr>
              <a:t>David H. Smith IV</a:t>
            </a:r>
          </a:p>
        </p:txBody>
      </p:sp>
      <p:sp>
        <p:nvSpPr>
          <p:cNvPr id="5" name="TextBox 4"/>
          <p:cNvSpPr txBox="1"/>
          <p:nvPr/>
        </p:nvSpPr>
        <p:spPr>
          <a:xfrm>
            <a:off x="2616200" y="1241425"/>
            <a:ext cx="2720380" cy="213360"/>
          </a:xfrm>
          <a:prstGeom prst="rect">
            <a:avLst/>
          </a:prstGeom>
          <a:noFill/>
        </p:spPr>
        <p:txBody>
          <a:bodyPr wrap="none" lIns="0" rIns="0" tIns="0" bIns="0" anchor="ctr">
            <a:noAutofit/>
          </a:bodyPr>
          <a:lstStyle/>
          <a:p>
            <a:pPr algn="l">
              <a:lnSpc>
                <a:spcPts val="1680"/>
              </a:lnSpc>
            </a:pPr>
            <a:r>
              <a:rPr sz="1400" b="0" i="0">
                <a:solidFill>
                  <a:srgbClr val="6B4A52"/>
                </a:solidFill>
                <a:latin typeface="Verdana"/>
              </a:rPr>
              <a:t>Assistant Professor</a:t>
            </a:r>
          </a:p>
        </p:txBody>
      </p:sp>
      <p:sp>
        <p:nvSpPr>
          <p:cNvPr id="6" name="TextBox 5"/>
          <p:cNvSpPr txBox="1"/>
          <p:nvPr/>
        </p:nvSpPr>
        <p:spPr>
          <a:xfrm>
            <a:off x="2616200" y="1508125"/>
            <a:ext cx="2720380" cy="160020"/>
          </a:xfrm>
          <a:prstGeom prst="rect">
            <a:avLst/>
          </a:prstGeom>
          <a:noFill/>
        </p:spPr>
        <p:txBody>
          <a:bodyPr wrap="none" lIns="0" rIns="0" tIns="0" bIns="0" anchor="ctr">
            <a:noAutofit/>
          </a:bodyPr>
          <a:lstStyle/>
          <a:p>
            <a:pPr algn="l">
              <a:lnSpc>
                <a:spcPts val="1260"/>
              </a:lnSpc>
            </a:pPr>
            <a:r>
              <a:rPr sz="1050" b="0" i="0" spc="84">
                <a:solidFill>
                  <a:srgbClr val="6B4A52"/>
                </a:solidFill>
                <a:latin typeface="Roboto Mono"/>
              </a:rPr>
              <a:t>DEPARTMENT OF COMPUTER SCIENCE</a:t>
            </a:r>
          </a:p>
        </p:txBody>
      </p:sp>
      <p:pic>
        <p:nvPicPr>
          <p:cNvPr id="7" name="Picture 6" descr="835e03cc9ea67d26.jpg"/>
          <p:cNvPicPr>
            <a:picLocks noChangeAspect="1"/>
          </p:cNvPicPr>
          <p:nvPr/>
        </p:nvPicPr>
        <p:blipFill>
          <a:blip r:embed="rId4"/>
          <a:stretch>
            <a:fillRect/>
          </a:stretch>
        </p:blipFill>
        <p:spPr>
          <a:xfrm>
            <a:off x="8070850" y="787400"/>
            <a:ext cx="3308350" cy="863600"/>
          </a:xfrm>
          <a:prstGeom prst="rect">
            <a:avLst/>
          </a:prstGeom>
        </p:spPr>
      </p:pic>
      <p:sp>
        <p:nvSpPr>
          <p:cNvPr id="8" name="Rounded Rectangle 7"/>
          <p:cNvSpPr/>
          <p:nvPr/>
        </p:nvSpPr>
        <p:spPr>
          <a:xfrm>
            <a:off x="812800" y="1981200"/>
            <a:ext cx="2032000" cy="3803650"/>
          </a:xfrm>
          <a:prstGeom prst="roundRect">
            <a:avLst>
              <a:gd name="adj" fmla="val 3125"/>
            </a:avLst>
          </a:prstGeom>
          <a:solidFill>
            <a:srgbClr val="E9E3E4"/>
          </a:solidFill>
          <a:ln w="19050">
            <a:solidFill>
              <a:srgbClr val="861F41"/>
            </a:solidFill>
          </a:ln>
          <a:effectLst/>
        </p:spPr>
        <p:txBody>
          <a:bodyPr rtlCol="0" anchor="ctr"/>
          <a:lstStyle/>
          <a:p>
            <a:pPr algn="ctr"/>
          </a:p>
        </p:txBody>
      </p:sp>
      <p:sp>
        <p:nvSpPr>
          <p:cNvPr id="9" name="TextBox 8"/>
          <p:cNvSpPr txBox="1"/>
          <p:nvPr/>
        </p:nvSpPr>
        <p:spPr>
          <a:xfrm>
            <a:off x="1035050" y="2184400"/>
            <a:ext cx="1612900" cy="304800"/>
          </a:xfrm>
          <a:prstGeom prst="rect">
            <a:avLst/>
          </a:prstGeom>
          <a:noFill/>
        </p:spPr>
        <p:txBody>
          <a:bodyPr wrap="square" lIns="0" rIns="0" tIns="0" bIns="0" anchor="ctr">
            <a:noAutofit/>
          </a:bodyPr>
          <a:lstStyle/>
          <a:p>
            <a:pPr algn="l">
              <a:lnSpc>
                <a:spcPts val="1680"/>
              </a:lnSpc>
            </a:pPr>
            <a:r>
              <a:rPr sz="2400" b="1" i="0" spc="14">
                <a:solidFill>
                  <a:srgbClr val="861F41"/>
                </a:solidFill>
                <a:latin typeface="Roboto Mono"/>
              </a:rPr>
              <a:t>A</a:t>
            </a:r>
            <a:r>
              <a:rPr sz="1400" b="0" i="0" spc="14">
                <a:solidFill>
                  <a:srgbClr val="2C1A1F"/>
                </a:solidFill>
                <a:latin typeface="Verdana"/>
              </a:rPr>
              <a:t>dvancing</a:t>
            </a:r>
          </a:p>
        </p:txBody>
      </p:sp>
      <p:sp>
        <p:nvSpPr>
          <p:cNvPr id="10" name="TextBox 9"/>
          <p:cNvSpPr txBox="1"/>
          <p:nvPr/>
        </p:nvSpPr>
        <p:spPr>
          <a:xfrm>
            <a:off x="1035050" y="2603500"/>
            <a:ext cx="1612900" cy="304800"/>
          </a:xfrm>
          <a:prstGeom prst="rect">
            <a:avLst/>
          </a:prstGeom>
          <a:noFill/>
        </p:spPr>
        <p:txBody>
          <a:bodyPr wrap="square" lIns="0" rIns="0" tIns="0" bIns="0" anchor="ctr">
            <a:noAutofit/>
          </a:bodyPr>
          <a:lstStyle/>
          <a:p>
            <a:pPr algn="l">
              <a:lnSpc>
                <a:spcPts val="1680"/>
              </a:lnSpc>
            </a:pPr>
            <a:r>
              <a:rPr sz="2400" b="1" i="0" spc="14">
                <a:solidFill>
                  <a:srgbClr val="861F41"/>
                </a:solidFill>
                <a:latin typeface="Roboto Mono"/>
              </a:rPr>
              <a:t>S</a:t>
            </a:r>
            <a:r>
              <a:rPr sz="1400" b="0" i="0" spc="14">
                <a:solidFill>
                  <a:srgbClr val="2C1A1F"/>
                </a:solidFill>
                <a:latin typeface="Verdana"/>
              </a:rPr>
              <a:t>upport in</a:t>
            </a:r>
          </a:p>
        </p:txBody>
      </p:sp>
      <p:sp>
        <p:nvSpPr>
          <p:cNvPr id="11" name="TextBox 10"/>
          <p:cNvSpPr txBox="1"/>
          <p:nvPr/>
        </p:nvSpPr>
        <p:spPr>
          <a:xfrm>
            <a:off x="1035050" y="3022600"/>
            <a:ext cx="1612900" cy="304800"/>
          </a:xfrm>
          <a:prstGeom prst="rect">
            <a:avLst/>
          </a:prstGeom>
          <a:noFill/>
        </p:spPr>
        <p:txBody>
          <a:bodyPr wrap="square" lIns="0" rIns="0" tIns="0" bIns="0" anchor="ctr">
            <a:noAutofit/>
          </a:bodyPr>
          <a:lstStyle/>
          <a:p>
            <a:pPr algn="l">
              <a:lnSpc>
                <a:spcPts val="1680"/>
              </a:lnSpc>
            </a:pPr>
            <a:r>
              <a:rPr sz="2400" b="1" i="0" spc="14">
                <a:solidFill>
                  <a:srgbClr val="861F41"/>
                </a:solidFill>
                <a:latin typeface="Roboto Mono"/>
              </a:rPr>
              <a:t>C</a:t>
            </a:r>
            <a:r>
              <a:rPr sz="1400" b="0" i="0" spc="14">
                <a:solidFill>
                  <a:srgbClr val="2C1A1F"/>
                </a:solidFill>
                <a:latin typeface="Verdana"/>
              </a:rPr>
              <a:t>omputing</a:t>
            </a:r>
          </a:p>
        </p:txBody>
      </p:sp>
      <p:sp>
        <p:nvSpPr>
          <p:cNvPr id="12" name="TextBox 11"/>
          <p:cNvSpPr txBox="1"/>
          <p:nvPr/>
        </p:nvSpPr>
        <p:spPr>
          <a:xfrm>
            <a:off x="1035050" y="3441700"/>
            <a:ext cx="1612900" cy="304800"/>
          </a:xfrm>
          <a:prstGeom prst="rect">
            <a:avLst/>
          </a:prstGeom>
          <a:noFill/>
        </p:spPr>
        <p:txBody>
          <a:bodyPr wrap="square" lIns="0" rIns="0" tIns="0" bIns="0" anchor="ctr">
            <a:noAutofit/>
          </a:bodyPr>
          <a:lstStyle/>
          <a:p>
            <a:pPr algn="l">
              <a:lnSpc>
                <a:spcPts val="1680"/>
              </a:lnSpc>
            </a:pPr>
            <a:r>
              <a:rPr sz="2400" b="1" i="0" spc="14">
                <a:solidFill>
                  <a:srgbClr val="861F41"/>
                </a:solidFill>
                <a:latin typeface="Roboto Mono"/>
              </a:rPr>
              <a:t>E</a:t>
            </a:r>
            <a:r>
              <a:rPr sz="1400" b="0" i="0" spc="14">
                <a:solidFill>
                  <a:srgbClr val="2C1A1F"/>
                </a:solidFill>
                <a:latin typeface="Verdana"/>
              </a:rPr>
              <a:t>ducation for</a:t>
            </a:r>
          </a:p>
        </p:txBody>
      </p:sp>
      <p:sp>
        <p:nvSpPr>
          <p:cNvPr id="13" name="TextBox 12"/>
          <p:cNvSpPr txBox="1"/>
          <p:nvPr/>
        </p:nvSpPr>
        <p:spPr>
          <a:xfrm>
            <a:off x="1035050" y="3860800"/>
            <a:ext cx="1612900" cy="304800"/>
          </a:xfrm>
          <a:prstGeom prst="rect">
            <a:avLst/>
          </a:prstGeom>
          <a:noFill/>
        </p:spPr>
        <p:txBody>
          <a:bodyPr wrap="square" lIns="0" rIns="0" tIns="0" bIns="0" anchor="ctr">
            <a:noAutofit/>
          </a:bodyPr>
          <a:lstStyle/>
          <a:p>
            <a:pPr algn="l">
              <a:lnSpc>
                <a:spcPts val="1680"/>
              </a:lnSpc>
            </a:pPr>
            <a:r>
              <a:rPr sz="2400" b="1" i="0" spc="14">
                <a:solidFill>
                  <a:srgbClr val="861F41"/>
                </a:solidFill>
                <a:latin typeface="Roboto Mono"/>
              </a:rPr>
              <a:t>N</a:t>
            </a:r>
            <a:r>
              <a:rPr sz="1400" b="0" i="0" spc="14">
                <a:solidFill>
                  <a:srgbClr val="2C1A1F"/>
                </a:solidFill>
                <a:latin typeface="Verdana"/>
              </a:rPr>
              <a:t>ovice</a:t>
            </a:r>
          </a:p>
        </p:txBody>
      </p:sp>
      <p:pic>
        <p:nvPicPr>
          <p:cNvPr id="14" name="Picture 13" descr="dd45711fc37ed530.jpg"/>
          <p:cNvPicPr>
            <a:picLocks noChangeAspect="1"/>
          </p:cNvPicPr>
          <p:nvPr/>
        </p:nvPicPr>
        <p:blipFill>
          <a:blip r:embed="rId5"/>
          <a:stretch>
            <a:fillRect/>
          </a:stretch>
        </p:blipFill>
        <p:spPr>
          <a:xfrm>
            <a:off x="1035050" y="4298950"/>
            <a:ext cx="1587500" cy="6350"/>
          </a:xfrm>
          <a:prstGeom prst="rect">
            <a:avLst/>
          </a:prstGeom>
        </p:spPr>
      </p:pic>
      <p:sp>
        <p:nvSpPr>
          <p:cNvPr id="15" name="TextBox 14"/>
          <p:cNvSpPr txBox="1"/>
          <p:nvPr/>
        </p:nvSpPr>
        <p:spPr>
          <a:xfrm>
            <a:off x="1035050" y="4438650"/>
            <a:ext cx="1612900" cy="304800"/>
          </a:xfrm>
          <a:prstGeom prst="rect">
            <a:avLst/>
          </a:prstGeom>
          <a:noFill/>
        </p:spPr>
        <p:txBody>
          <a:bodyPr wrap="square" lIns="0" rIns="0" tIns="0" bIns="0" anchor="ctr">
            <a:noAutofit/>
          </a:bodyPr>
          <a:lstStyle/>
          <a:p>
            <a:pPr algn="l">
              <a:lnSpc>
                <a:spcPts val="1680"/>
              </a:lnSpc>
            </a:pPr>
            <a:r>
              <a:rPr sz="2400" b="1" i="0" spc="14">
                <a:solidFill>
                  <a:srgbClr val="861F41"/>
                </a:solidFill>
                <a:latin typeface="Roboto Mono"/>
              </a:rPr>
              <a:t>D</a:t>
            </a:r>
            <a:r>
              <a:rPr sz="1400" b="0" i="0" spc="14">
                <a:solidFill>
                  <a:srgbClr val="2C1A1F"/>
                </a:solidFill>
                <a:latin typeface="Verdana"/>
              </a:rPr>
              <a:t>evelopers</a:t>
            </a:r>
          </a:p>
        </p:txBody>
      </p:sp>
      <p:sp>
        <p:nvSpPr>
          <p:cNvPr id="16" name="TextBox 15"/>
          <p:cNvSpPr txBox="1"/>
          <p:nvPr/>
        </p:nvSpPr>
        <p:spPr>
          <a:xfrm>
            <a:off x="1035050" y="4857750"/>
            <a:ext cx="1612900" cy="304800"/>
          </a:xfrm>
          <a:prstGeom prst="rect">
            <a:avLst/>
          </a:prstGeom>
          <a:noFill/>
        </p:spPr>
        <p:txBody>
          <a:bodyPr wrap="square" lIns="0" rIns="0" tIns="0" bIns="0" anchor="ctr">
            <a:noAutofit/>
          </a:bodyPr>
          <a:lstStyle/>
          <a:p>
            <a:pPr algn="l">
              <a:lnSpc>
                <a:spcPts val="1680"/>
              </a:lnSpc>
            </a:pPr>
            <a:r>
              <a:rPr sz="2400" b="1" i="0" spc="14">
                <a:solidFill>
                  <a:srgbClr val="1C6091"/>
                </a:solidFill>
                <a:latin typeface="Roboto Mono"/>
              </a:rPr>
              <a:t>D</a:t>
            </a:r>
            <a:r>
              <a:rPr sz="1400" b="0" i="0" spc="14">
                <a:solidFill>
                  <a:srgbClr val="2C1A1F"/>
                </a:solidFill>
                <a:latin typeface="Verdana"/>
              </a:rPr>
              <a:t>ata Scientists</a:t>
            </a:r>
          </a:p>
        </p:txBody>
      </p:sp>
      <p:sp>
        <p:nvSpPr>
          <p:cNvPr id="17" name="TextBox 16"/>
          <p:cNvSpPr txBox="1"/>
          <p:nvPr/>
        </p:nvSpPr>
        <p:spPr>
          <a:xfrm>
            <a:off x="1035050" y="5276850"/>
            <a:ext cx="1612900" cy="304800"/>
          </a:xfrm>
          <a:prstGeom prst="rect">
            <a:avLst/>
          </a:prstGeom>
          <a:noFill/>
        </p:spPr>
        <p:txBody>
          <a:bodyPr wrap="square" lIns="0" rIns="0" tIns="0" bIns="0" anchor="ctr">
            <a:noAutofit/>
          </a:bodyPr>
          <a:lstStyle/>
          <a:p>
            <a:pPr algn="l">
              <a:lnSpc>
                <a:spcPts val="1680"/>
              </a:lnSpc>
            </a:pPr>
            <a:r>
              <a:rPr sz="2400" b="1" i="0" spc="14">
                <a:solidFill>
                  <a:srgbClr val="B35510"/>
                </a:solidFill>
                <a:latin typeface="Roboto Mono"/>
              </a:rPr>
              <a:t>D</a:t>
            </a:r>
            <a:r>
              <a:rPr sz="1400" b="0" i="0" spc="14">
                <a:solidFill>
                  <a:srgbClr val="2C1A1F"/>
                </a:solidFill>
                <a:latin typeface="Verdana"/>
              </a:rPr>
              <a:t>esigners</a:t>
            </a:r>
          </a:p>
        </p:txBody>
      </p:sp>
      <p:sp>
        <p:nvSpPr>
          <p:cNvPr id="18" name="Rounded Rectangle 17"/>
          <p:cNvSpPr/>
          <p:nvPr/>
        </p:nvSpPr>
        <p:spPr>
          <a:xfrm>
            <a:off x="3048000" y="1981200"/>
            <a:ext cx="5842000" cy="1200150"/>
          </a:xfrm>
          <a:prstGeom prst="roundRect">
            <a:avLst>
              <a:gd name="adj" fmla="val 5291"/>
            </a:avLst>
          </a:prstGeom>
          <a:solidFill>
            <a:srgbClr val="E9E3E4"/>
          </a:solidFill>
          <a:ln w="19050">
            <a:solidFill>
              <a:srgbClr val="861F41"/>
            </a:solidFill>
          </a:ln>
          <a:effectLst/>
        </p:spPr>
        <p:txBody>
          <a:bodyPr rtlCol="0" anchor="ctr"/>
          <a:lstStyle/>
          <a:p>
            <a:pPr algn="ctr"/>
          </a:p>
        </p:txBody>
      </p:sp>
      <p:pic>
        <p:nvPicPr>
          <p:cNvPr id="19" name="Picture 18" descr="8ed1110002fd91f6.jpg"/>
          <p:cNvPicPr>
            <a:picLocks noChangeAspect="1"/>
          </p:cNvPicPr>
          <p:nvPr/>
        </p:nvPicPr>
        <p:blipFill>
          <a:blip r:embed="rId6"/>
          <a:stretch>
            <a:fillRect/>
          </a:stretch>
        </p:blipFill>
        <p:spPr>
          <a:xfrm>
            <a:off x="3270250" y="2400300"/>
            <a:ext cx="355600" cy="355600"/>
          </a:xfrm>
          <a:prstGeom prst="rect">
            <a:avLst/>
          </a:prstGeom>
        </p:spPr>
      </p:pic>
      <p:sp>
        <p:nvSpPr>
          <p:cNvPr id="20" name="TextBox 19"/>
          <p:cNvSpPr txBox="1"/>
          <p:nvPr/>
        </p:nvSpPr>
        <p:spPr>
          <a:xfrm>
            <a:off x="3778250" y="2313384"/>
            <a:ext cx="4914900" cy="528241"/>
          </a:xfrm>
          <a:prstGeom prst="rect">
            <a:avLst/>
          </a:prstGeom>
          <a:noFill/>
        </p:spPr>
        <p:txBody>
          <a:bodyPr wrap="square" lIns="0" rIns="0" tIns="0" bIns="0" anchor="ctr">
            <a:noAutofit/>
          </a:bodyPr>
          <a:lstStyle/>
          <a:p>
            <a:pPr algn="l">
              <a:lnSpc>
                <a:spcPts val="2160"/>
              </a:lnSpc>
            </a:pPr>
            <a:r>
              <a:rPr sz="1800" b="1" i="0">
                <a:solidFill>
                  <a:srgbClr val="2C1A1F"/>
                </a:solidFill>
                <a:latin typeface="Georgia"/>
              </a:rPr>
              <a:t>Learning Sciences, Cognitive Science &amp; Educational Psychology</a:t>
            </a:r>
          </a:p>
        </p:txBody>
      </p:sp>
      <p:sp>
        <p:nvSpPr>
          <p:cNvPr id="21" name="Rounded Rectangle 20"/>
          <p:cNvSpPr/>
          <p:nvPr/>
        </p:nvSpPr>
        <p:spPr>
          <a:xfrm>
            <a:off x="3048000" y="3282950"/>
            <a:ext cx="5842000" cy="1200150"/>
          </a:xfrm>
          <a:prstGeom prst="roundRect">
            <a:avLst>
              <a:gd name="adj" fmla="val 5291"/>
            </a:avLst>
          </a:prstGeom>
          <a:solidFill>
            <a:srgbClr val="E9E3E4"/>
          </a:solidFill>
          <a:ln w="19050">
            <a:solidFill>
              <a:srgbClr val="1C6091"/>
            </a:solidFill>
          </a:ln>
          <a:effectLst/>
        </p:spPr>
        <p:txBody>
          <a:bodyPr rtlCol="0" anchor="ctr"/>
          <a:lstStyle/>
          <a:p>
            <a:pPr algn="ctr"/>
          </a:p>
        </p:txBody>
      </p:sp>
      <p:pic>
        <p:nvPicPr>
          <p:cNvPr id="22" name="Picture 21" descr="e1951d180a7f91eb.png"/>
          <p:cNvPicPr>
            <a:picLocks noChangeAspect="1"/>
          </p:cNvPicPr>
          <p:nvPr/>
        </p:nvPicPr>
        <p:blipFill>
          <a:blip r:embed="rId7"/>
          <a:stretch>
            <a:fillRect/>
          </a:stretch>
        </p:blipFill>
        <p:spPr>
          <a:xfrm>
            <a:off x="3270250" y="3702050"/>
            <a:ext cx="355600" cy="355600"/>
          </a:xfrm>
          <a:prstGeom prst="rect">
            <a:avLst/>
          </a:prstGeom>
        </p:spPr>
      </p:pic>
      <p:sp>
        <p:nvSpPr>
          <p:cNvPr id="23" name="TextBox 22"/>
          <p:cNvSpPr txBox="1"/>
          <p:nvPr/>
        </p:nvSpPr>
        <p:spPr>
          <a:xfrm>
            <a:off x="3778250" y="3752255"/>
            <a:ext cx="3120330" cy="274320"/>
          </a:xfrm>
          <a:prstGeom prst="rect">
            <a:avLst/>
          </a:prstGeom>
          <a:noFill/>
        </p:spPr>
        <p:txBody>
          <a:bodyPr wrap="none" lIns="0" rIns="0" tIns="0" bIns="0" anchor="ctr">
            <a:noAutofit/>
          </a:bodyPr>
          <a:lstStyle/>
          <a:p>
            <a:pPr algn="l">
              <a:lnSpc>
                <a:spcPts val="2160"/>
              </a:lnSpc>
            </a:pPr>
            <a:r>
              <a:rPr sz="1800" b="1" i="0">
                <a:solidFill>
                  <a:srgbClr val="2C1A1F"/>
                </a:solidFill>
                <a:latin typeface="Georgia"/>
              </a:rPr>
              <a:t>Computing Education Research</a:t>
            </a:r>
          </a:p>
        </p:txBody>
      </p:sp>
      <p:sp>
        <p:nvSpPr>
          <p:cNvPr id="24" name="Rounded Rectangle 23"/>
          <p:cNvSpPr/>
          <p:nvPr/>
        </p:nvSpPr>
        <p:spPr>
          <a:xfrm>
            <a:off x="3048000" y="4584700"/>
            <a:ext cx="5842000" cy="1200150"/>
          </a:xfrm>
          <a:prstGeom prst="roundRect">
            <a:avLst>
              <a:gd name="adj" fmla="val 5291"/>
            </a:avLst>
          </a:prstGeom>
          <a:solidFill>
            <a:srgbClr val="E9E3E4"/>
          </a:solidFill>
          <a:ln w="19050">
            <a:solidFill>
              <a:srgbClr val="B35510"/>
            </a:solidFill>
          </a:ln>
          <a:effectLst/>
        </p:spPr>
        <p:txBody>
          <a:bodyPr rtlCol="0" anchor="ctr"/>
          <a:lstStyle/>
          <a:p>
            <a:pPr algn="ctr"/>
          </a:p>
        </p:txBody>
      </p:sp>
      <p:pic>
        <p:nvPicPr>
          <p:cNvPr id="25" name="Picture 24" descr="076a826ce87e85a8.png"/>
          <p:cNvPicPr>
            <a:picLocks noChangeAspect="1"/>
          </p:cNvPicPr>
          <p:nvPr/>
        </p:nvPicPr>
        <p:blipFill>
          <a:blip r:embed="rId8"/>
          <a:stretch>
            <a:fillRect/>
          </a:stretch>
        </p:blipFill>
        <p:spPr>
          <a:xfrm>
            <a:off x="3270250" y="5003800"/>
            <a:ext cx="355600" cy="355600"/>
          </a:xfrm>
          <a:prstGeom prst="rect">
            <a:avLst/>
          </a:prstGeom>
        </p:spPr>
      </p:pic>
      <p:sp>
        <p:nvSpPr>
          <p:cNvPr id="26" name="TextBox 25"/>
          <p:cNvSpPr txBox="1"/>
          <p:nvPr/>
        </p:nvSpPr>
        <p:spPr>
          <a:xfrm>
            <a:off x="3778250" y="5054005"/>
            <a:ext cx="2999284" cy="274320"/>
          </a:xfrm>
          <a:prstGeom prst="rect">
            <a:avLst/>
          </a:prstGeom>
          <a:noFill/>
        </p:spPr>
        <p:txBody>
          <a:bodyPr wrap="none" lIns="0" rIns="0" tIns="0" bIns="0" anchor="ctr">
            <a:noAutofit/>
          </a:bodyPr>
          <a:lstStyle/>
          <a:p>
            <a:pPr algn="l">
              <a:lnSpc>
                <a:spcPts val="2160"/>
              </a:lnSpc>
            </a:pPr>
            <a:r>
              <a:rPr sz="1800" b="1" i="0">
                <a:solidFill>
                  <a:srgbClr val="2C1A1F"/>
                </a:solidFill>
                <a:latin typeface="Georgia"/>
              </a:rPr>
              <a:t>Human–Computer Interaction</a:t>
            </a:r>
          </a:p>
        </p:txBody>
      </p:sp>
      <p:sp>
        <p:nvSpPr>
          <p:cNvPr id="27" name="Rounded Rectangle 26"/>
          <p:cNvSpPr/>
          <p:nvPr/>
        </p:nvSpPr>
        <p:spPr>
          <a:xfrm>
            <a:off x="9093200" y="2122289"/>
            <a:ext cx="1092200" cy="1106091"/>
          </a:xfrm>
          <a:prstGeom prst="roundRect">
            <a:avLst>
              <a:gd name="adj" fmla="val 5813"/>
            </a:avLst>
          </a:prstGeom>
          <a:solidFill>
            <a:srgbClr val="E9E3E4"/>
          </a:solidFill>
          <a:ln w="12700">
            <a:solidFill>
              <a:srgbClr val="7D8791"/>
            </a:solidFill>
          </a:ln>
          <a:effectLst/>
        </p:spPr>
        <p:txBody>
          <a:bodyPr rtlCol="0" anchor="ctr"/>
          <a:lstStyle/>
          <a:p>
            <a:pPr algn="ctr"/>
          </a:p>
        </p:txBody>
      </p:sp>
      <p:pic>
        <p:nvPicPr>
          <p:cNvPr id="28" name="Picture 27" descr="eb363779d08de36f.jpg"/>
          <p:cNvPicPr>
            <a:picLocks noChangeAspect="1"/>
          </p:cNvPicPr>
          <p:nvPr/>
        </p:nvPicPr>
        <p:blipFill>
          <a:blip r:embed="rId9"/>
          <a:stretch>
            <a:fillRect/>
          </a:stretch>
        </p:blipFill>
        <p:spPr>
          <a:xfrm>
            <a:off x="9328150" y="2235200"/>
            <a:ext cx="622300" cy="622300"/>
          </a:xfrm>
          <a:prstGeom prst="rect">
            <a:avLst/>
          </a:prstGeom>
        </p:spPr>
      </p:pic>
      <p:sp>
        <p:nvSpPr>
          <p:cNvPr id="29" name="TextBox 28"/>
          <p:cNvSpPr txBox="1"/>
          <p:nvPr/>
        </p:nvSpPr>
        <p:spPr>
          <a:xfrm>
            <a:off x="9199662" y="2909689"/>
            <a:ext cx="879277" cy="213360"/>
          </a:xfrm>
          <a:prstGeom prst="rect">
            <a:avLst/>
          </a:prstGeom>
          <a:noFill/>
        </p:spPr>
        <p:txBody>
          <a:bodyPr wrap="none" lIns="0" rIns="0" tIns="0" bIns="0" anchor="ctr">
            <a:noAutofit/>
          </a:bodyPr>
          <a:lstStyle/>
          <a:p>
            <a:pPr algn="ctr">
              <a:lnSpc>
                <a:spcPts val="1610"/>
              </a:lnSpc>
            </a:pPr>
            <a:r>
              <a:rPr sz="1400" b="1" i="0">
                <a:solidFill>
                  <a:srgbClr val="2C1A1F"/>
                </a:solidFill>
                <a:latin typeface="Verdana"/>
              </a:rPr>
              <a:t>Moonwara</a:t>
            </a:r>
          </a:p>
        </p:txBody>
      </p:sp>
      <p:sp>
        <p:nvSpPr>
          <p:cNvPr id="30" name="Rounded Rectangle 29"/>
          <p:cNvSpPr/>
          <p:nvPr/>
        </p:nvSpPr>
        <p:spPr>
          <a:xfrm>
            <a:off x="10287000" y="2122289"/>
            <a:ext cx="1092200" cy="1106091"/>
          </a:xfrm>
          <a:prstGeom prst="roundRect">
            <a:avLst>
              <a:gd name="adj" fmla="val 5813"/>
            </a:avLst>
          </a:prstGeom>
          <a:solidFill>
            <a:srgbClr val="E9E3E4"/>
          </a:solidFill>
          <a:ln w="12700">
            <a:solidFill>
              <a:srgbClr val="7D8791"/>
            </a:solidFill>
          </a:ln>
          <a:effectLst/>
        </p:spPr>
        <p:txBody>
          <a:bodyPr rtlCol="0" anchor="ctr"/>
          <a:lstStyle/>
          <a:p>
            <a:pPr algn="ctr"/>
          </a:p>
        </p:txBody>
      </p:sp>
      <p:pic>
        <p:nvPicPr>
          <p:cNvPr id="31" name="Picture 30" descr="7a2a74af1680bb2f.jpg"/>
          <p:cNvPicPr>
            <a:picLocks noChangeAspect="1"/>
          </p:cNvPicPr>
          <p:nvPr/>
        </p:nvPicPr>
        <p:blipFill>
          <a:blip r:embed="rId10"/>
          <a:stretch>
            <a:fillRect/>
          </a:stretch>
        </p:blipFill>
        <p:spPr>
          <a:xfrm>
            <a:off x="10521950" y="2235200"/>
            <a:ext cx="622300" cy="622300"/>
          </a:xfrm>
          <a:prstGeom prst="rect">
            <a:avLst/>
          </a:prstGeom>
        </p:spPr>
      </p:pic>
      <p:sp>
        <p:nvSpPr>
          <p:cNvPr id="32" name="TextBox 31"/>
          <p:cNvSpPr txBox="1"/>
          <p:nvPr/>
        </p:nvSpPr>
        <p:spPr>
          <a:xfrm>
            <a:off x="10566301" y="2909689"/>
            <a:ext cx="533598" cy="213360"/>
          </a:xfrm>
          <a:prstGeom prst="rect">
            <a:avLst/>
          </a:prstGeom>
          <a:noFill/>
        </p:spPr>
        <p:txBody>
          <a:bodyPr wrap="none" lIns="0" rIns="0" tIns="0" bIns="0" anchor="ctr">
            <a:noAutofit/>
          </a:bodyPr>
          <a:lstStyle/>
          <a:p>
            <a:pPr algn="ctr">
              <a:lnSpc>
                <a:spcPts val="1610"/>
              </a:lnSpc>
            </a:pPr>
            <a:r>
              <a:rPr sz="1400" b="1" i="0">
                <a:solidFill>
                  <a:srgbClr val="2C1A1F"/>
                </a:solidFill>
                <a:latin typeface="Verdana"/>
              </a:rPr>
              <a:t>Fariha</a:t>
            </a:r>
          </a:p>
        </p:txBody>
      </p:sp>
      <p:sp>
        <p:nvSpPr>
          <p:cNvPr id="33" name="Rounded Rectangle 32"/>
          <p:cNvSpPr/>
          <p:nvPr/>
        </p:nvSpPr>
        <p:spPr>
          <a:xfrm>
            <a:off x="9093200" y="3329980"/>
            <a:ext cx="1092200" cy="1106091"/>
          </a:xfrm>
          <a:prstGeom prst="roundRect">
            <a:avLst>
              <a:gd name="adj" fmla="val 5813"/>
            </a:avLst>
          </a:prstGeom>
          <a:solidFill>
            <a:srgbClr val="E9E3E4"/>
          </a:solidFill>
          <a:ln w="12700">
            <a:solidFill>
              <a:srgbClr val="7D8791"/>
            </a:solidFill>
          </a:ln>
          <a:effectLst/>
        </p:spPr>
        <p:txBody>
          <a:bodyPr rtlCol="0" anchor="ctr"/>
          <a:lstStyle/>
          <a:p>
            <a:pPr algn="ctr"/>
          </a:p>
        </p:txBody>
      </p:sp>
      <p:pic>
        <p:nvPicPr>
          <p:cNvPr id="34" name="Picture 33" descr="c1f7d2c0ae786d79.jpg"/>
          <p:cNvPicPr>
            <a:picLocks noChangeAspect="1"/>
          </p:cNvPicPr>
          <p:nvPr/>
        </p:nvPicPr>
        <p:blipFill>
          <a:blip r:embed="rId11"/>
          <a:stretch>
            <a:fillRect/>
          </a:stretch>
        </p:blipFill>
        <p:spPr>
          <a:xfrm>
            <a:off x="9328150" y="3441700"/>
            <a:ext cx="622300" cy="622300"/>
          </a:xfrm>
          <a:prstGeom prst="rect">
            <a:avLst/>
          </a:prstGeom>
        </p:spPr>
      </p:pic>
      <p:sp>
        <p:nvSpPr>
          <p:cNvPr id="35" name="TextBox 34"/>
          <p:cNvSpPr txBox="1"/>
          <p:nvPr/>
        </p:nvSpPr>
        <p:spPr>
          <a:xfrm>
            <a:off x="9328150" y="4117380"/>
            <a:ext cx="622300" cy="213360"/>
          </a:xfrm>
          <a:prstGeom prst="rect">
            <a:avLst/>
          </a:prstGeom>
          <a:noFill/>
        </p:spPr>
        <p:txBody>
          <a:bodyPr wrap="none" lIns="0" rIns="0" tIns="0" bIns="0" anchor="ctr">
            <a:noAutofit/>
          </a:bodyPr>
          <a:lstStyle/>
          <a:p>
            <a:pPr algn="ctr">
              <a:lnSpc>
                <a:spcPts val="1610"/>
              </a:lnSpc>
            </a:pPr>
            <a:r>
              <a:rPr sz="1400" b="1" i="0">
                <a:solidFill>
                  <a:srgbClr val="2C1A1F"/>
                </a:solidFill>
                <a:latin typeface="Verdana"/>
              </a:rPr>
              <a:t>Minsun</a:t>
            </a:r>
          </a:p>
        </p:txBody>
      </p:sp>
      <p:sp>
        <p:nvSpPr>
          <p:cNvPr id="36" name="Rounded Rectangle 35"/>
          <p:cNvSpPr/>
          <p:nvPr/>
        </p:nvSpPr>
        <p:spPr>
          <a:xfrm>
            <a:off x="10287000" y="3329980"/>
            <a:ext cx="1092200" cy="1106091"/>
          </a:xfrm>
          <a:prstGeom prst="roundRect">
            <a:avLst>
              <a:gd name="adj" fmla="val 5813"/>
            </a:avLst>
          </a:prstGeom>
          <a:solidFill>
            <a:srgbClr val="E9E3E4"/>
          </a:solidFill>
          <a:ln w="12700">
            <a:solidFill>
              <a:srgbClr val="7D8791"/>
            </a:solidFill>
          </a:ln>
          <a:effectLst/>
        </p:spPr>
        <p:txBody>
          <a:bodyPr rtlCol="0" anchor="ctr"/>
          <a:lstStyle/>
          <a:p>
            <a:pPr algn="ctr"/>
          </a:p>
        </p:txBody>
      </p:sp>
      <p:pic>
        <p:nvPicPr>
          <p:cNvPr id="37" name="Picture 36" descr="847eac5547947d02.jpg"/>
          <p:cNvPicPr>
            <a:picLocks noChangeAspect="1"/>
          </p:cNvPicPr>
          <p:nvPr/>
        </p:nvPicPr>
        <p:blipFill>
          <a:blip r:embed="rId12"/>
          <a:stretch>
            <a:fillRect/>
          </a:stretch>
        </p:blipFill>
        <p:spPr>
          <a:xfrm>
            <a:off x="10521950" y="3441700"/>
            <a:ext cx="622300" cy="622300"/>
          </a:xfrm>
          <a:prstGeom prst="rect">
            <a:avLst/>
          </a:prstGeom>
        </p:spPr>
      </p:pic>
      <p:sp>
        <p:nvSpPr>
          <p:cNvPr id="38" name="TextBox 37"/>
          <p:cNvSpPr txBox="1"/>
          <p:nvPr/>
        </p:nvSpPr>
        <p:spPr>
          <a:xfrm>
            <a:off x="10502205" y="4117380"/>
            <a:ext cx="661789" cy="213360"/>
          </a:xfrm>
          <a:prstGeom prst="rect">
            <a:avLst/>
          </a:prstGeom>
          <a:noFill/>
        </p:spPr>
        <p:txBody>
          <a:bodyPr wrap="none" lIns="0" rIns="0" tIns="0" bIns="0" anchor="ctr">
            <a:noAutofit/>
          </a:bodyPr>
          <a:lstStyle/>
          <a:p>
            <a:pPr algn="ctr">
              <a:lnSpc>
                <a:spcPts val="1610"/>
              </a:lnSpc>
            </a:pPr>
            <a:r>
              <a:rPr sz="1400" b="1" i="0">
                <a:solidFill>
                  <a:srgbClr val="2C1A1F"/>
                </a:solidFill>
                <a:latin typeface="Verdana"/>
              </a:rPr>
              <a:t>Hudson</a:t>
            </a:r>
          </a:p>
        </p:txBody>
      </p:sp>
      <p:sp>
        <p:nvSpPr>
          <p:cNvPr id="39" name="Rounded Rectangle 38"/>
          <p:cNvSpPr/>
          <p:nvPr/>
        </p:nvSpPr>
        <p:spPr>
          <a:xfrm>
            <a:off x="9093200" y="4537670"/>
            <a:ext cx="1092200" cy="1106091"/>
          </a:xfrm>
          <a:prstGeom prst="roundRect">
            <a:avLst>
              <a:gd name="adj" fmla="val 5813"/>
            </a:avLst>
          </a:prstGeom>
          <a:solidFill>
            <a:srgbClr val="E9E3E4"/>
          </a:solidFill>
          <a:ln w="12700">
            <a:solidFill>
              <a:srgbClr val="7D8791"/>
            </a:solidFill>
          </a:ln>
          <a:effectLst/>
        </p:spPr>
        <p:txBody>
          <a:bodyPr rtlCol="0" anchor="ctr"/>
          <a:lstStyle/>
          <a:p>
            <a:pPr algn="ctr"/>
          </a:p>
        </p:txBody>
      </p:sp>
      <p:pic>
        <p:nvPicPr>
          <p:cNvPr id="40" name="Picture 39" descr="cc5916fefd01168a.jpg"/>
          <p:cNvPicPr>
            <a:picLocks noChangeAspect="1"/>
          </p:cNvPicPr>
          <p:nvPr/>
        </p:nvPicPr>
        <p:blipFill>
          <a:blip r:embed="rId13"/>
          <a:stretch>
            <a:fillRect/>
          </a:stretch>
        </p:blipFill>
        <p:spPr>
          <a:xfrm>
            <a:off x="9328150" y="4648200"/>
            <a:ext cx="622300" cy="622300"/>
          </a:xfrm>
          <a:prstGeom prst="rect">
            <a:avLst/>
          </a:prstGeom>
        </p:spPr>
      </p:pic>
      <p:sp>
        <p:nvSpPr>
          <p:cNvPr id="41" name="TextBox 40"/>
          <p:cNvSpPr txBox="1"/>
          <p:nvPr/>
        </p:nvSpPr>
        <p:spPr>
          <a:xfrm>
            <a:off x="9471323" y="5325070"/>
            <a:ext cx="335955" cy="213360"/>
          </a:xfrm>
          <a:prstGeom prst="rect">
            <a:avLst/>
          </a:prstGeom>
          <a:noFill/>
        </p:spPr>
        <p:txBody>
          <a:bodyPr wrap="none" lIns="0" rIns="0" tIns="0" bIns="0" anchor="ctr">
            <a:noAutofit/>
          </a:bodyPr>
          <a:lstStyle/>
          <a:p>
            <a:pPr algn="ctr">
              <a:lnSpc>
                <a:spcPts val="1610"/>
              </a:lnSpc>
            </a:pPr>
            <a:r>
              <a:rPr sz="1400" b="1" i="0">
                <a:solidFill>
                  <a:srgbClr val="2C1A1F"/>
                </a:solidFill>
                <a:latin typeface="Verdana"/>
              </a:rPr>
              <a:t>Ben</a:t>
            </a:r>
          </a:p>
        </p:txBody>
      </p:sp>
      <p:sp>
        <p:nvSpPr>
          <p:cNvPr id="42" name="Rounded Rectangle 41"/>
          <p:cNvSpPr/>
          <p:nvPr/>
        </p:nvSpPr>
        <p:spPr>
          <a:xfrm>
            <a:off x="10287000" y="4537670"/>
            <a:ext cx="1092200" cy="1106091"/>
          </a:xfrm>
          <a:prstGeom prst="roundRect">
            <a:avLst>
              <a:gd name="adj" fmla="val 5813"/>
            </a:avLst>
          </a:prstGeom>
          <a:solidFill>
            <a:srgbClr val="E9E3E4"/>
          </a:solidFill>
          <a:ln w="12700">
            <a:solidFill>
              <a:srgbClr val="7D8791"/>
            </a:solidFill>
          </a:ln>
          <a:effectLst/>
        </p:spPr>
        <p:txBody>
          <a:bodyPr rtlCol="0" anchor="ctr"/>
          <a:lstStyle/>
          <a:p>
            <a:pPr algn="ctr"/>
          </a:p>
        </p:txBody>
      </p:sp>
      <p:pic>
        <p:nvPicPr>
          <p:cNvPr id="43" name="Picture 42" descr="2df5fb1dc61a36f2.jpg"/>
          <p:cNvPicPr>
            <a:picLocks noChangeAspect="1"/>
          </p:cNvPicPr>
          <p:nvPr/>
        </p:nvPicPr>
        <p:blipFill>
          <a:blip r:embed="rId14"/>
          <a:stretch>
            <a:fillRect/>
          </a:stretch>
        </p:blipFill>
        <p:spPr>
          <a:xfrm>
            <a:off x="10521950" y="4648200"/>
            <a:ext cx="622300" cy="622300"/>
          </a:xfrm>
          <a:prstGeom prst="rect">
            <a:avLst/>
          </a:prstGeom>
        </p:spPr>
      </p:pic>
      <p:sp>
        <p:nvSpPr>
          <p:cNvPr id="44" name="TextBox 43"/>
          <p:cNvSpPr txBox="1"/>
          <p:nvPr/>
        </p:nvSpPr>
        <p:spPr>
          <a:xfrm>
            <a:off x="10447635" y="5325070"/>
            <a:ext cx="770930" cy="213360"/>
          </a:xfrm>
          <a:prstGeom prst="rect">
            <a:avLst/>
          </a:prstGeom>
          <a:noFill/>
        </p:spPr>
        <p:txBody>
          <a:bodyPr wrap="none" lIns="0" rIns="0" tIns="0" bIns="0" anchor="ctr">
            <a:noAutofit/>
          </a:bodyPr>
          <a:lstStyle/>
          <a:p>
            <a:pPr algn="ctr">
              <a:lnSpc>
                <a:spcPts val="1610"/>
              </a:lnSpc>
            </a:pPr>
            <a:r>
              <a:rPr sz="1400" b="1" i="0">
                <a:solidFill>
                  <a:srgbClr val="2C1A1F"/>
                </a:solidFill>
                <a:latin typeface="Verdana"/>
              </a:rPr>
              <a:t>Vanshika</a:t>
            </a:r>
          </a:p>
        </p:txBody>
      </p:sp>
      <p:sp>
        <p:nvSpPr>
          <p:cNvPr id="45" name="Rounded Rectangle 44"/>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46" name="TextBox 45"/>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 / 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sp>
        <p:nvSpPr>
          <p:cNvPr id="2" name="TextBox 1"/>
          <p:cNvSpPr txBox="1"/>
          <p:nvPr/>
        </p:nvSpPr>
        <p:spPr>
          <a:xfrm>
            <a:off x="812800" y="660400"/>
            <a:ext cx="10566400" cy="365760"/>
          </a:xfrm>
          <a:prstGeom prst="rect">
            <a:avLst/>
          </a:prstGeom>
          <a:noFill/>
        </p:spPr>
        <p:txBody>
          <a:bodyPr wrap="none" lIns="0" rIns="0" tIns="0" bIns="0" anchor="ctr">
            <a:noAutofit/>
          </a:bodyPr>
          <a:lstStyle/>
          <a:p>
            <a:pPr algn="l">
              <a:lnSpc>
                <a:spcPts val="3479"/>
              </a:lnSpc>
            </a:pPr>
            <a:r>
              <a:rPr sz="2400" b="0" i="0" spc="336">
                <a:solidFill>
                  <a:srgbClr val="861F41"/>
                </a:solidFill>
                <a:latin typeface="Verdana"/>
              </a:rPr>
              <a:t>PERKS OF THE JOB AND MY FAVORITE HOBBY: TRAVEL!</a:t>
            </a:r>
          </a:p>
        </p:txBody>
      </p:sp>
      <p:pic>
        <p:nvPicPr>
          <p:cNvPr id="3" name="Picture 2" descr="815250cae956cc78.jpg"/>
          <p:cNvPicPr>
            <a:picLocks noChangeAspect="1"/>
          </p:cNvPicPr>
          <p:nvPr/>
        </p:nvPicPr>
        <p:blipFill>
          <a:blip r:embed="rId2"/>
          <a:stretch>
            <a:fillRect/>
          </a:stretch>
        </p:blipFill>
        <p:spPr>
          <a:xfrm>
            <a:off x="812800" y="1504950"/>
            <a:ext cx="10566400" cy="4413250"/>
          </a:xfrm>
          <a:prstGeom prst="rect">
            <a:avLst/>
          </a:prstGeom>
        </p:spPr>
      </p:pic>
      <p:sp>
        <p:nvSpPr>
          <p:cNvPr id="4" name="Rounded Rectangle 3"/>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5" name="TextBox 4"/>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3 / 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sp>
        <p:nvSpPr>
          <p:cNvPr id="2" name="TextBox 1"/>
          <p:cNvSpPr txBox="1"/>
          <p:nvPr/>
        </p:nvSpPr>
        <p:spPr>
          <a:xfrm>
            <a:off x="812800" y="660400"/>
            <a:ext cx="10566400" cy="365760"/>
          </a:xfrm>
          <a:prstGeom prst="rect">
            <a:avLst/>
          </a:prstGeom>
          <a:noFill/>
        </p:spPr>
        <p:txBody>
          <a:bodyPr wrap="none" lIns="0" rIns="0" tIns="0" bIns="0" anchor="ctr">
            <a:noAutofit/>
          </a:bodyPr>
          <a:lstStyle/>
          <a:p>
            <a:pPr algn="l">
              <a:lnSpc>
                <a:spcPts val="3479"/>
              </a:lnSpc>
            </a:pPr>
            <a:r>
              <a:rPr sz="2400" b="0" i="0" spc="336">
                <a:solidFill>
                  <a:srgbClr val="861F41"/>
                </a:solidFill>
                <a:latin typeface="Verdana"/>
              </a:rPr>
              <a:t>PERKS OF THE JOB AND MY FAVORITE HOBBY: TRAVEL!</a:t>
            </a:r>
          </a:p>
        </p:txBody>
      </p:sp>
      <p:pic>
        <p:nvPicPr>
          <p:cNvPr id="3" name="Picture 2" descr="815250cae956cc78.jpg"/>
          <p:cNvPicPr>
            <a:picLocks noChangeAspect="1"/>
          </p:cNvPicPr>
          <p:nvPr/>
        </p:nvPicPr>
        <p:blipFill>
          <a:blip r:embed="rId2"/>
          <a:stretch>
            <a:fillRect/>
          </a:stretch>
        </p:blipFill>
        <p:spPr>
          <a:xfrm>
            <a:off x="812800" y="1504950"/>
            <a:ext cx="10566400" cy="4413250"/>
          </a:xfrm>
          <a:prstGeom prst="rect">
            <a:avLst/>
          </a:prstGeom>
        </p:spPr>
      </p:pic>
      <p:sp>
        <p:nvSpPr>
          <p:cNvPr id="4" name="Rounded Rectangle 3"/>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5" name="TextBox 4"/>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3 / 28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1974056" y="2085975"/>
            <a:ext cx="4499372" cy="731520"/>
          </a:xfrm>
          <a:prstGeom prst="rect">
            <a:avLst/>
          </a:prstGeom>
          <a:noFill/>
        </p:spPr>
        <p:txBody>
          <a:bodyPr wrap="none" lIns="0" rIns="0" tIns="0" bIns="0" anchor="ctr">
            <a:noAutofit/>
          </a:bodyPr>
          <a:lstStyle/>
          <a:p>
            <a:pPr algn="l">
              <a:lnSpc>
                <a:spcPts val="5040"/>
              </a:lnSpc>
            </a:pPr>
            <a:r>
              <a:rPr sz="4800" b="0" i="0" spc="-96">
                <a:solidFill>
                  <a:srgbClr val="861F41"/>
                </a:solidFill>
                <a:latin typeface="Georgia"/>
              </a:rPr>
              <a:t>Software Design &amp;</a:t>
            </a:r>
          </a:p>
        </p:txBody>
      </p:sp>
      <p:sp>
        <p:nvSpPr>
          <p:cNvPr id="4" name="TextBox 3"/>
          <p:cNvSpPr txBox="1"/>
          <p:nvPr/>
        </p:nvSpPr>
        <p:spPr>
          <a:xfrm>
            <a:off x="6625828" y="2085975"/>
            <a:ext cx="3592016" cy="731520"/>
          </a:xfrm>
          <a:prstGeom prst="rect">
            <a:avLst/>
          </a:prstGeom>
          <a:noFill/>
        </p:spPr>
        <p:txBody>
          <a:bodyPr wrap="none" lIns="0" rIns="0" tIns="0" bIns="0" anchor="ctr">
            <a:noAutofit/>
          </a:bodyPr>
          <a:lstStyle/>
          <a:p>
            <a:pPr algn="l">
              <a:lnSpc>
                <a:spcPts val="5040"/>
              </a:lnSpc>
            </a:pPr>
            <a:r>
              <a:rPr sz="4800" b="0" i="0" spc="-96">
                <a:solidFill>
                  <a:srgbClr val="861F41"/>
                </a:solidFill>
                <a:latin typeface="Georgia"/>
              </a:rPr>
              <a:t>Data Structures</a:t>
            </a:r>
          </a:p>
        </p:txBody>
      </p:sp>
      <p:sp>
        <p:nvSpPr>
          <p:cNvPr id="5" name="Rounded Rectangle 4"/>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6" name="TextBox 5"/>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4 / 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2209701" y="2143125"/>
            <a:ext cx="4028182" cy="658368"/>
          </a:xfrm>
          <a:prstGeom prst="rect">
            <a:avLst/>
          </a:prstGeom>
          <a:noFill/>
        </p:spPr>
        <p:txBody>
          <a:bodyPr wrap="none" lIns="0" rIns="0" tIns="0" bIns="0" anchor="ctr">
            <a:noAutofit/>
          </a:bodyPr>
          <a:lstStyle/>
          <a:p>
            <a:pPr algn="l">
              <a:lnSpc>
                <a:spcPts val="4536"/>
              </a:lnSpc>
            </a:pPr>
            <a:r>
              <a:rPr sz="4320" b="0" i="0" spc="-96">
                <a:solidFill>
                  <a:srgbClr val="6B4A52"/>
                </a:solidFill>
                <a:latin typeface="Georgia"/>
              </a:rPr>
              <a:t>Software Design &amp;</a:t>
            </a:r>
          </a:p>
        </p:txBody>
      </p:sp>
      <p:sp>
        <p:nvSpPr>
          <p:cNvPr id="4" name="TextBox 3"/>
          <p:cNvSpPr txBox="1"/>
          <p:nvPr/>
        </p:nvSpPr>
        <p:spPr>
          <a:xfrm>
            <a:off x="6390283" y="2085975"/>
            <a:ext cx="3592016" cy="731520"/>
          </a:xfrm>
          <a:prstGeom prst="rect">
            <a:avLst/>
          </a:prstGeom>
          <a:noFill/>
        </p:spPr>
        <p:txBody>
          <a:bodyPr wrap="none" lIns="0" rIns="0" tIns="0" bIns="0" anchor="ctr">
            <a:noAutofit/>
          </a:bodyPr>
          <a:lstStyle/>
          <a:p>
            <a:pPr algn="l">
              <a:lnSpc>
                <a:spcPts val="5040"/>
              </a:lnSpc>
            </a:pPr>
            <a:r>
              <a:rPr sz="4800" b="0" i="0" spc="-96">
                <a:solidFill>
                  <a:srgbClr val="861F41"/>
                </a:solidFill>
                <a:latin typeface="Georgia"/>
              </a:rPr>
              <a:t>Data Structures</a:t>
            </a:r>
          </a:p>
        </p:txBody>
      </p:sp>
      <p:sp>
        <p:nvSpPr>
          <p:cNvPr id="5" name="Rounded Rectangle 4"/>
          <p:cNvSpPr/>
          <p:nvPr/>
        </p:nvSpPr>
        <p:spPr>
          <a:xfrm>
            <a:off x="3090862" y="3361035"/>
            <a:ext cx="846832" cy="1385491"/>
          </a:xfrm>
          <a:prstGeom prst="roundRect">
            <a:avLst>
              <a:gd name="adj" fmla="val 7498"/>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3160712" y="4275435"/>
            <a:ext cx="707132"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Writing</a:t>
            </a:r>
          </a:p>
        </p:txBody>
      </p:sp>
      <p:pic>
        <p:nvPicPr>
          <p:cNvPr id="7" name="Picture 6" descr="2c5cd72f72ac9a3c.png"/>
          <p:cNvPicPr>
            <a:picLocks noChangeAspect="1"/>
          </p:cNvPicPr>
          <p:nvPr/>
        </p:nvPicPr>
        <p:blipFill>
          <a:blip r:embed="rId3"/>
          <a:stretch>
            <a:fillRect/>
          </a:stretch>
        </p:blipFill>
        <p:spPr>
          <a:xfrm>
            <a:off x="3206750" y="3530600"/>
            <a:ext cx="609600" cy="609600"/>
          </a:xfrm>
          <a:prstGeom prst="rect">
            <a:avLst/>
          </a:prstGeom>
        </p:spPr>
      </p:pic>
      <p:sp>
        <p:nvSpPr>
          <p:cNvPr id="8" name="Rounded Rectangle 7"/>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9" name="TextBox 8"/>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4 /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2444849" y="2200275"/>
            <a:ext cx="3557885" cy="585216"/>
          </a:xfrm>
          <a:prstGeom prst="rect">
            <a:avLst/>
          </a:prstGeom>
          <a:noFill/>
        </p:spPr>
        <p:txBody>
          <a:bodyPr wrap="none" lIns="0" rIns="0" tIns="0" bIns="0" anchor="ctr">
            <a:noAutofit/>
          </a:bodyPr>
          <a:lstStyle/>
          <a:p>
            <a:pPr algn="l">
              <a:lnSpc>
                <a:spcPts val="4032"/>
              </a:lnSpc>
            </a:pPr>
            <a:r>
              <a:rPr sz="3840" b="0" i="0" spc="-96">
                <a:solidFill>
                  <a:srgbClr val="6B4A52"/>
                </a:solidFill>
                <a:latin typeface="Georgia"/>
              </a:rPr>
              <a:t>Software Design &amp;</a:t>
            </a:r>
          </a:p>
        </p:txBody>
      </p:sp>
      <p:sp>
        <p:nvSpPr>
          <p:cNvPr id="4" name="TextBox 3"/>
          <p:cNvSpPr txBox="1"/>
          <p:nvPr/>
        </p:nvSpPr>
        <p:spPr>
          <a:xfrm>
            <a:off x="6155134" y="2085975"/>
            <a:ext cx="3592016" cy="731520"/>
          </a:xfrm>
          <a:prstGeom prst="rect">
            <a:avLst/>
          </a:prstGeom>
          <a:noFill/>
        </p:spPr>
        <p:txBody>
          <a:bodyPr wrap="none" lIns="0" rIns="0" tIns="0" bIns="0" anchor="ctr">
            <a:noAutofit/>
          </a:bodyPr>
          <a:lstStyle/>
          <a:p>
            <a:pPr algn="l">
              <a:lnSpc>
                <a:spcPts val="5040"/>
              </a:lnSpc>
            </a:pPr>
            <a:r>
              <a:rPr sz="4800" b="0" i="0" spc="-96">
                <a:solidFill>
                  <a:srgbClr val="861F41"/>
                </a:solidFill>
                <a:latin typeface="Georgia"/>
              </a:rPr>
              <a:t>Data Structures</a:t>
            </a:r>
          </a:p>
        </p:txBody>
      </p:sp>
      <p:sp>
        <p:nvSpPr>
          <p:cNvPr id="5" name="Rounded Rectangle 4"/>
          <p:cNvSpPr/>
          <p:nvPr/>
        </p:nvSpPr>
        <p:spPr>
          <a:xfrm>
            <a:off x="3090862" y="3361035"/>
            <a:ext cx="846832" cy="1385491"/>
          </a:xfrm>
          <a:prstGeom prst="roundRect">
            <a:avLst>
              <a:gd name="adj" fmla="val 7498"/>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3160712" y="4275435"/>
            <a:ext cx="707132"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Writing</a:t>
            </a:r>
          </a:p>
        </p:txBody>
      </p:sp>
      <p:pic>
        <p:nvPicPr>
          <p:cNvPr id="7" name="Picture 6" descr="2c5cd72f72ac9a3c.png"/>
          <p:cNvPicPr>
            <a:picLocks noChangeAspect="1"/>
          </p:cNvPicPr>
          <p:nvPr/>
        </p:nvPicPr>
        <p:blipFill>
          <a:blip r:embed="rId3"/>
          <a:stretch>
            <a:fillRect/>
          </a:stretch>
        </p:blipFill>
        <p:spPr>
          <a:xfrm>
            <a:off x="3206750" y="3530600"/>
            <a:ext cx="609600" cy="609600"/>
          </a:xfrm>
          <a:prstGeom prst="rect">
            <a:avLst/>
          </a:prstGeom>
        </p:spPr>
      </p:pic>
      <p:sp>
        <p:nvSpPr>
          <p:cNvPr id="8" name="Rounded Rectangle 7"/>
          <p:cNvSpPr/>
          <p:nvPr/>
        </p:nvSpPr>
        <p:spPr>
          <a:xfrm>
            <a:off x="4090095" y="3361035"/>
            <a:ext cx="864096" cy="1385491"/>
          </a:xfrm>
          <a:prstGeom prst="roundRect">
            <a:avLst>
              <a:gd name="adj" fmla="val 7348"/>
            </a:avLst>
          </a:prstGeom>
          <a:solidFill>
            <a:srgbClr val="E9E3E4"/>
          </a:solidFill>
          <a:ln w="19050">
            <a:solidFill>
              <a:srgbClr val="1C6091"/>
            </a:solidFill>
          </a:ln>
          <a:effectLst/>
        </p:spPr>
        <p:txBody>
          <a:bodyPr rtlCol="0" anchor="ctr"/>
          <a:lstStyle/>
          <a:p>
            <a:pPr algn="ctr"/>
          </a:p>
        </p:txBody>
      </p:sp>
      <p:sp>
        <p:nvSpPr>
          <p:cNvPr id="9" name="TextBox 8"/>
          <p:cNvSpPr txBox="1"/>
          <p:nvPr/>
        </p:nvSpPr>
        <p:spPr>
          <a:xfrm>
            <a:off x="4159945" y="4275435"/>
            <a:ext cx="724396"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Testing</a:t>
            </a:r>
          </a:p>
        </p:txBody>
      </p:sp>
      <p:pic>
        <p:nvPicPr>
          <p:cNvPr id="10" name="Picture 9" descr="a7211cfacad038f8.png"/>
          <p:cNvPicPr>
            <a:picLocks noChangeAspect="1"/>
          </p:cNvPicPr>
          <p:nvPr/>
        </p:nvPicPr>
        <p:blipFill>
          <a:blip r:embed="rId4"/>
          <a:stretch>
            <a:fillRect/>
          </a:stretch>
        </p:blipFill>
        <p:spPr>
          <a:xfrm>
            <a:off x="4216400" y="3530600"/>
            <a:ext cx="609600" cy="609600"/>
          </a:xfrm>
          <a:prstGeom prst="rect">
            <a:avLst/>
          </a:prstGeom>
        </p:spPr>
      </p:pic>
      <p:sp>
        <p:nvSpPr>
          <p:cNvPr id="11" name="Rounded Rectangle 10"/>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12" name="TextBox 11"/>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4 /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2680395" y="2251075"/>
            <a:ext cx="3086795" cy="512064"/>
          </a:xfrm>
          <a:prstGeom prst="rect">
            <a:avLst/>
          </a:prstGeom>
          <a:noFill/>
        </p:spPr>
        <p:txBody>
          <a:bodyPr wrap="none" lIns="0" rIns="0" tIns="0" bIns="0" anchor="ctr">
            <a:noAutofit/>
          </a:bodyPr>
          <a:lstStyle/>
          <a:p>
            <a:pPr algn="l">
              <a:lnSpc>
                <a:spcPts val="3528"/>
              </a:lnSpc>
            </a:pPr>
            <a:r>
              <a:rPr sz="3360" b="0" i="0" spc="-96">
                <a:solidFill>
                  <a:srgbClr val="6B4A52"/>
                </a:solidFill>
                <a:latin typeface="Georgia"/>
              </a:rPr>
              <a:t>Software Design &amp;</a:t>
            </a:r>
          </a:p>
        </p:txBody>
      </p:sp>
      <p:sp>
        <p:nvSpPr>
          <p:cNvPr id="4" name="TextBox 3"/>
          <p:cNvSpPr txBox="1"/>
          <p:nvPr/>
        </p:nvSpPr>
        <p:spPr>
          <a:xfrm>
            <a:off x="5919589" y="2085975"/>
            <a:ext cx="3592016" cy="731520"/>
          </a:xfrm>
          <a:prstGeom prst="rect">
            <a:avLst/>
          </a:prstGeom>
          <a:noFill/>
        </p:spPr>
        <p:txBody>
          <a:bodyPr wrap="none" lIns="0" rIns="0" tIns="0" bIns="0" anchor="ctr">
            <a:noAutofit/>
          </a:bodyPr>
          <a:lstStyle/>
          <a:p>
            <a:pPr algn="l">
              <a:lnSpc>
                <a:spcPts val="5040"/>
              </a:lnSpc>
            </a:pPr>
            <a:r>
              <a:rPr sz="4800" b="0" i="0" spc="-96">
                <a:solidFill>
                  <a:srgbClr val="861F41"/>
                </a:solidFill>
                <a:latin typeface="Georgia"/>
              </a:rPr>
              <a:t>Data Structures</a:t>
            </a:r>
          </a:p>
        </p:txBody>
      </p:sp>
      <p:sp>
        <p:nvSpPr>
          <p:cNvPr id="5" name="Rounded Rectangle 4"/>
          <p:cNvSpPr/>
          <p:nvPr/>
        </p:nvSpPr>
        <p:spPr>
          <a:xfrm>
            <a:off x="3090862" y="3361035"/>
            <a:ext cx="846832" cy="1385491"/>
          </a:xfrm>
          <a:prstGeom prst="roundRect">
            <a:avLst>
              <a:gd name="adj" fmla="val 7498"/>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3160712" y="4275435"/>
            <a:ext cx="707132"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Writing</a:t>
            </a:r>
          </a:p>
        </p:txBody>
      </p:sp>
      <p:pic>
        <p:nvPicPr>
          <p:cNvPr id="7" name="Picture 6" descr="2c5cd72f72ac9a3c.png"/>
          <p:cNvPicPr>
            <a:picLocks noChangeAspect="1"/>
          </p:cNvPicPr>
          <p:nvPr/>
        </p:nvPicPr>
        <p:blipFill>
          <a:blip r:embed="rId3"/>
          <a:stretch>
            <a:fillRect/>
          </a:stretch>
        </p:blipFill>
        <p:spPr>
          <a:xfrm>
            <a:off x="3206750" y="3530600"/>
            <a:ext cx="609600" cy="609600"/>
          </a:xfrm>
          <a:prstGeom prst="rect">
            <a:avLst/>
          </a:prstGeom>
        </p:spPr>
      </p:pic>
      <p:sp>
        <p:nvSpPr>
          <p:cNvPr id="8" name="Rounded Rectangle 7"/>
          <p:cNvSpPr/>
          <p:nvPr/>
        </p:nvSpPr>
        <p:spPr>
          <a:xfrm>
            <a:off x="4090095" y="3361035"/>
            <a:ext cx="864096" cy="1385491"/>
          </a:xfrm>
          <a:prstGeom prst="roundRect">
            <a:avLst>
              <a:gd name="adj" fmla="val 7348"/>
            </a:avLst>
          </a:prstGeom>
          <a:solidFill>
            <a:srgbClr val="E9E3E4"/>
          </a:solidFill>
          <a:ln w="19050">
            <a:solidFill>
              <a:srgbClr val="1C6091"/>
            </a:solidFill>
          </a:ln>
          <a:effectLst/>
        </p:spPr>
        <p:txBody>
          <a:bodyPr rtlCol="0" anchor="ctr"/>
          <a:lstStyle/>
          <a:p>
            <a:pPr algn="ctr"/>
          </a:p>
        </p:txBody>
      </p:sp>
      <p:sp>
        <p:nvSpPr>
          <p:cNvPr id="9" name="TextBox 8"/>
          <p:cNvSpPr txBox="1"/>
          <p:nvPr/>
        </p:nvSpPr>
        <p:spPr>
          <a:xfrm>
            <a:off x="4159945" y="4275435"/>
            <a:ext cx="724396"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Testing</a:t>
            </a:r>
          </a:p>
        </p:txBody>
      </p:sp>
      <p:pic>
        <p:nvPicPr>
          <p:cNvPr id="10" name="Picture 9" descr="a7211cfacad038f8.png"/>
          <p:cNvPicPr>
            <a:picLocks noChangeAspect="1"/>
          </p:cNvPicPr>
          <p:nvPr/>
        </p:nvPicPr>
        <p:blipFill>
          <a:blip r:embed="rId4"/>
          <a:stretch>
            <a:fillRect/>
          </a:stretch>
        </p:blipFill>
        <p:spPr>
          <a:xfrm>
            <a:off x="4216400" y="3530600"/>
            <a:ext cx="609600" cy="609600"/>
          </a:xfrm>
          <a:prstGeom prst="rect">
            <a:avLst/>
          </a:prstGeom>
        </p:spPr>
      </p:pic>
      <p:sp>
        <p:nvSpPr>
          <p:cNvPr id="11" name="Rounded Rectangle 10"/>
          <p:cNvSpPr/>
          <p:nvPr/>
        </p:nvSpPr>
        <p:spPr>
          <a:xfrm>
            <a:off x="5106591" y="3361035"/>
            <a:ext cx="893564" cy="1385491"/>
          </a:xfrm>
          <a:prstGeom prst="roundRect">
            <a:avLst>
              <a:gd name="adj" fmla="val 7106"/>
            </a:avLst>
          </a:prstGeom>
          <a:solidFill>
            <a:srgbClr val="E9E3E4"/>
          </a:solidFill>
          <a:ln w="19050">
            <a:solidFill>
              <a:srgbClr val="1C6091"/>
            </a:solidFill>
          </a:ln>
          <a:effectLst/>
        </p:spPr>
        <p:txBody>
          <a:bodyPr rtlCol="0" anchor="ctr"/>
          <a:lstStyle/>
          <a:p>
            <a:pPr algn="ctr"/>
          </a:p>
        </p:txBody>
      </p:sp>
      <p:sp>
        <p:nvSpPr>
          <p:cNvPr id="12" name="TextBox 11"/>
          <p:cNvSpPr txBox="1"/>
          <p:nvPr/>
        </p:nvSpPr>
        <p:spPr>
          <a:xfrm>
            <a:off x="5176441" y="4275435"/>
            <a:ext cx="753864"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Tracing</a:t>
            </a:r>
          </a:p>
        </p:txBody>
      </p:sp>
      <p:pic>
        <p:nvPicPr>
          <p:cNvPr id="13" name="Picture 12" descr="d9993f43c1e57612.png"/>
          <p:cNvPicPr>
            <a:picLocks noChangeAspect="1"/>
          </p:cNvPicPr>
          <p:nvPr/>
        </p:nvPicPr>
        <p:blipFill>
          <a:blip r:embed="rId5"/>
          <a:stretch>
            <a:fillRect/>
          </a:stretch>
        </p:blipFill>
        <p:spPr>
          <a:xfrm>
            <a:off x="5245100" y="3530600"/>
            <a:ext cx="609600" cy="609600"/>
          </a:xfrm>
          <a:prstGeom prst="rect">
            <a:avLst/>
          </a:prstGeom>
        </p:spPr>
      </p:pic>
      <p:sp>
        <p:nvSpPr>
          <p:cNvPr id="14" name="Rounded Rectangle 13"/>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15" name="TextBox 14"/>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4 / 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2962672" y="2320925"/>
            <a:ext cx="2522141" cy="424282"/>
          </a:xfrm>
          <a:prstGeom prst="rect">
            <a:avLst/>
          </a:prstGeom>
          <a:noFill/>
        </p:spPr>
        <p:txBody>
          <a:bodyPr wrap="none" lIns="0" rIns="0" tIns="0" bIns="0" anchor="ctr">
            <a:noAutofit/>
          </a:bodyPr>
          <a:lstStyle/>
          <a:p>
            <a:pPr algn="l">
              <a:lnSpc>
                <a:spcPts val="2923"/>
              </a:lnSpc>
            </a:pPr>
            <a:r>
              <a:rPr sz="2784" b="0" i="0" spc="-96">
                <a:solidFill>
                  <a:srgbClr val="6B4A52"/>
                </a:solidFill>
                <a:latin typeface="Georgia"/>
              </a:rPr>
              <a:t>Software Design &amp;</a:t>
            </a:r>
          </a:p>
        </p:txBody>
      </p:sp>
      <p:sp>
        <p:nvSpPr>
          <p:cNvPr id="4" name="TextBox 3"/>
          <p:cNvSpPr txBox="1"/>
          <p:nvPr/>
        </p:nvSpPr>
        <p:spPr>
          <a:xfrm>
            <a:off x="5637212" y="2085975"/>
            <a:ext cx="3592016" cy="731520"/>
          </a:xfrm>
          <a:prstGeom prst="rect">
            <a:avLst/>
          </a:prstGeom>
          <a:noFill/>
        </p:spPr>
        <p:txBody>
          <a:bodyPr wrap="none" lIns="0" rIns="0" tIns="0" bIns="0" anchor="ctr">
            <a:noAutofit/>
          </a:bodyPr>
          <a:lstStyle/>
          <a:p>
            <a:pPr algn="l">
              <a:lnSpc>
                <a:spcPts val="5040"/>
              </a:lnSpc>
            </a:pPr>
            <a:r>
              <a:rPr sz="4800" b="0" i="0" spc="-96">
                <a:solidFill>
                  <a:srgbClr val="861F41"/>
                </a:solidFill>
                <a:latin typeface="Georgia"/>
              </a:rPr>
              <a:t>Data Structures</a:t>
            </a:r>
          </a:p>
        </p:txBody>
      </p:sp>
      <p:sp>
        <p:nvSpPr>
          <p:cNvPr id="5" name="Rounded Rectangle 4"/>
          <p:cNvSpPr/>
          <p:nvPr/>
        </p:nvSpPr>
        <p:spPr>
          <a:xfrm>
            <a:off x="3090862" y="3361035"/>
            <a:ext cx="846832" cy="1385491"/>
          </a:xfrm>
          <a:prstGeom prst="roundRect">
            <a:avLst>
              <a:gd name="adj" fmla="val 7498"/>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3160712" y="4275435"/>
            <a:ext cx="707132"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Writing</a:t>
            </a:r>
          </a:p>
        </p:txBody>
      </p:sp>
      <p:pic>
        <p:nvPicPr>
          <p:cNvPr id="7" name="Picture 6" descr="2c5cd72f72ac9a3c.png"/>
          <p:cNvPicPr>
            <a:picLocks noChangeAspect="1"/>
          </p:cNvPicPr>
          <p:nvPr/>
        </p:nvPicPr>
        <p:blipFill>
          <a:blip r:embed="rId3"/>
          <a:stretch>
            <a:fillRect/>
          </a:stretch>
        </p:blipFill>
        <p:spPr>
          <a:xfrm>
            <a:off x="3206750" y="3530600"/>
            <a:ext cx="609600" cy="609600"/>
          </a:xfrm>
          <a:prstGeom prst="rect">
            <a:avLst/>
          </a:prstGeom>
        </p:spPr>
      </p:pic>
      <p:sp>
        <p:nvSpPr>
          <p:cNvPr id="8" name="Rounded Rectangle 7"/>
          <p:cNvSpPr/>
          <p:nvPr/>
        </p:nvSpPr>
        <p:spPr>
          <a:xfrm>
            <a:off x="4090095" y="3361035"/>
            <a:ext cx="864096" cy="1385491"/>
          </a:xfrm>
          <a:prstGeom prst="roundRect">
            <a:avLst>
              <a:gd name="adj" fmla="val 7348"/>
            </a:avLst>
          </a:prstGeom>
          <a:solidFill>
            <a:srgbClr val="E9E3E4"/>
          </a:solidFill>
          <a:ln w="19050">
            <a:solidFill>
              <a:srgbClr val="1C6091"/>
            </a:solidFill>
          </a:ln>
          <a:effectLst/>
        </p:spPr>
        <p:txBody>
          <a:bodyPr rtlCol="0" anchor="ctr"/>
          <a:lstStyle/>
          <a:p>
            <a:pPr algn="ctr"/>
          </a:p>
        </p:txBody>
      </p:sp>
      <p:sp>
        <p:nvSpPr>
          <p:cNvPr id="9" name="TextBox 8"/>
          <p:cNvSpPr txBox="1"/>
          <p:nvPr/>
        </p:nvSpPr>
        <p:spPr>
          <a:xfrm>
            <a:off x="4159945" y="4275435"/>
            <a:ext cx="724396"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Testing</a:t>
            </a:r>
          </a:p>
        </p:txBody>
      </p:sp>
      <p:pic>
        <p:nvPicPr>
          <p:cNvPr id="10" name="Picture 9" descr="a7211cfacad038f8.png"/>
          <p:cNvPicPr>
            <a:picLocks noChangeAspect="1"/>
          </p:cNvPicPr>
          <p:nvPr/>
        </p:nvPicPr>
        <p:blipFill>
          <a:blip r:embed="rId4"/>
          <a:stretch>
            <a:fillRect/>
          </a:stretch>
        </p:blipFill>
        <p:spPr>
          <a:xfrm>
            <a:off x="4216400" y="3530600"/>
            <a:ext cx="609600" cy="609600"/>
          </a:xfrm>
          <a:prstGeom prst="rect">
            <a:avLst/>
          </a:prstGeom>
        </p:spPr>
      </p:pic>
      <p:sp>
        <p:nvSpPr>
          <p:cNvPr id="11" name="Rounded Rectangle 10"/>
          <p:cNvSpPr/>
          <p:nvPr/>
        </p:nvSpPr>
        <p:spPr>
          <a:xfrm>
            <a:off x="5106591" y="3361035"/>
            <a:ext cx="893564" cy="1385491"/>
          </a:xfrm>
          <a:prstGeom prst="roundRect">
            <a:avLst>
              <a:gd name="adj" fmla="val 7106"/>
            </a:avLst>
          </a:prstGeom>
          <a:solidFill>
            <a:srgbClr val="E9E3E4"/>
          </a:solidFill>
          <a:ln w="19050">
            <a:solidFill>
              <a:srgbClr val="1C6091"/>
            </a:solidFill>
          </a:ln>
          <a:effectLst/>
        </p:spPr>
        <p:txBody>
          <a:bodyPr rtlCol="0" anchor="ctr"/>
          <a:lstStyle/>
          <a:p>
            <a:pPr algn="ctr"/>
          </a:p>
        </p:txBody>
      </p:sp>
      <p:sp>
        <p:nvSpPr>
          <p:cNvPr id="12" name="TextBox 11"/>
          <p:cNvSpPr txBox="1"/>
          <p:nvPr/>
        </p:nvSpPr>
        <p:spPr>
          <a:xfrm>
            <a:off x="5176441" y="4275435"/>
            <a:ext cx="753864"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Tracing</a:t>
            </a:r>
          </a:p>
        </p:txBody>
      </p:sp>
      <p:pic>
        <p:nvPicPr>
          <p:cNvPr id="13" name="Picture 12" descr="d9993f43c1e57612.png"/>
          <p:cNvPicPr>
            <a:picLocks noChangeAspect="1"/>
          </p:cNvPicPr>
          <p:nvPr/>
        </p:nvPicPr>
        <p:blipFill>
          <a:blip r:embed="rId5"/>
          <a:stretch>
            <a:fillRect/>
          </a:stretch>
        </p:blipFill>
        <p:spPr>
          <a:xfrm>
            <a:off x="5245100" y="3530600"/>
            <a:ext cx="609600" cy="609600"/>
          </a:xfrm>
          <a:prstGeom prst="rect">
            <a:avLst/>
          </a:prstGeom>
        </p:spPr>
      </p:pic>
      <p:sp>
        <p:nvSpPr>
          <p:cNvPr id="14" name="Rounded Rectangle 13"/>
          <p:cNvSpPr/>
          <p:nvPr/>
        </p:nvSpPr>
        <p:spPr>
          <a:xfrm>
            <a:off x="6152555" y="3361035"/>
            <a:ext cx="1245592" cy="1385491"/>
          </a:xfrm>
          <a:prstGeom prst="roundRect">
            <a:avLst>
              <a:gd name="adj" fmla="val 5097"/>
            </a:avLst>
          </a:prstGeom>
          <a:solidFill>
            <a:srgbClr val="E9E3E4"/>
          </a:solidFill>
          <a:ln w="19050">
            <a:solidFill>
              <a:srgbClr val="1C6091"/>
            </a:solidFill>
          </a:ln>
          <a:effectLst/>
        </p:spPr>
        <p:txBody>
          <a:bodyPr rtlCol="0" anchor="ctr"/>
          <a:lstStyle/>
          <a:p>
            <a:pPr algn="ctr"/>
          </a:p>
        </p:txBody>
      </p:sp>
      <p:sp>
        <p:nvSpPr>
          <p:cNvPr id="15" name="TextBox 14"/>
          <p:cNvSpPr txBox="1"/>
          <p:nvPr/>
        </p:nvSpPr>
        <p:spPr>
          <a:xfrm>
            <a:off x="6222405" y="4275435"/>
            <a:ext cx="1105892"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Debugging</a:t>
            </a:r>
          </a:p>
        </p:txBody>
      </p:sp>
      <p:pic>
        <p:nvPicPr>
          <p:cNvPr id="16" name="Picture 15" descr="80db28ecf712f8dc.png"/>
          <p:cNvPicPr>
            <a:picLocks noChangeAspect="1"/>
          </p:cNvPicPr>
          <p:nvPr/>
        </p:nvPicPr>
        <p:blipFill>
          <a:blip r:embed="rId6"/>
          <a:stretch>
            <a:fillRect/>
          </a:stretch>
        </p:blipFill>
        <p:spPr>
          <a:xfrm>
            <a:off x="6464300" y="3530600"/>
            <a:ext cx="609600" cy="609600"/>
          </a:xfrm>
          <a:prstGeom prst="rect">
            <a:avLst/>
          </a:prstGeom>
        </p:spPr>
      </p:pic>
      <p:sp>
        <p:nvSpPr>
          <p:cNvPr id="17" name="Rounded Rectangle 16"/>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18" name="TextBox 17"/>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4 / 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3268662" y="2397125"/>
            <a:ext cx="1910159" cy="329184"/>
          </a:xfrm>
          <a:prstGeom prst="rect">
            <a:avLst/>
          </a:prstGeom>
          <a:noFill/>
        </p:spPr>
        <p:txBody>
          <a:bodyPr wrap="none" lIns="0" rIns="0" tIns="0" bIns="0" anchor="ctr">
            <a:noAutofit/>
          </a:bodyPr>
          <a:lstStyle/>
          <a:p>
            <a:pPr algn="l">
              <a:lnSpc>
                <a:spcPts val="2268"/>
              </a:lnSpc>
            </a:pPr>
            <a:r>
              <a:rPr sz="2160" b="0" i="0" spc="-96">
                <a:solidFill>
                  <a:srgbClr val="6B4A52"/>
                </a:solidFill>
                <a:latin typeface="Georgia"/>
              </a:rPr>
              <a:t>Software Design &amp;</a:t>
            </a:r>
          </a:p>
        </p:txBody>
      </p:sp>
      <p:sp>
        <p:nvSpPr>
          <p:cNvPr id="4" name="TextBox 3"/>
          <p:cNvSpPr txBox="1"/>
          <p:nvPr/>
        </p:nvSpPr>
        <p:spPr>
          <a:xfrm>
            <a:off x="5331222" y="2085975"/>
            <a:ext cx="3592016" cy="731520"/>
          </a:xfrm>
          <a:prstGeom prst="rect">
            <a:avLst/>
          </a:prstGeom>
          <a:noFill/>
        </p:spPr>
        <p:txBody>
          <a:bodyPr wrap="none" lIns="0" rIns="0" tIns="0" bIns="0" anchor="ctr">
            <a:noAutofit/>
          </a:bodyPr>
          <a:lstStyle/>
          <a:p>
            <a:pPr algn="l">
              <a:lnSpc>
                <a:spcPts val="5040"/>
              </a:lnSpc>
            </a:pPr>
            <a:r>
              <a:rPr sz="4800" b="0" i="0" spc="-96">
                <a:solidFill>
                  <a:srgbClr val="861F41"/>
                </a:solidFill>
                <a:latin typeface="Georgia"/>
              </a:rPr>
              <a:t>Data Structures</a:t>
            </a:r>
          </a:p>
        </p:txBody>
      </p:sp>
      <p:sp>
        <p:nvSpPr>
          <p:cNvPr id="5" name="Rounded Rectangle 4"/>
          <p:cNvSpPr/>
          <p:nvPr/>
        </p:nvSpPr>
        <p:spPr>
          <a:xfrm>
            <a:off x="3090862" y="3361035"/>
            <a:ext cx="846832" cy="1385491"/>
          </a:xfrm>
          <a:prstGeom prst="roundRect">
            <a:avLst>
              <a:gd name="adj" fmla="val 7498"/>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3160712" y="4275435"/>
            <a:ext cx="707132"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Writing</a:t>
            </a:r>
          </a:p>
        </p:txBody>
      </p:sp>
      <p:pic>
        <p:nvPicPr>
          <p:cNvPr id="7" name="Picture 6" descr="2c5cd72f72ac9a3c.png"/>
          <p:cNvPicPr>
            <a:picLocks noChangeAspect="1"/>
          </p:cNvPicPr>
          <p:nvPr/>
        </p:nvPicPr>
        <p:blipFill>
          <a:blip r:embed="rId3"/>
          <a:stretch>
            <a:fillRect/>
          </a:stretch>
        </p:blipFill>
        <p:spPr>
          <a:xfrm>
            <a:off x="3206750" y="3530600"/>
            <a:ext cx="609600" cy="609600"/>
          </a:xfrm>
          <a:prstGeom prst="rect">
            <a:avLst/>
          </a:prstGeom>
        </p:spPr>
      </p:pic>
      <p:sp>
        <p:nvSpPr>
          <p:cNvPr id="8" name="Rounded Rectangle 7"/>
          <p:cNvSpPr/>
          <p:nvPr/>
        </p:nvSpPr>
        <p:spPr>
          <a:xfrm>
            <a:off x="4090095" y="3361035"/>
            <a:ext cx="864096" cy="1385491"/>
          </a:xfrm>
          <a:prstGeom prst="roundRect">
            <a:avLst>
              <a:gd name="adj" fmla="val 7348"/>
            </a:avLst>
          </a:prstGeom>
          <a:solidFill>
            <a:srgbClr val="E9E3E4"/>
          </a:solidFill>
          <a:ln w="19050">
            <a:solidFill>
              <a:srgbClr val="1C6091"/>
            </a:solidFill>
          </a:ln>
          <a:effectLst/>
        </p:spPr>
        <p:txBody>
          <a:bodyPr rtlCol="0" anchor="ctr"/>
          <a:lstStyle/>
          <a:p>
            <a:pPr algn="ctr"/>
          </a:p>
        </p:txBody>
      </p:sp>
      <p:sp>
        <p:nvSpPr>
          <p:cNvPr id="9" name="TextBox 8"/>
          <p:cNvSpPr txBox="1"/>
          <p:nvPr/>
        </p:nvSpPr>
        <p:spPr>
          <a:xfrm>
            <a:off x="4159945" y="4275435"/>
            <a:ext cx="724396"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Testing</a:t>
            </a:r>
          </a:p>
        </p:txBody>
      </p:sp>
      <p:pic>
        <p:nvPicPr>
          <p:cNvPr id="10" name="Picture 9" descr="a7211cfacad038f8.png"/>
          <p:cNvPicPr>
            <a:picLocks noChangeAspect="1"/>
          </p:cNvPicPr>
          <p:nvPr/>
        </p:nvPicPr>
        <p:blipFill>
          <a:blip r:embed="rId4"/>
          <a:stretch>
            <a:fillRect/>
          </a:stretch>
        </p:blipFill>
        <p:spPr>
          <a:xfrm>
            <a:off x="4216400" y="3530600"/>
            <a:ext cx="609600" cy="609600"/>
          </a:xfrm>
          <a:prstGeom prst="rect">
            <a:avLst/>
          </a:prstGeom>
        </p:spPr>
      </p:pic>
      <p:sp>
        <p:nvSpPr>
          <p:cNvPr id="11" name="Rounded Rectangle 10"/>
          <p:cNvSpPr/>
          <p:nvPr/>
        </p:nvSpPr>
        <p:spPr>
          <a:xfrm>
            <a:off x="5106591" y="3361035"/>
            <a:ext cx="893564" cy="1385491"/>
          </a:xfrm>
          <a:prstGeom prst="roundRect">
            <a:avLst>
              <a:gd name="adj" fmla="val 7106"/>
            </a:avLst>
          </a:prstGeom>
          <a:solidFill>
            <a:srgbClr val="E9E3E4"/>
          </a:solidFill>
          <a:ln w="19050">
            <a:solidFill>
              <a:srgbClr val="1C6091"/>
            </a:solidFill>
          </a:ln>
          <a:effectLst/>
        </p:spPr>
        <p:txBody>
          <a:bodyPr rtlCol="0" anchor="ctr"/>
          <a:lstStyle/>
          <a:p>
            <a:pPr algn="ctr"/>
          </a:p>
        </p:txBody>
      </p:sp>
      <p:sp>
        <p:nvSpPr>
          <p:cNvPr id="12" name="TextBox 11"/>
          <p:cNvSpPr txBox="1"/>
          <p:nvPr/>
        </p:nvSpPr>
        <p:spPr>
          <a:xfrm>
            <a:off x="5176441" y="4275435"/>
            <a:ext cx="753864"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Tracing</a:t>
            </a:r>
          </a:p>
        </p:txBody>
      </p:sp>
      <p:pic>
        <p:nvPicPr>
          <p:cNvPr id="13" name="Picture 12" descr="d9993f43c1e57612.png"/>
          <p:cNvPicPr>
            <a:picLocks noChangeAspect="1"/>
          </p:cNvPicPr>
          <p:nvPr/>
        </p:nvPicPr>
        <p:blipFill>
          <a:blip r:embed="rId5"/>
          <a:stretch>
            <a:fillRect/>
          </a:stretch>
        </p:blipFill>
        <p:spPr>
          <a:xfrm>
            <a:off x="5245100" y="3530600"/>
            <a:ext cx="609600" cy="609600"/>
          </a:xfrm>
          <a:prstGeom prst="rect">
            <a:avLst/>
          </a:prstGeom>
        </p:spPr>
      </p:pic>
      <p:sp>
        <p:nvSpPr>
          <p:cNvPr id="14" name="Rounded Rectangle 13"/>
          <p:cNvSpPr/>
          <p:nvPr/>
        </p:nvSpPr>
        <p:spPr>
          <a:xfrm>
            <a:off x="6152555" y="3361035"/>
            <a:ext cx="1245592" cy="1385491"/>
          </a:xfrm>
          <a:prstGeom prst="roundRect">
            <a:avLst>
              <a:gd name="adj" fmla="val 5097"/>
            </a:avLst>
          </a:prstGeom>
          <a:solidFill>
            <a:srgbClr val="E9E3E4"/>
          </a:solidFill>
          <a:ln w="19050">
            <a:solidFill>
              <a:srgbClr val="1C6091"/>
            </a:solidFill>
          </a:ln>
          <a:effectLst/>
        </p:spPr>
        <p:txBody>
          <a:bodyPr rtlCol="0" anchor="ctr"/>
          <a:lstStyle/>
          <a:p>
            <a:pPr algn="ctr"/>
          </a:p>
        </p:txBody>
      </p:sp>
      <p:sp>
        <p:nvSpPr>
          <p:cNvPr id="15" name="TextBox 14"/>
          <p:cNvSpPr txBox="1"/>
          <p:nvPr/>
        </p:nvSpPr>
        <p:spPr>
          <a:xfrm>
            <a:off x="6222405" y="4275435"/>
            <a:ext cx="1105892"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Debugging</a:t>
            </a:r>
          </a:p>
        </p:txBody>
      </p:sp>
      <p:pic>
        <p:nvPicPr>
          <p:cNvPr id="16" name="Picture 15" descr="80db28ecf712f8dc.png"/>
          <p:cNvPicPr>
            <a:picLocks noChangeAspect="1"/>
          </p:cNvPicPr>
          <p:nvPr/>
        </p:nvPicPr>
        <p:blipFill>
          <a:blip r:embed="rId6"/>
          <a:stretch>
            <a:fillRect/>
          </a:stretch>
        </p:blipFill>
        <p:spPr>
          <a:xfrm>
            <a:off x="6464300" y="3530600"/>
            <a:ext cx="609600" cy="609600"/>
          </a:xfrm>
          <a:prstGeom prst="rect">
            <a:avLst/>
          </a:prstGeom>
        </p:spPr>
      </p:pic>
      <p:sp>
        <p:nvSpPr>
          <p:cNvPr id="17" name="Rounded Rectangle 16"/>
          <p:cNvSpPr/>
          <p:nvPr/>
        </p:nvSpPr>
        <p:spPr>
          <a:xfrm>
            <a:off x="7550547" y="3361035"/>
            <a:ext cx="1550491" cy="1385491"/>
          </a:xfrm>
          <a:prstGeom prst="roundRect">
            <a:avLst>
              <a:gd name="adj" fmla="val 4583"/>
            </a:avLst>
          </a:prstGeom>
          <a:solidFill>
            <a:srgbClr val="E9E3E4"/>
          </a:solidFill>
          <a:ln w="19050">
            <a:solidFill>
              <a:srgbClr val="1C6091"/>
            </a:solidFill>
          </a:ln>
          <a:effectLst/>
        </p:spPr>
        <p:txBody>
          <a:bodyPr rtlCol="0" anchor="ctr"/>
          <a:lstStyle/>
          <a:p>
            <a:pPr algn="ctr"/>
          </a:p>
        </p:txBody>
      </p:sp>
      <p:sp>
        <p:nvSpPr>
          <p:cNvPr id="18" name="TextBox 17"/>
          <p:cNvSpPr txBox="1"/>
          <p:nvPr/>
        </p:nvSpPr>
        <p:spPr>
          <a:xfrm>
            <a:off x="7620397" y="4275435"/>
            <a:ext cx="1410791"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Reading code</a:t>
            </a:r>
          </a:p>
        </p:txBody>
      </p:sp>
      <p:pic>
        <p:nvPicPr>
          <p:cNvPr id="19" name="Picture 18" descr="12849a71dde1c896.png"/>
          <p:cNvPicPr>
            <a:picLocks noChangeAspect="1"/>
          </p:cNvPicPr>
          <p:nvPr/>
        </p:nvPicPr>
        <p:blipFill>
          <a:blip r:embed="rId7"/>
          <a:stretch>
            <a:fillRect/>
          </a:stretch>
        </p:blipFill>
        <p:spPr>
          <a:xfrm>
            <a:off x="8020050" y="3530600"/>
            <a:ext cx="609600" cy="609600"/>
          </a:xfrm>
          <a:prstGeom prst="rect">
            <a:avLst/>
          </a:prstGeom>
        </p:spPr>
      </p:pic>
      <p:sp>
        <p:nvSpPr>
          <p:cNvPr id="20" name="Rounded Rectangle 19"/>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21" name="TextBox 20"/>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4 /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587663a59eb0aa43.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3268662" y="2397125"/>
            <a:ext cx="1910159" cy="329184"/>
          </a:xfrm>
          <a:prstGeom prst="rect">
            <a:avLst/>
          </a:prstGeom>
          <a:noFill/>
        </p:spPr>
        <p:txBody>
          <a:bodyPr wrap="none" lIns="0" rIns="0" tIns="0" bIns="0" anchor="ctr">
            <a:noAutofit/>
          </a:bodyPr>
          <a:lstStyle/>
          <a:p>
            <a:pPr algn="l">
              <a:lnSpc>
                <a:spcPts val="2268"/>
              </a:lnSpc>
            </a:pPr>
            <a:r>
              <a:rPr sz="2160" b="0" i="0" spc="-96">
                <a:solidFill>
                  <a:srgbClr val="6B4A52"/>
                </a:solidFill>
                <a:latin typeface="Georgia"/>
              </a:rPr>
              <a:t>Software Design &amp;</a:t>
            </a:r>
          </a:p>
        </p:txBody>
      </p:sp>
      <p:sp>
        <p:nvSpPr>
          <p:cNvPr id="4" name="TextBox 3"/>
          <p:cNvSpPr txBox="1"/>
          <p:nvPr/>
        </p:nvSpPr>
        <p:spPr>
          <a:xfrm>
            <a:off x="5331222" y="2085975"/>
            <a:ext cx="3592016" cy="731520"/>
          </a:xfrm>
          <a:prstGeom prst="rect">
            <a:avLst/>
          </a:prstGeom>
          <a:noFill/>
        </p:spPr>
        <p:txBody>
          <a:bodyPr wrap="none" lIns="0" rIns="0" tIns="0" bIns="0" anchor="ctr">
            <a:noAutofit/>
          </a:bodyPr>
          <a:lstStyle/>
          <a:p>
            <a:pPr algn="l">
              <a:lnSpc>
                <a:spcPts val="5040"/>
              </a:lnSpc>
            </a:pPr>
            <a:r>
              <a:rPr sz="4800" b="0" i="0" spc="-96">
                <a:solidFill>
                  <a:srgbClr val="861F41"/>
                </a:solidFill>
                <a:latin typeface="Georgia"/>
              </a:rPr>
              <a:t>Data Structures</a:t>
            </a:r>
          </a:p>
        </p:txBody>
      </p:sp>
      <p:sp>
        <p:nvSpPr>
          <p:cNvPr id="5" name="Rounded Rectangle 4"/>
          <p:cNvSpPr/>
          <p:nvPr/>
        </p:nvSpPr>
        <p:spPr>
          <a:xfrm>
            <a:off x="3090862" y="3361035"/>
            <a:ext cx="846832" cy="1385491"/>
          </a:xfrm>
          <a:prstGeom prst="roundRect">
            <a:avLst>
              <a:gd name="adj" fmla="val 7498"/>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3160712" y="4275435"/>
            <a:ext cx="707132"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Writing</a:t>
            </a:r>
          </a:p>
        </p:txBody>
      </p:sp>
      <p:pic>
        <p:nvPicPr>
          <p:cNvPr id="7" name="Picture 6" descr="b7d6bf9e0a95cad2.png"/>
          <p:cNvPicPr>
            <a:picLocks noChangeAspect="1"/>
          </p:cNvPicPr>
          <p:nvPr/>
        </p:nvPicPr>
        <p:blipFill>
          <a:blip r:embed="rId3"/>
          <a:stretch>
            <a:fillRect/>
          </a:stretch>
        </p:blipFill>
        <p:spPr>
          <a:xfrm>
            <a:off x="3206750" y="3530600"/>
            <a:ext cx="609600" cy="609600"/>
          </a:xfrm>
          <a:prstGeom prst="rect">
            <a:avLst/>
          </a:prstGeom>
        </p:spPr>
      </p:pic>
      <p:sp>
        <p:nvSpPr>
          <p:cNvPr id="8" name="Rounded Rectangle 7"/>
          <p:cNvSpPr/>
          <p:nvPr/>
        </p:nvSpPr>
        <p:spPr>
          <a:xfrm>
            <a:off x="4090095" y="3361035"/>
            <a:ext cx="864096" cy="1385491"/>
          </a:xfrm>
          <a:prstGeom prst="roundRect">
            <a:avLst>
              <a:gd name="adj" fmla="val 7348"/>
            </a:avLst>
          </a:prstGeom>
          <a:solidFill>
            <a:srgbClr val="E9E3E4"/>
          </a:solidFill>
          <a:ln w="19050">
            <a:solidFill>
              <a:srgbClr val="1C6091"/>
            </a:solidFill>
          </a:ln>
          <a:effectLst/>
        </p:spPr>
        <p:txBody>
          <a:bodyPr rtlCol="0" anchor="ctr"/>
          <a:lstStyle/>
          <a:p>
            <a:pPr algn="ctr"/>
          </a:p>
        </p:txBody>
      </p:sp>
      <p:sp>
        <p:nvSpPr>
          <p:cNvPr id="9" name="TextBox 8"/>
          <p:cNvSpPr txBox="1"/>
          <p:nvPr/>
        </p:nvSpPr>
        <p:spPr>
          <a:xfrm>
            <a:off x="4159945" y="4275435"/>
            <a:ext cx="724396"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Testing</a:t>
            </a:r>
          </a:p>
        </p:txBody>
      </p:sp>
      <p:pic>
        <p:nvPicPr>
          <p:cNvPr id="10" name="Picture 9" descr="7074796a4f84c544.jpg"/>
          <p:cNvPicPr>
            <a:picLocks noChangeAspect="1"/>
          </p:cNvPicPr>
          <p:nvPr/>
        </p:nvPicPr>
        <p:blipFill>
          <a:blip r:embed="rId4"/>
          <a:stretch>
            <a:fillRect/>
          </a:stretch>
        </p:blipFill>
        <p:spPr>
          <a:xfrm>
            <a:off x="4216400" y="3530600"/>
            <a:ext cx="609600" cy="609600"/>
          </a:xfrm>
          <a:prstGeom prst="rect">
            <a:avLst/>
          </a:prstGeom>
        </p:spPr>
      </p:pic>
      <p:sp>
        <p:nvSpPr>
          <p:cNvPr id="11" name="Rounded Rectangle 10"/>
          <p:cNvSpPr/>
          <p:nvPr/>
        </p:nvSpPr>
        <p:spPr>
          <a:xfrm>
            <a:off x="5106591" y="3361035"/>
            <a:ext cx="893564" cy="1385491"/>
          </a:xfrm>
          <a:prstGeom prst="roundRect">
            <a:avLst>
              <a:gd name="adj" fmla="val 7106"/>
            </a:avLst>
          </a:prstGeom>
          <a:solidFill>
            <a:srgbClr val="E9E3E4"/>
          </a:solidFill>
          <a:ln w="19050">
            <a:solidFill>
              <a:srgbClr val="1C6091"/>
            </a:solidFill>
          </a:ln>
          <a:effectLst/>
        </p:spPr>
        <p:txBody>
          <a:bodyPr rtlCol="0" anchor="ctr"/>
          <a:lstStyle/>
          <a:p>
            <a:pPr algn="ctr"/>
          </a:p>
        </p:txBody>
      </p:sp>
      <p:sp>
        <p:nvSpPr>
          <p:cNvPr id="12" name="TextBox 11"/>
          <p:cNvSpPr txBox="1"/>
          <p:nvPr/>
        </p:nvSpPr>
        <p:spPr>
          <a:xfrm>
            <a:off x="5176441" y="4275435"/>
            <a:ext cx="753864"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Tracing</a:t>
            </a:r>
          </a:p>
        </p:txBody>
      </p:sp>
      <p:pic>
        <p:nvPicPr>
          <p:cNvPr id="13" name="Picture 12" descr="75b44fdc11e7fc4a.jpg"/>
          <p:cNvPicPr>
            <a:picLocks noChangeAspect="1"/>
          </p:cNvPicPr>
          <p:nvPr/>
        </p:nvPicPr>
        <p:blipFill>
          <a:blip r:embed="rId5"/>
          <a:stretch>
            <a:fillRect/>
          </a:stretch>
        </p:blipFill>
        <p:spPr>
          <a:xfrm>
            <a:off x="5245100" y="3530600"/>
            <a:ext cx="609600" cy="609600"/>
          </a:xfrm>
          <a:prstGeom prst="rect">
            <a:avLst/>
          </a:prstGeom>
        </p:spPr>
      </p:pic>
      <p:sp>
        <p:nvSpPr>
          <p:cNvPr id="14" name="Rounded Rectangle 13"/>
          <p:cNvSpPr/>
          <p:nvPr/>
        </p:nvSpPr>
        <p:spPr>
          <a:xfrm>
            <a:off x="6152555" y="3361035"/>
            <a:ext cx="1245592" cy="1385491"/>
          </a:xfrm>
          <a:prstGeom prst="roundRect">
            <a:avLst>
              <a:gd name="adj" fmla="val 5097"/>
            </a:avLst>
          </a:prstGeom>
          <a:solidFill>
            <a:srgbClr val="E9E3E4"/>
          </a:solidFill>
          <a:ln w="19050">
            <a:solidFill>
              <a:srgbClr val="1C6091"/>
            </a:solidFill>
          </a:ln>
          <a:effectLst/>
        </p:spPr>
        <p:txBody>
          <a:bodyPr rtlCol="0" anchor="ctr"/>
          <a:lstStyle/>
          <a:p>
            <a:pPr algn="ctr"/>
          </a:p>
        </p:txBody>
      </p:sp>
      <p:sp>
        <p:nvSpPr>
          <p:cNvPr id="15" name="TextBox 14"/>
          <p:cNvSpPr txBox="1"/>
          <p:nvPr/>
        </p:nvSpPr>
        <p:spPr>
          <a:xfrm>
            <a:off x="6222405" y="4275435"/>
            <a:ext cx="1105892"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Debugging</a:t>
            </a:r>
          </a:p>
        </p:txBody>
      </p:sp>
      <p:pic>
        <p:nvPicPr>
          <p:cNvPr id="16" name="Picture 15" descr="c8c10713f485d188.jpg"/>
          <p:cNvPicPr>
            <a:picLocks noChangeAspect="1"/>
          </p:cNvPicPr>
          <p:nvPr/>
        </p:nvPicPr>
        <p:blipFill>
          <a:blip r:embed="rId6"/>
          <a:stretch>
            <a:fillRect/>
          </a:stretch>
        </p:blipFill>
        <p:spPr>
          <a:xfrm>
            <a:off x="6464300" y="3530600"/>
            <a:ext cx="609600" cy="609600"/>
          </a:xfrm>
          <a:prstGeom prst="rect">
            <a:avLst/>
          </a:prstGeom>
        </p:spPr>
      </p:pic>
      <p:sp>
        <p:nvSpPr>
          <p:cNvPr id="17" name="Rounded Rectangle 16"/>
          <p:cNvSpPr/>
          <p:nvPr/>
        </p:nvSpPr>
        <p:spPr>
          <a:xfrm>
            <a:off x="7550547" y="3361035"/>
            <a:ext cx="1550491" cy="1385491"/>
          </a:xfrm>
          <a:prstGeom prst="roundRect">
            <a:avLst>
              <a:gd name="adj" fmla="val 4583"/>
            </a:avLst>
          </a:prstGeom>
          <a:solidFill>
            <a:srgbClr val="E9E3E4"/>
          </a:solidFill>
          <a:ln w="19050">
            <a:solidFill>
              <a:srgbClr val="1C6091"/>
            </a:solidFill>
          </a:ln>
          <a:effectLst/>
        </p:spPr>
        <p:txBody>
          <a:bodyPr rtlCol="0" anchor="ctr"/>
          <a:lstStyle/>
          <a:p>
            <a:pPr algn="ctr"/>
          </a:p>
        </p:txBody>
      </p:sp>
      <p:sp>
        <p:nvSpPr>
          <p:cNvPr id="18" name="TextBox 17"/>
          <p:cNvSpPr txBox="1"/>
          <p:nvPr/>
        </p:nvSpPr>
        <p:spPr>
          <a:xfrm>
            <a:off x="7620397" y="4275435"/>
            <a:ext cx="1410791"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Reading code</a:t>
            </a:r>
          </a:p>
        </p:txBody>
      </p:sp>
      <p:pic>
        <p:nvPicPr>
          <p:cNvPr id="19" name="Picture 18" descr="ffe9515480a3f659.jpg"/>
          <p:cNvPicPr>
            <a:picLocks noChangeAspect="1"/>
          </p:cNvPicPr>
          <p:nvPr/>
        </p:nvPicPr>
        <p:blipFill>
          <a:blip r:embed="rId7"/>
          <a:stretch>
            <a:fillRect/>
          </a:stretch>
        </p:blipFill>
        <p:spPr>
          <a:xfrm>
            <a:off x="8020050" y="3530600"/>
            <a:ext cx="609600" cy="609600"/>
          </a:xfrm>
          <a:prstGeom prst="rect">
            <a:avLst/>
          </a:prstGeom>
        </p:spPr>
      </p:pic>
      <p:sp>
        <p:nvSpPr>
          <p:cNvPr id="20" name="Rectangle 19"/>
          <p:cNvSpPr/>
          <p:nvPr/>
        </p:nvSpPr>
        <p:spPr>
          <a:xfrm>
            <a:off x="0" y="0"/>
            <a:ext cx="12192000" cy="6858000"/>
          </a:xfrm>
          <a:prstGeom prst="rect">
            <a:avLst/>
          </a:prstGeom>
          <a:solidFill>
            <a:srgbClr val="E9E3E4">
              <a:alpha val="45000"/>
            </a:srgbClr>
          </a:solidFill>
          <a:ln>
            <a:noFill/>
          </a:ln>
          <a:effectLst/>
        </p:spPr>
        <p:txBody>
          <a:bodyPr rtlCol="0" anchor="ctr"/>
          <a:lstStyle/>
          <a:p>
            <a:pPr algn="ctr"/>
          </a:p>
        </p:txBody>
      </p:sp>
      <p:pic>
        <p:nvPicPr>
          <p:cNvPr id="21" name="Picture 20" descr="37c023baaa772786.jpg"/>
          <p:cNvPicPr>
            <a:picLocks noChangeAspect="1"/>
          </p:cNvPicPr>
          <p:nvPr/>
        </p:nvPicPr>
        <p:blipFill>
          <a:blip r:embed="rId8"/>
          <a:stretch>
            <a:fillRect/>
          </a:stretch>
        </p:blipFill>
        <p:spPr>
          <a:xfrm>
            <a:off x="0" y="0"/>
            <a:ext cx="12192000" cy="6858000"/>
          </a:xfrm>
          <a:prstGeom prst="rect">
            <a:avLst/>
          </a:prstGeom>
        </p:spPr>
      </p:pic>
      <p:sp>
        <p:nvSpPr>
          <p:cNvPr id="22" name="Rounded Rectangle 21"/>
          <p:cNvSpPr/>
          <p:nvPr/>
        </p:nvSpPr>
        <p:spPr>
          <a:xfrm rot="21360000">
            <a:off x="4019955" y="2647170"/>
            <a:ext cx="4152089" cy="1563661"/>
          </a:xfrm>
          <a:prstGeom prst="roundRect">
            <a:avLst>
              <a:gd name="adj" fmla="val 7309"/>
            </a:avLst>
          </a:prstGeom>
          <a:solidFill>
            <a:srgbClr val="2C1A1F"/>
          </a:solidFill>
          <a:ln>
            <a:noFill/>
          </a:ln>
          <a:effectLst/>
        </p:spPr>
        <p:txBody>
          <a:bodyPr rtlCol="0" anchor="ctr"/>
          <a:lstStyle/>
          <a:p>
            <a:pPr algn="ctr"/>
          </a:p>
        </p:txBody>
      </p:sp>
      <p:sp>
        <p:nvSpPr>
          <p:cNvPr id="23" name="TextBox 22"/>
          <p:cNvSpPr txBox="1"/>
          <p:nvPr/>
        </p:nvSpPr>
        <p:spPr>
          <a:xfrm rot="21360000">
            <a:off x="4426355" y="2890893"/>
            <a:ext cx="3339289" cy="1076215"/>
          </a:xfrm>
          <a:prstGeom prst="rect">
            <a:avLst/>
          </a:prstGeom>
          <a:noFill/>
        </p:spPr>
        <p:txBody>
          <a:bodyPr wrap="none" lIns="0" rIns="0" tIns="0" bIns="0" anchor="ctr">
            <a:noAutofit/>
          </a:bodyPr>
          <a:lstStyle/>
          <a:p>
            <a:pPr algn="l">
              <a:lnSpc>
                <a:spcPts val="7200"/>
              </a:lnSpc>
            </a:pPr>
            <a:r>
              <a:rPr sz="6000" b="1" i="0">
                <a:solidFill>
                  <a:srgbClr val="F2F1ED"/>
                </a:solidFill>
                <a:latin typeface="Verdana"/>
              </a:rPr>
              <a:t>ChatGPT</a:t>
            </a:r>
          </a:p>
        </p:txBody>
      </p:sp>
      <p:sp>
        <p:nvSpPr>
          <p:cNvPr id="24" name="Rounded Rectangle 23"/>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25" name="TextBox 24"/>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4 / 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3268662" y="2397125"/>
            <a:ext cx="1910159" cy="329184"/>
          </a:xfrm>
          <a:prstGeom prst="rect">
            <a:avLst/>
          </a:prstGeom>
          <a:noFill/>
        </p:spPr>
        <p:txBody>
          <a:bodyPr wrap="none" lIns="0" rIns="0" tIns="0" bIns="0" anchor="ctr">
            <a:noAutofit/>
          </a:bodyPr>
          <a:lstStyle/>
          <a:p>
            <a:pPr algn="l">
              <a:lnSpc>
                <a:spcPts val="2268"/>
              </a:lnSpc>
            </a:pPr>
            <a:r>
              <a:rPr sz="2160" b="0" i="0" spc="-96">
                <a:solidFill>
                  <a:srgbClr val="6B4A52"/>
                </a:solidFill>
                <a:latin typeface="Georgia"/>
              </a:rPr>
              <a:t>Software Design &amp;</a:t>
            </a:r>
          </a:p>
        </p:txBody>
      </p:sp>
      <p:sp>
        <p:nvSpPr>
          <p:cNvPr id="4" name="TextBox 3"/>
          <p:cNvSpPr txBox="1"/>
          <p:nvPr/>
        </p:nvSpPr>
        <p:spPr>
          <a:xfrm>
            <a:off x="5331222" y="2085975"/>
            <a:ext cx="3592016" cy="731520"/>
          </a:xfrm>
          <a:prstGeom prst="rect">
            <a:avLst/>
          </a:prstGeom>
          <a:noFill/>
        </p:spPr>
        <p:txBody>
          <a:bodyPr wrap="none" lIns="0" rIns="0" tIns="0" bIns="0" anchor="ctr">
            <a:noAutofit/>
          </a:bodyPr>
          <a:lstStyle/>
          <a:p>
            <a:pPr algn="l">
              <a:lnSpc>
                <a:spcPts val="5040"/>
              </a:lnSpc>
            </a:pPr>
            <a:r>
              <a:rPr sz="4800" b="0" i="0" spc="-96">
                <a:solidFill>
                  <a:srgbClr val="861F41"/>
                </a:solidFill>
                <a:latin typeface="Georgia"/>
              </a:rPr>
              <a:t>Data Structures</a:t>
            </a:r>
          </a:p>
        </p:txBody>
      </p:sp>
      <p:sp>
        <p:nvSpPr>
          <p:cNvPr id="5" name="Rounded Rectangle 4"/>
          <p:cNvSpPr/>
          <p:nvPr/>
        </p:nvSpPr>
        <p:spPr>
          <a:xfrm>
            <a:off x="3090862" y="3361035"/>
            <a:ext cx="846832" cy="1385491"/>
          </a:xfrm>
          <a:prstGeom prst="roundRect">
            <a:avLst>
              <a:gd name="adj" fmla="val 7498"/>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3160712" y="4275435"/>
            <a:ext cx="707132"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Writing</a:t>
            </a:r>
          </a:p>
        </p:txBody>
      </p:sp>
      <p:pic>
        <p:nvPicPr>
          <p:cNvPr id="7" name="Picture 6" descr="2c5cd72f72ac9a3c.png"/>
          <p:cNvPicPr>
            <a:picLocks noChangeAspect="1"/>
          </p:cNvPicPr>
          <p:nvPr/>
        </p:nvPicPr>
        <p:blipFill>
          <a:blip r:embed="rId3"/>
          <a:stretch>
            <a:fillRect/>
          </a:stretch>
        </p:blipFill>
        <p:spPr>
          <a:xfrm>
            <a:off x="3206750" y="3530600"/>
            <a:ext cx="609600" cy="609600"/>
          </a:xfrm>
          <a:prstGeom prst="rect">
            <a:avLst/>
          </a:prstGeom>
        </p:spPr>
      </p:pic>
      <p:sp>
        <p:nvSpPr>
          <p:cNvPr id="8" name="Rounded Rectangle 7"/>
          <p:cNvSpPr/>
          <p:nvPr/>
        </p:nvSpPr>
        <p:spPr>
          <a:xfrm>
            <a:off x="4090095" y="3361035"/>
            <a:ext cx="864096" cy="1385491"/>
          </a:xfrm>
          <a:prstGeom prst="roundRect">
            <a:avLst>
              <a:gd name="adj" fmla="val 7348"/>
            </a:avLst>
          </a:prstGeom>
          <a:solidFill>
            <a:srgbClr val="E9E3E4"/>
          </a:solidFill>
          <a:ln w="19050">
            <a:solidFill>
              <a:srgbClr val="1C6091"/>
            </a:solidFill>
          </a:ln>
          <a:effectLst/>
        </p:spPr>
        <p:txBody>
          <a:bodyPr rtlCol="0" anchor="ctr"/>
          <a:lstStyle/>
          <a:p>
            <a:pPr algn="ctr"/>
          </a:p>
        </p:txBody>
      </p:sp>
      <p:sp>
        <p:nvSpPr>
          <p:cNvPr id="9" name="TextBox 8"/>
          <p:cNvSpPr txBox="1"/>
          <p:nvPr/>
        </p:nvSpPr>
        <p:spPr>
          <a:xfrm>
            <a:off x="4159945" y="4275435"/>
            <a:ext cx="724396"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Testing</a:t>
            </a:r>
          </a:p>
        </p:txBody>
      </p:sp>
      <p:pic>
        <p:nvPicPr>
          <p:cNvPr id="10" name="Picture 9" descr="a7211cfacad038f8.png"/>
          <p:cNvPicPr>
            <a:picLocks noChangeAspect="1"/>
          </p:cNvPicPr>
          <p:nvPr/>
        </p:nvPicPr>
        <p:blipFill>
          <a:blip r:embed="rId4"/>
          <a:stretch>
            <a:fillRect/>
          </a:stretch>
        </p:blipFill>
        <p:spPr>
          <a:xfrm>
            <a:off x="4216400" y="3530600"/>
            <a:ext cx="609600" cy="609600"/>
          </a:xfrm>
          <a:prstGeom prst="rect">
            <a:avLst/>
          </a:prstGeom>
        </p:spPr>
      </p:pic>
      <p:sp>
        <p:nvSpPr>
          <p:cNvPr id="11" name="Rounded Rectangle 10"/>
          <p:cNvSpPr/>
          <p:nvPr/>
        </p:nvSpPr>
        <p:spPr>
          <a:xfrm>
            <a:off x="5106591" y="3361035"/>
            <a:ext cx="893564" cy="1385491"/>
          </a:xfrm>
          <a:prstGeom prst="roundRect">
            <a:avLst>
              <a:gd name="adj" fmla="val 7106"/>
            </a:avLst>
          </a:prstGeom>
          <a:solidFill>
            <a:srgbClr val="E9E3E4"/>
          </a:solidFill>
          <a:ln w="19050">
            <a:solidFill>
              <a:srgbClr val="1C6091"/>
            </a:solidFill>
          </a:ln>
          <a:effectLst/>
        </p:spPr>
        <p:txBody>
          <a:bodyPr rtlCol="0" anchor="ctr"/>
          <a:lstStyle/>
          <a:p>
            <a:pPr algn="ctr"/>
          </a:p>
        </p:txBody>
      </p:sp>
      <p:sp>
        <p:nvSpPr>
          <p:cNvPr id="12" name="TextBox 11"/>
          <p:cNvSpPr txBox="1"/>
          <p:nvPr/>
        </p:nvSpPr>
        <p:spPr>
          <a:xfrm>
            <a:off x="5176441" y="4275435"/>
            <a:ext cx="753864"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Tracing</a:t>
            </a:r>
          </a:p>
        </p:txBody>
      </p:sp>
      <p:pic>
        <p:nvPicPr>
          <p:cNvPr id="13" name="Picture 12" descr="d9993f43c1e57612.png"/>
          <p:cNvPicPr>
            <a:picLocks noChangeAspect="1"/>
          </p:cNvPicPr>
          <p:nvPr/>
        </p:nvPicPr>
        <p:blipFill>
          <a:blip r:embed="rId5"/>
          <a:stretch>
            <a:fillRect/>
          </a:stretch>
        </p:blipFill>
        <p:spPr>
          <a:xfrm>
            <a:off x="5245100" y="3530600"/>
            <a:ext cx="609600" cy="609600"/>
          </a:xfrm>
          <a:prstGeom prst="rect">
            <a:avLst/>
          </a:prstGeom>
        </p:spPr>
      </p:pic>
      <p:sp>
        <p:nvSpPr>
          <p:cNvPr id="14" name="Rounded Rectangle 13"/>
          <p:cNvSpPr/>
          <p:nvPr/>
        </p:nvSpPr>
        <p:spPr>
          <a:xfrm>
            <a:off x="6152555" y="3361035"/>
            <a:ext cx="1245592" cy="1385491"/>
          </a:xfrm>
          <a:prstGeom prst="roundRect">
            <a:avLst>
              <a:gd name="adj" fmla="val 5097"/>
            </a:avLst>
          </a:prstGeom>
          <a:solidFill>
            <a:srgbClr val="E9E3E4"/>
          </a:solidFill>
          <a:ln w="19050">
            <a:solidFill>
              <a:srgbClr val="1C6091"/>
            </a:solidFill>
          </a:ln>
          <a:effectLst/>
        </p:spPr>
        <p:txBody>
          <a:bodyPr rtlCol="0" anchor="ctr"/>
          <a:lstStyle/>
          <a:p>
            <a:pPr algn="ctr"/>
          </a:p>
        </p:txBody>
      </p:sp>
      <p:sp>
        <p:nvSpPr>
          <p:cNvPr id="15" name="TextBox 14"/>
          <p:cNvSpPr txBox="1"/>
          <p:nvPr/>
        </p:nvSpPr>
        <p:spPr>
          <a:xfrm>
            <a:off x="6222405" y="4275435"/>
            <a:ext cx="1105892"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Debugging</a:t>
            </a:r>
          </a:p>
        </p:txBody>
      </p:sp>
      <p:pic>
        <p:nvPicPr>
          <p:cNvPr id="16" name="Picture 15" descr="80db28ecf712f8dc.png"/>
          <p:cNvPicPr>
            <a:picLocks noChangeAspect="1"/>
          </p:cNvPicPr>
          <p:nvPr/>
        </p:nvPicPr>
        <p:blipFill>
          <a:blip r:embed="rId6"/>
          <a:stretch>
            <a:fillRect/>
          </a:stretch>
        </p:blipFill>
        <p:spPr>
          <a:xfrm>
            <a:off x="6464300" y="3530600"/>
            <a:ext cx="609600" cy="609600"/>
          </a:xfrm>
          <a:prstGeom prst="rect">
            <a:avLst/>
          </a:prstGeom>
        </p:spPr>
      </p:pic>
      <p:sp>
        <p:nvSpPr>
          <p:cNvPr id="17" name="Rounded Rectangle 16"/>
          <p:cNvSpPr/>
          <p:nvPr/>
        </p:nvSpPr>
        <p:spPr>
          <a:xfrm>
            <a:off x="7550547" y="3361035"/>
            <a:ext cx="1550491" cy="1385491"/>
          </a:xfrm>
          <a:prstGeom prst="roundRect">
            <a:avLst>
              <a:gd name="adj" fmla="val 4583"/>
            </a:avLst>
          </a:prstGeom>
          <a:solidFill>
            <a:srgbClr val="E9E3E4"/>
          </a:solidFill>
          <a:ln w="19050">
            <a:solidFill>
              <a:srgbClr val="1C6091"/>
            </a:solidFill>
          </a:ln>
          <a:effectLst/>
        </p:spPr>
        <p:txBody>
          <a:bodyPr rtlCol="0" anchor="ctr"/>
          <a:lstStyle/>
          <a:p>
            <a:pPr algn="ctr"/>
          </a:p>
        </p:txBody>
      </p:sp>
      <p:sp>
        <p:nvSpPr>
          <p:cNvPr id="18" name="TextBox 17"/>
          <p:cNvSpPr txBox="1"/>
          <p:nvPr/>
        </p:nvSpPr>
        <p:spPr>
          <a:xfrm>
            <a:off x="7620397" y="4275435"/>
            <a:ext cx="1410791"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Reading code</a:t>
            </a:r>
          </a:p>
        </p:txBody>
      </p:sp>
      <p:pic>
        <p:nvPicPr>
          <p:cNvPr id="19" name="Picture 18" descr="12849a71dde1c896.png"/>
          <p:cNvPicPr>
            <a:picLocks noChangeAspect="1"/>
          </p:cNvPicPr>
          <p:nvPr/>
        </p:nvPicPr>
        <p:blipFill>
          <a:blip r:embed="rId7"/>
          <a:stretch>
            <a:fillRect/>
          </a:stretch>
        </p:blipFill>
        <p:spPr>
          <a:xfrm>
            <a:off x="8020050" y="3530600"/>
            <a:ext cx="609600" cy="609600"/>
          </a:xfrm>
          <a:prstGeom prst="rect">
            <a:avLst/>
          </a:prstGeom>
        </p:spPr>
      </p:pic>
      <p:sp>
        <p:nvSpPr>
          <p:cNvPr id="20" name="Rounded Rectangle 19"/>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21" name="TextBox 20"/>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4 / 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1974056" y="2085975"/>
            <a:ext cx="4499372" cy="731520"/>
          </a:xfrm>
          <a:prstGeom prst="rect">
            <a:avLst/>
          </a:prstGeom>
          <a:noFill/>
        </p:spPr>
        <p:txBody>
          <a:bodyPr wrap="none" lIns="0" rIns="0" tIns="0" bIns="0" anchor="ctr">
            <a:noAutofit/>
          </a:bodyPr>
          <a:lstStyle/>
          <a:p>
            <a:pPr algn="l">
              <a:lnSpc>
                <a:spcPts val="5040"/>
              </a:lnSpc>
            </a:pPr>
            <a:r>
              <a:rPr sz="4800" b="0" i="0" spc="-96">
                <a:solidFill>
                  <a:srgbClr val="861F41"/>
                </a:solidFill>
                <a:latin typeface="Georgia"/>
              </a:rPr>
              <a:t>Software Design &amp;</a:t>
            </a:r>
          </a:p>
        </p:txBody>
      </p:sp>
      <p:sp>
        <p:nvSpPr>
          <p:cNvPr id="4" name="TextBox 3"/>
          <p:cNvSpPr txBox="1"/>
          <p:nvPr/>
        </p:nvSpPr>
        <p:spPr>
          <a:xfrm>
            <a:off x="6625828" y="2085975"/>
            <a:ext cx="3592016" cy="731520"/>
          </a:xfrm>
          <a:prstGeom prst="rect">
            <a:avLst/>
          </a:prstGeom>
          <a:noFill/>
        </p:spPr>
        <p:txBody>
          <a:bodyPr wrap="none" lIns="0" rIns="0" tIns="0" bIns="0" anchor="ctr">
            <a:noAutofit/>
          </a:bodyPr>
          <a:lstStyle/>
          <a:p>
            <a:pPr algn="l">
              <a:lnSpc>
                <a:spcPts val="5040"/>
              </a:lnSpc>
            </a:pPr>
            <a:r>
              <a:rPr sz="4800" b="0" i="0" spc="-96">
                <a:solidFill>
                  <a:srgbClr val="861F41"/>
                </a:solidFill>
                <a:latin typeface="Georgia"/>
              </a:rPr>
              <a:t>Data Structures</a:t>
            </a:r>
          </a:p>
        </p:txBody>
      </p:sp>
      <p:sp>
        <p:nvSpPr>
          <p:cNvPr id="5" name="Rounded Rectangle 4"/>
          <p:cNvSpPr/>
          <p:nvPr/>
        </p:nvSpPr>
        <p:spPr>
          <a:xfrm>
            <a:off x="1686917" y="3361035"/>
            <a:ext cx="846832" cy="1385491"/>
          </a:xfrm>
          <a:prstGeom prst="roundRect">
            <a:avLst>
              <a:gd name="adj" fmla="val 7498"/>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1756767" y="4275435"/>
            <a:ext cx="707132"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Writing</a:t>
            </a:r>
          </a:p>
        </p:txBody>
      </p:sp>
      <p:pic>
        <p:nvPicPr>
          <p:cNvPr id="7" name="Picture 6" descr="979f909bcfc327e2.png"/>
          <p:cNvPicPr>
            <a:picLocks noChangeAspect="1"/>
          </p:cNvPicPr>
          <p:nvPr/>
        </p:nvPicPr>
        <p:blipFill>
          <a:blip r:embed="rId3"/>
          <a:stretch>
            <a:fillRect/>
          </a:stretch>
        </p:blipFill>
        <p:spPr>
          <a:xfrm>
            <a:off x="1803400" y="3530600"/>
            <a:ext cx="609600" cy="609600"/>
          </a:xfrm>
          <a:prstGeom prst="rect">
            <a:avLst/>
          </a:prstGeom>
        </p:spPr>
      </p:pic>
      <p:sp>
        <p:nvSpPr>
          <p:cNvPr id="8" name="Rounded Rectangle 7"/>
          <p:cNvSpPr/>
          <p:nvPr/>
        </p:nvSpPr>
        <p:spPr>
          <a:xfrm>
            <a:off x="2686149" y="3361035"/>
            <a:ext cx="864096" cy="1385491"/>
          </a:xfrm>
          <a:prstGeom prst="roundRect">
            <a:avLst>
              <a:gd name="adj" fmla="val 7348"/>
            </a:avLst>
          </a:prstGeom>
          <a:solidFill>
            <a:srgbClr val="E9E3E4"/>
          </a:solidFill>
          <a:ln w="19050">
            <a:solidFill>
              <a:srgbClr val="1C6091"/>
            </a:solidFill>
          </a:ln>
          <a:effectLst/>
        </p:spPr>
        <p:txBody>
          <a:bodyPr rtlCol="0" anchor="ctr"/>
          <a:lstStyle/>
          <a:p>
            <a:pPr algn="ctr"/>
          </a:p>
        </p:txBody>
      </p:sp>
      <p:sp>
        <p:nvSpPr>
          <p:cNvPr id="9" name="TextBox 8"/>
          <p:cNvSpPr txBox="1"/>
          <p:nvPr/>
        </p:nvSpPr>
        <p:spPr>
          <a:xfrm>
            <a:off x="2755999" y="4275435"/>
            <a:ext cx="724396"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Testing</a:t>
            </a:r>
          </a:p>
        </p:txBody>
      </p:sp>
      <p:pic>
        <p:nvPicPr>
          <p:cNvPr id="10" name="Picture 9" descr="b8b92e0f8fb4ba81.jpg"/>
          <p:cNvPicPr>
            <a:picLocks noChangeAspect="1"/>
          </p:cNvPicPr>
          <p:nvPr/>
        </p:nvPicPr>
        <p:blipFill>
          <a:blip r:embed="rId4"/>
          <a:stretch>
            <a:fillRect/>
          </a:stretch>
        </p:blipFill>
        <p:spPr>
          <a:xfrm>
            <a:off x="2813050" y="3530600"/>
            <a:ext cx="609600" cy="609600"/>
          </a:xfrm>
          <a:prstGeom prst="rect">
            <a:avLst/>
          </a:prstGeom>
        </p:spPr>
      </p:pic>
      <p:sp>
        <p:nvSpPr>
          <p:cNvPr id="11" name="Rounded Rectangle 10"/>
          <p:cNvSpPr/>
          <p:nvPr/>
        </p:nvSpPr>
        <p:spPr>
          <a:xfrm>
            <a:off x="3702645" y="3361035"/>
            <a:ext cx="893564" cy="1385491"/>
          </a:xfrm>
          <a:prstGeom prst="roundRect">
            <a:avLst>
              <a:gd name="adj" fmla="val 7106"/>
            </a:avLst>
          </a:prstGeom>
          <a:solidFill>
            <a:srgbClr val="E9E3E4"/>
          </a:solidFill>
          <a:ln w="19050">
            <a:solidFill>
              <a:srgbClr val="1C6091"/>
            </a:solidFill>
          </a:ln>
          <a:effectLst/>
        </p:spPr>
        <p:txBody>
          <a:bodyPr rtlCol="0" anchor="ctr"/>
          <a:lstStyle/>
          <a:p>
            <a:pPr algn="ctr"/>
          </a:p>
        </p:txBody>
      </p:sp>
      <p:sp>
        <p:nvSpPr>
          <p:cNvPr id="12" name="TextBox 11"/>
          <p:cNvSpPr txBox="1"/>
          <p:nvPr/>
        </p:nvSpPr>
        <p:spPr>
          <a:xfrm>
            <a:off x="3772495" y="4275435"/>
            <a:ext cx="753864"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Tracing</a:t>
            </a:r>
          </a:p>
        </p:txBody>
      </p:sp>
      <p:pic>
        <p:nvPicPr>
          <p:cNvPr id="13" name="Picture 12" descr="d0e181bcef619971.png"/>
          <p:cNvPicPr>
            <a:picLocks noChangeAspect="1"/>
          </p:cNvPicPr>
          <p:nvPr/>
        </p:nvPicPr>
        <p:blipFill>
          <a:blip r:embed="rId5"/>
          <a:stretch>
            <a:fillRect/>
          </a:stretch>
        </p:blipFill>
        <p:spPr>
          <a:xfrm>
            <a:off x="3841750" y="3530600"/>
            <a:ext cx="609600" cy="609600"/>
          </a:xfrm>
          <a:prstGeom prst="rect">
            <a:avLst/>
          </a:prstGeom>
        </p:spPr>
      </p:pic>
      <p:sp>
        <p:nvSpPr>
          <p:cNvPr id="14" name="Rounded Rectangle 13"/>
          <p:cNvSpPr/>
          <p:nvPr/>
        </p:nvSpPr>
        <p:spPr>
          <a:xfrm>
            <a:off x="4748609" y="3361035"/>
            <a:ext cx="1245592" cy="1385491"/>
          </a:xfrm>
          <a:prstGeom prst="roundRect">
            <a:avLst>
              <a:gd name="adj" fmla="val 5097"/>
            </a:avLst>
          </a:prstGeom>
          <a:solidFill>
            <a:srgbClr val="E9E3E4"/>
          </a:solidFill>
          <a:ln w="19050">
            <a:solidFill>
              <a:srgbClr val="1C6091"/>
            </a:solidFill>
          </a:ln>
          <a:effectLst/>
        </p:spPr>
        <p:txBody>
          <a:bodyPr rtlCol="0" anchor="ctr"/>
          <a:lstStyle/>
          <a:p>
            <a:pPr algn="ctr"/>
          </a:p>
        </p:txBody>
      </p:sp>
      <p:sp>
        <p:nvSpPr>
          <p:cNvPr id="15" name="TextBox 14"/>
          <p:cNvSpPr txBox="1"/>
          <p:nvPr/>
        </p:nvSpPr>
        <p:spPr>
          <a:xfrm>
            <a:off x="4818459" y="4275435"/>
            <a:ext cx="1105892"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Debugging</a:t>
            </a:r>
          </a:p>
        </p:txBody>
      </p:sp>
      <p:pic>
        <p:nvPicPr>
          <p:cNvPr id="16" name="Picture 15" descr="40fe602cfad3339e.png"/>
          <p:cNvPicPr>
            <a:picLocks noChangeAspect="1"/>
          </p:cNvPicPr>
          <p:nvPr/>
        </p:nvPicPr>
        <p:blipFill>
          <a:blip r:embed="rId6"/>
          <a:stretch>
            <a:fillRect/>
          </a:stretch>
        </p:blipFill>
        <p:spPr>
          <a:xfrm>
            <a:off x="5060950" y="3530600"/>
            <a:ext cx="609600" cy="609600"/>
          </a:xfrm>
          <a:prstGeom prst="rect">
            <a:avLst/>
          </a:prstGeom>
        </p:spPr>
      </p:pic>
      <p:sp>
        <p:nvSpPr>
          <p:cNvPr id="17" name="Rounded Rectangle 16"/>
          <p:cNvSpPr/>
          <p:nvPr/>
        </p:nvSpPr>
        <p:spPr>
          <a:xfrm>
            <a:off x="6146602" y="3361035"/>
            <a:ext cx="1550491" cy="1385491"/>
          </a:xfrm>
          <a:prstGeom prst="roundRect">
            <a:avLst>
              <a:gd name="adj" fmla="val 4583"/>
            </a:avLst>
          </a:prstGeom>
          <a:solidFill>
            <a:srgbClr val="E9E3E4"/>
          </a:solidFill>
          <a:ln w="19050">
            <a:solidFill>
              <a:srgbClr val="1C6091"/>
            </a:solidFill>
          </a:ln>
          <a:effectLst/>
        </p:spPr>
        <p:txBody>
          <a:bodyPr rtlCol="0" anchor="ctr"/>
          <a:lstStyle/>
          <a:p>
            <a:pPr algn="ctr"/>
          </a:p>
        </p:txBody>
      </p:sp>
      <p:sp>
        <p:nvSpPr>
          <p:cNvPr id="18" name="TextBox 17"/>
          <p:cNvSpPr txBox="1"/>
          <p:nvPr/>
        </p:nvSpPr>
        <p:spPr>
          <a:xfrm>
            <a:off x="6216452" y="4275435"/>
            <a:ext cx="1410791"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Reading code</a:t>
            </a:r>
          </a:p>
        </p:txBody>
      </p:sp>
      <p:pic>
        <p:nvPicPr>
          <p:cNvPr id="19" name="Picture 18" descr="12849a71dde1c896.png"/>
          <p:cNvPicPr>
            <a:picLocks noChangeAspect="1"/>
          </p:cNvPicPr>
          <p:nvPr/>
        </p:nvPicPr>
        <p:blipFill>
          <a:blip r:embed="rId7"/>
          <a:stretch>
            <a:fillRect/>
          </a:stretch>
        </p:blipFill>
        <p:spPr>
          <a:xfrm>
            <a:off x="6616700" y="3530600"/>
            <a:ext cx="609600" cy="609600"/>
          </a:xfrm>
          <a:prstGeom prst="rect">
            <a:avLst/>
          </a:prstGeom>
        </p:spPr>
      </p:pic>
      <p:sp>
        <p:nvSpPr>
          <p:cNvPr id="20" name="Rounded Rectangle 19"/>
          <p:cNvSpPr/>
          <p:nvPr/>
        </p:nvSpPr>
        <p:spPr>
          <a:xfrm>
            <a:off x="7849493" y="3361035"/>
            <a:ext cx="851297" cy="1385491"/>
          </a:xfrm>
          <a:prstGeom prst="roundRect">
            <a:avLst>
              <a:gd name="adj" fmla="val 7459"/>
            </a:avLst>
          </a:prstGeom>
          <a:solidFill>
            <a:srgbClr val="E9E3E4"/>
          </a:solidFill>
          <a:ln w="19050">
            <a:solidFill>
              <a:srgbClr val="B35510"/>
            </a:solidFill>
          </a:ln>
          <a:effectLst/>
        </p:spPr>
        <p:txBody>
          <a:bodyPr rtlCol="0" anchor="ctr"/>
          <a:lstStyle/>
          <a:p>
            <a:pPr algn="ctr"/>
          </a:p>
        </p:txBody>
      </p:sp>
      <p:sp>
        <p:nvSpPr>
          <p:cNvPr id="21" name="TextBox 20"/>
          <p:cNvSpPr txBox="1"/>
          <p:nvPr/>
        </p:nvSpPr>
        <p:spPr>
          <a:xfrm>
            <a:off x="7919343" y="4275435"/>
            <a:ext cx="711597"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Verdana"/>
              </a:rPr>
              <a:t>Design</a:t>
            </a:r>
          </a:p>
        </p:txBody>
      </p:sp>
      <p:pic>
        <p:nvPicPr>
          <p:cNvPr id="22" name="Picture 21" descr="7392ba06fd7b272d.png"/>
          <p:cNvPicPr>
            <a:picLocks noChangeAspect="1"/>
          </p:cNvPicPr>
          <p:nvPr/>
        </p:nvPicPr>
        <p:blipFill>
          <a:blip r:embed="rId8"/>
          <a:stretch>
            <a:fillRect/>
          </a:stretch>
        </p:blipFill>
        <p:spPr>
          <a:xfrm>
            <a:off x="7969250" y="3530600"/>
            <a:ext cx="609600" cy="609600"/>
          </a:xfrm>
          <a:prstGeom prst="rect">
            <a:avLst/>
          </a:prstGeom>
        </p:spPr>
      </p:pic>
      <p:sp>
        <p:nvSpPr>
          <p:cNvPr id="23" name="Rounded Rectangle 22"/>
          <p:cNvSpPr/>
          <p:nvPr/>
        </p:nvSpPr>
        <p:spPr>
          <a:xfrm>
            <a:off x="8853190" y="3361035"/>
            <a:ext cx="1651794" cy="1385491"/>
          </a:xfrm>
          <a:prstGeom prst="roundRect">
            <a:avLst>
              <a:gd name="adj" fmla="val 4583"/>
            </a:avLst>
          </a:prstGeom>
          <a:solidFill>
            <a:srgbClr val="E9E3E4"/>
          </a:solidFill>
          <a:ln w="19050">
            <a:solidFill>
              <a:srgbClr val="B35510"/>
            </a:solidFill>
          </a:ln>
          <a:effectLst/>
        </p:spPr>
        <p:txBody>
          <a:bodyPr rtlCol="0" anchor="ctr"/>
          <a:lstStyle/>
          <a:p>
            <a:pPr algn="ctr"/>
          </a:p>
        </p:txBody>
      </p:sp>
      <p:sp>
        <p:nvSpPr>
          <p:cNvPr id="24" name="TextBox 23"/>
          <p:cNvSpPr txBox="1"/>
          <p:nvPr/>
        </p:nvSpPr>
        <p:spPr>
          <a:xfrm>
            <a:off x="8923040" y="4275435"/>
            <a:ext cx="1512094"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Verdana"/>
              </a:rPr>
              <a:t>Decomposition</a:t>
            </a:r>
          </a:p>
        </p:txBody>
      </p:sp>
      <p:pic>
        <p:nvPicPr>
          <p:cNvPr id="25" name="Picture 24" descr="1d6f007bf4e4e078.png"/>
          <p:cNvPicPr>
            <a:picLocks noChangeAspect="1"/>
          </p:cNvPicPr>
          <p:nvPr/>
        </p:nvPicPr>
        <p:blipFill>
          <a:blip r:embed="rId9"/>
          <a:stretch>
            <a:fillRect/>
          </a:stretch>
        </p:blipFill>
        <p:spPr>
          <a:xfrm>
            <a:off x="9372600" y="3530600"/>
            <a:ext cx="609600" cy="609600"/>
          </a:xfrm>
          <a:prstGeom prst="rect">
            <a:avLst/>
          </a:prstGeom>
        </p:spPr>
      </p:pic>
      <p:sp>
        <p:nvSpPr>
          <p:cNvPr id="26" name="Rounded Rectangle 25"/>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27" name="TextBox 26"/>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4 / 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Design skills + Engineering skills</a:t>
            </a:r>
          </a:p>
        </p:txBody>
      </p:sp>
      <p:sp>
        <p:nvSpPr>
          <p:cNvPr id="4" name="Rounded Rectangle 3"/>
          <p:cNvSpPr/>
          <p:nvPr/>
        </p:nvSpPr>
        <p:spPr>
          <a:xfrm>
            <a:off x="812800" y="1733550"/>
            <a:ext cx="5334000" cy="1206500"/>
          </a:xfrm>
          <a:prstGeom prst="roundRect">
            <a:avLst>
              <a:gd name="adj" fmla="val 5263"/>
            </a:avLst>
          </a:prstGeom>
          <a:solidFill>
            <a:srgbClr val="E9E3E4"/>
          </a:solidFill>
          <a:ln w="19050">
            <a:solidFill>
              <a:srgbClr val="1C6091"/>
            </a:solidFill>
          </a:ln>
          <a:effectLst/>
        </p:spPr>
        <p:txBody>
          <a:bodyPr rtlCol="0" anchor="ctr"/>
          <a:lstStyle/>
          <a:p>
            <a:pPr algn="ctr"/>
          </a:p>
        </p:txBody>
      </p:sp>
      <p:sp>
        <p:nvSpPr>
          <p:cNvPr id="5" name="TextBox 4"/>
          <p:cNvSpPr txBox="1"/>
          <p:nvPr/>
        </p:nvSpPr>
        <p:spPr>
          <a:xfrm>
            <a:off x="2279650" y="1917700"/>
            <a:ext cx="2409924" cy="426720"/>
          </a:xfrm>
          <a:prstGeom prst="rect">
            <a:avLst/>
          </a:prstGeom>
          <a:noFill/>
        </p:spPr>
        <p:txBody>
          <a:bodyPr wrap="none" lIns="0" rIns="0" tIns="0" bIns="0" anchor="ctr">
            <a:noAutofit/>
          </a:bodyPr>
          <a:lstStyle/>
          <a:p>
            <a:pPr algn="l">
              <a:lnSpc>
                <a:spcPts val="3360"/>
              </a:lnSpc>
            </a:pPr>
            <a:r>
              <a:rPr sz="2800" b="1" i="0">
                <a:solidFill>
                  <a:srgbClr val="2C1A1F"/>
                </a:solidFill>
                <a:latin typeface="Georgia"/>
              </a:rPr>
              <a:t>Design-oriented</a:t>
            </a:r>
          </a:p>
        </p:txBody>
      </p:sp>
      <p:sp>
        <p:nvSpPr>
          <p:cNvPr id="6" name="TextBox 5"/>
          <p:cNvSpPr txBox="1"/>
          <p:nvPr/>
        </p:nvSpPr>
        <p:spPr>
          <a:xfrm>
            <a:off x="1625600" y="2508250"/>
            <a:ext cx="3519984" cy="274320"/>
          </a:xfrm>
          <a:prstGeom prst="rect">
            <a:avLst/>
          </a:prstGeom>
          <a:noFill/>
        </p:spPr>
        <p:txBody>
          <a:bodyPr wrap="none" lIns="0" rIns="0" tIns="0" bIns="0" anchor="ctr">
            <a:noAutofit/>
          </a:bodyPr>
          <a:lstStyle/>
          <a:p>
            <a:pPr algn="l">
              <a:lnSpc>
                <a:spcPts val="2610"/>
              </a:lnSpc>
            </a:pPr>
            <a:r>
              <a:rPr sz="1800" b="0" i="0">
                <a:solidFill>
                  <a:srgbClr val="6B4A52"/>
                </a:solidFill>
                <a:latin typeface="Verdana"/>
              </a:rPr>
              <a:t>Choosing what to build — and why</a:t>
            </a:r>
          </a:p>
        </p:txBody>
      </p:sp>
      <p:sp>
        <p:nvSpPr>
          <p:cNvPr id="7" name="Rounded Rectangle 6"/>
          <p:cNvSpPr/>
          <p:nvPr/>
        </p:nvSpPr>
        <p:spPr>
          <a:xfrm>
            <a:off x="812800" y="3917950"/>
            <a:ext cx="5334000" cy="1206500"/>
          </a:xfrm>
          <a:prstGeom prst="roundRect">
            <a:avLst>
              <a:gd name="adj" fmla="val 5263"/>
            </a:avLst>
          </a:prstGeom>
          <a:solidFill>
            <a:srgbClr val="E9E3E4"/>
          </a:solidFill>
          <a:ln w="19050">
            <a:solidFill>
              <a:srgbClr val="B35510"/>
            </a:solidFill>
          </a:ln>
          <a:effectLst/>
        </p:spPr>
        <p:txBody>
          <a:bodyPr rtlCol="0" anchor="ctr"/>
          <a:lstStyle/>
          <a:p>
            <a:pPr algn="ctr"/>
          </a:p>
        </p:txBody>
      </p:sp>
      <p:sp>
        <p:nvSpPr>
          <p:cNvPr id="8" name="TextBox 7"/>
          <p:cNvSpPr txBox="1"/>
          <p:nvPr/>
        </p:nvSpPr>
        <p:spPr>
          <a:xfrm>
            <a:off x="1263650" y="4102100"/>
            <a:ext cx="3812282" cy="426720"/>
          </a:xfrm>
          <a:prstGeom prst="rect">
            <a:avLst/>
          </a:prstGeom>
          <a:noFill/>
        </p:spPr>
        <p:txBody>
          <a:bodyPr wrap="none" lIns="0" rIns="0" tIns="0" bIns="0" anchor="ctr">
            <a:noAutofit/>
          </a:bodyPr>
          <a:lstStyle/>
          <a:p>
            <a:pPr algn="l">
              <a:lnSpc>
                <a:spcPts val="3360"/>
              </a:lnSpc>
            </a:pPr>
            <a:r>
              <a:rPr sz="2800" b="1" i="0">
                <a:solidFill>
                  <a:srgbClr val="2C1A1F"/>
                </a:solidFill>
                <a:latin typeface="Georgia"/>
              </a:rPr>
              <a:t>Implementation-oriented</a:t>
            </a:r>
          </a:p>
        </p:txBody>
      </p:sp>
      <p:sp>
        <p:nvSpPr>
          <p:cNvPr id="9" name="TextBox 8"/>
          <p:cNvSpPr txBox="1"/>
          <p:nvPr/>
        </p:nvSpPr>
        <p:spPr>
          <a:xfrm>
            <a:off x="1593850" y="4692650"/>
            <a:ext cx="3176687" cy="274320"/>
          </a:xfrm>
          <a:prstGeom prst="rect">
            <a:avLst/>
          </a:prstGeom>
          <a:noFill/>
        </p:spPr>
        <p:txBody>
          <a:bodyPr wrap="none" lIns="0" rIns="0" tIns="0" bIns="0" anchor="ctr">
            <a:noAutofit/>
          </a:bodyPr>
          <a:lstStyle/>
          <a:p>
            <a:pPr algn="l">
              <a:lnSpc>
                <a:spcPts val="2610"/>
              </a:lnSpc>
            </a:pPr>
            <a:r>
              <a:rPr sz="1800" b="0" i="0">
                <a:solidFill>
                  <a:srgbClr val="6B4A52"/>
                </a:solidFill>
                <a:latin typeface="Verdana"/>
              </a:rPr>
              <a:t>Building it well — and proving it</a:t>
            </a:r>
          </a:p>
        </p:txBody>
      </p:sp>
      <p:pic>
        <p:nvPicPr>
          <p:cNvPr id="10" name="Picture 9" descr="7c2d62846c922879.jpg"/>
          <p:cNvPicPr>
            <a:picLocks noChangeAspect="1"/>
          </p:cNvPicPr>
          <p:nvPr/>
        </p:nvPicPr>
        <p:blipFill>
          <a:blip r:embed="rId3"/>
          <a:stretch>
            <a:fillRect/>
          </a:stretch>
        </p:blipFill>
        <p:spPr>
          <a:xfrm>
            <a:off x="6146800" y="2006600"/>
            <a:ext cx="1168400" cy="2844800"/>
          </a:xfrm>
          <a:prstGeom prst="rect">
            <a:avLst/>
          </a:prstGeom>
        </p:spPr>
      </p:pic>
      <p:sp>
        <p:nvSpPr>
          <p:cNvPr id="11" name="Rounded Rectangle 10"/>
          <p:cNvSpPr/>
          <p:nvPr/>
        </p:nvSpPr>
        <p:spPr>
          <a:xfrm>
            <a:off x="7315200" y="1689100"/>
            <a:ext cx="4064000" cy="736600"/>
          </a:xfrm>
          <a:prstGeom prst="roundRect">
            <a:avLst>
              <a:gd name="adj" fmla="val 8620"/>
            </a:avLst>
          </a:prstGeom>
          <a:solidFill>
            <a:srgbClr val="E9E3E4"/>
          </a:solidFill>
          <a:ln w="19050">
            <a:solidFill>
              <a:srgbClr val="861F41"/>
            </a:solidFill>
          </a:ln>
          <a:effectLst/>
        </p:spPr>
        <p:txBody>
          <a:bodyPr rtlCol="0" anchor="ctr"/>
          <a:lstStyle/>
          <a:p>
            <a:pPr algn="ctr"/>
          </a:p>
        </p:txBody>
      </p:sp>
      <p:sp>
        <p:nvSpPr>
          <p:cNvPr id="12" name="TextBox 11"/>
          <p:cNvSpPr txBox="1"/>
          <p:nvPr/>
        </p:nvSpPr>
        <p:spPr>
          <a:xfrm>
            <a:off x="7943850" y="1790700"/>
            <a:ext cx="3238500" cy="527050"/>
          </a:xfrm>
          <a:prstGeom prst="rect">
            <a:avLst/>
          </a:prstGeom>
          <a:noFill/>
        </p:spPr>
        <p:txBody>
          <a:bodyPr wrap="square" lIns="0" rIns="0" tIns="0" bIns="0" anchor="ctr">
            <a:noAutofit/>
          </a:bodyPr>
          <a:lstStyle/>
          <a:p>
            <a:pPr algn="l">
              <a:lnSpc>
                <a:spcPts val="2160"/>
              </a:lnSpc>
            </a:pPr>
            <a:r>
              <a:rPr sz="1800" b="0" i="0">
                <a:solidFill>
                  <a:srgbClr val="2C1A1F"/>
                </a:solidFill>
                <a:latin typeface="Verdana"/>
              </a:rPr>
              <a:t>Open-ended collaborative projects</a:t>
            </a:r>
          </a:p>
        </p:txBody>
      </p:sp>
      <p:pic>
        <p:nvPicPr>
          <p:cNvPr id="13" name="Picture 12" descr="71a594e4a61126fc.jpg"/>
          <p:cNvPicPr>
            <a:picLocks noChangeAspect="1"/>
          </p:cNvPicPr>
          <p:nvPr/>
        </p:nvPicPr>
        <p:blipFill>
          <a:blip r:embed="rId4"/>
          <a:stretch>
            <a:fillRect/>
          </a:stretch>
        </p:blipFill>
        <p:spPr>
          <a:xfrm>
            <a:off x="7442200" y="1866900"/>
            <a:ext cx="381000" cy="381000"/>
          </a:xfrm>
          <a:prstGeom prst="rect">
            <a:avLst/>
          </a:prstGeom>
        </p:spPr>
      </p:pic>
      <p:sp>
        <p:nvSpPr>
          <p:cNvPr id="14" name="Rounded Rectangle 13"/>
          <p:cNvSpPr/>
          <p:nvPr/>
        </p:nvSpPr>
        <p:spPr>
          <a:xfrm>
            <a:off x="7315200" y="2603500"/>
            <a:ext cx="4064000" cy="736600"/>
          </a:xfrm>
          <a:prstGeom prst="roundRect">
            <a:avLst>
              <a:gd name="adj" fmla="val 8620"/>
            </a:avLst>
          </a:prstGeom>
          <a:solidFill>
            <a:srgbClr val="E9E3E4"/>
          </a:solidFill>
          <a:ln w="19050">
            <a:solidFill>
              <a:srgbClr val="861F41"/>
            </a:solidFill>
          </a:ln>
          <a:effectLst/>
        </p:spPr>
        <p:txBody>
          <a:bodyPr rtlCol="0" anchor="ctr"/>
          <a:lstStyle/>
          <a:p>
            <a:pPr algn="ctr"/>
          </a:p>
        </p:txBody>
      </p:sp>
      <p:sp>
        <p:nvSpPr>
          <p:cNvPr id="15" name="TextBox 14"/>
          <p:cNvSpPr txBox="1"/>
          <p:nvPr/>
        </p:nvSpPr>
        <p:spPr>
          <a:xfrm>
            <a:off x="7943850" y="2705100"/>
            <a:ext cx="3238500" cy="527050"/>
          </a:xfrm>
          <a:prstGeom prst="rect">
            <a:avLst/>
          </a:prstGeom>
          <a:noFill/>
        </p:spPr>
        <p:txBody>
          <a:bodyPr wrap="square" lIns="0" rIns="0" tIns="0" bIns="0" anchor="ctr">
            <a:noAutofit/>
          </a:bodyPr>
          <a:lstStyle/>
          <a:p>
            <a:pPr algn="l">
              <a:lnSpc>
                <a:spcPts val="2160"/>
              </a:lnSpc>
            </a:pPr>
            <a:r>
              <a:rPr sz="1800" b="0" i="0">
                <a:solidFill>
                  <a:srgbClr val="2C1A1F"/>
                </a:solidFill>
                <a:latin typeface="Verdana"/>
              </a:rPr>
              <a:t>Homework &amp; challenge problems</a:t>
            </a:r>
          </a:p>
        </p:txBody>
      </p:sp>
      <p:pic>
        <p:nvPicPr>
          <p:cNvPr id="16" name="Picture 15" descr="a34b3bcde775cb26.png"/>
          <p:cNvPicPr>
            <a:picLocks noChangeAspect="1"/>
          </p:cNvPicPr>
          <p:nvPr/>
        </p:nvPicPr>
        <p:blipFill>
          <a:blip r:embed="rId5"/>
          <a:stretch>
            <a:fillRect/>
          </a:stretch>
        </p:blipFill>
        <p:spPr>
          <a:xfrm>
            <a:off x="7442200" y="2781300"/>
            <a:ext cx="381000" cy="381000"/>
          </a:xfrm>
          <a:prstGeom prst="rect">
            <a:avLst/>
          </a:prstGeom>
        </p:spPr>
      </p:pic>
      <p:sp>
        <p:nvSpPr>
          <p:cNvPr id="17" name="Rounded Rectangle 16"/>
          <p:cNvSpPr/>
          <p:nvPr/>
        </p:nvSpPr>
        <p:spPr>
          <a:xfrm>
            <a:off x="7315200" y="3517900"/>
            <a:ext cx="4064000" cy="736600"/>
          </a:xfrm>
          <a:prstGeom prst="roundRect">
            <a:avLst>
              <a:gd name="adj" fmla="val 8620"/>
            </a:avLst>
          </a:prstGeom>
          <a:solidFill>
            <a:srgbClr val="E9E3E4"/>
          </a:solidFill>
          <a:ln w="19050">
            <a:solidFill>
              <a:srgbClr val="861F41"/>
            </a:solidFill>
          </a:ln>
          <a:effectLst/>
        </p:spPr>
        <p:txBody>
          <a:bodyPr rtlCol="0" anchor="ctr"/>
          <a:lstStyle/>
          <a:p>
            <a:pPr algn="ctr"/>
          </a:p>
        </p:txBody>
      </p:sp>
      <p:sp>
        <p:nvSpPr>
          <p:cNvPr id="18" name="TextBox 17"/>
          <p:cNvSpPr txBox="1"/>
          <p:nvPr/>
        </p:nvSpPr>
        <p:spPr>
          <a:xfrm>
            <a:off x="7943850" y="3752850"/>
            <a:ext cx="3213100"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Exams</a:t>
            </a:r>
          </a:p>
        </p:txBody>
      </p:sp>
      <p:pic>
        <p:nvPicPr>
          <p:cNvPr id="19" name="Picture 18" descr="0e1d1eeb7a7966cf.png"/>
          <p:cNvPicPr>
            <a:picLocks noChangeAspect="1"/>
          </p:cNvPicPr>
          <p:nvPr/>
        </p:nvPicPr>
        <p:blipFill>
          <a:blip r:embed="rId6"/>
          <a:stretch>
            <a:fillRect/>
          </a:stretch>
        </p:blipFill>
        <p:spPr>
          <a:xfrm>
            <a:off x="7442200" y="3695700"/>
            <a:ext cx="381000" cy="381000"/>
          </a:xfrm>
          <a:prstGeom prst="rect">
            <a:avLst/>
          </a:prstGeom>
        </p:spPr>
      </p:pic>
      <p:sp>
        <p:nvSpPr>
          <p:cNvPr id="20" name="Rounded Rectangle 19"/>
          <p:cNvSpPr/>
          <p:nvPr/>
        </p:nvSpPr>
        <p:spPr>
          <a:xfrm>
            <a:off x="7315200" y="4432300"/>
            <a:ext cx="4064000" cy="736600"/>
          </a:xfrm>
          <a:prstGeom prst="roundRect">
            <a:avLst>
              <a:gd name="adj" fmla="val 8620"/>
            </a:avLst>
          </a:prstGeom>
          <a:solidFill>
            <a:srgbClr val="E9E3E4"/>
          </a:solidFill>
          <a:ln w="19050">
            <a:solidFill>
              <a:srgbClr val="861F41"/>
            </a:solidFill>
          </a:ln>
          <a:effectLst/>
        </p:spPr>
        <p:txBody>
          <a:bodyPr rtlCol="0" anchor="ctr"/>
          <a:lstStyle/>
          <a:p>
            <a:pPr algn="ctr"/>
          </a:p>
        </p:txBody>
      </p:sp>
      <p:sp>
        <p:nvSpPr>
          <p:cNvPr id="21" name="TextBox 20"/>
          <p:cNvSpPr txBox="1"/>
          <p:nvPr/>
        </p:nvSpPr>
        <p:spPr>
          <a:xfrm>
            <a:off x="7943850" y="4667250"/>
            <a:ext cx="3213100"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Peer instruction</a:t>
            </a:r>
          </a:p>
        </p:txBody>
      </p:sp>
      <p:pic>
        <p:nvPicPr>
          <p:cNvPr id="22" name="Picture 21" descr="a2dcc9981970c6ee.png"/>
          <p:cNvPicPr>
            <a:picLocks noChangeAspect="1"/>
          </p:cNvPicPr>
          <p:nvPr/>
        </p:nvPicPr>
        <p:blipFill>
          <a:blip r:embed="rId7"/>
          <a:stretch>
            <a:fillRect/>
          </a:stretch>
        </p:blipFill>
        <p:spPr>
          <a:xfrm>
            <a:off x="7442200" y="4610100"/>
            <a:ext cx="381000" cy="381000"/>
          </a:xfrm>
          <a:prstGeom prst="rect">
            <a:avLst/>
          </a:prstGeom>
        </p:spPr>
      </p:pic>
      <p:sp>
        <p:nvSpPr>
          <p:cNvPr id="23" name="Rounded Rectangle 22"/>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24" name="TextBox 23"/>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5 / 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Design skills + Engineering skills</a:t>
            </a:r>
          </a:p>
        </p:txBody>
      </p:sp>
      <p:sp>
        <p:nvSpPr>
          <p:cNvPr id="4" name="Rounded Rectangle 3"/>
          <p:cNvSpPr/>
          <p:nvPr/>
        </p:nvSpPr>
        <p:spPr>
          <a:xfrm>
            <a:off x="812800" y="1733550"/>
            <a:ext cx="5334000" cy="1206500"/>
          </a:xfrm>
          <a:prstGeom prst="roundRect">
            <a:avLst>
              <a:gd name="adj" fmla="val 5263"/>
            </a:avLst>
          </a:prstGeom>
          <a:solidFill>
            <a:srgbClr val="E9E3E4"/>
          </a:solidFill>
          <a:ln w="19050">
            <a:solidFill>
              <a:srgbClr val="1C6091"/>
            </a:solidFill>
          </a:ln>
          <a:effectLst/>
        </p:spPr>
        <p:txBody>
          <a:bodyPr rtlCol="0" anchor="ctr"/>
          <a:lstStyle/>
          <a:p>
            <a:pPr algn="ctr"/>
          </a:p>
        </p:txBody>
      </p:sp>
      <p:sp>
        <p:nvSpPr>
          <p:cNvPr id="5" name="TextBox 4"/>
          <p:cNvSpPr txBox="1"/>
          <p:nvPr/>
        </p:nvSpPr>
        <p:spPr>
          <a:xfrm>
            <a:off x="2279650" y="1917700"/>
            <a:ext cx="2409924" cy="426720"/>
          </a:xfrm>
          <a:prstGeom prst="rect">
            <a:avLst/>
          </a:prstGeom>
          <a:noFill/>
        </p:spPr>
        <p:txBody>
          <a:bodyPr wrap="none" lIns="0" rIns="0" tIns="0" bIns="0" anchor="ctr">
            <a:noAutofit/>
          </a:bodyPr>
          <a:lstStyle/>
          <a:p>
            <a:pPr algn="l">
              <a:lnSpc>
                <a:spcPts val="3360"/>
              </a:lnSpc>
            </a:pPr>
            <a:r>
              <a:rPr sz="2800" b="1" i="0">
                <a:solidFill>
                  <a:srgbClr val="2C1A1F"/>
                </a:solidFill>
                <a:latin typeface="Georgia"/>
              </a:rPr>
              <a:t>Design-oriented</a:t>
            </a:r>
          </a:p>
        </p:txBody>
      </p:sp>
      <p:sp>
        <p:nvSpPr>
          <p:cNvPr id="6" name="TextBox 5"/>
          <p:cNvSpPr txBox="1"/>
          <p:nvPr/>
        </p:nvSpPr>
        <p:spPr>
          <a:xfrm>
            <a:off x="1625600" y="2508250"/>
            <a:ext cx="3519984" cy="274320"/>
          </a:xfrm>
          <a:prstGeom prst="rect">
            <a:avLst/>
          </a:prstGeom>
          <a:noFill/>
        </p:spPr>
        <p:txBody>
          <a:bodyPr wrap="none" lIns="0" rIns="0" tIns="0" bIns="0" anchor="ctr">
            <a:noAutofit/>
          </a:bodyPr>
          <a:lstStyle/>
          <a:p>
            <a:pPr algn="l">
              <a:lnSpc>
                <a:spcPts val="2610"/>
              </a:lnSpc>
            </a:pPr>
            <a:r>
              <a:rPr sz="1800" b="0" i="0">
                <a:solidFill>
                  <a:srgbClr val="6B4A52"/>
                </a:solidFill>
                <a:latin typeface="Verdana"/>
              </a:rPr>
              <a:t>Choosing what to build — and why</a:t>
            </a:r>
          </a:p>
        </p:txBody>
      </p:sp>
      <p:sp>
        <p:nvSpPr>
          <p:cNvPr id="7" name="Rounded Rectangle 6"/>
          <p:cNvSpPr/>
          <p:nvPr/>
        </p:nvSpPr>
        <p:spPr>
          <a:xfrm>
            <a:off x="812800" y="3917950"/>
            <a:ext cx="5334000" cy="1206500"/>
          </a:xfrm>
          <a:prstGeom prst="roundRect">
            <a:avLst>
              <a:gd name="adj" fmla="val 5263"/>
            </a:avLst>
          </a:prstGeom>
          <a:solidFill>
            <a:srgbClr val="E9E3E4"/>
          </a:solidFill>
          <a:ln w="19050">
            <a:solidFill>
              <a:srgbClr val="B35510"/>
            </a:solidFill>
          </a:ln>
          <a:effectLst/>
        </p:spPr>
        <p:txBody>
          <a:bodyPr rtlCol="0" anchor="ctr"/>
          <a:lstStyle/>
          <a:p>
            <a:pPr algn="ctr"/>
          </a:p>
        </p:txBody>
      </p:sp>
      <p:sp>
        <p:nvSpPr>
          <p:cNvPr id="8" name="TextBox 7"/>
          <p:cNvSpPr txBox="1"/>
          <p:nvPr/>
        </p:nvSpPr>
        <p:spPr>
          <a:xfrm>
            <a:off x="1263650" y="4102100"/>
            <a:ext cx="3812282" cy="426720"/>
          </a:xfrm>
          <a:prstGeom prst="rect">
            <a:avLst/>
          </a:prstGeom>
          <a:noFill/>
        </p:spPr>
        <p:txBody>
          <a:bodyPr wrap="none" lIns="0" rIns="0" tIns="0" bIns="0" anchor="ctr">
            <a:noAutofit/>
          </a:bodyPr>
          <a:lstStyle/>
          <a:p>
            <a:pPr algn="l">
              <a:lnSpc>
                <a:spcPts val="3360"/>
              </a:lnSpc>
            </a:pPr>
            <a:r>
              <a:rPr sz="2800" b="1" i="0">
                <a:solidFill>
                  <a:srgbClr val="2C1A1F"/>
                </a:solidFill>
                <a:latin typeface="Georgia"/>
              </a:rPr>
              <a:t>Implementation-oriented</a:t>
            </a:r>
          </a:p>
        </p:txBody>
      </p:sp>
      <p:sp>
        <p:nvSpPr>
          <p:cNvPr id="9" name="TextBox 8"/>
          <p:cNvSpPr txBox="1"/>
          <p:nvPr/>
        </p:nvSpPr>
        <p:spPr>
          <a:xfrm>
            <a:off x="1593850" y="4692650"/>
            <a:ext cx="3176687" cy="274320"/>
          </a:xfrm>
          <a:prstGeom prst="rect">
            <a:avLst/>
          </a:prstGeom>
          <a:noFill/>
        </p:spPr>
        <p:txBody>
          <a:bodyPr wrap="none" lIns="0" rIns="0" tIns="0" bIns="0" anchor="ctr">
            <a:noAutofit/>
          </a:bodyPr>
          <a:lstStyle/>
          <a:p>
            <a:pPr algn="l">
              <a:lnSpc>
                <a:spcPts val="2610"/>
              </a:lnSpc>
            </a:pPr>
            <a:r>
              <a:rPr sz="1800" b="0" i="0">
                <a:solidFill>
                  <a:srgbClr val="6B4A52"/>
                </a:solidFill>
                <a:latin typeface="Verdana"/>
              </a:rPr>
              <a:t>Building it well — and proving it</a:t>
            </a:r>
          </a:p>
        </p:txBody>
      </p:sp>
      <p:pic>
        <p:nvPicPr>
          <p:cNvPr id="10" name="Picture 9" descr="97ff10cf9e90cecc.jpg"/>
          <p:cNvPicPr>
            <a:picLocks noChangeAspect="1"/>
          </p:cNvPicPr>
          <p:nvPr/>
        </p:nvPicPr>
        <p:blipFill>
          <a:blip r:embed="rId3"/>
          <a:stretch>
            <a:fillRect/>
          </a:stretch>
        </p:blipFill>
        <p:spPr>
          <a:xfrm>
            <a:off x="6146800" y="2006600"/>
            <a:ext cx="1168400" cy="2844800"/>
          </a:xfrm>
          <a:prstGeom prst="rect">
            <a:avLst/>
          </a:prstGeom>
        </p:spPr>
      </p:pic>
      <p:pic>
        <p:nvPicPr>
          <p:cNvPr id="11" name="Picture 10" descr="a986a708a7c60cff.jpg"/>
          <p:cNvPicPr>
            <a:picLocks noChangeAspect="1"/>
          </p:cNvPicPr>
          <p:nvPr/>
        </p:nvPicPr>
        <p:blipFill>
          <a:blip r:embed="rId4"/>
          <a:stretch>
            <a:fillRect/>
          </a:stretch>
        </p:blipFill>
        <p:spPr>
          <a:xfrm>
            <a:off x="6146800" y="2006600"/>
            <a:ext cx="1168400" cy="381000"/>
          </a:xfrm>
          <a:prstGeom prst="rect">
            <a:avLst/>
          </a:prstGeom>
        </p:spPr>
      </p:pic>
      <p:sp>
        <p:nvSpPr>
          <p:cNvPr id="12" name="Rounded Rectangle 11"/>
          <p:cNvSpPr/>
          <p:nvPr/>
        </p:nvSpPr>
        <p:spPr>
          <a:xfrm>
            <a:off x="7315200" y="1689100"/>
            <a:ext cx="4064000" cy="736600"/>
          </a:xfrm>
          <a:prstGeom prst="roundRect">
            <a:avLst>
              <a:gd name="adj" fmla="val 8620"/>
            </a:avLst>
          </a:prstGeom>
          <a:solidFill>
            <a:srgbClr val="E9E3E4"/>
          </a:solidFill>
          <a:ln w="19050">
            <a:solidFill>
              <a:srgbClr val="861F41"/>
            </a:solidFill>
          </a:ln>
          <a:effectLst/>
        </p:spPr>
        <p:txBody>
          <a:bodyPr rtlCol="0" anchor="ctr"/>
          <a:lstStyle/>
          <a:p>
            <a:pPr algn="ctr"/>
          </a:p>
        </p:txBody>
      </p:sp>
      <p:sp>
        <p:nvSpPr>
          <p:cNvPr id="13" name="TextBox 12"/>
          <p:cNvSpPr txBox="1"/>
          <p:nvPr/>
        </p:nvSpPr>
        <p:spPr>
          <a:xfrm>
            <a:off x="7943850" y="1790700"/>
            <a:ext cx="3238500" cy="527050"/>
          </a:xfrm>
          <a:prstGeom prst="rect">
            <a:avLst/>
          </a:prstGeom>
          <a:noFill/>
        </p:spPr>
        <p:txBody>
          <a:bodyPr wrap="square" lIns="0" rIns="0" tIns="0" bIns="0" anchor="ctr">
            <a:noAutofit/>
          </a:bodyPr>
          <a:lstStyle/>
          <a:p>
            <a:pPr algn="l">
              <a:lnSpc>
                <a:spcPts val="2160"/>
              </a:lnSpc>
            </a:pPr>
            <a:r>
              <a:rPr sz="1800" b="0" i="0">
                <a:solidFill>
                  <a:srgbClr val="2C1A1F"/>
                </a:solidFill>
                <a:latin typeface="Verdana"/>
              </a:rPr>
              <a:t>Open-ended collaborative projects</a:t>
            </a:r>
          </a:p>
        </p:txBody>
      </p:sp>
      <p:pic>
        <p:nvPicPr>
          <p:cNvPr id="14" name="Picture 13" descr="71a594e4a61126fc.jpg"/>
          <p:cNvPicPr>
            <a:picLocks noChangeAspect="1"/>
          </p:cNvPicPr>
          <p:nvPr/>
        </p:nvPicPr>
        <p:blipFill>
          <a:blip r:embed="rId5"/>
          <a:stretch>
            <a:fillRect/>
          </a:stretch>
        </p:blipFill>
        <p:spPr>
          <a:xfrm>
            <a:off x="7442200" y="1866900"/>
            <a:ext cx="381000" cy="381000"/>
          </a:xfrm>
          <a:prstGeom prst="rect">
            <a:avLst/>
          </a:prstGeom>
        </p:spPr>
      </p:pic>
      <p:sp>
        <p:nvSpPr>
          <p:cNvPr id="15" name="Rounded Rectangle 14"/>
          <p:cNvSpPr/>
          <p:nvPr/>
        </p:nvSpPr>
        <p:spPr>
          <a:xfrm>
            <a:off x="7315200" y="2603500"/>
            <a:ext cx="4064000" cy="736600"/>
          </a:xfrm>
          <a:prstGeom prst="roundRect">
            <a:avLst>
              <a:gd name="adj" fmla="val 8620"/>
            </a:avLst>
          </a:prstGeom>
          <a:solidFill>
            <a:srgbClr val="E9E3E4"/>
          </a:solidFill>
          <a:ln w="19050">
            <a:solidFill>
              <a:srgbClr val="861F41"/>
            </a:solidFill>
          </a:ln>
          <a:effectLst/>
        </p:spPr>
        <p:txBody>
          <a:bodyPr rtlCol="0" anchor="ctr"/>
          <a:lstStyle/>
          <a:p>
            <a:pPr algn="ctr"/>
          </a:p>
        </p:txBody>
      </p:sp>
      <p:sp>
        <p:nvSpPr>
          <p:cNvPr id="16" name="TextBox 15"/>
          <p:cNvSpPr txBox="1"/>
          <p:nvPr/>
        </p:nvSpPr>
        <p:spPr>
          <a:xfrm>
            <a:off x="7943850" y="2705100"/>
            <a:ext cx="3238500" cy="527050"/>
          </a:xfrm>
          <a:prstGeom prst="rect">
            <a:avLst/>
          </a:prstGeom>
          <a:noFill/>
        </p:spPr>
        <p:txBody>
          <a:bodyPr wrap="square" lIns="0" rIns="0" tIns="0" bIns="0" anchor="ctr">
            <a:noAutofit/>
          </a:bodyPr>
          <a:lstStyle/>
          <a:p>
            <a:pPr algn="l">
              <a:lnSpc>
                <a:spcPts val="2160"/>
              </a:lnSpc>
            </a:pPr>
            <a:r>
              <a:rPr sz="1800" b="0" i="0">
                <a:solidFill>
                  <a:srgbClr val="2C1A1F"/>
                </a:solidFill>
                <a:latin typeface="Verdana"/>
              </a:rPr>
              <a:t>Homework &amp; challenge problems</a:t>
            </a:r>
          </a:p>
        </p:txBody>
      </p:sp>
      <p:pic>
        <p:nvPicPr>
          <p:cNvPr id="17" name="Picture 16" descr="a34b3bcde775cb26.png"/>
          <p:cNvPicPr>
            <a:picLocks noChangeAspect="1"/>
          </p:cNvPicPr>
          <p:nvPr/>
        </p:nvPicPr>
        <p:blipFill>
          <a:blip r:embed="rId6"/>
          <a:stretch>
            <a:fillRect/>
          </a:stretch>
        </p:blipFill>
        <p:spPr>
          <a:xfrm>
            <a:off x="7442200" y="2781300"/>
            <a:ext cx="381000" cy="381000"/>
          </a:xfrm>
          <a:prstGeom prst="rect">
            <a:avLst/>
          </a:prstGeom>
        </p:spPr>
      </p:pic>
      <p:sp>
        <p:nvSpPr>
          <p:cNvPr id="18" name="Rounded Rectangle 17"/>
          <p:cNvSpPr/>
          <p:nvPr/>
        </p:nvSpPr>
        <p:spPr>
          <a:xfrm>
            <a:off x="7315200" y="3517900"/>
            <a:ext cx="4064000" cy="736600"/>
          </a:xfrm>
          <a:prstGeom prst="roundRect">
            <a:avLst>
              <a:gd name="adj" fmla="val 8620"/>
            </a:avLst>
          </a:prstGeom>
          <a:solidFill>
            <a:srgbClr val="E9E3E4"/>
          </a:solidFill>
          <a:ln w="19050">
            <a:solidFill>
              <a:srgbClr val="861F41"/>
            </a:solidFill>
          </a:ln>
          <a:effectLst/>
        </p:spPr>
        <p:txBody>
          <a:bodyPr rtlCol="0" anchor="ctr"/>
          <a:lstStyle/>
          <a:p>
            <a:pPr algn="ctr"/>
          </a:p>
        </p:txBody>
      </p:sp>
      <p:sp>
        <p:nvSpPr>
          <p:cNvPr id="19" name="TextBox 18"/>
          <p:cNvSpPr txBox="1"/>
          <p:nvPr/>
        </p:nvSpPr>
        <p:spPr>
          <a:xfrm>
            <a:off x="7943850" y="3752850"/>
            <a:ext cx="3213100"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Exams</a:t>
            </a:r>
          </a:p>
        </p:txBody>
      </p:sp>
      <p:pic>
        <p:nvPicPr>
          <p:cNvPr id="20" name="Picture 19" descr="0e1d1eeb7a7966cf.png"/>
          <p:cNvPicPr>
            <a:picLocks noChangeAspect="1"/>
          </p:cNvPicPr>
          <p:nvPr/>
        </p:nvPicPr>
        <p:blipFill>
          <a:blip r:embed="rId7"/>
          <a:stretch>
            <a:fillRect/>
          </a:stretch>
        </p:blipFill>
        <p:spPr>
          <a:xfrm>
            <a:off x="7442200" y="3695700"/>
            <a:ext cx="381000" cy="381000"/>
          </a:xfrm>
          <a:prstGeom prst="rect">
            <a:avLst/>
          </a:prstGeom>
        </p:spPr>
      </p:pic>
      <p:sp>
        <p:nvSpPr>
          <p:cNvPr id="21" name="Rounded Rectangle 20"/>
          <p:cNvSpPr/>
          <p:nvPr/>
        </p:nvSpPr>
        <p:spPr>
          <a:xfrm>
            <a:off x="7315200" y="4432300"/>
            <a:ext cx="4064000" cy="736600"/>
          </a:xfrm>
          <a:prstGeom prst="roundRect">
            <a:avLst>
              <a:gd name="adj" fmla="val 8620"/>
            </a:avLst>
          </a:prstGeom>
          <a:solidFill>
            <a:srgbClr val="E9E3E4"/>
          </a:solidFill>
          <a:ln w="19050">
            <a:solidFill>
              <a:srgbClr val="861F41"/>
            </a:solidFill>
          </a:ln>
          <a:effectLst/>
        </p:spPr>
        <p:txBody>
          <a:bodyPr rtlCol="0" anchor="ctr"/>
          <a:lstStyle/>
          <a:p>
            <a:pPr algn="ctr"/>
          </a:p>
        </p:txBody>
      </p:sp>
      <p:sp>
        <p:nvSpPr>
          <p:cNvPr id="22" name="TextBox 21"/>
          <p:cNvSpPr txBox="1"/>
          <p:nvPr/>
        </p:nvSpPr>
        <p:spPr>
          <a:xfrm>
            <a:off x="7943850" y="4667250"/>
            <a:ext cx="3213100"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Peer instruction</a:t>
            </a:r>
          </a:p>
        </p:txBody>
      </p:sp>
      <p:pic>
        <p:nvPicPr>
          <p:cNvPr id="23" name="Picture 22" descr="a2dcc9981970c6ee.png"/>
          <p:cNvPicPr>
            <a:picLocks noChangeAspect="1"/>
          </p:cNvPicPr>
          <p:nvPr/>
        </p:nvPicPr>
        <p:blipFill>
          <a:blip r:embed="rId8"/>
          <a:stretch>
            <a:fillRect/>
          </a:stretch>
        </p:blipFill>
        <p:spPr>
          <a:xfrm>
            <a:off x="7442200" y="4610100"/>
            <a:ext cx="381000" cy="381000"/>
          </a:xfrm>
          <a:prstGeom prst="rect">
            <a:avLst/>
          </a:prstGeom>
        </p:spPr>
      </p:pic>
      <p:sp>
        <p:nvSpPr>
          <p:cNvPr id="24" name="Rounded Rectangle 23"/>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25" name="TextBox 24"/>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5 / 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Design skills + Engineering skills</a:t>
            </a:r>
          </a:p>
        </p:txBody>
      </p:sp>
      <p:sp>
        <p:nvSpPr>
          <p:cNvPr id="4" name="Rounded Rectangle 3"/>
          <p:cNvSpPr/>
          <p:nvPr/>
        </p:nvSpPr>
        <p:spPr>
          <a:xfrm>
            <a:off x="812800" y="1733550"/>
            <a:ext cx="5334000" cy="1206500"/>
          </a:xfrm>
          <a:prstGeom prst="roundRect">
            <a:avLst>
              <a:gd name="adj" fmla="val 5263"/>
            </a:avLst>
          </a:prstGeom>
          <a:solidFill>
            <a:srgbClr val="E9E3E4"/>
          </a:solidFill>
          <a:ln w="19050">
            <a:solidFill>
              <a:srgbClr val="1C6091"/>
            </a:solidFill>
          </a:ln>
          <a:effectLst/>
        </p:spPr>
        <p:txBody>
          <a:bodyPr rtlCol="0" anchor="ctr"/>
          <a:lstStyle/>
          <a:p>
            <a:pPr algn="ctr"/>
          </a:p>
        </p:txBody>
      </p:sp>
      <p:sp>
        <p:nvSpPr>
          <p:cNvPr id="5" name="TextBox 4"/>
          <p:cNvSpPr txBox="1"/>
          <p:nvPr/>
        </p:nvSpPr>
        <p:spPr>
          <a:xfrm>
            <a:off x="2279650" y="1917700"/>
            <a:ext cx="2409924" cy="426720"/>
          </a:xfrm>
          <a:prstGeom prst="rect">
            <a:avLst/>
          </a:prstGeom>
          <a:noFill/>
        </p:spPr>
        <p:txBody>
          <a:bodyPr wrap="none" lIns="0" rIns="0" tIns="0" bIns="0" anchor="ctr">
            <a:noAutofit/>
          </a:bodyPr>
          <a:lstStyle/>
          <a:p>
            <a:pPr algn="l">
              <a:lnSpc>
                <a:spcPts val="3360"/>
              </a:lnSpc>
            </a:pPr>
            <a:r>
              <a:rPr sz="2800" b="1" i="0">
                <a:solidFill>
                  <a:srgbClr val="2C1A1F"/>
                </a:solidFill>
                <a:latin typeface="Georgia"/>
              </a:rPr>
              <a:t>Design-oriented</a:t>
            </a:r>
          </a:p>
        </p:txBody>
      </p:sp>
      <p:sp>
        <p:nvSpPr>
          <p:cNvPr id="6" name="TextBox 5"/>
          <p:cNvSpPr txBox="1"/>
          <p:nvPr/>
        </p:nvSpPr>
        <p:spPr>
          <a:xfrm>
            <a:off x="1625600" y="2508250"/>
            <a:ext cx="3519984" cy="274320"/>
          </a:xfrm>
          <a:prstGeom prst="rect">
            <a:avLst/>
          </a:prstGeom>
          <a:noFill/>
        </p:spPr>
        <p:txBody>
          <a:bodyPr wrap="none" lIns="0" rIns="0" tIns="0" bIns="0" anchor="ctr">
            <a:noAutofit/>
          </a:bodyPr>
          <a:lstStyle/>
          <a:p>
            <a:pPr algn="l">
              <a:lnSpc>
                <a:spcPts val="2610"/>
              </a:lnSpc>
            </a:pPr>
            <a:r>
              <a:rPr sz="1800" b="0" i="0">
                <a:solidFill>
                  <a:srgbClr val="6B4A52"/>
                </a:solidFill>
                <a:latin typeface="Verdana"/>
              </a:rPr>
              <a:t>Choosing what to build — and why</a:t>
            </a:r>
          </a:p>
        </p:txBody>
      </p:sp>
      <p:sp>
        <p:nvSpPr>
          <p:cNvPr id="7" name="Rounded Rectangle 6"/>
          <p:cNvSpPr/>
          <p:nvPr/>
        </p:nvSpPr>
        <p:spPr>
          <a:xfrm>
            <a:off x="812800" y="3917950"/>
            <a:ext cx="5334000" cy="1206500"/>
          </a:xfrm>
          <a:prstGeom prst="roundRect">
            <a:avLst>
              <a:gd name="adj" fmla="val 5263"/>
            </a:avLst>
          </a:prstGeom>
          <a:solidFill>
            <a:srgbClr val="E9E3E4"/>
          </a:solidFill>
          <a:ln w="19050">
            <a:solidFill>
              <a:srgbClr val="B35510"/>
            </a:solidFill>
          </a:ln>
          <a:effectLst/>
        </p:spPr>
        <p:txBody>
          <a:bodyPr rtlCol="0" anchor="ctr"/>
          <a:lstStyle/>
          <a:p>
            <a:pPr algn="ctr"/>
          </a:p>
        </p:txBody>
      </p:sp>
      <p:sp>
        <p:nvSpPr>
          <p:cNvPr id="8" name="TextBox 7"/>
          <p:cNvSpPr txBox="1"/>
          <p:nvPr/>
        </p:nvSpPr>
        <p:spPr>
          <a:xfrm>
            <a:off x="1263650" y="4102100"/>
            <a:ext cx="3812282" cy="426720"/>
          </a:xfrm>
          <a:prstGeom prst="rect">
            <a:avLst/>
          </a:prstGeom>
          <a:noFill/>
        </p:spPr>
        <p:txBody>
          <a:bodyPr wrap="none" lIns="0" rIns="0" tIns="0" bIns="0" anchor="ctr">
            <a:noAutofit/>
          </a:bodyPr>
          <a:lstStyle/>
          <a:p>
            <a:pPr algn="l">
              <a:lnSpc>
                <a:spcPts val="3360"/>
              </a:lnSpc>
            </a:pPr>
            <a:r>
              <a:rPr sz="2800" b="1" i="0">
                <a:solidFill>
                  <a:srgbClr val="2C1A1F"/>
                </a:solidFill>
                <a:latin typeface="Georgia"/>
              </a:rPr>
              <a:t>Implementation-oriented</a:t>
            </a:r>
          </a:p>
        </p:txBody>
      </p:sp>
      <p:sp>
        <p:nvSpPr>
          <p:cNvPr id="9" name="TextBox 8"/>
          <p:cNvSpPr txBox="1"/>
          <p:nvPr/>
        </p:nvSpPr>
        <p:spPr>
          <a:xfrm>
            <a:off x="1593850" y="4692650"/>
            <a:ext cx="3176687" cy="274320"/>
          </a:xfrm>
          <a:prstGeom prst="rect">
            <a:avLst/>
          </a:prstGeom>
          <a:noFill/>
        </p:spPr>
        <p:txBody>
          <a:bodyPr wrap="none" lIns="0" rIns="0" tIns="0" bIns="0" anchor="ctr">
            <a:noAutofit/>
          </a:bodyPr>
          <a:lstStyle/>
          <a:p>
            <a:pPr algn="l">
              <a:lnSpc>
                <a:spcPts val="2610"/>
              </a:lnSpc>
            </a:pPr>
            <a:r>
              <a:rPr sz="1800" b="0" i="0">
                <a:solidFill>
                  <a:srgbClr val="6B4A52"/>
                </a:solidFill>
                <a:latin typeface="Verdana"/>
              </a:rPr>
              <a:t>Building it well — and proving it</a:t>
            </a:r>
          </a:p>
        </p:txBody>
      </p:sp>
      <p:pic>
        <p:nvPicPr>
          <p:cNvPr id="10" name="Picture 9" descr="d94fed05f5dcf5ec.jpg"/>
          <p:cNvPicPr>
            <a:picLocks noChangeAspect="1"/>
          </p:cNvPicPr>
          <p:nvPr/>
        </p:nvPicPr>
        <p:blipFill>
          <a:blip r:embed="rId3"/>
          <a:stretch>
            <a:fillRect/>
          </a:stretch>
        </p:blipFill>
        <p:spPr>
          <a:xfrm>
            <a:off x="6146800" y="2006600"/>
            <a:ext cx="1168400" cy="2844800"/>
          </a:xfrm>
          <a:prstGeom prst="rect">
            <a:avLst/>
          </a:prstGeom>
        </p:spPr>
      </p:pic>
      <p:pic>
        <p:nvPicPr>
          <p:cNvPr id="11" name="Picture 10" descr="a986a708a7c60cff.jpg"/>
          <p:cNvPicPr>
            <a:picLocks noChangeAspect="1"/>
          </p:cNvPicPr>
          <p:nvPr/>
        </p:nvPicPr>
        <p:blipFill>
          <a:blip r:embed="rId4"/>
          <a:stretch>
            <a:fillRect/>
          </a:stretch>
        </p:blipFill>
        <p:spPr>
          <a:xfrm>
            <a:off x="6146800" y="2006600"/>
            <a:ext cx="1168400" cy="381000"/>
          </a:xfrm>
          <a:prstGeom prst="rect">
            <a:avLst/>
          </a:prstGeom>
        </p:spPr>
      </p:pic>
      <p:pic>
        <p:nvPicPr>
          <p:cNvPr id="12" name="Picture 11" descr="79709a2d000a7d65.jpg"/>
          <p:cNvPicPr>
            <a:picLocks noChangeAspect="1"/>
          </p:cNvPicPr>
          <p:nvPr/>
        </p:nvPicPr>
        <p:blipFill>
          <a:blip r:embed="rId5"/>
          <a:stretch>
            <a:fillRect/>
          </a:stretch>
        </p:blipFill>
        <p:spPr>
          <a:xfrm>
            <a:off x="6146800" y="2921000"/>
            <a:ext cx="1168400" cy="1930400"/>
          </a:xfrm>
          <a:prstGeom prst="rect">
            <a:avLst/>
          </a:prstGeom>
        </p:spPr>
      </p:pic>
      <p:sp>
        <p:nvSpPr>
          <p:cNvPr id="13" name="Rounded Rectangle 12"/>
          <p:cNvSpPr/>
          <p:nvPr/>
        </p:nvSpPr>
        <p:spPr>
          <a:xfrm>
            <a:off x="7315200" y="1689100"/>
            <a:ext cx="4064000" cy="736600"/>
          </a:xfrm>
          <a:prstGeom prst="roundRect">
            <a:avLst>
              <a:gd name="adj" fmla="val 8620"/>
            </a:avLst>
          </a:prstGeom>
          <a:solidFill>
            <a:srgbClr val="E9E3E4"/>
          </a:solidFill>
          <a:ln w="19050">
            <a:solidFill>
              <a:srgbClr val="861F41"/>
            </a:solidFill>
          </a:ln>
          <a:effectLst/>
        </p:spPr>
        <p:txBody>
          <a:bodyPr rtlCol="0" anchor="ctr"/>
          <a:lstStyle/>
          <a:p>
            <a:pPr algn="ctr"/>
          </a:p>
        </p:txBody>
      </p:sp>
      <p:sp>
        <p:nvSpPr>
          <p:cNvPr id="14" name="TextBox 13"/>
          <p:cNvSpPr txBox="1"/>
          <p:nvPr/>
        </p:nvSpPr>
        <p:spPr>
          <a:xfrm>
            <a:off x="7943850" y="1790700"/>
            <a:ext cx="3238500" cy="527050"/>
          </a:xfrm>
          <a:prstGeom prst="rect">
            <a:avLst/>
          </a:prstGeom>
          <a:noFill/>
        </p:spPr>
        <p:txBody>
          <a:bodyPr wrap="square" lIns="0" rIns="0" tIns="0" bIns="0" anchor="ctr">
            <a:noAutofit/>
          </a:bodyPr>
          <a:lstStyle/>
          <a:p>
            <a:pPr algn="l">
              <a:lnSpc>
                <a:spcPts val="2160"/>
              </a:lnSpc>
            </a:pPr>
            <a:r>
              <a:rPr sz="1800" b="0" i="0">
                <a:solidFill>
                  <a:srgbClr val="2C1A1F"/>
                </a:solidFill>
                <a:latin typeface="Verdana"/>
              </a:rPr>
              <a:t>Open-ended collaborative projects</a:t>
            </a:r>
          </a:p>
        </p:txBody>
      </p:sp>
      <p:pic>
        <p:nvPicPr>
          <p:cNvPr id="15" name="Picture 14" descr="71a594e4a61126fc.jpg"/>
          <p:cNvPicPr>
            <a:picLocks noChangeAspect="1"/>
          </p:cNvPicPr>
          <p:nvPr/>
        </p:nvPicPr>
        <p:blipFill>
          <a:blip r:embed="rId6"/>
          <a:stretch>
            <a:fillRect/>
          </a:stretch>
        </p:blipFill>
        <p:spPr>
          <a:xfrm>
            <a:off x="7442200" y="1866900"/>
            <a:ext cx="381000" cy="381000"/>
          </a:xfrm>
          <a:prstGeom prst="rect">
            <a:avLst/>
          </a:prstGeom>
        </p:spPr>
      </p:pic>
      <p:sp>
        <p:nvSpPr>
          <p:cNvPr id="16" name="Rounded Rectangle 15"/>
          <p:cNvSpPr/>
          <p:nvPr/>
        </p:nvSpPr>
        <p:spPr>
          <a:xfrm>
            <a:off x="7315200" y="2603500"/>
            <a:ext cx="4064000" cy="736600"/>
          </a:xfrm>
          <a:prstGeom prst="roundRect">
            <a:avLst>
              <a:gd name="adj" fmla="val 8620"/>
            </a:avLst>
          </a:prstGeom>
          <a:solidFill>
            <a:srgbClr val="E9E3E4"/>
          </a:solidFill>
          <a:ln w="19050">
            <a:solidFill>
              <a:srgbClr val="861F41"/>
            </a:solidFill>
          </a:ln>
          <a:effectLst/>
        </p:spPr>
        <p:txBody>
          <a:bodyPr rtlCol="0" anchor="ctr"/>
          <a:lstStyle/>
          <a:p>
            <a:pPr algn="ctr"/>
          </a:p>
        </p:txBody>
      </p:sp>
      <p:sp>
        <p:nvSpPr>
          <p:cNvPr id="17" name="TextBox 16"/>
          <p:cNvSpPr txBox="1"/>
          <p:nvPr/>
        </p:nvSpPr>
        <p:spPr>
          <a:xfrm>
            <a:off x="7943850" y="2705100"/>
            <a:ext cx="3238500" cy="527050"/>
          </a:xfrm>
          <a:prstGeom prst="rect">
            <a:avLst/>
          </a:prstGeom>
          <a:noFill/>
        </p:spPr>
        <p:txBody>
          <a:bodyPr wrap="square" lIns="0" rIns="0" tIns="0" bIns="0" anchor="ctr">
            <a:noAutofit/>
          </a:bodyPr>
          <a:lstStyle/>
          <a:p>
            <a:pPr algn="l">
              <a:lnSpc>
                <a:spcPts val="2160"/>
              </a:lnSpc>
            </a:pPr>
            <a:r>
              <a:rPr sz="1800" b="0" i="0">
                <a:solidFill>
                  <a:srgbClr val="2C1A1F"/>
                </a:solidFill>
                <a:latin typeface="Verdana"/>
              </a:rPr>
              <a:t>Homework &amp; challenge problems</a:t>
            </a:r>
          </a:p>
        </p:txBody>
      </p:sp>
      <p:pic>
        <p:nvPicPr>
          <p:cNvPr id="18" name="Picture 17" descr="a34b3bcde775cb26.png"/>
          <p:cNvPicPr>
            <a:picLocks noChangeAspect="1"/>
          </p:cNvPicPr>
          <p:nvPr/>
        </p:nvPicPr>
        <p:blipFill>
          <a:blip r:embed="rId7"/>
          <a:stretch>
            <a:fillRect/>
          </a:stretch>
        </p:blipFill>
        <p:spPr>
          <a:xfrm>
            <a:off x="7442200" y="2781300"/>
            <a:ext cx="381000" cy="381000"/>
          </a:xfrm>
          <a:prstGeom prst="rect">
            <a:avLst/>
          </a:prstGeom>
        </p:spPr>
      </p:pic>
      <p:sp>
        <p:nvSpPr>
          <p:cNvPr id="19" name="Rounded Rectangle 18"/>
          <p:cNvSpPr/>
          <p:nvPr/>
        </p:nvSpPr>
        <p:spPr>
          <a:xfrm>
            <a:off x="7315200" y="3517900"/>
            <a:ext cx="4064000" cy="736600"/>
          </a:xfrm>
          <a:prstGeom prst="roundRect">
            <a:avLst>
              <a:gd name="adj" fmla="val 8620"/>
            </a:avLst>
          </a:prstGeom>
          <a:solidFill>
            <a:srgbClr val="E9E3E4"/>
          </a:solidFill>
          <a:ln w="19050">
            <a:solidFill>
              <a:srgbClr val="861F41"/>
            </a:solidFill>
          </a:ln>
          <a:effectLst/>
        </p:spPr>
        <p:txBody>
          <a:bodyPr rtlCol="0" anchor="ctr"/>
          <a:lstStyle/>
          <a:p>
            <a:pPr algn="ctr"/>
          </a:p>
        </p:txBody>
      </p:sp>
      <p:sp>
        <p:nvSpPr>
          <p:cNvPr id="20" name="TextBox 19"/>
          <p:cNvSpPr txBox="1"/>
          <p:nvPr/>
        </p:nvSpPr>
        <p:spPr>
          <a:xfrm>
            <a:off x="7943850" y="3752850"/>
            <a:ext cx="3213100"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Exams</a:t>
            </a:r>
          </a:p>
        </p:txBody>
      </p:sp>
      <p:pic>
        <p:nvPicPr>
          <p:cNvPr id="21" name="Picture 20" descr="0e1d1eeb7a7966cf.png"/>
          <p:cNvPicPr>
            <a:picLocks noChangeAspect="1"/>
          </p:cNvPicPr>
          <p:nvPr/>
        </p:nvPicPr>
        <p:blipFill>
          <a:blip r:embed="rId8"/>
          <a:stretch>
            <a:fillRect/>
          </a:stretch>
        </p:blipFill>
        <p:spPr>
          <a:xfrm>
            <a:off x="7442200" y="3695700"/>
            <a:ext cx="381000" cy="381000"/>
          </a:xfrm>
          <a:prstGeom prst="rect">
            <a:avLst/>
          </a:prstGeom>
        </p:spPr>
      </p:pic>
      <p:sp>
        <p:nvSpPr>
          <p:cNvPr id="22" name="Rounded Rectangle 21"/>
          <p:cNvSpPr/>
          <p:nvPr/>
        </p:nvSpPr>
        <p:spPr>
          <a:xfrm>
            <a:off x="7315200" y="4432300"/>
            <a:ext cx="4064000" cy="736600"/>
          </a:xfrm>
          <a:prstGeom prst="roundRect">
            <a:avLst>
              <a:gd name="adj" fmla="val 8620"/>
            </a:avLst>
          </a:prstGeom>
          <a:solidFill>
            <a:srgbClr val="E9E3E4"/>
          </a:solidFill>
          <a:ln w="19050">
            <a:solidFill>
              <a:srgbClr val="861F41"/>
            </a:solidFill>
          </a:ln>
          <a:effectLst/>
        </p:spPr>
        <p:txBody>
          <a:bodyPr rtlCol="0" anchor="ctr"/>
          <a:lstStyle/>
          <a:p>
            <a:pPr algn="ctr"/>
          </a:p>
        </p:txBody>
      </p:sp>
      <p:sp>
        <p:nvSpPr>
          <p:cNvPr id="23" name="TextBox 22"/>
          <p:cNvSpPr txBox="1"/>
          <p:nvPr/>
        </p:nvSpPr>
        <p:spPr>
          <a:xfrm>
            <a:off x="7943850" y="4667250"/>
            <a:ext cx="3213100"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Peer instruction</a:t>
            </a:r>
          </a:p>
        </p:txBody>
      </p:sp>
      <p:pic>
        <p:nvPicPr>
          <p:cNvPr id="24" name="Picture 23" descr="a2dcc9981970c6ee.png"/>
          <p:cNvPicPr>
            <a:picLocks noChangeAspect="1"/>
          </p:cNvPicPr>
          <p:nvPr/>
        </p:nvPicPr>
        <p:blipFill>
          <a:blip r:embed="rId9"/>
          <a:stretch>
            <a:fillRect/>
          </a:stretch>
        </p:blipFill>
        <p:spPr>
          <a:xfrm>
            <a:off x="7442200" y="4610100"/>
            <a:ext cx="381000" cy="381000"/>
          </a:xfrm>
          <a:prstGeom prst="rect">
            <a:avLst/>
          </a:prstGeom>
        </p:spPr>
      </p:pic>
      <p:sp>
        <p:nvSpPr>
          <p:cNvPr id="25" name="Rounded Rectangle 24"/>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26" name="TextBox 25"/>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5 / 28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What’s different this year</a:t>
            </a:r>
          </a:p>
        </p:txBody>
      </p:sp>
      <p:sp>
        <p:nvSpPr>
          <p:cNvPr id="4" name="TextBox 3"/>
          <p:cNvSpPr txBox="1"/>
          <p:nvPr/>
        </p:nvSpPr>
        <p:spPr>
          <a:xfrm>
            <a:off x="812800" y="1492250"/>
            <a:ext cx="4410869" cy="274320"/>
          </a:xfrm>
          <a:prstGeom prst="rect">
            <a:avLst/>
          </a:prstGeom>
          <a:noFill/>
        </p:spPr>
        <p:txBody>
          <a:bodyPr wrap="none" lIns="0" rIns="0" tIns="0" bIns="0" anchor="ctr">
            <a:noAutofit/>
          </a:bodyPr>
          <a:lstStyle/>
          <a:p>
            <a:pPr algn="l">
              <a:lnSpc>
                <a:spcPts val="2160"/>
              </a:lnSpc>
            </a:pPr>
            <a:r>
              <a:rPr sz="1800" b="0" i="0" spc="216">
                <a:solidFill>
                  <a:srgbClr val="7D8791"/>
                </a:solidFill>
                <a:latin typeface="Roboto Mono"/>
              </a:rPr>
              <a:t>UNTIL THIS YEAR</a:t>
            </a:r>
          </a:p>
        </p:txBody>
      </p:sp>
      <p:sp>
        <p:nvSpPr>
          <p:cNvPr id="5" name="TextBox 4"/>
          <p:cNvSpPr txBox="1"/>
          <p:nvPr/>
        </p:nvSpPr>
        <p:spPr>
          <a:xfrm>
            <a:off x="6747669" y="1492250"/>
            <a:ext cx="4631531" cy="274320"/>
          </a:xfrm>
          <a:prstGeom prst="rect">
            <a:avLst/>
          </a:prstGeom>
          <a:noFill/>
        </p:spPr>
        <p:txBody>
          <a:bodyPr wrap="none" lIns="0" rIns="0" tIns="0" bIns="0" anchor="ctr">
            <a:noAutofit/>
          </a:bodyPr>
          <a:lstStyle/>
          <a:p>
            <a:pPr algn="l">
              <a:lnSpc>
                <a:spcPts val="2160"/>
              </a:lnSpc>
            </a:pPr>
            <a:r>
              <a:rPr sz="1800" b="0" i="0" spc="216">
                <a:solidFill>
                  <a:srgbClr val="861F41"/>
                </a:solidFill>
                <a:latin typeface="Roboto Mono"/>
              </a:rPr>
              <a:t>FALL 2026</a:t>
            </a:r>
          </a:p>
        </p:txBody>
      </p:sp>
      <p:sp>
        <p:nvSpPr>
          <p:cNvPr id="6" name="Rounded Rectangle 5"/>
          <p:cNvSpPr/>
          <p:nvPr/>
        </p:nvSpPr>
        <p:spPr>
          <a:xfrm>
            <a:off x="812800" y="2001441"/>
            <a:ext cx="4410869" cy="1421011"/>
          </a:xfrm>
          <a:prstGeom prst="roundRect">
            <a:avLst>
              <a:gd name="adj" fmla="val 4468"/>
            </a:avLst>
          </a:prstGeom>
          <a:noFill/>
          <a:ln w="19050">
            <a:solidFill>
              <a:srgbClr val="7D8791"/>
            </a:solidFill>
            <a:prstDash val="dash"/>
          </a:ln>
          <a:effectLst/>
        </p:spPr>
        <p:txBody>
          <a:bodyPr rtlCol="0" anchor="ctr"/>
          <a:lstStyle/>
          <a:p>
            <a:pPr algn="ctr"/>
          </a:p>
        </p:txBody>
      </p:sp>
      <p:sp>
        <p:nvSpPr>
          <p:cNvPr id="7" name="TextBox 6"/>
          <p:cNvSpPr txBox="1"/>
          <p:nvPr/>
        </p:nvSpPr>
        <p:spPr>
          <a:xfrm>
            <a:off x="1035050" y="2210991"/>
            <a:ext cx="3966369" cy="274320"/>
          </a:xfrm>
          <a:prstGeom prst="rect">
            <a:avLst/>
          </a:prstGeom>
          <a:noFill/>
        </p:spPr>
        <p:txBody>
          <a:bodyPr wrap="none" lIns="0" rIns="0" tIns="0" bIns="0" anchor="ctr">
            <a:noAutofit/>
          </a:bodyPr>
          <a:lstStyle/>
          <a:p>
            <a:pPr algn="l">
              <a:lnSpc>
                <a:spcPts val="2430"/>
              </a:lnSpc>
            </a:pPr>
            <a:r>
              <a:rPr sz="1800" b="0" i="0">
                <a:solidFill>
                  <a:srgbClr val="7D8791"/>
                </a:solidFill>
                <a:latin typeface="Roboto Mono"/>
              </a:rPr>
              <a:t>Readings &amp; practice</a:t>
            </a:r>
          </a:p>
        </p:txBody>
      </p:sp>
      <p:sp>
        <p:nvSpPr>
          <p:cNvPr id="8" name="TextBox 7"/>
          <p:cNvSpPr txBox="1"/>
          <p:nvPr/>
        </p:nvSpPr>
        <p:spPr>
          <a:xfrm>
            <a:off x="1035050" y="2652911"/>
            <a:ext cx="3991769" cy="568920"/>
          </a:xfrm>
          <a:prstGeom prst="rect">
            <a:avLst/>
          </a:prstGeom>
          <a:noFill/>
        </p:spPr>
        <p:txBody>
          <a:bodyPr wrap="square" lIns="0" rIns="0" tIns="0" bIns="0" anchor="ctr">
            <a:noAutofit/>
          </a:bodyPr>
          <a:lstStyle/>
          <a:p>
            <a:pPr algn="l">
              <a:lnSpc>
                <a:spcPts val="2430"/>
              </a:lnSpc>
            </a:pPr>
            <a:r>
              <a:rPr sz="1800" b="0" i="0">
                <a:solidFill>
                  <a:srgbClr val="6B4A52"/>
                </a:solidFill>
                <a:latin typeface="Verdana"/>
              </a:rPr>
              <a:t>Course content in one place, code practice in another.</a:t>
            </a:r>
          </a:p>
        </p:txBody>
      </p:sp>
      <p:sp>
        <p:nvSpPr>
          <p:cNvPr id="9" name="Rounded Rectangle 8"/>
          <p:cNvSpPr/>
          <p:nvPr/>
        </p:nvSpPr>
        <p:spPr>
          <a:xfrm>
            <a:off x="812800" y="3625652"/>
            <a:ext cx="4410869" cy="1421011"/>
          </a:xfrm>
          <a:prstGeom prst="roundRect">
            <a:avLst>
              <a:gd name="adj" fmla="val 4468"/>
            </a:avLst>
          </a:prstGeom>
          <a:noFill/>
          <a:ln w="19050">
            <a:solidFill>
              <a:srgbClr val="7D8791"/>
            </a:solidFill>
            <a:prstDash val="dash"/>
          </a:ln>
          <a:effectLst/>
        </p:spPr>
        <p:txBody>
          <a:bodyPr rtlCol="0" anchor="ctr"/>
          <a:lstStyle/>
          <a:p>
            <a:pPr algn="ctr"/>
          </a:p>
        </p:txBody>
      </p:sp>
      <p:sp>
        <p:nvSpPr>
          <p:cNvPr id="10" name="TextBox 9"/>
          <p:cNvSpPr txBox="1"/>
          <p:nvPr/>
        </p:nvSpPr>
        <p:spPr>
          <a:xfrm>
            <a:off x="1035050" y="3835202"/>
            <a:ext cx="3966369" cy="274320"/>
          </a:xfrm>
          <a:prstGeom prst="rect">
            <a:avLst/>
          </a:prstGeom>
          <a:noFill/>
        </p:spPr>
        <p:txBody>
          <a:bodyPr wrap="none" lIns="0" rIns="0" tIns="0" bIns="0" anchor="ctr">
            <a:noAutofit/>
          </a:bodyPr>
          <a:lstStyle/>
          <a:p>
            <a:pPr algn="l">
              <a:lnSpc>
                <a:spcPts val="2430"/>
              </a:lnSpc>
            </a:pPr>
            <a:r>
              <a:rPr sz="1800" b="0" i="0">
                <a:solidFill>
                  <a:srgbClr val="7D8791"/>
                </a:solidFill>
                <a:latin typeface="Roboto Mono"/>
              </a:rPr>
              <a:t>Projects</a:t>
            </a:r>
          </a:p>
        </p:txBody>
      </p:sp>
      <p:sp>
        <p:nvSpPr>
          <p:cNvPr id="11" name="TextBox 10"/>
          <p:cNvSpPr txBox="1"/>
          <p:nvPr/>
        </p:nvSpPr>
        <p:spPr>
          <a:xfrm>
            <a:off x="1035050" y="4277122"/>
            <a:ext cx="3991769" cy="568920"/>
          </a:xfrm>
          <a:prstGeom prst="rect">
            <a:avLst/>
          </a:prstGeom>
          <a:noFill/>
        </p:spPr>
        <p:txBody>
          <a:bodyPr wrap="square" lIns="0" rIns="0" tIns="0" bIns="0" anchor="ctr">
            <a:noAutofit/>
          </a:bodyPr>
          <a:lstStyle/>
          <a:p>
            <a:pPr algn="l">
              <a:lnSpc>
                <a:spcPts val="2430"/>
              </a:lnSpc>
            </a:pPr>
            <a:r>
              <a:rPr sz="1800" b="0" i="0">
                <a:solidFill>
                  <a:srgbClr val="6B4A52"/>
                </a:solidFill>
                <a:latin typeface="Verdana"/>
              </a:rPr>
              <a:t>A spec we wrote for you, completed on your own.</a:t>
            </a:r>
          </a:p>
        </p:txBody>
      </p:sp>
      <p:sp>
        <p:nvSpPr>
          <p:cNvPr id="12" name="Rounded Rectangle 11"/>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13" name="TextBox 12"/>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6 / 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What’s different this year</a:t>
            </a:r>
          </a:p>
        </p:txBody>
      </p:sp>
      <p:sp>
        <p:nvSpPr>
          <p:cNvPr id="4" name="TextBox 3"/>
          <p:cNvSpPr txBox="1"/>
          <p:nvPr/>
        </p:nvSpPr>
        <p:spPr>
          <a:xfrm>
            <a:off x="812800" y="1492250"/>
            <a:ext cx="4410869" cy="274320"/>
          </a:xfrm>
          <a:prstGeom prst="rect">
            <a:avLst/>
          </a:prstGeom>
          <a:noFill/>
        </p:spPr>
        <p:txBody>
          <a:bodyPr wrap="none" lIns="0" rIns="0" tIns="0" bIns="0" anchor="ctr">
            <a:noAutofit/>
          </a:bodyPr>
          <a:lstStyle/>
          <a:p>
            <a:pPr algn="l">
              <a:lnSpc>
                <a:spcPts val="2160"/>
              </a:lnSpc>
            </a:pPr>
            <a:r>
              <a:rPr sz="1800" b="0" i="0" spc="216">
                <a:solidFill>
                  <a:srgbClr val="7D8791"/>
                </a:solidFill>
                <a:latin typeface="Roboto Mono"/>
              </a:rPr>
              <a:t>UNTIL THIS YEAR</a:t>
            </a:r>
          </a:p>
        </p:txBody>
      </p:sp>
      <p:sp>
        <p:nvSpPr>
          <p:cNvPr id="5" name="TextBox 4"/>
          <p:cNvSpPr txBox="1"/>
          <p:nvPr/>
        </p:nvSpPr>
        <p:spPr>
          <a:xfrm>
            <a:off x="6747669" y="1492250"/>
            <a:ext cx="4631531" cy="274320"/>
          </a:xfrm>
          <a:prstGeom prst="rect">
            <a:avLst/>
          </a:prstGeom>
          <a:noFill/>
        </p:spPr>
        <p:txBody>
          <a:bodyPr wrap="none" lIns="0" rIns="0" tIns="0" bIns="0" anchor="ctr">
            <a:noAutofit/>
          </a:bodyPr>
          <a:lstStyle/>
          <a:p>
            <a:pPr algn="l">
              <a:lnSpc>
                <a:spcPts val="2160"/>
              </a:lnSpc>
            </a:pPr>
            <a:r>
              <a:rPr sz="1800" b="0" i="0" spc="216">
                <a:solidFill>
                  <a:srgbClr val="861F41"/>
                </a:solidFill>
                <a:latin typeface="Roboto Mono"/>
              </a:rPr>
              <a:t>FALL 2026</a:t>
            </a:r>
          </a:p>
        </p:txBody>
      </p:sp>
      <p:sp>
        <p:nvSpPr>
          <p:cNvPr id="6" name="Rounded Rectangle 5"/>
          <p:cNvSpPr/>
          <p:nvPr/>
        </p:nvSpPr>
        <p:spPr>
          <a:xfrm>
            <a:off x="812800" y="2001441"/>
            <a:ext cx="4410869" cy="1421011"/>
          </a:xfrm>
          <a:prstGeom prst="roundRect">
            <a:avLst>
              <a:gd name="adj" fmla="val 4468"/>
            </a:avLst>
          </a:prstGeom>
          <a:noFill/>
          <a:ln w="19050">
            <a:solidFill>
              <a:srgbClr val="7D8791"/>
            </a:solidFill>
            <a:prstDash val="dash"/>
          </a:ln>
          <a:effectLst/>
        </p:spPr>
        <p:txBody>
          <a:bodyPr rtlCol="0" anchor="ctr"/>
          <a:lstStyle/>
          <a:p>
            <a:pPr algn="ctr"/>
          </a:p>
        </p:txBody>
      </p:sp>
      <p:sp>
        <p:nvSpPr>
          <p:cNvPr id="7" name="TextBox 6"/>
          <p:cNvSpPr txBox="1"/>
          <p:nvPr/>
        </p:nvSpPr>
        <p:spPr>
          <a:xfrm>
            <a:off x="1035050" y="2210991"/>
            <a:ext cx="3966369" cy="274320"/>
          </a:xfrm>
          <a:prstGeom prst="rect">
            <a:avLst/>
          </a:prstGeom>
          <a:noFill/>
        </p:spPr>
        <p:txBody>
          <a:bodyPr wrap="none" lIns="0" rIns="0" tIns="0" bIns="0" anchor="ctr">
            <a:noAutofit/>
          </a:bodyPr>
          <a:lstStyle/>
          <a:p>
            <a:pPr algn="l">
              <a:lnSpc>
                <a:spcPts val="2430"/>
              </a:lnSpc>
            </a:pPr>
            <a:r>
              <a:rPr sz="1800" b="0" i="0">
                <a:solidFill>
                  <a:srgbClr val="7D8791"/>
                </a:solidFill>
                <a:latin typeface="Roboto Mono"/>
              </a:rPr>
              <a:t>Readings &amp; practice</a:t>
            </a:r>
          </a:p>
        </p:txBody>
      </p:sp>
      <p:sp>
        <p:nvSpPr>
          <p:cNvPr id="8" name="TextBox 7"/>
          <p:cNvSpPr txBox="1"/>
          <p:nvPr/>
        </p:nvSpPr>
        <p:spPr>
          <a:xfrm>
            <a:off x="1035050" y="2652911"/>
            <a:ext cx="3991769" cy="568920"/>
          </a:xfrm>
          <a:prstGeom prst="rect">
            <a:avLst/>
          </a:prstGeom>
          <a:noFill/>
        </p:spPr>
        <p:txBody>
          <a:bodyPr wrap="square" lIns="0" rIns="0" tIns="0" bIns="0" anchor="ctr">
            <a:noAutofit/>
          </a:bodyPr>
          <a:lstStyle/>
          <a:p>
            <a:pPr algn="l">
              <a:lnSpc>
                <a:spcPts val="2430"/>
              </a:lnSpc>
            </a:pPr>
            <a:r>
              <a:rPr sz="1800" b="0" i="0">
                <a:solidFill>
                  <a:srgbClr val="6B4A52"/>
                </a:solidFill>
                <a:latin typeface="Verdana"/>
              </a:rPr>
              <a:t>Course content in one place, code practice in another.</a:t>
            </a:r>
          </a:p>
        </p:txBody>
      </p:sp>
      <p:pic>
        <p:nvPicPr>
          <p:cNvPr id="9" name="Picture 8" descr="b14ebceebffc7960.png"/>
          <p:cNvPicPr>
            <a:picLocks noChangeAspect="1"/>
          </p:cNvPicPr>
          <p:nvPr/>
        </p:nvPicPr>
        <p:blipFill>
          <a:blip r:embed="rId3"/>
          <a:stretch>
            <a:fillRect/>
          </a:stretch>
        </p:blipFill>
        <p:spPr>
          <a:xfrm>
            <a:off x="5422900" y="2406650"/>
            <a:ext cx="1117600" cy="609600"/>
          </a:xfrm>
          <a:prstGeom prst="rect">
            <a:avLst/>
          </a:prstGeom>
        </p:spPr>
      </p:pic>
      <p:sp>
        <p:nvSpPr>
          <p:cNvPr id="10" name="Rounded Rectangle 9"/>
          <p:cNvSpPr/>
          <p:nvPr/>
        </p:nvSpPr>
        <p:spPr>
          <a:xfrm>
            <a:off x="6747669" y="2001441"/>
            <a:ext cx="4631531" cy="1421011"/>
          </a:xfrm>
          <a:prstGeom prst="roundRect">
            <a:avLst>
              <a:gd name="adj" fmla="val 4468"/>
            </a:avLst>
          </a:prstGeom>
          <a:solidFill>
            <a:srgbClr val="D4D6DC"/>
          </a:solidFill>
          <a:ln w="19050">
            <a:solidFill>
              <a:srgbClr val="1C6091"/>
            </a:solidFill>
          </a:ln>
          <a:effectLst/>
        </p:spPr>
        <p:txBody>
          <a:bodyPr rtlCol="0" anchor="ctr"/>
          <a:lstStyle/>
          <a:p>
            <a:pPr algn="ctr"/>
          </a:p>
        </p:txBody>
      </p:sp>
      <p:sp>
        <p:nvSpPr>
          <p:cNvPr id="11" name="TextBox 10"/>
          <p:cNvSpPr txBox="1"/>
          <p:nvPr/>
        </p:nvSpPr>
        <p:spPr>
          <a:xfrm>
            <a:off x="6969919" y="2210991"/>
            <a:ext cx="4187031" cy="274320"/>
          </a:xfrm>
          <a:prstGeom prst="rect">
            <a:avLst/>
          </a:prstGeom>
          <a:noFill/>
        </p:spPr>
        <p:txBody>
          <a:bodyPr wrap="none" lIns="0" rIns="0" tIns="0" bIns="0" anchor="ctr">
            <a:noAutofit/>
          </a:bodyPr>
          <a:lstStyle/>
          <a:p>
            <a:pPr algn="l">
              <a:lnSpc>
                <a:spcPts val="2430"/>
              </a:lnSpc>
            </a:pPr>
            <a:r>
              <a:rPr sz="1800" b="0" i="0">
                <a:solidFill>
                  <a:srgbClr val="1C6091"/>
                </a:solidFill>
                <a:latin typeface="Roboto Mono"/>
              </a:rPr>
              <a:t>PrairieLearn</a:t>
            </a:r>
          </a:p>
        </p:txBody>
      </p:sp>
      <p:sp>
        <p:nvSpPr>
          <p:cNvPr id="12" name="TextBox 11"/>
          <p:cNvSpPr txBox="1"/>
          <p:nvPr/>
        </p:nvSpPr>
        <p:spPr>
          <a:xfrm>
            <a:off x="6969919" y="2652911"/>
            <a:ext cx="4212431" cy="56892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Readings and code exercises in one place, with feedback while you work.</a:t>
            </a:r>
          </a:p>
        </p:txBody>
      </p:sp>
      <p:sp>
        <p:nvSpPr>
          <p:cNvPr id="13" name="Rounded Rectangle 12"/>
          <p:cNvSpPr/>
          <p:nvPr/>
        </p:nvSpPr>
        <p:spPr>
          <a:xfrm>
            <a:off x="812800" y="3625652"/>
            <a:ext cx="4410869" cy="1421011"/>
          </a:xfrm>
          <a:prstGeom prst="roundRect">
            <a:avLst>
              <a:gd name="adj" fmla="val 4468"/>
            </a:avLst>
          </a:prstGeom>
          <a:noFill/>
          <a:ln w="19050">
            <a:solidFill>
              <a:srgbClr val="7D8791"/>
            </a:solidFill>
            <a:prstDash val="dash"/>
          </a:ln>
          <a:effectLst/>
        </p:spPr>
        <p:txBody>
          <a:bodyPr rtlCol="0" anchor="ctr"/>
          <a:lstStyle/>
          <a:p>
            <a:pPr algn="ctr"/>
          </a:p>
        </p:txBody>
      </p:sp>
      <p:sp>
        <p:nvSpPr>
          <p:cNvPr id="14" name="TextBox 13"/>
          <p:cNvSpPr txBox="1"/>
          <p:nvPr/>
        </p:nvSpPr>
        <p:spPr>
          <a:xfrm>
            <a:off x="1035050" y="3835202"/>
            <a:ext cx="3966369" cy="274320"/>
          </a:xfrm>
          <a:prstGeom prst="rect">
            <a:avLst/>
          </a:prstGeom>
          <a:noFill/>
        </p:spPr>
        <p:txBody>
          <a:bodyPr wrap="none" lIns="0" rIns="0" tIns="0" bIns="0" anchor="ctr">
            <a:noAutofit/>
          </a:bodyPr>
          <a:lstStyle/>
          <a:p>
            <a:pPr algn="l">
              <a:lnSpc>
                <a:spcPts val="2430"/>
              </a:lnSpc>
            </a:pPr>
            <a:r>
              <a:rPr sz="1800" b="0" i="0">
                <a:solidFill>
                  <a:srgbClr val="7D8791"/>
                </a:solidFill>
                <a:latin typeface="Roboto Mono"/>
              </a:rPr>
              <a:t>Projects</a:t>
            </a:r>
          </a:p>
        </p:txBody>
      </p:sp>
      <p:sp>
        <p:nvSpPr>
          <p:cNvPr id="15" name="TextBox 14"/>
          <p:cNvSpPr txBox="1"/>
          <p:nvPr/>
        </p:nvSpPr>
        <p:spPr>
          <a:xfrm>
            <a:off x="1035050" y="4277122"/>
            <a:ext cx="3991769" cy="568920"/>
          </a:xfrm>
          <a:prstGeom prst="rect">
            <a:avLst/>
          </a:prstGeom>
          <a:noFill/>
        </p:spPr>
        <p:txBody>
          <a:bodyPr wrap="square" lIns="0" rIns="0" tIns="0" bIns="0" anchor="ctr">
            <a:noAutofit/>
          </a:bodyPr>
          <a:lstStyle/>
          <a:p>
            <a:pPr algn="l">
              <a:lnSpc>
                <a:spcPts val="2430"/>
              </a:lnSpc>
            </a:pPr>
            <a:r>
              <a:rPr sz="1800" b="0" i="0">
                <a:solidFill>
                  <a:srgbClr val="6B4A52"/>
                </a:solidFill>
                <a:latin typeface="Verdana"/>
              </a:rPr>
              <a:t>A spec we wrote for you, completed on your own.</a:t>
            </a:r>
          </a:p>
        </p:txBody>
      </p:sp>
      <p:sp>
        <p:nvSpPr>
          <p:cNvPr id="16" name="Rounded Rectangle 15"/>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17" name="TextBox 16"/>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6 / 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What’s different this year</a:t>
            </a:r>
          </a:p>
        </p:txBody>
      </p:sp>
      <p:sp>
        <p:nvSpPr>
          <p:cNvPr id="4" name="TextBox 3"/>
          <p:cNvSpPr txBox="1"/>
          <p:nvPr/>
        </p:nvSpPr>
        <p:spPr>
          <a:xfrm>
            <a:off x="812800" y="1492250"/>
            <a:ext cx="4410869" cy="274320"/>
          </a:xfrm>
          <a:prstGeom prst="rect">
            <a:avLst/>
          </a:prstGeom>
          <a:noFill/>
        </p:spPr>
        <p:txBody>
          <a:bodyPr wrap="none" lIns="0" rIns="0" tIns="0" bIns="0" anchor="ctr">
            <a:noAutofit/>
          </a:bodyPr>
          <a:lstStyle/>
          <a:p>
            <a:pPr algn="l">
              <a:lnSpc>
                <a:spcPts val="2160"/>
              </a:lnSpc>
            </a:pPr>
            <a:r>
              <a:rPr sz="1800" b="0" i="0" spc="216">
                <a:solidFill>
                  <a:srgbClr val="7D8791"/>
                </a:solidFill>
                <a:latin typeface="Roboto Mono"/>
              </a:rPr>
              <a:t>UNTIL THIS YEAR</a:t>
            </a:r>
          </a:p>
        </p:txBody>
      </p:sp>
      <p:sp>
        <p:nvSpPr>
          <p:cNvPr id="5" name="TextBox 4"/>
          <p:cNvSpPr txBox="1"/>
          <p:nvPr/>
        </p:nvSpPr>
        <p:spPr>
          <a:xfrm>
            <a:off x="6747669" y="1492250"/>
            <a:ext cx="4631531" cy="274320"/>
          </a:xfrm>
          <a:prstGeom prst="rect">
            <a:avLst/>
          </a:prstGeom>
          <a:noFill/>
        </p:spPr>
        <p:txBody>
          <a:bodyPr wrap="none" lIns="0" rIns="0" tIns="0" bIns="0" anchor="ctr">
            <a:noAutofit/>
          </a:bodyPr>
          <a:lstStyle/>
          <a:p>
            <a:pPr algn="l">
              <a:lnSpc>
                <a:spcPts val="2160"/>
              </a:lnSpc>
            </a:pPr>
            <a:r>
              <a:rPr sz="1800" b="0" i="0" spc="216">
                <a:solidFill>
                  <a:srgbClr val="861F41"/>
                </a:solidFill>
                <a:latin typeface="Roboto Mono"/>
              </a:rPr>
              <a:t>FALL 2026</a:t>
            </a:r>
          </a:p>
        </p:txBody>
      </p:sp>
      <p:sp>
        <p:nvSpPr>
          <p:cNvPr id="6" name="Rounded Rectangle 5"/>
          <p:cNvSpPr/>
          <p:nvPr/>
        </p:nvSpPr>
        <p:spPr>
          <a:xfrm>
            <a:off x="812800" y="2001441"/>
            <a:ext cx="4410869" cy="1421011"/>
          </a:xfrm>
          <a:prstGeom prst="roundRect">
            <a:avLst>
              <a:gd name="adj" fmla="val 4468"/>
            </a:avLst>
          </a:prstGeom>
          <a:noFill/>
          <a:ln w="19050">
            <a:solidFill>
              <a:srgbClr val="7D8791"/>
            </a:solidFill>
            <a:prstDash val="dash"/>
          </a:ln>
          <a:effectLst/>
        </p:spPr>
        <p:txBody>
          <a:bodyPr rtlCol="0" anchor="ctr"/>
          <a:lstStyle/>
          <a:p>
            <a:pPr algn="ctr"/>
          </a:p>
        </p:txBody>
      </p:sp>
      <p:sp>
        <p:nvSpPr>
          <p:cNvPr id="7" name="TextBox 6"/>
          <p:cNvSpPr txBox="1"/>
          <p:nvPr/>
        </p:nvSpPr>
        <p:spPr>
          <a:xfrm>
            <a:off x="1035050" y="2210991"/>
            <a:ext cx="3966369" cy="274320"/>
          </a:xfrm>
          <a:prstGeom prst="rect">
            <a:avLst/>
          </a:prstGeom>
          <a:noFill/>
        </p:spPr>
        <p:txBody>
          <a:bodyPr wrap="none" lIns="0" rIns="0" tIns="0" bIns="0" anchor="ctr">
            <a:noAutofit/>
          </a:bodyPr>
          <a:lstStyle/>
          <a:p>
            <a:pPr algn="l">
              <a:lnSpc>
                <a:spcPts val="2430"/>
              </a:lnSpc>
            </a:pPr>
            <a:r>
              <a:rPr sz="1800" b="0" i="0">
                <a:solidFill>
                  <a:srgbClr val="7D8791"/>
                </a:solidFill>
                <a:latin typeface="Roboto Mono"/>
              </a:rPr>
              <a:t>Readings &amp; practice</a:t>
            </a:r>
          </a:p>
        </p:txBody>
      </p:sp>
      <p:sp>
        <p:nvSpPr>
          <p:cNvPr id="8" name="TextBox 7"/>
          <p:cNvSpPr txBox="1"/>
          <p:nvPr/>
        </p:nvSpPr>
        <p:spPr>
          <a:xfrm>
            <a:off x="1035050" y="2652911"/>
            <a:ext cx="3991769" cy="568920"/>
          </a:xfrm>
          <a:prstGeom prst="rect">
            <a:avLst/>
          </a:prstGeom>
          <a:noFill/>
        </p:spPr>
        <p:txBody>
          <a:bodyPr wrap="square" lIns="0" rIns="0" tIns="0" bIns="0" anchor="ctr">
            <a:noAutofit/>
          </a:bodyPr>
          <a:lstStyle/>
          <a:p>
            <a:pPr algn="l">
              <a:lnSpc>
                <a:spcPts val="2430"/>
              </a:lnSpc>
            </a:pPr>
            <a:r>
              <a:rPr sz="1800" b="0" i="0">
                <a:solidFill>
                  <a:srgbClr val="6B4A52"/>
                </a:solidFill>
                <a:latin typeface="Verdana"/>
              </a:rPr>
              <a:t>Course content in one place, code practice in another.</a:t>
            </a:r>
          </a:p>
        </p:txBody>
      </p:sp>
      <p:pic>
        <p:nvPicPr>
          <p:cNvPr id="9" name="Picture 8" descr="b14ebceebffc7960.png"/>
          <p:cNvPicPr>
            <a:picLocks noChangeAspect="1"/>
          </p:cNvPicPr>
          <p:nvPr/>
        </p:nvPicPr>
        <p:blipFill>
          <a:blip r:embed="rId3"/>
          <a:stretch>
            <a:fillRect/>
          </a:stretch>
        </p:blipFill>
        <p:spPr>
          <a:xfrm>
            <a:off x="5422900" y="2406650"/>
            <a:ext cx="1117600" cy="609600"/>
          </a:xfrm>
          <a:prstGeom prst="rect">
            <a:avLst/>
          </a:prstGeom>
        </p:spPr>
      </p:pic>
      <p:sp>
        <p:nvSpPr>
          <p:cNvPr id="10" name="Rounded Rectangle 9"/>
          <p:cNvSpPr/>
          <p:nvPr/>
        </p:nvSpPr>
        <p:spPr>
          <a:xfrm>
            <a:off x="6747669" y="2001441"/>
            <a:ext cx="4631531" cy="1421011"/>
          </a:xfrm>
          <a:prstGeom prst="roundRect">
            <a:avLst>
              <a:gd name="adj" fmla="val 4468"/>
            </a:avLst>
          </a:prstGeom>
          <a:solidFill>
            <a:srgbClr val="D4D6DC"/>
          </a:solidFill>
          <a:ln w="19050">
            <a:solidFill>
              <a:srgbClr val="1C6091"/>
            </a:solidFill>
          </a:ln>
          <a:effectLst/>
        </p:spPr>
        <p:txBody>
          <a:bodyPr rtlCol="0" anchor="ctr"/>
          <a:lstStyle/>
          <a:p>
            <a:pPr algn="ctr"/>
          </a:p>
        </p:txBody>
      </p:sp>
      <p:sp>
        <p:nvSpPr>
          <p:cNvPr id="11" name="TextBox 10"/>
          <p:cNvSpPr txBox="1"/>
          <p:nvPr/>
        </p:nvSpPr>
        <p:spPr>
          <a:xfrm>
            <a:off x="6969919" y="2210991"/>
            <a:ext cx="4187031" cy="274320"/>
          </a:xfrm>
          <a:prstGeom prst="rect">
            <a:avLst/>
          </a:prstGeom>
          <a:noFill/>
        </p:spPr>
        <p:txBody>
          <a:bodyPr wrap="none" lIns="0" rIns="0" tIns="0" bIns="0" anchor="ctr">
            <a:noAutofit/>
          </a:bodyPr>
          <a:lstStyle/>
          <a:p>
            <a:pPr algn="l">
              <a:lnSpc>
                <a:spcPts val="2430"/>
              </a:lnSpc>
            </a:pPr>
            <a:r>
              <a:rPr sz="1800" b="0" i="0">
                <a:solidFill>
                  <a:srgbClr val="1C6091"/>
                </a:solidFill>
                <a:latin typeface="Roboto Mono"/>
              </a:rPr>
              <a:t>PrairieLearn</a:t>
            </a:r>
          </a:p>
        </p:txBody>
      </p:sp>
      <p:sp>
        <p:nvSpPr>
          <p:cNvPr id="12" name="TextBox 11"/>
          <p:cNvSpPr txBox="1"/>
          <p:nvPr/>
        </p:nvSpPr>
        <p:spPr>
          <a:xfrm>
            <a:off x="6969919" y="2652911"/>
            <a:ext cx="4212431" cy="56892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Readings and code exercises in one place, with feedback while you work.</a:t>
            </a:r>
          </a:p>
        </p:txBody>
      </p:sp>
      <p:sp>
        <p:nvSpPr>
          <p:cNvPr id="13" name="Rounded Rectangle 12"/>
          <p:cNvSpPr/>
          <p:nvPr/>
        </p:nvSpPr>
        <p:spPr>
          <a:xfrm>
            <a:off x="812800" y="3625652"/>
            <a:ext cx="4410869" cy="1421011"/>
          </a:xfrm>
          <a:prstGeom prst="roundRect">
            <a:avLst>
              <a:gd name="adj" fmla="val 4468"/>
            </a:avLst>
          </a:prstGeom>
          <a:noFill/>
          <a:ln w="19050">
            <a:solidFill>
              <a:srgbClr val="7D8791"/>
            </a:solidFill>
            <a:prstDash val="dash"/>
          </a:ln>
          <a:effectLst/>
        </p:spPr>
        <p:txBody>
          <a:bodyPr rtlCol="0" anchor="ctr"/>
          <a:lstStyle/>
          <a:p>
            <a:pPr algn="ctr"/>
          </a:p>
        </p:txBody>
      </p:sp>
      <p:sp>
        <p:nvSpPr>
          <p:cNvPr id="14" name="TextBox 13"/>
          <p:cNvSpPr txBox="1"/>
          <p:nvPr/>
        </p:nvSpPr>
        <p:spPr>
          <a:xfrm>
            <a:off x="1035050" y="3835202"/>
            <a:ext cx="3966369" cy="274320"/>
          </a:xfrm>
          <a:prstGeom prst="rect">
            <a:avLst/>
          </a:prstGeom>
          <a:noFill/>
        </p:spPr>
        <p:txBody>
          <a:bodyPr wrap="none" lIns="0" rIns="0" tIns="0" bIns="0" anchor="ctr">
            <a:noAutofit/>
          </a:bodyPr>
          <a:lstStyle/>
          <a:p>
            <a:pPr algn="l">
              <a:lnSpc>
                <a:spcPts val="2430"/>
              </a:lnSpc>
            </a:pPr>
            <a:r>
              <a:rPr sz="1800" b="0" i="0">
                <a:solidFill>
                  <a:srgbClr val="7D8791"/>
                </a:solidFill>
                <a:latin typeface="Roboto Mono"/>
              </a:rPr>
              <a:t>Projects</a:t>
            </a:r>
          </a:p>
        </p:txBody>
      </p:sp>
      <p:sp>
        <p:nvSpPr>
          <p:cNvPr id="15" name="TextBox 14"/>
          <p:cNvSpPr txBox="1"/>
          <p:nvPr/>
        </p:nvSpPr>
        <p:spPr>
          <a:xfrm>
            <a:off x="1035050" y="4277122"/>
            <a:ext cx="3991769" cy="568920"/>
          </a:xfrm>
          <a:prstGeom prst="rect">
            <a:avLst/>
          </a:prstGeom>
          <a:noFill/>
        </p:spPr>
        <p:txBody>
          <a:bodyPr wrap="square" lIns="0" rIns="0" tIns="0" bIns="0" anchor="ctr">
            <a:noAutofit/>
          </a:bodyPr>
          <a:lstStyle/>
          <a:p>
            <a:pPr algn="l">
              <a:lnSpc>
                <a:spcPts val="2430"/>
              </a:lnSpc>
            </a:pPr>
            <a:r>
              <a:rPr sz="1800" b="0" i="0">
                <a:solidFill>
                  <a:srgbClr val="6B4A52"/>
                </a:solidFill>
                <a:latin typeface="Verdana"/>
              </a:rPr>
              <a:t>A spec we wrote for you, completed on your own.</a:t>
            </a:r>
          </a:p>
        </p:txBody>
      </p:sp>
      <p:pic>
        <p:nvPicPr>
          <p:cNvPr id="16" name="Picture 15" descr="13191e27c6f44672.png"/>
          <p:cNvPicPr>
            <a:picLocks noChangeAspect="1"/>
          </p:cNvPicPr>
          <p:nvPr/>
        </p:nvPicPr>
        <p:blipFill>
          <a:blip r:embed="rId4"/>
          <a:stretch>
            <a:fillRect/>
          </a:stretch>
        </p:blipFill>
        <p:spPr>
          <a:xfrm>
            <a:off x="5422900" y="4025900"/>
            <a:ext cx="1117600" cy="609600"/>
          </a:xfrm>
          <a:prstGeom prst="rect">
            <a:avLst/>
          </a:prstGeom>
        </p:spPr>
      </p:pic>
      <p:sp>
        <p:nvSpPr>
          <p:cNvPr id="17" name="Rounded Rectangle 16"/>
          <p:cNvSpPr/>
          <p:nvPr/>
        </p:nvSpPr>
        <p:spPr>
          <a:xfrm>
            <a:off x="6747669" y="3625652"/>
            <a:ext cx="4631531" cy="1421011"/>
          </a:xfrm>
          <a:prstGeom prst="roundRect">
            <a:avLst>
              <a:gd name="adj" fmla="val 4468"/>
            </a:avLst>
          </a:prstGeom>
          <a:solidFill>
            <a:srgbClr val="E4D5CF"/>
          </a:solidFill>
          <a:ln w="19050">
            <a:solidFill>
              <a:srgbClr val="B35510"/>
            </a:solidFill>
          </a:ln>
          <a:effectLst/>
        </p:spPr>
        <p:txBody>
          <a:bodyPr rtlCol="0" anchor="ctr"/>
          <a:lstStyle/>
          <a:p>
            <a:pPr algn="ctr"/>
          </a:p>
        </p:txBody>
      </p:sp>
      <p:sp>
        <p:nvSpPr>
          <p:cNvPr id="18" name="TextBox 17"/>
          <p:cNvSpPr txBox="1"/>
          <p:nvPr/>
        </p:nvSpPr>
        <p:spPr>
          <a:xfrm>
            <a:off x="6969919" y="3835202"/>
            <a:ext cx="4187031" cy="274320"/>
          </a:xfrm>
          <a:prstGeom prst="rect">
            <a:avLst/>
          </a:prstGeom>
          <a:noFill/>
        </p:spPr>
        <p:txBody>
          <a:bodyPr wrap="none" lIns="0" rIns="0" tIns="0" bIns="0" anchor="ctr">
            <a:noAutofit/>
          </a:bodyPr>
          <a:lstStyle/>
          <a:p>
            <a:pPr algn="l">
              <a:lnSpc>
                <a:spcPts val="2430"/>
              </a:lnSpc>
            </a:pPr>
            <a:r>
              <a:rPr sz="1800" b="0" i="0">
                <a:solidFill>
                  <a:srgbClr val="B35510"/>
                </a:solidFill>
                <a:latin typeface="Roboto Mono"/>
              </a:rPr>
              <a:t>Open-ended &amp; collaborative</a:t>
            </a:r>
          </a:p>
        </p:txBody>
      </p:sp>
      <p:sp>
        <p:nvSpPr>
          <p:cNvPr id="19" name="TextBox 18"/>
          <p:cNvSpPr txBox="1"/>
          <p:nvPr/>
        </p:nvSpPr>
        <p:spPr>
          <a:xfrm>
            <a:off x="6969919" y="4277122"/>
            <a:ext cx="4212431" cy="56892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You scope the problem and build it as a team — the spec is yours to write.</a:t>
            </a:r>
          </a:p>
        </p:txBody>
      </p:sp>
      <p:sp>
        <p:nvSpPr>
          <p:cNvPr id="20" name="Rounded Rectangle 19"/>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21" name="TextBox 20"/>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6 / 28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What’s different this year</a:t>
            </a:r>
          </a:p>
        </p:txBody>
      </p:sp>
      <p:sp>
        <p:nvSpPr>
          <p:cNvPr id="4" name="TextBox 3"/>
          <p:cNvSpPr txBox="1"/>
          <p:nvPr/>
        </p:nvSpPr>
        <p:spPr>
          <a:xfrm>
            <a:off x="812800" y="1492250"/>
            <a:ext cx="4410869" cy="274320"/>
          </a:xfrm>
          <a:prstGeom prst="rect">
            <a:avLst/>
          </a:prstGeom>
          <a:noFill/>
        </p:spPr>
        <p:txBody>
          <a:bodyPr wrap="none" lIns="0" rIns="0" tIns="0" bIns="0" anchor="ctr">
            <a:noAutofit/>
          </a:bodyPr>
          <a:lstStyle/>
          <a:p>
            <a:pPr algn="l">
              <a:lnSpc>
                <a:spcPts val="2160"/>
              </a:lnSpc>
            </a:pPr>
            <a:r>
              <a:rPr sz="1800" b="0" i="0" spc="216">
                <a:solidFill>
                  <a:srgbClr val="7D8791"/>
                </a:solidFill>
                <a:latin typeface="Roboto Mono"/>
              </a:rPr>
              <a:t>UNTIL THIS YEAR</a:t>
            </a:r>
          </a:p>
        </p:txBody>
      </p:sp>
      <p:sp>
        <p:nvSpPr>
          <p:cNvPr id="5" name="TextBox 4"/>
          <p:cNvSpPr txBox="1"/>
          <p:nvPr/>
        </p:nvSpPr>
        <p:spPr>
          <a:xfrm>
            <a:off x="6747669" y="1492250"/>
            <a:ext cx="4631531" cy="274320"/>
          </a:xfrm>
          <a:prstGeom prst="rect">
            <a:avLst/>
          </a:prstGeom>
          <a:noFill/>
        </p:spPr>
        <p:txBody>
          <a:bodyPr wrap="none" lIns="0" rIns="0" tIns="0" bIns="0" anchor="ctr">
            <a:noAutofit/>
          </a:bodyPr>
          <a:lstStyle/>
          <a:p>
            <a:pPr algn="l">
              <a:lnSpc>
                <a:spcPts val="2160"/>
              </a:lnSpc>
            </a:pPr>
            <a:r>
              <a:rPr sz="1800" b="0" i="0" spc="216">
                <a:solidFill>
                  <a:srgbClr val="861F41"/>
                </a:solidFill>
                <a:latin typeface="Roboto Mono"/>
              </a:rPr>
              <a:t>FALL 2026</a:t>
            </a:r>
          </a:p>
        </p:txBody>
      </p:sp>
      <p:sp>
        <p:nvSpPr>
          <p:cNvPr id="6" name="Rounded Rectangle 5"/>
          <p:cNvSpPr/>
          <p:nvPr/>
        </p:nvSpPr>
        <p:spPr>
          <a:xfrm>
            <a:off x="812800" y="2001441"/>
            <a:ext cx="4410869" cy="1421011"/>
          </a:xfrm>
          <a:prstGeom prst="roundRect">
            <a:avLst>
              <a:gd name="adj" fmla="val 4468"/>
            </a:avLst>
          </a:prstGeom>
          <a:noFill/>
          <a:ln w="19050">
            <a:solidFill>
              <a:srgbClr val="7D8791"/>
            </a:solidFill>
            <a:prstDash val="dash"/>
          </a:ln>
          <a:effectLst/>
        </p:spPr>
        <p:txBody>
          <a:bodyPr rtlCol="0" anchor="ctr"/>
          <a:lstStyle/>
          <a:p>
            <a:pPr algn="ctr"/>
          </a:p>
        </p:txBody>
      </p:sp>
      <p:sp>
        <p:nvSpPr>
          <p:cNvPr id="7" name="TextBox 6"/>
          <p:cNvSpPr txBox="1"/>
          <p:nvPr/>
        </p:nvSpPr>
        <p:spPr>
          <a:xfrm>
            <a:off x="1035050" y="2210991"/>
            <a:ext cx="3966369" cy="274320"/>
          </a:xfrm>
          <a:prstGeom prst="rect">
            <a:avLst/>
          </a:prstGeom>
          <a:noFill/>
        </p:spPr>
        <p:txBody>
          <a:bodyPr wrap="none" lIns="0" rIns="0" tIns="0" bIns="0" anchor="ctr">
            <a:noAutofit/>
          </a:bodyPr>
          <a:lstStyle/>
          <a:p>
            <a:pPr algn="l">
              <a:lnSpc>
                <a:spcPts val="2430"/>
              </a:lnSpc>
            </a:pPr>
            <a:r>
              <a:rPr sz="1800" b="0" i="0">
                <a:solidFill>
                  <a:srgbClr val="7D8791"/>
                </a:solidFill>
                <a:latin typeface="Roboto Mono"/>
              </a:rPr>
              <a:t>Readings &amp; practice</a:t>
            </a:r>
          </a:p>
        </p:txBody>
      </p:sp>
      <p:sp>
        <p:nvSpPr>
          <p:cNvPr id="8" name="TextBox 7"/>
          <p:cNvSpPr txBox="1"/>
          <p:nvPr/>
        </p:nvSpPr>
        <p:spPr>
          <a:xfrm>
            <a:off x="1035050" y="2652911"/>
            <a:ext cx="3991769" cy="568920"/>
          </a:xfrm>
          <a:prstGeom prst="rect">
            <a:avLst/>
          </a:prstGeom>
          <a:noFill/>
        </p:spPr>
        <p:txBody>
          <a:bodyPr wrap="square" lIns="0" rIns="0" tIns="0" bIns="0" anchor="ctr">
            <a:noAutofit/>
          </a:bodyPr>
          <a:lstStyle/>
          <a:p>
            <a:pPr algn="l">
              <a:lnSpc>
                <a:spcPts val="2430"/>
              </a:lnSpc>
            </a:pPr>
            <a:r>
              <a:rPr sz="1800" b="0" i="0">
                <a:solidFill>
                  <a:srgbClr val="6B4A52"/>
                </a:solidFill>
                <a:latin typeface="Verdana"/>
              </a:rPr>
              <a:t>Course content in one place, code practice in another.</a:t>
            </a:r>
          </a:p>
        </p:txBody>
      </p:sp>
      <p:pic>
        <p:nvPicPr>
          <p:cNvPr id="9" name="Picture 8" descr="b14ebceebffc7960.png"/>
          <p:cNvPicPr>
            <a:picLocks noChangeAspect="1"/>
          </p:cNvPicPr>
          <p:nvPr/>
        </p:nvPicPr>
        <p:blipFill>
          <a:blip r:embed="rId3"/>
          <a:stretch>
            <a:fillRect/>
          </a:stretch>
        </p:blipFill>
        <p:spPr>
          <a:xfrm>
            <a:off x="5422900" y="2406650"/>
            <a:ext cx="1117600" cy="609600"/>
          </a:xfrm>
          <a:prstGeom prst="rect">
            <a:avLst/>
          </a:prstGeom>
        </p:spPr>
      </p:pic>
      <p:sp>
        <p:nvSpPr>
          <p:cNvPr id="10" name="Rounded Rectangle 9"/>
          <p:cNvSpPr/>
          <p:nvPr/>
        </p:nvSpPr>
        <p:spPr>
          <a:xfrm>
            <a:off x="6747669" y="2001441"/>
            <a:ext cx="4631531" cy="1421011"/>
          </a:xfrm>
          <a:prstGeom prst="roundRect">
            <a:avLst>
              <a:gd name="adj" fmla="val 4468"/>
            </a:avLst>
          </a:prstGeom>
          <a:solidFill>
            <a:srgbClr val="D4D6DC"/>
          </a:solidFill>
          <a:ln w="19050">
            <a:solidFill>
              <a:srgbClr val="1C6091"/>
            </a:solidFill>
          </a:ln>
          <a:effectLst/>
        </p:spPr>
        <p:txBody>
          <a:bodyPr rtlCol="0" anchor="ctr"/>
          <a:lstStyle/>
          <a:p>
            <a:pPr algn="ctr"/>
          </a:p>
        </p:txBody>
      </p:sp>
      <p:sp>
        <p:nvSpPr>
          <p:cNvPr id="11" name="TextBox 10"/>
          <p:cNvSpPr txBox="1"/>
          <p:nvPr/>
        </p:nvSpPr>
        <p:spPr>
          <a:xfrm>
            <a:off x="6969919" y="2210991"/>
            <a:ext cx="4187031" cy="274320"/>
          </a:xfrm>
          <a:prstGeom prst="rect">
            <a:avLst/>
          </a:prstGeom>
          <a:noFill/>
        </p:spPr>
        <p:txBody>
          <a:bodyPr wrap="none" lIns="0" rIns="0" tIns="0" bIns="0" anchor="ctr">
            <a:noAutofit/>
          </a:bodyPr>
          <a:lstStyle/>
          <a:p>
            <a:pPr algn="l">
              <a:lnSpc>
                <a:spcPts val="2430"/>
              </a:lnSpc>
            </a:pPr>
            <a:r>
              <a:rPr sz="1800" b="0" i="0">
                <a:solidFill>
                  <a:srgbClr val="1C6091"/>
                </a:solidFill>
                <a:latin typeface="Roboto Mono"/>
              </a:rPr>
              <a:t>PrairieLearn</a:t>
            </a:r>
          </a:p>
        </p:txBody>
      </p:sp>
      <p:sp>
        <p:nvSpPr>
          <p:cNvPr id="12" name="TextBox 11"/>
          <p:cNvSpPr txBox="1"/>
          <p:nvPr/>
        </p:nvSpPr>
        <p:spPr>
          <a:xfrm>
            <a:off x="6969919" y="2652911"/>
            <a:ext cx="4212431" cy="56892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Readings and code exercises in one place, with feedback while you work.</a:t>
            </a:r>
          </a:p>
        </p:txBody>
      </p:sp>
      <p:sp>
        <p:nvSpPr>
          <p:cNvPr id="13" name="Rounded Rectangle 12"/>
          <p:cNvSpPr/>
          <p:nvPr/>
        </p:nvSpPr>
        <p:spPr>
          <a:xfrm>
            <a:off x="812800" y="3625652"/>
            <a:ext cx="4410869" cy="1421011"/>
          </a:xfrm>
          <a:prstGeom prst="roundRect">
            <a:avLst>
              <a:gd name="adj" fmla="val 4468"/>
            </a:avLst>
          </a:prstGeom>
          <a:noFill/>
          <a:ln w="19050">
            <a:solidFill>
              <a:srgbClr val="7D8791"/>
            </a:solidFill>
            <a:prstDash val="dash"/>
          </a:ln>
          <a:effectLst/>
        </p:spPr>
        <p:txBody>
          <a:bodyPr rtlCol="0" anchor="ctr"/>
          <a:lstStyle/>
          <a:p>
            <a:pPr algn="ctr"/>
          </a:p>
        </p:txBody>
      </p:sp>
      <p:sp>
        <p:nvSpPr>
          <p:cNvPr id="14" name="TextBox 13"/>
          <p:cNvSpPr txBox="1"/>
          <p:nvPr/>
        </p:nvSpPr>
        <p:spPr>
          <a:xfrm>
            <a:off x="1035050" y="3835202"/>
            <a:ext cx="3966369" cy="274320"/>
          </a:xfrm>
          <a:prstGeom prst="rect">
            <a:avLst/>
          </a:prstGeom>
          <a:noFill/>
        </p:spPr>
        <p:txBody>
          <a:bodyPr wrap="none" lIns="0" rIns="0" tIns="0" bIns="0" anchor="ctr">
            <a:noAutofit/>
          </a:bodyPr>
          <a:lstStyle/>
          <a:p>
            <a:pPr algn="l">
              <a:lnSpc>
                <a:spcPts val="2430"/>
              </a:lnSpc>
            </a:pPr>
            <a:r>
              <a:rPr sz="1800" b="0" i="0">
                <a:solidFill>
                  <a:srgbClr val="7D8791"/>
                </a:solidFill>
                <a:latin typeface="Roboto Mono"/>
              </a:rPr>
              <a:t>Projects</a:t>
            </a:r>
          </a:p>
        </p:txBody>
      </p:sp>
      <p:sp>
        <p:nvSpPr>
          <p:cNvPr id="15" name="TextBox 14"/>
          <p:cNvSpPr txBox="1"/>
          <p:nvPr/>
        </p:nvSpPr>
        <p:spPr>
          <a:xfrm>
            <a:off x="1035050" y="4277122"/>
            <a:ext cx="3991769" cy="568920"/>
          </a:xfrm>
          <a:prstGeom prst="rect">
            <a:avLst/>
          </a:prstGeom>
          <a:noFill/>
        </p:spPr>
        <p:txBody>
          <a:bodyPr wrap="square" lIns="0" rIns="0" tIns="0" bIns="0" anchor="ctr">
            <a:noAutofit/>
          </a:bodyPr>
          <a:lstStyle/>
          <a:p>
            <a:pPr algn="l">
              <a:lnSpc>
                <a:spcPts val="2430"/>
              </a:lnSpc>
            </a:pPr>
            <a:r>
              <a:rPr sz="1800" b="0" i="0">
                <a:solidFill>
                  <a:srgbClr val="6B4A52"/>
                </a:solidFill>
                <a:latin typeface="Verdana"/>
              </a:rPr>
              <a:t>A spec we wrote for you, completed on your own.</a:t>
            </a:r>
          </a:p>
        </p:txBody>
      </p:sp>
      <p:pic>
        <p:nvPicPr>
          <p:cNvPr id="16" name="Picture 15" descr="13191e27c6f44672.png"/>
          <p:cNvPicPr>
            <a:picLocks noChangeAspect="1"/>
          </p:cNvPicPr>
          <p:nvPr/>
        </p:nvPicPr>
        <p:blipFill>
          <a:blip r:embed="rId4"/>
          <a:stretch>
            <a:fillRect/>
          </a:stretch>
        </p:blipFill>
        <p:spPr>
          <a:xfrm>
            <a:off x="5422900" y="4025900"/>
            <a:ext cx="1117600" cy="609600"/>
          </a:xfrm>
          <a:prstGeom prst="rect">
            <a:avLst/>
          </a:prstGeom>
        </p:spPr>
      </p:pic>
      <p:sp>
        <p:nvSpPr>
          <p:cNvPr id="17" name="Rounded Rectangle 16"/>
          <p:cNvSpPr/>
          <p:nvPr/>
        </p:nvSpPr>
        <p:spPr>
          <a:xfrm>
            <a:off x="6747669" y="3625652"/>
            <a:ext cx="4631531" cy="1421011"/>
          </a:xfrm>
          <a:prstGeom prst="roundRect">
            <a:avLst>
              <a:gd name="adj" fmla="val 4468"/>
            </a:avLst>
          </a:prstGeom>
          <a:solidFill>
            <a:srgbClr val="E4D5CF"/>
          </a:solidFill>
          <a:ln w="19050">
            <a:solidFill>
              <a:srgbClr val="B35510"/>
            </a:solidFill>
          </a:ln>
          <a:effectLst/>
        </p:spPr>
        <p:txBody>
          <a:bodyPr rtlCol="0" anchor="ctr"/>
          <a:lstStyle/>
          <a:p>
            <a:pPr algn="ctr"/>
          </a:p>
        </p:txBody>
      </p:sp>
      <p:sp>
        <p:nvSpPr>
          <p:cNvPr id="18" name="TextBox 17"/>
          <p:cNvSpPr txBox="1"/>
          <p:nvPr/>
        </p:nvSpPr>
        <p:spPr>
          <a:xfrm>
            <a:off x="6969919" y="3835202"/>
            <a:ext cx="4187031" cy="274320"/>
          </a:xfrm>
          <a:prstGeom prst="rect">
            <a:avLst/>
          </a:prstGeom>
          <a:noFill/>
        </p:spPr>
        <p:txBody>
          <a:bodyPr wrap="none" lIns="0" rIns="0" tIns="0" bIns="0" anchor="ctr">
            <a:noAutofit/>
          </a:bodyPr>
          <a:lstStyle/>
          <a:p>
            <a:pPr algn="l">
              <a:lnSpc>
                <a:spcPts val="2430"/>
              </a:lnSpc>
            </a:pPr>
            <a:r>
              <a:rPr sz="1800" b="0" i="0">
                <a:solidFill>
                  <a:srgbClr val="B35510"/>
                </a:solidFill>
                <a:latin typeface="Roboto Mono"/>
              </a:rPr>
              <a:t>Open-ended &amp; collaborative</a:t>
            </a:r>
          </a:p>
        </p:txBody>
      </p:sp>
      <p:sp>
        <p:nvSpPr>
          <p:cNvPr id="19" name="TextBox 18"/>
          <p:cNvSpPr txBox="1"/>
          <p:nvPr/>
        </p:nvSpPr>
        <p:spPr>
          <a:xfrm>
            <a:off x="6969919" y="4277122"/>
            <a:ext cx="4212431" cy="56892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You scope the problem and build it as a team — the spec is yours to write.</a:t>
            </a:r>
          </a:p>
        </p:txBody>
      </p:sp>
      <p:sp>
        <p:nvSpPr>
          <p:cNvPr id="20" name="Rounded Rectangle 19"/>
          <p:cNvSpPr/>
          <p:nvPr/>
        </p:nvSpPr>
        <p:spPr>
          <a:xfrm>
            <a:off x="812800" y="5649020"/>
            <a:ext cx="10566400" cy="599380"/>
          </a:xfrm>
          <a:prstGeom prst="roundRect">
            <a:avLst>
              <a:gd name="adj" fmla="val 4237"/>
            </a:avLst>
          </a:prstGeom>
          <a:solidFill>
            <a:srgbClr val="E1D3D7"/>
          </a:solidFill>
          <a:ln>
            <a:noFill/>
          </a:ln>
          <a:effectLst/>
        </p:spPr>
        <p:txBody>
          <a:bodyPr rtlCol="0" anchor="ctr"/>
          <a:lstStyle/>
          <a:p>
            <a:pPr algn="ctr"/>
          </a:p>
        </p:txBody>
      </p:sp>
      <p:sp>
        <p:nvSpPr>
          <p:cNvPr id="21" name="Rectangle 20"/>
          <p:cNvSpPr/>
          <p:nvPr/>
        </p:nvSpPr>
        <p:spPr>
          <a:xfrm>
            <a:off x="812800" y="5649020"/>
            <a:ext cx="50800" cy="599380"/>
          </a:xfrm>
          <a:prstGeom prst="rect">
            <a:avLst/>
          </a:prstGeom>
          <a:solidFill>
            <a:srgbClr val="861F41"/>
          </a:solidFill>
          <a:ln>
            <a:noFill/>
          </a:ln>
          <a:effectLst/>
        </p:spPr>
        <p:txBody>
          <a:bodyPr rtlCol="0" anchor="ctr"/>
          <a:lstStyle/>
          <a:p>
            <a:pPr algn="ctr"/>
          </a:p>
        </p:txBody>
      </p:sp>
      <p:sp>
        <p:nvSpPr>
          <p:cNvPr id="22" name="TextBox 21"/>
          <p:cNvSpPr txBox="1"/>
          <p:nvPr/>
        </p:nvSpPr>
        <p:spPr>
          <a:xfrm>
            <a:off x="1168400" y="5776020"/>
            <a:ext cx="9906000" cy="365760"/>
          </a:xfrm>
          <a:prstGeom prst="rect">
            <a:avLst/>
          </a:prstGeom>
          <a:noFill/>
        </p:spPr>
        <p:txBody>
          <a:bodyPr wrap="none" lIns="0" rIns="0" tIns="0" bIns="0" anchor="ctr">
            <a:noAutofit/>
          </a:bodyPr>
          <a:lstStyle/>
          <a:p>
            <a:pPr algn="l">
              <a:lnSpc>
                <a:spcPts val="3120"/>
              </a:lnSpc>
            </a:pPr>
            <a:r>
              <a:rPr sz="2400" b="0" i="0">
                <a:solidFill>
                  <a:srgbClr val="2C1A1F"/>
                </a:solidFill>
                <a:latin typeface="Georgia"/>
              </a:rPr>
              <a:t>New for you — and new for us. We’ll be evaluating it together.</a:t>
            </a:r>
          </a:p>
        </p:txBody>
      </p:sp>
      <p:sp>
        <p:nvSpPr>
          <p:cNvPr id="23" name="Rounded Rectangle 22"/>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24" name="TextBox 23"/>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6 / 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We’re researching this, too</a:t>
            </a:r>
          </a:p>
        </p:txBody>
      </p:sp>
      <p:sp>
        <p:nvSpPr>
          <p:cNvPr id="4" name="Rounded Rectangle 3"/>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5" name="TextBox 4"/>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7 / 28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We’re researching this, too</a:t>
            </a:r>
          </a:p>
        </p:txBody>
      </p:sp>
      <p:sp>
        <p:nvSpPr>
          <p:cNvPr id="4" name="Rounded Rectangle 3"/>
          <p:cNvSpPr/>
          <p:nvPr/>
        </p:nvSpPr>
        <p:spPr>
          <a:xfrm>
            <a:off x="812800" y="1473200"/>
            <a:ext cx="5207000" cy="2288183"/>
          </a:xfrm>
          <a:prstGeom prst="roundRect">
            <a:avLst>
              <a:gd name="adj" fmla="val 2775"/>
            </a:avLst>
          </a:prstGeom>
          <a:solidFill>
            <a:srgbClr val="E9E3E4"/>
          </a:solidFill>
          <a:ln w="19050">
            <a:solidFill>
              <a:srgbClr val="1C6091"/>
            </a:solidFill>
          </a:ln>
          <a:effectLst/>
        </p:spPr>
        <p:txBody>
          <a:bodyPr rtlCol="0" anchor="ctr"/>
          <a:lstStyle/>
          <a:p>
            <a:pPr algn="ctr"/>
          </a:p>
        </p:txBody>
      </p:sp>
      <p:sp>
        <p:nvSpPr>
          <p:cNvPr id="5" name="TextBox 4"/>
          <p:cNvSpPr txBox="1"/>
          <p:nvPr/>
        </p:nvSpPr>
        <p:spPr>
          <a:xfrm>
            <a:off x="1035050" y="1695450"/>
            <a:ext cx="4762500" cy="274320"/>
          </a:xfrm>
          <a:prstGeom prst="rect">
            <a:avLst/>
          </a:prstGeom>
          <a:noFill/>
        </p:spPr>
        <p:txBody>
          <a:bodyPr wrap="none" lIns="0" rIns="0" tIns="0" bIns="0" anchor="ctr">
            <a:noAutofit/>
          </a:bodyPr>
          <a:lstStyle/>
          <a:p>
            <a:pPr algn="l">
              <a:lnSpc>
                <a:spcPts val="2610"/>
              </a:lnSpc>
            </a:pPr>
            <a:r>
              <a:rPr sz="1800" b="0" i="0">
                <a:solidFill>
                  <a:srgbClr val="1C6091"/>
                </a:solidFill>
                <a:latin typeface="Roboto Mono"/>
              </a:rPr>
              <a:t>With you</a:t>
            </a:r>
          </a:p>
        </p:txBody>
      </p:sp>
      <p:sp>
        <p:nvSpPr>
          <p:cNvPr id="6" name="TextBox 5"/>
          <p:cNvSpPr txBox="1"/>
          <p:nvPr/>
        </p:nvSpPr>
        <p:spPr>
          <a:xfrm>
            <a:off x="1035050" y="2141141"/>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Your experience</a:t>
            </a:r>
          </a:p>
        </p:txBody>
      </p:sp>
      <p:sp>
        <p:nvSpPr>
          <p:cNvPr id="7" name="TextBox 6"/>
          <p:cNvSpPr txBox="1"/>
          <p:nvPr/>
        </p:nvSpPr>
        <p:spPr>
          <a:xfrm>
            <a:off x="1035050" y="2627511"/>
            <a:ext cx="4787900" cy="92313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Surveys, interviews, and how you actually move through the modules — what helps, and what gets in the way.</a:t>
            </a:r>
          </a:p>
        </p:txBody>
      </p:sp>
      <p:sp>
        <p:nvSpPr>
          <p:cNvPr id="8" name="Rounded Rectangle 7"/>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9" name="TextBox 8"/>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7 / 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We’re researching this, too</a:t>
            </a:r>
          </a:p>
        </p:txBody>
      </p:sp>
      <p:sp>
        <p:nvSpPr>
          <p:cNvPr id="4" name="Rounded Rectangle 3"/>
          <p:cNvSpPr/>
          <p:nvPr/>
        </p:nvSpPr>
        <p:spPr>
          <a:xfrm>
            <a:off x="812800" y="1473200"/>
            <a:ext cx="5207000" cy="2288183"/>
          </a:xfrm>
          <a:prstGeom prst="roundRect">
            <a:avLst>
              <a:gd name="adj" fmla="val 2775"/>
            </a:avLst>
          </a:prstGeom>
          <a:solidFill>
            <a:srgbClr val="E9E3E4"/>
          </a:solidFill>
          <a:ln w="19050">
            <a:solidFill>
              <a:srgbClr val="1C6091"/>
            </a:solidFill>
          </a:ln>
          <a:effectLst/>
        </p:spPr>
        <p:txBody>
          <a:bodyPr rtlCol="0" anchor="ctr"/>
          <a:lstStyle/>
          <a:p>
            <a:pPr algn="ctr"/>
          </a:p>
        </p:txBody>
      </p:sp>
      <p:sp>
        <p:nvSpPr>
          <p:cNvPr id="5" name="TextBox 4"/>
          <p:cNvSpPr txBox="1"/>
          <p:nvPr/>
        </p:nvSpPr>
        <p:spPr>
          <a:xfrm>
            <a:off x="1035050" y="1695450"/>
            <a:ext cx="4762500" cy="274320"/>
          </a:xfrm>
          <a:prstGeom prst="rect">
            <a:avLst/>
          </a:prstGeom>
          <a:noFill/>
        </p:spPr>
        <p:txBody>
          <a:bodyPr wrap="none" lIns="0" rIns="0" tIns="0" bIns="0" anchor="ctr">
            <a:noAutofit/>
          </a:bodyPr>
          <a:lstStyle/>
          <a:p>
            <a:pPr algn="l">
              <a:lnSpc>
                <a:spcPts val="2610"/>
              </a:lnSpc>
            </a:pPr>
            <a:r>
              <a:rPr sz="1800" b="0" i="0">
                <a:solidFill>
                  <a:srgbClr val="1C6091"/>
                </a:solidFill>
                <a:latin typeface="Roboto Mono"/>
              </a:rPr>
              <a:t>With you</a:t>
            </a:r>
          </a:p>
        </p:txBody>
      </p:sp>
      <p:sp>
        <p:nvSpPr>
          <p:cNvPr id="6" name="TextBox 5"/>
          <p:cNvSpPr txBox="1"/>
          <p:nvPr/>
        </p:nvSpPr>
        <p:spPr>
          <a:xfrm>
            <a:off x="1035050" y="2141141"/>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Your experience</a:t>
            </a:r>
          </a:p>
        </p:txBody>
      </p:sp>
      <p:sp>
        <p:nvSpPr>
          <p:cNvPr id="7" name="TextBox 6"/>
          <p:cNvSpPr txBox="1"/>
          <p:nvPr/>
        </p:nvSpPr>
        <p:spPr>
          <a:xfrm>
            <a:off x="1035050" y="2627511"/>
            <a:ext cx="4787900" cy="92313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Surveys, interviews, and how you actually move through the modules — what helps, and what gets in the way.</a:t>
            </a:r>
          </a:p>
        </p:txBody>
      </p:sp>
      <p:sp>
        <p:nvSpPr>
          <p:cNvPr id="8" name="Rounded Rectangle 7"/>
          <p:cNvSpPr/>
          <p:nvPr/>
        </p:nvSpPr>
        <p:spPr>
          <a:xfrm>
            <a:off x="6172200" y="1473200"/>
            <a:ext cx="5207000" cy="2288183"/>
          </a:xfrm>
          <a:prstGeom prst="roundRect">
            <a:avLst>
              <a:gd name="adj" fmla="val 2775"/>
            </a:avLst>
          </a:prstGeom>
          <a:solidFill>
            <a:srgbClr val="E9E3E4"/>
          </a:solidFill>
          <a:ln w="19050">
            <a:solidFill>
              <a:srgbClr val="B35510"/>
            </a:solidFill>
          </a:ln>
          <a:effectLst/>
        </p:spPr>
        <p:txBody>
          <a:bodyPr rtlCol="0" anchor="ctr"/>
          <a:lstStyle/>
          <a:p>
            <a:pPr algn="ctr"/>
          </a:p>
        </p:txBody>
      </p:sp>
      <p:sp>
        <p:nvSpPr>
          <p:cNvPr id="9" name="TextBox 8"/>
          <p:cNvSpPr txBox="1"/>
          <p:nvPr/>
        </p:nvSpPr>
        <p:spPr>
          <a:xfrm>
            <a:off x="6394450" y="1695450"/>
            <a:ext cx="4762500"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Roboto Mono"/>
              </a:rPr>
              <a:t>With our TAs</a:t>
            </a:r>
          </a:p>
        </p:txBody>
      </p:sp>
      <p:sp>
        <p:nvSpPr>
          <p:cNvPr id="10" name="TextBox 9"/>
          <p:cNvSpPr txBox="1"/>
          <p:nvPr/>
        </p:nvSpPr>
        <p:spPr>
          <a:xfrm>
            <a:off x="6394450" y="2141141"/>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Support for our TAs</a:t>
            </a:r>
          </a:p>
        </p:txBody>
      </p:sp>
      <p:sp>
        <p:nvSpPr>
          <p:cNvPr id="11" name="TextBox 10"/>
          <p:cNvSpPr txBox="1"/>
          <p:nvPr/>
        </p:nvSpPr>
        <p:spPr>
          <a:xfrm>
            <a:off x="6394450" y="2627511"/>
            <a:ext cx="4787900"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What TAs need in order to help you well — in lab, and in office hours.</a:t>
            </a:r>
          </a:p>
        </p:txBody>
      </p:sp>
      <p:sp>
        <p:nvSpPr>
          <p:cNvPr id="12" name="Rounded Rectangle 11"/>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13" name="TextBox 12"/>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7 / 28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We’re researching this, too</a:t>
            </a:r>
          </a:p>
        </p:txBody>
      </p:sp>
      <p:sp>
        <p:nvSpPr>
          <p:cNvPr id="4" name="Rounded Rectangle 3"/>
          <p:cNvSpPr/>
          <p:nvPr/>
        </p:nvSpPr>
        <p:spPr>
          <a:xfrm>
            <a:off x="812800" y="1473200"/>
            <a:ext cx="5207000" cy="2288183"/>
          </a:xfrm>
          <a:prstGeom prst="roundRect">
            <a:avLst>
              <a:gd name="adj" fmla="val 2775"/>
            </a:avLst>
          </a:prstGeom>
          <a:solidFill>
            <a:srgbClr val="E9E3E4"/>
          </a:solidFill>
          <a:ln w="19050">
            <a:solidFill>
              <a:srgbClr val="1C6091"/>
            </a:solidFill>
          </a:ln>
          <a:effectLst/>
        </p:spPr>
        <p:txBody>
          <a:bodyPr rtlCol="0" anchor="ctr"/>
          <a:lstStyle/>
          <a:p>
            <a:pPr algn="ctr"/>
          </a:p>
        </p:txBody>
      </p:sp>
      <p:sp>
        <p:nvSpPr>
          <p:cNvPr id="5" name="TextBox 4"/>
          <p:cNvSpPr txBox="1"/>
          <p:nvPr/>
        </p:nvSpPr>
        <p:spPr>
          <a:xfrm>
            <a:off x="1035050" y="1695450"/>
            <a:ext cx="4762500" cy="274320"/>
          </a:xfrm>
          <a:prstGeom prst="rect">
            <a:avLst/>
          </a:prstGeom>
          <a:noFill/>
        </p:spPr>
        <p:txBody>
          <a:bodyPr wrap="none" lIns="0" rIns="0" tIns="0" bIns="0" anchor="ctr">
            <a:noAutofit/>
          </a:bodyPr>
          <a:lstStyle/>
          <a:p>
            <a:pPr algn="l">
              <a:lnSpc>
                <a:spcPts val="2610"/>
              </a:lnSpc>
            </a:pPr>
            <a:r>
              <a:rPr sz="1800" b="0" i="0">
                <a:solidFill>
                  <a:srgbClr val="1C6091"/>
                </a:solidFill>
                <a:latin typeface="Roboto Mono"/>
              </a:rPr>
              <a:t>With you</a:t>
            </a:r>
          </a:p>
        </p:txBody>
      </p:sp>
      <p:sp>
        <p:nvSpPr>
          <p:cNvPr id="6" name="TextBox 5"/>
          <p:cNvSpPr txBox="1"/>
          <p:nvPr/>
        </p:nvSpPr>
        <p:spPr>
          <a:xfrm>
            <a:off x="1035050" y="2141141"/>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Your experience</a:t>
            </a:r>
          </a:p>
        </p:txBody>
      </p:sp>
      <p:sp>
        <p:nvSpPr>
          <p:cNvPr id="7" name="TextBox 6"/>
          <p:cNvSpPr txBox="1"/>
          <p:nvPr/>
        </p:nvSpPr>
        <p:spPr>
          <a:xfrm>
            <a:off x="1035050" y="2627511"/>
            <a:ext cx="4787900" cy="92313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Surveys, interviews, and how you actually move through the modules — what helps, and what gets in the way.</a:t>
            </a:r>
          </a:p>
        </p:txBody>
      </p:sp>
      <p:sp>
        <p:nvSpPr>
          <p:cNvPr id="8" name="Rounded Rectangle 7"/>
          <p:cNvSpPr/>
          <p:nvPr/>
        </p:nvSpPr>
        <p:spPr>
          <a:xfrm>
            <a:off x="6172200" y="1473200"/>
            <a:ext cx="5207000" cy="2288183"/>
          </a:xfrm>
          <a:prstGeom prst="roundRect">
            <a:avLst>
              <a:gd name="adj" fmla="val 2775"/>
            </a:avLst>
          </a:prstGeom>
          <a:solidFill>
            <a:srgbClr val="E9E3E4"/>
          </a:solidFill>
          <a:ln w="19050">
            <a:solidFill>
              <a:srgbClr val="B35510"/>
            </a:solidFill>
          </a:ln>
          <a:effectLst/>
        </p:spPr>
        <p:txBody>
          <a:bodyPr rtlCol="0" anchor="ctr"/>
          <a:lstStyle/>
          <a:p>
            <a:pPr algn="ctr"/>
          </a:p>
        </p:txBody>
      </p:sp>
      <p:sp>
        <p:nvSpPr>
          <p:cNvPr id="9" name="TextBox 8"/>
          <p:cNvSpPr txBox="1"/>
          <p:nvPr/>
        </p:nvSpPr>
        <p:spPr>
          <a:xfrm>
            <a:off x="6394450" y="1695450"/>
            <a:ext cx="4762500"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Roboto Mono"/>
              </a:rPr>
              <a:t>With our TAs</a:t>
            </a:r>
          </a:p>
        </p:txBody>
      </p:sp>
      <p:sp>
        <p:nvSpPr>
          <p:cNvPr id="10" name="TextBox 9"/>
          <p:cNvSpPr txBox="1"/>
          <p:nvPr/>
        </p:nvSpPr>
        <p:spPr>
          <a:xfrm>
            <a:off x="6394450" y="2141141"/>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Support for our TAs</a:t>
            </a:r>
          </a:p>
        </p:txBody>
      </p:sp>
      <p:sp>
        <p:nvSpPr>
          <p:cNvPr id="11" name="TextBox 10"/>
          <p:cNvSpPr txBox="1"/>
          <p:nvPr/>
        </p:nvSpPr>
        <p:spPr>
          <a:xfrm>
            <a:off x="6394450" y="2627511"/>
            <a:ext cx="4787900"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What TAs need in order to help you well — in lab, and in office hours.</a:t>
            </a:r>
          </a:p>
        </p:txBody>
      </p:sp>
      <p:pic>
        <p:nvPicPr>
          <p:cNvPr id="12" name="Picture 11" descr="fa40c5c79fcf6b9b.png"/>
          <p:cNvPicPr>
            <a:picLocks noChangeAspect="1"/>
          </p:cNvPicPr>
          <p:nvPr/>
        </p:nvPicPr>
        <p:blipFill>
          <a:blip r:embed="rId3"/>
          <a:stretch>
            <a:fillRect/>
          </a:stretch>
        </p:blipFill>
        <p:spPr>
          <a:xfrm>
            <a:off x="812800" y="3911600"/>
            <a:ext cx="10566400" cy="609600"/>
          </a:xfrm>
          <a:prstGeom prst="rect">
            <a:avLst/>
          </a:prstGeom>
        </p:spPr>
      </p:pic>
      <p:sp>
        <p:nvSpPr>
          <p:cNvPr id="13" name="Rounded Rectangle 12"/>
          <p:cNvSpPr/>
          <p:nvPr/>
        </p:nvSpPr>
        <p:spPr>
          <a:xfrm>
            <a:off x="812800" y="4675783"/>
            <a:ext cx="10566400" cy="1533922"/>
          </a:xfrm>
          <a:prstGeom prst="roundRect">
            <a:avLst>
              <a:gd name="adj" fmla="val 4139"/>
            </a:avLst>
          </a:prstGeom>
          <a:solidFill>
            <a:srgbClr val="DFCFD4"/>
          </a:solidFill>
          <a:ln w="19050">
            <a:solidFill>
              <a:srgbClr val="861F41"/>
            </a:solidFill>
          </a:ln>
          <a:effectLst/>
        </p:spPr>
        <p:txBody>
          <a:bodyPr rtlCol="0" anchor="ctr"/>
          <a:lstStyle/>
          <a:p>
            <a:pPr algn="ctr"/>
          </a:p>
        </p:txBody>
      </p:sp>
      <p:sp>
        <p:nvSpPr>
          <p:cNvPr id="14" name="TextBox 13"/>
          <p:cNvSpPr txBox="1"/>
          <p:nvPr/>
        </p:nvSpPr>
        <p:spPr>
          <a:xfrm>
            <a:off x="1035050" y="4859933"/>
            <a:ext cx="10121900" cy="426720"/>
          </a:xfrm>
          <a:prstGeom prst="rect">
            <a:avLst/>
          </a:prstGeom>
          <a:noFill/>
        </p:spPr>
        <p:txBody>
          <a:bodyPr wrap="none" lIns="0" rIns="0" tIns="0" bIns="0" anchor="ctr">
            <a:noAutofit/>
          </a:bodyPr>
          <a:lstStyle/>
          <a:p>
            <a:pPr algn="l">
              <a:lnSpc>
                <a:spcPts val="3360"/>
              </a:lnSpc>
            </a:pPr>
            <a:r>
              <a:rPr sz="2800" b="1" i="0">
                <a:solidFill>
                  <a:srgbClr val="2C1A1F"/>
                </a:solidFill>
                <a:latin typeface="Georgia"/>
              </a:rPr>
              <a:t>A better GenAI-forward CS 2114</a:t>
            </a:r>
          </a:p>
        </p:txBody>
      </p:sp>
      <p:sp>
        <p:nvSpPr>
          <p:cNvPr id="15" name="TextBox 14"/>
          <p:cNvSpPr txBox="1"/>
          <p:nvPr/>
        </p:nvSpPr>
        <p:spPr>
          <a:xfrm>
            <a:off x="1035050" y="5407223"/>
            <a:ext cx="10147300"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Everything we learn feeds the next version of this course — you’re part of the design, not just the class.</a:t>
            </a:r>
          </a:p>
        </p:txBody>
      </p:sp>
      <p:sp>
        <p:nvSpPr>
          <p:cNvPr id="16" name="Rounded Rectangle 15"/>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17" name="TextBox 16"/>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7 / 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946a3df9a2b8d4be.jpg"/>
          <p:cNvPicPr>
            <a:picLocks noChangeAspect="1"/>
          </p:cNvPicPr>
          <p:nvPr/>
        </p:nvPicPr>
        <p:blipFill>
          <a:blip r:embed="rId2"/>
          <a:stretch>
            <a:fillRect/>
          </a:stretch>
        </p:blipFill>
        <p:spPr>
          <a:xfrm>
            <a:off x="0" y="4826000"/>
            <a:ext cx="12192000" cy="2032000"/>
          </a:xfrm>
          <a:prstGeom prst="rect">
            <a:avLst/>
          </a:prstGeom>
        </p:spPr>
      </p:pic>
      <p:sp>
        <p:nvSpPr>
          <p:cNvPr id="3" name="TextBox 2"/>
          <p:cNvSpPr txBox="1"/>
          <p:nvPr/>
        </p:nvSpPr>
        <p:spPr>
          <a:xfrm>
            <a:off x="1638300" y="2501900"/>
            <a:ext cx="8915400" cy="1644650"/>
          </a:xfrm>
          <a:prstGeom prst="rect">
            <a:avLst/>
          </a:prstGeom>
          <a:noFill/>
        </p:spPr>
        <p:txBody>
          <a:bodyPr wrap="square" lIns="0" rIns="0" tIns="0" bIns="0" anchor="ctr">
            <a:noAutofit/>
          </a:bodyPr>
          <a:lstStyle/>
          <a:p>
            <a:pPr algn="ctr">
              <a:lnSpc>
                <a:spcPts val="6300"/>
              </a:lnSpc>
            </a:pPr>
            <a:r>
              <a:rPr sz="6000" b="1" i="0" spc="-120">
                <a:solidFill>
                  <a:srgbClr val="861F41"/>
                </a:solidFill>
                <a:latin typeface="Georgia"/>
              </a:rPr>
              <a:t>So… what will the semester look like?</a:t>
            </a:r>
          </a:p>
        </p:txBody>
      </p:sp>
      <p:sp>
        <p:nvSpPr>
          <p:cNvPr id="4" name="Rounded Rectangle 3"/>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5" name="TextBox 4"/>
          <p:cNvSpPr txBox="1"/>
          <p:nvPr/>
        </p:nvSpPr>
        <p:spPr>
          <a:xfrm>
            <a:off x="11162804" y="6337300"/>
            <a:ext cx="571996"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8 / 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The semester at a glance</a:t>
            </a:r>
          </a:p>
        </p:txBody>
      </p:sp>
      <p:sp>
        <p:nvSpPr>
          <p:cNvPr id="4" name="Rectangle 3"/>
          <p:cNvSpPr/>
          <p:nvPr/>
        </p:nvSpPr>
        <p:spPr>
          <a:xfrm>
            <a:off x="812800" y="1473200"/>
            <a:ext cx="694234" cy="337741"/>
          </a:xfrm>
          <a:prstGeom prst="rect">
            <a:avLst/>
          </a:prstGeom>
          <a:noFill/>
          <a:ln>
            <a:noFill/>
          </a:ln>
          <a:effectLst/>
        </p:spPr>
        <p:txBody>
          <a:bodyPr rtlCol="0" anchor="ctr"/>
          <a:lstStyle/>
          <a:p>
            <a:pPr algn="ctr"/>
          </a:p>
        </p:txBody>
      </p:sp>
      <p:sp>
        <p:nvSpPr>
          <p:cNvPr id="5" name="Rectangle 4"/>
          <p:cNvSpPr/>
          <p:nvPr/>
        </p:nvSpPr>
        <p:spPr>
          <a:xfrm>
            <a:off x="812800" y="1798241"/>
            <a:ext cx="694234" cy="12700"/>
          </a:xfrm>
          <a:prstGeom prst="rect">
            <a:avLst/>
          </a:prstGeom>
          <a:solidFill>
            <a:srgbClr val="6B4A52"/>
          </a:solidFill>
          <a:ln>
            <a:noFill/>
          </a:ln>
          <a:effectLst/>
        </p:spPr>
        <p:txBody>
          <a:bodyPr rtlCol="0" anchor="ctr"/>
          <a:lstStyle/>
          <a:p>
            <a:pPr algn="ctr"/>
          </a:p>
        </p:txBody>
      </p:sp>
      <p:sp>
        <p:nvSpPr>
          <p:cNvPr id="6" name="Rectangle 5"/>
          <p:cNvSpPr/>
          <p:nvPr/>
        </p:nvSpPr>
        <p:spPr>
          <a:xfrm>
            <a:off x="812800" y="1798241"/>
            <a:ext cx="12700" cy="50800"/>
          </a:xfrm>
          <a:prstGeom prst="rect">
            <a:avLst/>
          </a:prstGeom>
          <a:solidFill>
            <a:srgbClr val="6B4A52"/>
          </a:solidFill>
          <a:ln>
            <a:noFill/>
          </a:ln>
          <a:effectLst/>
        </p:spPr>
        <p:txBody>
          <a:bodyPr rtlCol="0" anchor="ctr"/>
          <a:lstStyle/>
          <a:p>
            <a:pPr algn="ctr"/>
          </a:p>
        </p:txBody>
      </p:sp>
      <p:sp>
        <p:nvSpPr>
          <p:cNvPr id="7" name="TextBox 6"/>
          <p:cNvSpPr txBox="1"/>
          <p:nvPr/>
        </p:nvSpPr>
        <p:spPr>
          <a:xfrm>
            <a:off x="812800" y="1492250"/>
            <a:ext cx="694234"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Aug</a:t>
            </a:r>
          </a:p>
        </p:txBody>
      </p:sp>
      <p:sp>
        <p:nvSpPr>
          <p:cNvPr id="8" name="Rectangle 7"/>
          <p:cNvSpPr/>
          <p:nvPr/>
        </p:nvSpPr>
        <p:spPr>
          <a:xfrm>
            <a:off x="1494333" y="1798241"/>
            <a:ext cx="12700" cy="50800"/>
          </a:xfrm>
          <a:prstGeom prst="rect">
            <a:avLst/>
          </a:prstGeom>
          <a:solidFill>
            <a:srgbClr val="6B4A52"/>
          </a:solidFill>
          <a:ln>
            <a:noFill/>
          </a:ln>
          <a:effectLst/>
        </p:spPr>
        <p:txBody>
          <a:bodyPr rtlCol="0" anchor="ctr"/>
          <a:lstStyle/>
          <a:p>
            <a:pPr algn="ctr"/>
          </a:p>
        </p:txBody>
      </p:sp>
      <p:sp>
        <p:nvSpPr>
          <p:cNvPr id="9" name="Rectangle 8"/>
          <p:cNvSpPr/>
          <p:nvPr/>
        </p:nvSpPr>
        <p:spPr>
          <a:xfrm>
            <a:off x="1557834" y="1473200"/>
            <a:ext cx="2604691" cy="337741"/>
          </a:xfrm>
          <a:prstGeom prst="rect">
            <a:avLst/>
          </a:prstGeom>
          <a:noFill/>
          <a:ln>
            <a:noFill/>
          </a:ln>
          <a:effectLst/>
        </p:spPr>
        <p:txBody>
          <a:bodyPr rtlCol="0" anchor="ctr"/>
          <a:lstStyle/>
          <a:p>
            <a:pPr algn="ctr"/>
          </a:p>
        </p:txBody>
      </p:sp>
      <p:sp>
        <p:nvSpPr>
          <p:cNvPr id="10" name="Rectangle 9"/>
          <p:cNvSpPr/>
          <p:nvPr/>
        </p:nvSpPr>
        <p:spPr>
          <a:xfrm>
            <a:off x="1557834" y="1798241"/>
            <a:ext cx="2604691" cy="12700"/>
          </a:xfrm>
          <a:prstGeom prst="rect">
            <a:avLst/>
          </a:prstGeom>
          <a:solidFill>
            <a:srgbClr val="6B4A52"/>
          </a:solidFill>
          <a:ln>
            <a:noFill/>
          </a:ln>
          <a:effectLst/>
        </p:spPr>
        <p:txBody>
          <a:bodyPr rtlCol="0" anchor="ctr"/>
          <a:lstStyle/>
          <a:p>
            <a:pPr algn="ctr"/>
          </a:p>
        </p:txBody>
      </p:sp>
      <p:sp>
        <p:nvSpPr>
          <p:cNvPr id="11" name="Rectangle 10"/>
          <p:cNvSpPr/>
          <p:nvPr/>
        </p:nvSpPr>
        <p:spPr>
          <a:xfrm>
            <a:off x="1557834" y="1798241"/>
            <a:ext cx="12700" cy="50800"/>
          </a:xfrm>
          <a:prstGeom prst="rect">
            <a:avLst/>
          </a:prstGeom>
          <a:solidFill>
            <a:srgbClr val="6B4A52"/>
          </a:solidFill>
          <a:ln>
            <a:noFill/>
          </a:ln>
          <a:effectLst/>
        </p:spPr>
        <p:txBody>
          <a:bodyPr rtlCol="0" anchor="ctr"/>
          <a:lstStyle/>
          <a:p>
            <a:pPr algn="ctr"/>
          </a:p>
        </p:txBody>
      </p:sp>
      <p:sp>
        <p:nvSpPr>
          <p:cNvPr id="12" name="TextBox 11"/>
          <p:cNvSpPr txBox="1"/>
          <p:nvPr/>
        </p:nvSpPr>
        <p:spPr>
          <a:xfrm>
            <a:off x="1557834" y="1492250"/>
            <a:ext cx="2604691"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Sep</a:t>
            </a:r>
          </a:p>
        </p:txBody>
      </p:sp>
      <p:sp>
        <p:nvSpPr>
          <p:cNvPr id="13" name="Rectangle 12"/>
          <p:cNvSpPr/>
          <p:nvPr/>
        </p:nvSpPr>
        <p:spPr>
          <a:xfrm>
            <a:off x="4149827" y="1798241"/>
            <a:ext cx="12700" cy="50800"/>
          </a:xfrm>
          <a:prstGeom prst="rect">
            <a:avLst/>
          </a:prstGeom>
          <a:solidFill>
            <a:srgbClr val="6B4A52"/>
          </a:solidFill>
          <a:ln>
            <a:noFill/>
          </a:ln>
          <a:effectLst/>
        </p:spPr>
        <p:txBody>
          <a:bodyPr rtlCol="0" anchor="ctr"/>
          <a:lstStyle/>
          <a:p>
            <a:pPr algn="ctr"/>
          </a:p>
        </p:txBody>
      </p:sp>
      <p:sp>
        <p:nvSpPr>
          <p:cNvPr id="14" name="Rectangle 13"/>
          <p:cNvSpPr/>
          <p:nvPr/>
        </p:nvSpPr>
        <p:spPr>
          <a:xfrm>
            <a:off x="4213324" y="1473200"/>
            <a:ext cx="2630091" cy="337741"/>
          </a:xfrm>
          <a:prstGeom prst="rect">
            <a:avLst/>
          </a:prstGeom>
          <a:noFill/>
          <a:ln>
            <a:noFill/>
          </a:ln>
          <a:effectLst/>
        </p:spPr>
        <p:txBody>
          <a:bodyPr rtlCol="0" anchor="ctr"/>
          <a:lstStyle/>
          <a:p>
            <a:pPr algn="ctr"/>
          </a:p>
        </p:txBody>
      </p:sp>
      <p:sp>
        <p:nvSpPr>
          <p:cNvPr id="15" name="Rectangle 14"/>
          <p:cNvSpPr/>
          <p:nvPr/>
        </p:nvSpPr>
        <p:spPr>
          <a:xfrm>
            <a:off x="4213324" y="1798241"/>
            <a:ext cx="2630091" cy="12700"/>
          </a:xfrm>
          <a:prstGeom prst="rect">
            <a:avLst/>
          </a:prstGeom>
          <a:solidFill>
            <a:srgbClr val="6B4A52"/>
          </a:solidFill>
          <a:ln>
            <a:noFill/>
          </a:ln>
          <a:effectLst/>
        </p:spPr>
        <p:txBody>
          <a:bodyPr rtlCol="0" anchor="ctr"/>
          <a:lstStyle/>
          <a:p>
            <a:pPr algn="ctr"/>
          </a:p>
        </p:txBody>
      </p:sp>
      <p:sp>
        <p:nvSpPr>
          <p:cNvPr id="16" name="Rectangle 15"/>
          <p:cNvSpPr/>
          <p:nvPr/>
        </p:nvSpPr>
        <p:spPr>
          <a:xfrm>
            <a:off x="4213324" y="1798241"/>
            <a:ext cx="12700" cy="50800"/>
          </a:xfrm>
          <a:prstGeom prst="rect">
            <a:avLst/>
          </a:prstGeom>
          <a:solidFill>
            <a:srgbClr val="6B4A52"/>
          </a:solidFill>
          <a:ln>
            <a:noFill/>
          </a:ln>
          <a:effectLst/>
        </p:spPr>
        <p:txBody>
          <a:bodyPr rtlCol="0" anchor="ctr"/>
          <a:lstStyle/>
          <a:p>
            <a:pPr algn="ctr"/>
          </a:p>
        </p:txBody>
      </p:sp>
      <p:sp>
        <p:nvSpPr>
          <p:cNvPr id="17" name="TextBox 16"/>
          <p:cNvSpPr txBox="1"/>
          <p:nvPr/>
        </p:nvSpPr>
        <p:spPr>
          <a:xfrm>
            <a:off x="4213324" y="1492250"/>
            <a:ext cx="2630091"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Oct</a:t>
            </a:r>
          </a:p>
        </p:txBody>
      </p:sp>
      <p:sp>
        <p:nvSpPr>
          <p:cNvPr id="18" name="Rectangle 17"/>
          <p:cNvSpPr/>
          <p:nvPr/>
        </p:nvSpPr>
        <p:spPr>
          <a:xfrm>
            <a:off x="6830718" y="1798241"/>
            <a:ext cx="12700" cy="50800"/>
          </a:xfrm>
          <a:prstGeom prst="rect">
            <a:avLst/>
          </a:prstGeom>
          <a:solidFill>
            <a:srgbClr val="6B4A52"/>
          </a:solidFill>
          <a:ln>
            <a:noFill/>
          </a:ln>
          <a:effectLst/>
        </p:spPr>
        <p:txBody>
          <a:bodyPr rtlCol="0" anchor="ctr"/>
          <a:lstStyle/>
          <a:p>
            <a:pPr algn="ctr"/>
          </a:p>
        </p:txBody>
      </p:sp>
      <p:sp>
        <p:nvSpPr>
          <p:cNvPr id="19" name="Rectangle 18"/>
          <p:cNvSpPr/>
          <p:nvPr/>
        </p:nvSpPr>
        <p:spPr>
          <a:xfrm>
            <a:off x="6894215" y="1473200"/>
            <a:ext cx="2797373" cy="337741"/>
          </a:xfrm>
          <a:prstGeom prst="rect">
            <a:avLst/>
          </a:prstGeom>
          <a:noFill/>
          <a:ln>
            <a:noFill/>
          </a:ln>
          <a:effectLst/>
        </p:spPr>
        <p:txBody>
          <a:bodyPr rtlCol="0" anchor="ctr"/>
          <a:lstStyle/>
          <a:p>
            <a:pPr algn="ctr"/>
          </a:p>
        </p:txBody>
      </p:sp>
      <p:sp>
        <p:nvSpPr>
          <p:cNvPr id="20" name="Rectangle 19"/>
          <p:cNvSpPr/>
          <p:nvPr/>
        </p:nvSpPr>
        <p:spPr>
          <a:xfrm>
            <a:off x="6894215" y="1798241"/>
            <a:ext cx="2797373" cy="12700"/>
          </a:xfrm>
          <a:prstGeom prst="rect">
            <a:avLst/>
          </a:prstGeom>
          <a:solidFill>
            <a:srgbClr val="6B4A52"/>
          </a:solidFill>
          <a:ln>
            <a:noFill/>
          </a:ln>
          <a:effectLst/>
        </p:spPr>
        <p:txBody>
          <a:bodyPr rtlCol="0" anchor="ctr"/>
          <a:lstStyle/>
          <a:p>
            <a:pPr algn="ctr"/>
          </a:p>
        </p:txBody>
      </p:sp>
      <p:sp>
        <p:nvSpPr>
          <p:cNvPr id="21" name="Rectangle 20"/>
          <p:cNvSpPr/>
          <p:nvPr/>
        </p:nvSpPr>
        <p:spPr>
          <a:xfrm>
            <a:off x="6894215" y="1798241"/>
            <a:ext cx="12700" cy="50800"/>
          </a:xfrm>
          <a:prstGeom prst="rect">
            <a:avLst/>
          </a:prstGeom>
          <a:solidFill>
            <a:srgbClr val="6B4A52"/>
          </a:solidFill>
          <a:ln>
            <a:noFill/>
          </a:ln>
          <a:effectLst/>
        </p:spPr>
        <p:txBody>
          <a:bodyPr rtlCol="0" anchor="ctr"/>
          <a:lstStyle/>
          <a:p>
            <a:pPr algn="ctr"/>
          </a:p>
        </p:txBody>
      </p:sp>
      <p:sp>
        <p:nvSpPr>
          <p:cNvPr id="22" name="TextBox 21"/>
          <p:cNvSpPr txBox="1"/>
          <p:nvPr/>
        </p:nvSpPr>
        <p:spPr>
          <a:xfrm>
            <a:off x="6894215" y="1492250"/>
            <a:ext cx="279737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Nov</a:t>
            </a:r>
          </a:p>
        </p:txBody>
      </p:sp>
      <p:sp>
        <p:nvSpPr>
          <p:cNvPr id="23" name="Rectangle 22"/>
          <p:cNvSpPr/>
          <p:nvPr/>
        </p:nvSpPr>
        <p:spPr>
          <a:xfrm>
            <a:off x="9678887" y="1798241"/>
            <a:ext cx="12700" cy="50800"/>
          </a:xfrm>
          <a:prstGeom prst="rect">
            <a:avLst/>
          </a:prstGeom>
          <a:solidFill>
            <a:srgbClr val="6B4A52"/>
          </a:solidFill>
          <a:ln>
            <a:noFill/>
          </a:ln>
          <a:effectLst/>
        </p:spPr>
        <p:txBody>
          <a:bodyPr rtlCol="0" anchor="ctr"/>
          <a:lstStyle/>
          <a:p>
            <a:pPr algn="ctr"/>
          </a:p>
        </p:txBody>
      </p:sp>
      <p:sp>
        <p:nvSpPr>
          <p:cNvPr id="24" name="Rectangle 23"/>
          <p:cNvSpPr/>
          <p:nvPr/>
        </p:nvSpPr>
        <p:spPr>
          <a:xfrm>
            <a:off x="9742388" y="1473200"/>
            <a:ext cx="1636812" cy="337741"/>
          </a:xfrm>
          <a:prstGeom prst="rect">
            <a:avLst/>
          </a:prstGeom>
          <a:noFill/>
          <a:ln>
            <a:noFill/>
          </a:ln>
          <a:effectLst/>
        </p:spPr>
        <p:txBody>
          <a:bodyPr rtlCol="0" anchor="ctr"/>
          <a:lstStyle/>
          <a:p>
            <a:pPr algn="ctr"/>
          </a:p>
        </p:txBody>
      </p:sp>
      <p:sp>
        <p:nvSpPr>
          <p:cNvPr id="25" name="Rectangle 24"/>
          <p:cNvSpPr/>
          <p:nvPr/>
        </p:nvSpPr>
        <p:spPr>
          <a:xfrm>
            <a:off x="9742388" y="1798241"/>
            <a:ext cx="1636812" cy="12700"/>
          </a:xfrm>
          <a:prstGeom prst="rect">
            <a:avLst/>
          </a:prstGeom>
          <a:solidFill>
            <a:srgbClr val="6B4A52"/>
          </a:solidFill>
          <a:ln>
            <a:noFill/>
          </a:ln>
          <a:effectLst/>
        </p:spPr>
        <p:txBody>
          <a:bodyPr rtlCol="0" anchor="ctr"/>
          <a:lstStyle/>
          <a:p>
            <a:pPr algn="ctr"/>
          </a:p>
        </p:txBody>
      </p:sp>
      <p:sp>
        <p:nvSpPr>
          <p:cNvPr id="26" name="Rectangle 25"/>
          <p:cNvSpPr/>
          <p:nvPr/>
        </p:nvSpPr>
        <p:spPr>
          <a:xfrm>
            <a:off x="9742388" y="1798241"/>
            <a:ext cx="12700" cy="50800"/>
          </a:xfrm>
          <a:prstGeom prst="rect">
            <a:avLst/>
          </a:prstGeom>
          <a:solidFill>
            <a:srgbClr val="6B4A52"/>
          </a:solidFill>
          <a:ln>
            <a:noFill/>
          </a:ln>
          <a:effectLst/>
        </p:spPr>
        <p:txBody>
          <a:bodyPr rtlCol="0" anchor="ctr"/>
          <a:lstStyle/>
          <a:p>
            <a:pPr algn="ctr"/>
          </a:p>
        </p:txBody>
      </p:sp>
      <p:sp>
        <p:nvSpPr>
          <p:cNvPr id="27" name="TextBox 26"/>
          <p:cNvSpPr txBox="1"/>
          <p:nvPr/>
        </p:nvSpPr>
        <p:spPr>
          <a:xfrm>
            <a:off x="9742388" y="1492250"/>
            <a:ext cx="1636812"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Dec</a:t>
            </a:r>
          </a:p>
        </p:txBody>
      </p:sp>
      <p:sp>
        <p:nvSpPr>
          <p:cNvPr id="28" name="Rectangle 27"/>
          <p:cNvSpPr/>
          <p:nvPr/>
        </p:nvSpPr>
        <p:spPr>
          <a:xfrm>
            <a:off x="11366502" y="1798241"/>
            <a:ext cx="12700" cy="50800"/>
          </a:xfrm>
          <a:prstGeom prst="rect">
            <a:avLst/>
          </a:prstGeom>
          <a:solidFill>
            <a:srgbClr val="6B4A52"/>
          </a:solidFill>
          <a:ln>
            <a:noFill/>
          </a:ln>
          <a:effectLst/>
        </p:spPr>
        <p:txBody>
          <a:bodyPr rtlCol="0" anchor="ctr"/>
          <a:lstStyle/>
          <a:p>
            <a:pPr algn="ctr"/>
          </a:p>
        </p:txBody>
      </p:sp>
      <p:sp>
        <p:nvSpPr>
          <p:cNvPr id="29" name="Rounded Rectangle 28"/>
          <p:cNvSpPr/>
          <p:nvPr/>
        </p:nvSpPr>
        <p:spPr>
          <a:xfrm>
            <a:off x="812800" y="1912541"/>
            <a:ext cx="555823" cy="502841"/>
          </a:xfrm>
          <a:prstGeom prst="roundRect">
            <a:avLst>
              <a:gd name="adj" fmla="val 5051"/>
            </a:avLst>
          </a:prstGeom>
          <a:solidFill>
            <a:srgbClr val="E9E3E4"/>
          </a:solidFill>
          <a:ln>
            <a:noFill/>
          </a:ln>
          <a:effectLst/>
        </p:spPr>
        <p:txBody>
          <a:bodyPr rtlCol="0" anchor="ctr"/>
          <a:lstStyle/>
          <a:p>
            <a:pPr algn="ctr"/>
          </a:p>
        </p:txBody>
      </p:sp>
      <p:sp>
        <p:nvSpPr>
          <p:cNvPr id="30" name="TextBox 29"/>
          <p:cNvSpPr txBox="1"/>
          <p:nvPr/>
        </p:nvSpPr>
        <p:spPr>
          <a:xfrm>
            <a:off x="812800" y="2020491"/>
            <a:ext cx="5558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a:t>
            </a:r>
          </a:p>
        </p:txBody>
      </p:sp>
      <p:sp>
        <p:nvSpPr>
          <p:cNvPr id="31" name="Rounded Rectangle 30"/>
          <p:cNvSpPr/>
          <p:nvPr/>
        </p:nvSpPr>
        <p:spPr>
          <a:xfrm>
            <a:off x="1419423"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32" name="TextBox 31"/>
          <p:cNvSpPr txBox="1"/>
          <p:nvPr/>
        </p:nvSpPr>
        <p:spPr>
          <a:xfrm>
            <a:off x="1419423"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2</a:t>
            </a:r>
          </a:p>
        </p:txBody>
      </p:sp>
      <p:sp>
        <p:nvSpPr>
          <p:cNvPr id="33" name="Rounded Rectangle 32"/>
          <p:cNvSpPr/>
          <p:nvPr/>
        </p:nvSpPr>
        <p:spPr>
          <a:xfrm>
            <a:off x="2026146" y="1912541"/>
            <a:ext cx="555823" cy="502841"/>
          </a:xfrm>
          <a:prstGeom prst="roundRect">
            <a:avLst>
              <a:gd name="adj" fmla="val 5051"/>
            </a:avLst>
          </a:prstGeom>
          <a:solidFill>
            <a:srgbClr val="E9E3E4"/>
          </a:solidFill>
          <a:ln>
            <a:noFill/>
          </a:ln>
          <a:effectLst/>
        </p:spPr>
        <p:txBody>
          <a:bodyPr rtlCol="0" anchor="ctr"/>
          <a:lstStyle/>
          <a:p>
            <a:pPr algn="ctr"/>
          </a:p>
        </p:txBody>
      </p:sp>
      <p:sp>
        <p:nvSpPr>
          <p:cNvPr id="34" name="TextBox 33"/>
          <p:cNvSpPr txBox="1"/>
          <p:nvPr/>
        </p:nvSpPr>
        <p:spPr>
          <a:xfrm>
            <a:off x="2026146" y="2020491"/>
            <a:ext cx="5558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3</a:t>
            </a:r>
          </a:p>
        </p:txBody>
      </p:sp>
      <p:sp>
        <p:nvSpPr>
          <p:cNvPr id="35" name="Rounded Rectangle 34"/>
          <p:cNvSpPr/>
          <p:nvPr/>
        </p:nvSpPr>
        <p:spPr>
          <a:xfrm>
            <a:off x="2632770"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36" name="TextBox 35"/>
          <p:cNvSpPr txBox="1"/>
          <p:nvPr/>
        </p:nvSpPr>
        <p:spPr>
          <a:xfrm>
            <a:off x="2632770"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4</a:t>
            </a:r>
          </a:p>
        </p:txBody>
      </p:sp>
      <p:sp>
        <p:nvSpPr>
          <p:cNvPr id="37" name="Rounded Rectangle 36"/>
          <p:cNvSpPr/>
          <p:nvPr/>
        </p:nvSpPr>
        <p:spPr>
          <a:xfrm>
            <a:off x="3239492" y="1912541"/>
            <a:ext cx="555823" cy="502841"/>
          </a:xfrm>
          <a:prstGeom prst="roundRect">
            <a:avLst>
              <a:gd name="adj" fmla="val 5051"/>
            </a:avLst>
          </a:prstGeom>
          <a:solidFill>
            <a:srgbClr val="E9E3E4"/>
          </a:solidFill>
          <a:ln>
            <a:noFill/>
          </a:ln>
          <a:effectLst/>
        </p:spPr>
        <p:txBody>
          <a:bodyPr rtlCol="0" anchor="ctr"/>
          <a:lstStyle/>
          <a:p>
            <a:pPr algn="ctr"/>
          </a:p>
        </p:txBody>
      </p:sp>
      <p:sp>
        <p:nvSpPr>
          <p:cNvPr id="38" name="TextBox 37"/>
          <p:cNvSpPr txBox="1"/>
          <p:nvPr/>
        </p:nvSpPr>
        <p:spPr>
          <a:xfrm>
            <a:off x="3239492" y="2020491"/>
            <a:ext cx="5558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5</a:t>
            </a:r>
          </a:p>
        </p:txBody>
      </p:sp>
      <p:sp>
        <p:nvSpPr>
          <p:cNvPr id="39" name="Rounded Rectangle 38"/>
          <p:cNvSpPr/>
          <p:nvPr/>
        </p:nvSpPr>
        <p:spPr>
          <a:xfrm>
            <a:off x="3492004"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40" name="Rounded Rectangle 39"/>
          <p:cNvSpPr/>
          <p:nvPr/>
        </p:nvSpPr>
        <p:spPr>
          <a:xfrm>
            <a:off x="3846116"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41" name="TextBox 40"/>
          <p:cNvSpPr txBox="1"/>
          <p:nvPr/>
        </p:nvSpPr>
        <p:spPr>
          <a:xfrm>
            <a:off x="3846116"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6</a:t>
            </a:r>
          </a:p>
        </p:txBody>
      </p:sp>
      <p:sp>
        <p:nvSpPr>
          <p:cNvPr id="42" name="Rounded Rectangle 41"/>
          <p:cNvSpPr/>
          <p:nvPr/>
        </p:nvSpPr>
        <p:spPr>
          <a:xfrm>
            <a:off x="4098627"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43" name="Rounded Rectangle 42"/>
          <p:cNvSpPr/>
          <p:nvPr/>
        </p:nvSpPr>
        <p:spPr>
          <a:xfrm>
            <a:off x="4452838" y="1912541"/>
            <a:ext cx="555823" cy="502841"/>
          </a:xfrm>
          <a:prstGeom prst="roundRect">
            <a:avLst>
              <a:gd name="adj" fmla="val 5051"/>
            </a:avLst>
          </a:prstGeom>
          <a:solidFill>
            <a:srgbClr val="E9E3E4"/>
          </a:solidFill>
          <a:ln>
            <a:noFill/>
          </a:ln>
          <a:effectLst/>
        </p:spPr>
        <p:txBody>
          <a:bodyPr rtlCol="0" anchor="ctr"/>
          <a:lstStyle/>
          <a:p>
            <a:pPr algn="ctr"/>
          </a:p>
        </p:txBody>
      </p:sp>
      <p:sp>
        <p:nvSpPr>
          <p:cNvPr id="44" name="TextBox 43"/>
          <p:cNvSpPr txBox="1"/>
          <p:nvPr/>
        </p:nvSpPr>
        <p:spPr>
          <a:xfrm>
            <a:off x="4452838" y="2020491"/>
            <a:ext cx="5558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7</a:t>
            </a:r>
          </a:p>
        </p:txBody>
      </p:sp>
      <p:sp>
        <p:nvSpPr>
          <p:cNvPr id="45" name="Rounded Rectangle 44"/>
          <p:cNvSpPr/>
          <p:nvPr/>
        </p:nvSpPr>
        <p:spPr>
          <a:xfrm>
            <a:off x="5059462"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46" name="TextBox 45"/>
          <p:cNvSpPr txBox="1"/>
          <p:nvPr/>
        </p:nvSpPr>
        <p:spPr>
          <a:xfrm>
            <a:off x="5059462"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8</a:t>
            </a:r>
          </a:p>
        </p:txBody>
      </p:sp>
      <p:sp>
        <p:nvSpPr>
          <p:cNvPr id="47" name="Rounded Rectangle 46"/>
          <p:cNvSpPr/>
          <p:nvPr/>
        </p:nvSpPr>
        <p:spPr>
          <a:xfrm>
            <a:off x="5666184"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48" name="TextBox 47"/>
          <p:cNvSpPr txBox="1"/>
          <p:nvPr/>
        </p:nvSpPr>
        <p:spPr>
          <a:xfrm>
            <a:off x="5666184"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9</a:t>
            </a:r>
          </a:p>
        </p:txBody>
      </p:sp>
      <p:sp>
        <p:nvSpPr>
          <p:cNvPr id="49" name="Rounded Rectangle 48"/>
          <p:cNvSpPr/>
          <p:nvPr/>
        </p:nvSpPr>
        <p:spPr>
          <a:xfrm>
            <a:off x="6272907"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50" name="TextBox 49"/>
          <p:cNvSpPr txBox="1"/>
          <p:nvPr/>
        </p:nvSpPr>
        <p:spPr>
          <a:xfrm>
            <a:off x="6272907"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10</a:t>
            </a:r>
          </a:p>
        </p:txBody>
      </p:sp>
      <p:sp>
        <p:nvSpPr>
          <p:cNvPr id="51" name="Rounded Rectangle 50"/>
          <p:cNvSpPr/>
          <p:nvPr/>
        </p:nvSpPr>
        <p:spPr>
          <a:xfrm>
            <a:off x="6525419"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52" name="Rounded Rectangle 51"/>
          <p:cNvSpPr/>
          <p:nvPr/>
        </p:nvSpPr>
        <p:spPr>
          <a:xfrm>
            <a:off x="6879630"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53" name="TextBox 52"/>
          <p:cNvSpPr txBox="1"/>
          <p:nvPr/>
        </p:nvSpPr>
        <p:spPr>
          <a:xfrm>
            <a:off x="6879630"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11</a:t>
            </a:r>
          </a:p>
        </p:txBody>
      </p:sp>
      <p:sp>
        <p:nvSpPr>
          <p:cNvPr id="54" name="Rounded Rectangle 53"/>
          <p:cNvSpPr/>
          <p:nvPr/>
        </p:nvSpPr>
        <p:spPr>
          <a:xfrm>
            <a:off x="7132141"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55" name="Rounded Rectangle 54"/>
          <p:cNvSpPr/>
          <p:nvPr/>
        </p:nvSpPr>
        <p:spPr>
          <a:xfrm>
            <a:off x="7486352"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56" name="TextBox 55"/>
          <p:cNvSpPr txBox="1"/>
          <p:nvPr/>
        </p:nvSpPr>
        <p:spPr>
          <a:xfrm>
            <a:off x="7486352"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12</a:t>
            </a:r>
          </a:p>
        </p:txBody>
      </p:sp>
      <p:sp>
        <p:nvSpPr>
          <p:cNvPr id="57" name="Rounded Rectangle 56"/>
          <p:cNvSpPr/>
          <p:nvPr/>
        </p:nvSpPr>
        <p:spPr>
          <a:xfrm>
            <a:off x="8093075"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58" name="TextBox 57"/>
          <p:cNvSpPr txBox="1"/>
          <p:nvPr/>
        </p:nvSpPr>
        <p:spPr>
          <a:xfrm>
            <a:off x="8093075"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13</a:t>
            </a:r>
          </a:p>
        </p:txBody>
      </p:sp>
      <p:sp>
        <p:nvSpPr>
          <p:cNvPr id="59" name="Rounded Rectangle 58"/>
          <p:cNvSpPr/>
          <p:nvPr/>
        </p:nvSpPr>
        <p:spPr>
          <a:xfrm>
            <a:off x="8699798" y="1912541"/>
            <a:ext cx="859234" cy="502841"/>
          </a:xfrm>
          <a:prstGeom prst="roundRect">
            <a:avLst>
              <a:gd name="adj" fmla="val 5051"/>
            </a:avLst>
          </a:prstGeom>
          <a:noFill/>
          <a:ln w="12700">
            <a:solidFill>
              <a:srgbClr val="6B4A52"/>
            </a:solidFill>
            <a:prstDash val="dash"/>
          </a:ln>
          <a:effectLst/>
        </p:spPr>
        <p:txBody>
          <a:bodyPr rtlCol="0" anchor="ctr"/>
          <a:lstStyle/>
          <a:p>
            <a:pPr algn="ctr"/>
          </a:p>
        </p:txBody>
      </p:sp>
      <p:sp>
        <p:nvSpPr>
          <p:cNvPr id="60" name="TextBox 59"/>
          <p:cNvSpPr txBox="1"/>
          <p:nvPr/>
        </p:nvSpPr>
        <p:spPr>
          <a:xfrm>
            <a:off x="8712498" y="2033191"/>
            <a:ext cx="833834"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Break</a:t>
            </a:r>
          </a:p>
        </p:txBody>
      </p:sp>
      <p:sp>
        <p:nvSpPr>
          <p:cNvPr id="61" name="Rounded Rectangle 60"/>
          <p:cNvSpPr/>
          <p:nvPr/>
        </p:nvSpPr>
        <p:spPr>
          <a:xfrm>
            <a:off x="9609832"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62" name="TextBox 61"/>
          <p:cNvSpPr txBox="1"/>
          <p:nvPr/>
        </p:nvSpPr>
        <p:spPr>
          <a:xfrm>
            <a:off x="9609832"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14</a:t>
            </a:r>
          </a:p>
        </p:txBody>
      </p:sp>
      <p:sp>
        <p:nvSpPr>
          <p:cNvPr id="63" name="Rounded Rectangle 62"/>
          <p:cNvSpPr/>
          <p:nvPr/>
        </p:nvSpPr>
        <p:spPr>
          <a:xfrm>
            <a:off x="10216555"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64" name="TextBox 63"/>
          <p:cNvSpPr txBox="1"/>
          <p:nvPr/>
        </p:nvSpPr>
        <p:spPr>
          <a:xfrm>
            <a:off x="10216555"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15</a:t>
            </a:r>
          </a:p>
        </p:txBody>
      </p:sp>
      <p:sp>
        <p:nvSpPr>
          <p:cNvPr id="65" name="Rounded Rectangle 64"/>
          <p:cNvSpPr/>
          <p:nvPr/>
        </p:nvSpPr>
        <p:spPr>
          <a:xfrm>
            <a:off x="10823277"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66" name="TextBox 65"/>
          <p:cNvSpPr txBox="1"/>
          <p:nvPr/>
        </p:nvSpPr>
        <p:spPr>
          <a:xfrm>
            <a:off x="10823277"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16</a:t>
            </a:r>
          </a:p>
        </p:txBody>
      </p:sp>
      <p:sp>
        <p:nvSpPr>
          <p:cNvPr id="67" name="Rounded Rectangle 66"/>
          <p:cNvSpPr/>
          <p:nvPr/>
        </p:nvSpPr>
        <p:spPr>
          <a:xfrm>
            <a:off x="11075789"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68" name="Rounded Rectangle 67"/>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69" name="TextBox 68"/>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9 / 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The semester at a glance</a:t>
            </a:r>
          </a:p>
        </p:txBody>
      </p:sp>
      <p:sp>
        <p:nvSpPr>
          <p:cNvPr id="4" name="Rectangle 3"/>
          <p:cNvSpPr/>
          <p:nvPr/>
        </p:nvSpPr>
        <p:spPr>
          <a:xfrm>
            <a:off x="812800" y="1473200"/>
            <a:ext cx="694234" cy="337741"/>
          </a:xfrm>
          <a:prstGeom prst="rect">
            <a:avLst/>
          </a:prstGeom>
          <a:noFill/>
          <a:ln>
            <a:noFill/>
          </a:ln>
          <a:effectLst/>
        </p:spPr>
        <p:txBody>
          <a:bodyPr rtlCol="0" anchor="ctr"/>
          <a:lstStyle/>
          <a:p>
            <a:pPr algn="ctr"/>
          </a:p>
        </p:txBody>
      </p:sp>
      <p:sp>
        <p:nvSpPr>
          <p:cNvPr id="5" name="Rectangle 4"/>
          <p:cNvSpPr/>
          <p:nvPr/>
        </p:nvSpPr>
        <p:spPr>
          <a:xfrm>
            <a:off x="812800" y="1798241"/>
            <a:ext cx="694234" cy="12700"/>
          </a:xfrm>
          <a:prstGeom prst="rect">
            <a:avLst/>
          </a:prstGeom>
          <a:solidFill>
            <a:srgbClr val="6B4A52"/>
          </a:solidFill>
          <a:ln>
            <a:noFill/>
          </a:ln>
          <a:effectLst/>
        </p:spPr>
        <p:txBody>
          <a:bodyPr rtlCol="0" anchor="ctr"/>
          <a:lstStyle/>
          <a:p>
            <a:pPr algn="ctr"/>
          </a:p>
        </p:txBody>
      </p:sp>
      <p:sp>
        <p:nvSpPr>
          <p:cNvPr id="6" name="Rectangle 5"/>
          <p:cNvSpPr/>
          <p:nvPr/>
        </p:nvSpPr>
        <p:spPr>
          <a:xfrm>
            <a:off x="812800" y="1798241"/>
            <a:ext cx="12700" cy="50800"/>
          </a:xfrm>
          <a:prstGeom prst="rect">
            <a:avLst/>
          </a:prstGeom>
          <a:solidFill>
            <a:srgbClr val="6B4A52"/>
          </a:solidFill>
          <a:ln>
            <a:noFill/>
          </a:ln>
          <a:effectLst/>
        </p:spPr>
        <p:txBody>
          <a:bodyPr rtlCol="0" anchor="ctr"/>
          <a:lstStyle/>
          <a:p>
            <a:pPr algn="ctr"/>
          </a:p>
        </p:txBody>
      </p:sp>
      <p:sp>
        <p:nvSpPr>
          <p:cNvPr id="7" name="TextBox 6"/>
          <p:cNvSpPr txBox="1"/>
          <p:nvPr/>
        </p:nvSpPr>
        <p:spPr>
          <a:xfrm>
            <a:off x="812800" y="1492250"/>
            <a:ext cx="694234"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Aug</a:t>
            </a:r>
          </a:p>
        </p:txBody>
      </p:sp>
      <p:sp>
        <p:nvSpPr>
          <p:cNvPr id="8" name="Rectangle 7"/>
          <p:cNvSpPr/>
          <p:nvPr/>
        </p:nvSpPr>
        <p:spPr>
          <a:xfrm>
            <a:off x="1494333" y="1798241"/>
            <a:ext cx="12700" cy="50800"/>
          </a:xfrm>
          <a:prstGeom prst="rect">
            <a:avLst/>
          </a:prstGeom>
          <a:solidFill>
            <a:srgbClr val="6B4A52"/>
          </a:solidFill>
          <a:ln>
            <a:noFill/>
          </a:ln>
          <a:effectLst/>
        </p:spPr>
        <p:txBody>
          <a:bodyPr rtlCol="0" anchor="ctr"/>
          <a:lstStyle/>
          <a:p>
            <a:pPr algn="ctr"/>
          </a:p>
        </p:txBody>
      </p:sp>
      <p:sp>
        <p:nvSpPr>
          <p:cNvPr id="9" name="Rectangle 8"/>
          <p:cNvSpPr/>
          <p:nvPr/>
        </p:nvSpPr>
        <p:spPr>
          <a:xfrm>
            <a:off x="1557834" y="1473200"/>
            <a:ext cx="2604691" cy="337741"/>
          </a:xfrm>
          <a:prstGeom prst="rect">
            <a:avLst/>
          </a:prstGeom>
          <a:noFill/>
          <a:ln>
            <a:noFill/>
          </a:ln>
          <a:effectLst/>
        </p:spPr>
        <p:txBody>
          <a:bodyPr rtlCol="0" anchor="ctr"/>
          <a:lstStyle/>
          <a:p>
            <a:pPr algn="ctr"/>
          </a:p>
        </p:txBody>
      </p:sp>
      <p:sp>
        <p:nvSpPr>
          <p:cNvPr id="10" name="Rectangle 9"/>
          <p:cNvSpPr/>
          <p:nvPr/>
        </p:nvSpPr>
        <p:spPr>
          <a:xfrm>
            <a:off x="1557834" y="1798241"/>
            <a:ext cx="2604691" cy="12700"/>
          </a:xfrm>
          <a:prstGeom prst="rect">
            <a:avLst/>
          </a:prstGeom>
          <a:solidFill>
            <a:srgbClr val="6B4A52"/>
          </a:solidFill>
          <a:ln>
            <a:noFill/>
          </a:ln>
          <a:effectLst/>
        </p:spPr>
        <p:txBody>
          <a:bodyPr rtlCol="0" anchor="ctr"/>
          <a:lstStyle/>
          <a:p>
            <a:pPr algn="ctr"/>
          </a:p>
        </p:txBody>
      </p:sp>
      <p:sp>
        <p:nvSpPr>
          <p:cNvPr id="11" name="Rectangle 10"/>
          <p:cNvSpPr/>
          <p:nvPr/>
        </p:nvSpPr>
        <p:spPr>
          <a:xfrm>
            <a:off x="1557834" y="1798241"/>
            <a:ext cx="12700" cy="50800"/>
          </a:xfrm>
          <a:prstGeom prst="rect">
            <a:avLst/>
          </a:prstGeom>
          <a:solidFill>
            <a:srgbClr val="6B4A52"/>
          </a:solidFill>
          <a:ln>
            <a:noFill/>
          </a:ln>
          <a:effectLst/>
        </p:spPr>
        <p:txBody>
          <a:bodyPr rtlCol="0" anchor="ctr"/>
          <a:lstStyle/>
          <a:p>
            <a:pPr algn="ctr"/>
          </a:p>
        </p:txBody>
      </p:sp>
      <p:sp>
        <p:nvSpPr>
          <p:cNvPr id="12" name="TextBox 11"/>
          <p:cNvSpPr txBox="1"/>
          <p:nvPr/>
        </p:nvSpPr>
        <p:spPr>
          <a:xfrm>
            <a:off x="1557834" y="1492250"/>
            <a:ext cx="2604691"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Sep</a:t>
            </a:r>
          </a:p>
        </p:txBody>
      </p:sp>
      <p:sp>
        <p:nvSpPr>
          <p:cNvPr id="13" name="Rectangle 12"/>
          <p:cNvSpPr/>
          <p:nvPr/>
        </p:nvSpPr>
        <p:spPr>
          <a:xfrm>
            <a:off x="4149827" y="1798241"/>
            <a:ext cx="12700" cy="50800"/>
          </a:xfrm>
          <a:prstGeom prst="rect">
            <a:avLst/>
          </a:prstGeom>
          <a:solidFill>
            <a:srgbClr val="6B4A52"/>
          </a:solidFill>
          <a:ln>
            <a:noFill/>
          </a:ln>
          <a:effectLst/>
        </p:spPr>
        <p:txBody>
          <a:bodyPr rtlCol="0" anchor="ctr"/>
          <a:lstStyle/>
          <a:p>
            <a:pPr algn="ctr"/>
          </a:p>
        </p:txBody>
      </p:sp>
      <p:sp>
        <p:nvSpPr>
          <p:cNvPr id="14" name="Rectangle 13"/>
          <p:cNvSpPr/>
          <p:nvPr/>
        </p:nvSpPr>
        <p:spPr>
          <a:xfrm>
            <a:off x="4213324" y="1473200"/>
            <a:ext cx="2630091" cy="337741"/>
          </a:xfrm>
          <a:prstGeom prst="rect">
            <a:avLst/>
          </a:prstGeom>
          <a:noFill/>
          <a:ln>
            <a:noFill/>
          </a:ln>
          <a:effectLst/>
        </p:spPr>
        <p:txBody>
          <a:bodyPr rtlCol="0" anchor="ctr"/>
          <a:lstStyle/>
          <a:p>
            <a:pPr algn="ctr"/>
          </a:p>
        </p:txBody>
      </p:sp>
      <p:sp>
        <p:nvSpPr>
          <p:cNvPr id="15" name="Rectangle 14"/>
          <p:cNvSpPr/>
          <p:nvPr/>
        </p:nvSpPr>
        <p:spPr>
          <a:xfrm>
            <a:off x="4213324" y="1798241"/>
            <a:ext cx="2630091" cy="12700"/>
          </a:xfrm>
          <a:prstGeom prst="rect">
            <a:avLst/>
          </a:prstGeom>
          <a:solidFill>
            <a:srgbClr val="6B4A52"/>
          </a:solidFill>
          <a:ln>
            <a:noFill/>
          </a:ln>
          <a:effectLst/>
        </p:spPr>
        <p:txBody>
          <a:bodyPr rtlCol="0" anchor="ctr"/>
          <a:lstStyle/>
          <a:p>
            <a:pPr algn="ctr"/>
          </a:p>
        </p:txBody>
      </p:sp>
      <p:sp>
        <p:nvSpPr>
          <p:cNvPr id="16" name="Rectangle 15"/>
          <p:cNvSpPr/>
          <p:nvPr/>
        </p:nvSpPr>
        <p:spPr>
          <a:xfrm>
            <a:off x="4213324" y="1798241"/>
            <a:ext cx="12700" cy="50800"/>
          </a:xfrm>
          <a:prstGeom prst="rect">
            <a:avLst/>
          </a:prstGeom>
          <a:solidFill>
            <a:srgbClr val="6B4A52"/>
          </a:solidFill>
          <a:ln>
            <a:noFill/>
          </a:ln>
          <a:effectLst/>
        </p:spPr>
        <p:txBody>
          <a:bodyPr rtlCol="0" anchor="ctr"/>
          <a:lstStyle/>
          <a:p>
            <a:pPr algn="ctr"/>
          </a:p>
        </p:txBody>
      </p:sp>
      <p:sp>
        <p:nvSpPr>
          <p:cNvPr id="17" name="TextBox 16"/>
          <p:cNvSpPr txBox="1"/>
          <p:nvPr/>
        </p:nvSpPr>
        <p:spPr>
          <a:xfrm>
            <a:off x="4213324" y="1492250"/>
            <a:ext cx="2630091"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Oct</a:t>
            </a:r>
          </a:p>
        </p:txBody>
      </p:sp>
      <p:sp>
        <p:nvSpPr>
          <p:cNvPr id="18" name="Rectangle 17"/>
          <p:cNvSpPr/>
          <p:nvPr/>
        </p:nvSpPr>
        <p:spPr>
          <a:xfrm>
            <a:off x="6830718" y="1798241"/>
            <a:ext cx="12700" cy="50800"/>
          </a:xfrm>
          <a:prstGeom prst="rect">
            <a:avLst/>
          </a:prstGeom>
          <a:solidFill>
            <a:srgbClr val="6B4A52"/>
          </a:solidFill>
          <a:ln>
            <a:noFill/>
          </a:ln>
          <a:effectLst/>
        </p:spPr>
        <p:txBody>
          <a:bodyPr rtlCol="0" anchor="ctr"/>
          <a:lstStyle/>
          <a:p>
            <a:pPr algn="ctr"/>
          </a:p>
        </p:txBody>
      </p:sp>
      <p:sp>
        <p:nvSpPr>
          <p:cNvPr id="19" name="Rectangle 18"/>
          <p:cNvSpPr/>
          <p:nvPr/>
        </p:nvSpPr>
        <p:spPr>
          <a:xfrm>
            <a:off x="6894215" y="1473200"/>
            <a:ext cx="2797373" cy="337741"/>
          </a:xfrm>
          <a:prstGeom prst="rect">
            <a:avLst/>
          </a:prstGeom>
          <a:noFill/>
          <a:ln>
            <a:noFill/>
          </a:ln>
          <a:effectLst/>
        </p:spPr>
        <p:txBody>
          <a:bodyPr rtlCol="0" anchor="ctr"/>
          <a:lstStyle/>
          <a:p>
            <a:pPr algn="ctr"/>
          </a:p>
        </p:txBody>
      </p:sp>
      <p:sp>
        <p:nvSpPr>
          <p:cNvPr id="20" name="Rectangle 19"/>
          <p:cNvSpPr/>
          <p:nvPr/>
        </p:nvSpPr>
        <p:spPr>
          <a:xfrm>
            <a:off x="6894215" y="1798241"/>
            <a:ext cx="2797373" cy="12700"/>
          </a:xfrm>
          <a:prstGeom prst="rect">
            <a:avLst/>
          </a:prstGeom>
          <a:solidFill>
            <a:srgbClr val="6B4A52"/>
          </a:solidFill>
          <a:ln>
            <a:noFill/>
          </a:ln>
          <a:effectLst/>
        </p:spPr>
        <p:txBody>
          <a:bodyPr rtlCol="0" anchor="ctr"/>
          <a:lstStyle/>
          <a:p>
            <a:pPr algn="ctr"/>
          </a:p>
        </p:txBody>
      </p:sp>
      <p:sp>
        <p:nvSpPr>
          <p:cNvPr id="21" name="Rectangle 20"/>
          <p:cNvSpPr/>
          <p:nvPr/>
        </p:nvSpPr>
        <p:spPr>
          <a:xfrm>
            <a:off x="6894215" y="1798241"/>
            <a:ext cx="12700" cy="50800"/>
          </a:xfrm>
          <a:prstGeom prst="rect">
            <a:avLst/>
          </a:prstGeom>
          <a:solidFill>
            <a:srgbClr val="6B4A52"/>
          </a:solidFill>
          <a:ln>
            <a:noFill/>
          </a:ln>
          <a:effectLst/>
        </p:spPr>
        <p:txBody>
          <a:bodyPr rtlCol="0" anchor="ctr"/>
          <a:lstStyle/>
          <a:p>
            <a:pPr algn="ctr"/>
          </a:p>
        </p:txBody>
      </p:sp>
      <p:sp>
        <p:nvSpPr>
          <p:cNvPr id="22" name="TextBox 21"/>
          <p:cNvSpPr txBox="1"/>
          <p:nvPr/>
        </p:nvSpPr>
        <p:spPr>
          <a:xfrm>
            <a:off x="6894215" y="1492250"/>
            <a:ext cx="279737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Nov</a:t>
            </a:r>
          </a:p>
        </p:txBody>
      </p:sp>
      <p:sp>
        <p:nvSpPr>
          <p:cNvPr id="23" name="Rectangle 22"/>
          <p:cNvSpPr/>
          <p:nvPr/>
        </p:nvSpPr>
        <p:spPr>
          <a:xfrm>
            <a:off x="9678887" y="1798241"/>
            <a:ext cx="12700" cy="50800"/>
          </a:xfrm>
          <a:prstGeom prst="rect">
            <a:avLst/>
          </a:prstGeom>
          <a:solidFill>
            <a:srgbClr val="6B4A52"/>
          </a:solidFill>
          <a:ln>
            <a:noFill/>
          </a:ln>
          <a:effectLst/>
        </p:spPr>
        <p:txBody>
          <a:bodyPr rtlCol="0" anchor="ctr"/>
          <a:lstStyle/>
          <a:p>
            <a:pPr algn="ctr"/>
          </a:p>
        </p:txBody>
      </p:sp>
      <p:sp>
        <p:nvSpPr>
          <p:cNvPr id="24" name="Rectangle 23"/>
          <p:cNvSpPr/>
          <p:nvPr/>
        </p:nvSpPr>
        <p:spPr>
          <a:xfrm>
            <a:off x="9742388" y="1473200"/>
            <a:ext cx="1636812" cy="337741"/>
          </a:xfrm>
          <a:prstGeom prst="rect">
            <a:avLst/>
          </a:prstGeom>
          <a:noFill/>
          <a:ln>
            <a:noFill/>
          </a:ln>
          <a:effectLst/>
        </p:spPr>
        <p:txBody>
          <a:bodyPr rtlCol="0" anchor="ctr"/>
          <a:lstStyle/>
          <a:p>
            <a:pPr algn="ctr"/>
          </a:p>
        </p:txBody>
      </p:sp>
      <p:sp>
        <p:nvSpPr>
          <p:cNvPr id="25" name="Rectangle 24"/>
          <p:cNvSpPr/>
          <p:nvPr/>
        </p:nvSpPr>
        <p:spPr>
          <a:xfrm>
            <a:off x="9742388" y="1798241"/>
            <a:ext cx="1636812" cy="12700"/>
          </a:xfrm>
          <a:prstGeom prst="rect">
            <a:avLst/>
          </a:prstGeom>
          <a:solidFill>
            <a:srgbClr val="6B4A52"/>
          </a:solidFill>
          <a:ln>
            <a:noFill/>
          </a:ln>
          <a:effectLst/>
        </p:spPr>
        <p:txBody>
          <a:bodyPr rtlCol="0" anchor="ctr"/>
          <a:lstStyle/>
          <a:p>
            <a:pPr algn="ctr"/>
          </a:p>
        </p:txBody>
      </p:sp>
      <p:sp>
        <p:nvSpPr>
          <p:cNvPr id="26" name="Rectangle 25"/>
          <p:cNvSpPr/>
          <p:nvPr/>
        </p:nvSpPr>
        <p:spPr>
          <a:xfrm>
            <a:off x="9742388" y="1798241"/>
            <a:ext cx="12700" cy="50800"/>
          </a:xfrm>
          <a:prstGeom prst="rect">
            <a:avLst/>
          </a:prstGeom>
          <a:solidFill>
            <a:srgbClr val="6B4A52"/>
          </a:solidFill>
          <a:ln>
            <a:noFill/>
          </a:ln>
          <a:effectLst/>
        </p:spPr>
        <p:txBody>
          <a:bodyPr rtlCol="0" anchor="ctr"/>
          <a:lstStyle/>
          <a:p>
            <a:pPr algn="ctr"/>
          </a:p>
        </p:txBody>
      </p:sp>
      <p:sp>
        <p:nvSpPr>
          <p:cNvPr id="27" name="TextBox 26"/>
          <p:cNvSpPr txBox="1"/>
          <p:nvPr/>
        </p:nvSpPr>
        <p:spPr>
          <a:xfrm>
            <a:off x="9742388" y="1492250"/>
            <a:ext cx="1636812"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Dec</a:t>
            </a:r>
          </a:p>
        </p:txBody>
      </p:sp>
      <p:sp>
        <p:nvSpPr>
          <p:cNvPr id="28" name="Rectangle 27"/>
          <p:cNvSpPr/>
          <p:nvPr/>
        </p:nvSpPr>
        <p:spPr>
          <a:xfrm>
            <a:off x="11366502" y="1798241"/>
            <a:ext cx="12700" cy="50800"/>
          </a:xfrm>
          <a:prstGeom prst="rect">
            <a:avLst/>
          </a:prstGeom>
          <a:solidFill>
            <a:srgbClr val="6B4A52"/>
          </a:solidFill>
          <a:ln>
            <a:noFill/>
          </a:ln>
          <a:effectLst/>
        </p:spPr>
        <p:txBody>
          <a:bodyPr rtlCol="0" anchor="ctr"/>
          <a:lstStyle/>
          <a:p>
            <a:pPr algn="ctr"/>
          </a:p>
        </p:txBody>
      </p:sp>
      <p:sp>
        <p:nvSpPr>
          <p:cNvPr id="29" name="Rounded Rectangle 28"/>
          <p:cNvSpPr/>
          <p:nvPr/>
        </p:nvSpPr>
        <p:spPr>
          <a:xfrm>
            <a:off x="812800"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30" name="TextBox 29"/>
          <p:cNvSpPr txBox="1"/>
          <p:nvPr/>
        </p:nvSpPr>
        <p:spPr>
          <a:xfrm>
            <a:off x="812800"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a:t>
            </a:r>
          </a:p>
        </p:txBody>
      </p:sp>
      <p:sp>
        <p:nvSpPr>
          <p:cNvPr id="31" name="Rounded Rectangle 30"/>
          <p:cNvSpPr/>
          <p:nvPr/>
        </p:nvSpPr>
        <p:spPr>
          <a:xfrm>
            <a:off x="1419423"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32" name="TextBox 31"/>
          <p:cNvSpPr txBox="1"/>
          <p:nvPr/>
        </p:nvSpPr>
        <p:spPr>
          <a:xfrm>
            <a:off x="1419423"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2</a:t>
            </a:r>
          </a:p>
        </p:txBody>
      </p:sp>
      <p:sp>
        <p:nvSpPr>
          <p:cNvPr id="33" name="Rounded Rectangle 32"/>
          <p:cNvSpPr/>
          <p:nvPr/>
        </p:nvSpPr>
        <p:spPr>
          <a:xfrm>
            <a:off x="2026146" y="1912541"/>
            <a:ext cx="555823" cy="502841"/>
          </a:xfrm>
          <a:prstGeom prst="roundRect">
            <a:avLst>
              <a:gd name="adj" fmla="val 5051"/>
            </a:avLst>
          </a:prstGeom>
          <a:solidFill>
            <a:srgbClr val="E9E3E4"/>
          </a:solidFill>
          <a:ln>
            <a:noFill/>
          </a:ln>
          <a:effectLst/>
        </p:spPr>
        <p:txBody>
          <a:bodyPr rtlCol="0" anchor="ctr"/>
          <a:lstStyle/>
          <a:p>
            <a:pPr algn="ctr"/>
          </a:p>
        </p:txBody>
      </p:sp>
      <p:sp>
        <p:nvSpPr>
          <p:cNvPr id="34" name="TextBox 33"/>
          <p:cNvSpPr txBox="1"/>
          <p:nvPr/>
        </p:nvSpPr>
        <p:spPr>
          <a:xfrm>
            <a:off x="2026146" y="2020491"/>
            <a:ext cx="5558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3</a:t>
            </a:r>
          </a:p>
        </p:txBody>
      </p:sp>
      <p:sp>
        <p:nvSpPr>
          <p:cNvPr id="35" name="Rounded Rectangle 34"/>
          <p:cNvSpPr/>
          <p:nvPr/>
        </p:nvSpPr>
        <p:spPr>
          <a:xfrm>
            <a:off x="2632770"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36" name="TextBox 35"/>
          <p:cNvSpPr txBox="1"/>
          <p:nvPr/>
        </p:nvSpPr>
        <p:spPr>
          <a:xfrm>
            <a:off x="2632770"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4</a:t>
            </a:r>
          </a:p>
        </p:txBody>
      </p:sp>
      <p:sp>
        <p:nvSpPr>
          <p:cNvPr id="37" name="Rounded Rectangle 36"/>
          <p:cNvSpPr/>
          <p:nvPr/>
        </p:nvSpPr>
        <p:spPr>
          <a:xfrm>
            <a:off x="3239492" y="1912541"/>
            <a:ext cx="555823" cy="502841"/>
          </a:xfrm>
          <a:prstGeom prst="roundRect">
            <a:avLst>
              <a:gd name="adj" fmla="val 5051"/>
            </a:avLst>
          </a:prstGeom>
          <a:solidFill>
            <a:srgbClr val="E9E3E4"/>
          </a:solidFill>
          <a:ln>
            <a:noFill/>
          </a:ln>
          <a:effectLst/>
        </p:spPr>
        <p:txBody>
          <a:bodyPr rtlCol="0" anchor="ctr"/>
          <a:lstStyle/>
          <a:p>
            <a:pPr algn="ctr"/>
          </a:p>
        </p:txBody>
      </p:sp>
      <p:sp>
        <p:nvSpPr>
          <p:cNvPr id="38" name="TextBox 37"/>
          <p:cNvSpPr txBox="1"/>
          <p:nvPr/>
        </p:nvSpPr>
        <p:spPr>
          <a:xfrm>
            <a:off x="3239492" y="2020491"/>
            <a:ext cx="5558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5</a:t>
            </a:r>
          </a:p>
        </p:txBody>
      </p:sp>
      <p:sp>
        <p:nvSpPr>
          <p:cNvPr id="39" name="Rounded Rectangle 38"/>
          <p:cNvSpPr/>
          <p:nvPr/>
        </p:nvSpPr>
        <p:spPr>
          <a:xfrm>
            <a:off x="3492004"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40" name="Rounded Rectangle 39"/>
          <p:cNvSpPr/>
          <p:nvPr/>
        </p:nvSpPr>
        <p:spPr>
          <a:xfrm>
            <a:off x="3846116"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41" name="TextBox 40"/>
          <p:cNvSpPr txBox="1"/>
          <p:nvPr/>
        </p:nvSpPr>
        <p:spPr>
          <a:xfrm>
            <a:off x="3846116"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6</a:t>
            </a:r>
          </a:p>
        </p:txBody>
      </p:sp>
      <p:sp>
        <p:nvSpPr>
          <p:cNvPr id="42" name="Rounded Rectangle 41"/>
          <p:cNvSpPr/>
          <p:nvPr/>
        </p:nvSpPr>
        <p:spPr>
          <a:xfrm>
            <a:off x="4098627"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43" name="Rounded Rectangle 42"/>
          <p:cNvSpPr/>
          <p:nvPr/>
        </p:nvSpPr>
        <p:spPr>
          <a:xfrm>
            <a:off x="4452838" y="1912541"/>
            <a:ext cx="555823" cy="502841"/>
          </a:xfrm>
          <a:prstGeom prst="roundRect">
            <a:avLst>
              <a:gd name="adj" fmla="val 5051"/>
            </a:avLst>
          </a:prstGeom>
          <a:solidFill>
            <a:srgbClr val="E9E3E4"/>
          </a:solidFill>
          <a:ln>
            <a:noFill/>
          </a:ln>
          <a:effectLst/>
        </p:spPr>
        <p:txBody>
          <a:bodyPr rtlCol="0" anchor="ctr"/>
          <a:lstStyle/>
          <a:p>
            <a:pPr algn="ctr"/>
          </a:p>
        </p:txBody>
      </p:sp>
      <p:sp>
        <p:nvSpPr>
          <p:cNvPr id="44" name="TextBox 43"/>
          <p:cNvSpPr txBox="1"/>
          <p:nvPr/>
        </p:nvSpPr>
        <p:spPr>
          <a:xfrm>
            <a:off x="4452838" y="2020491"/>
            <a:ext cx="5558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7</a:t>
            </a:r>
          </a:p>
        </p:txBody>
      </p:sp>
      <p:sp>
        <p:nvSpPr>
          <p:cNvPr id="45" name="Rounded Rectangle 44"/>
          <p:cNvSpPr/>
          <p:nvPr/>
        </p:nvSpPr>
        <p:spPr>
          <a:xfrm>
            <a:off x="5059462"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46" name="TextBox 45"/>
          <p:cNvSpPr txBox="1"/>
          <p:nvPr/>
        </p:nvSpPr>
        <p:spPr>
          <a:xfrm>
            <a:off x="5059462"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8</a:t>
            </a:r>
          </a:p>
        </p:txBody>
      </p:sp>
      <p:sp>
        <p:nvSpPr>
          <p:cNvPr id="47" name="Rounded Rectangle 46"/>
          <p:cNvSpPr/>
          <p:nvPr/>
        </p:nvSpPr>
        <p:spPr>
          <a:xfrm>
            <a:off x="5666184"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48" name="TextBox 47"/>
          <p:cNvSpPr txBox="1"/>
          <p:nvPr/>
        </p:nvSpPr>
        <p:spPr>
          <a:xfrm>
            <a:off x="5666184"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9</a:t>
            </a:r>
          </a:p>
        </p:txBody>
      </p:sp>
      <p:sp>
        <p:nvSpPr>
          <p:cNvPr id="49" name="Rounded Rectangle 48"/>
          <p:cNvSpPr/>
          <p:nvPr/>
        </p:nvSpPr>
        <p:spPr>
          <a:xfrm>
            <a:off x="6272907"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50" name="TextBox 49"/>
          <p:cNvSpPr txBox="1"/>
          <p:nvPr/>
        </p:nvSpPr>
        <p:spPr>
          <a:xfrm>
            <a:off x="6272907"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10</a:t>
            </a:r>
          </a:p>
        </p:txBody>
      </p:sp>
      <p:sp>
        <p:nvSpPr>
          <p:cNvPr id="51" name="Rounded Rectangle 50"/>
          <p:cNvSpPr/>
          <p:nvPr/>
        </p:nvSpPr>
        <p:spPr>
          <a:xfrm>
            <a:off x="6525419"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52" name="Rounded Rectangle 51"/>
          <p:cNvSpPr/>
          <p:nvPr/>
        </p:nvSpPr>
        <p:spPr>
          <a:xfrm>
            <a:off x="6879630"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53" name="TextBox 52"/>
          <p:cNvSpPr txBox="1"/>
          <p:nvPr/>
        </p:nvSpPr>
        <p:spPr>
          <a:xfrm>
            <a:off x="6879630"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11</a:t>
            </a:r>
          </a:p>
        </p:txBody>
      </p:sp>
      <p:sp>
        <p:nvSpPr>
          <p:cNvPr id="54" name="Rounded Rectangle 53"/>
          <p:cNvSpPr/>
          <p:nvPr/>
        </p:nvSpPr>
        <p:spPr>
          <a:xfrm>
            <a:off x="7132141"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55" name="Rounded Rectangle 54"/>
          <p:cNvSpPr/>
          <p:nvPr/>
        </p:nvSpPr>
        <p:spPr>
          <a:xfrm>
            <a:off x="7486352"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56" name="TextBox 55"/>
          <p:cNvSpPr txBox="1"/>
          <p:nvPr/>
        </p:nvSpPr>
        <p:spPr>
          <a:xfrm>
            <a:off x="7486352"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12</a:t>
            </a:r>
          </a:p>
        </p:txBody>
      </p:sp>
      <p:sp>
        <p:nvSpPr>
          <p:cNvPr id="57" name="Rounded Rectangle 56"/>
          <p:cNvSpPr/>
          <p:nvPr/>
        </p:nvSpPr>
        <p:spPr>
          <a:xfrm>
            <a:off x="8093075"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58" name="TextBox 57"/>
          <p:cNvSpPr txBox="1"/>
          <p:nvPr/>
        </p:nvSpPr>
        <p:spPr>
          <a:xfrm>
            <a:off x="8093075"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13</a:t>
            </a:r>
          </a:p>
        </p:txBody>
      </p:sp>
      <p:sp>
        <p:nvSpPr>
          <p:cNvPr id="59" name="Rounded Rectangle 58"/>
          <p:cNvSpPr/>
          <p:nvPr/>
        </p:nvSpPr>
        <p:spPr>
          <a:xfrm>
            <a:off x="8699798" y="1912541"/>
            <a:ext cx="859234" cy="502841"/>
          </a:xfrm>
          <a:prstGeom prst="roundRect">
            <a:avLst>
              <a:gd name="adj" fmla="val 5051"/>
            </a:avLst>
          </a:prstGeom>
          <a:noFill/>
          <a:ln w="12700">
            <a:solidFill>
              <a:srgbClr val="6B4A52"/>
            </a:solidFill>
            <a:prstDash val="dash"/>
          </a:ln>
          <a:effectLst/>
        </p:spPr>
        <p:txBody>
          <a:bodyPr rtlCol="0" anchor="ctr"/>
          <a:lstStyle/>
          <a:p>
            <a:pPr algn="ctr"/>
          </a:p>
        </p:txBody>
      </p:sp>
      <p:sp>
        <p:nvSpPr>
          <p:cNvPr id="60" name="TextBox 59"/>
          <p:cNvSpPr txBox="1"/>
          <p:nvPr/>
        </p:nvSpPr>
        <p:spPr>
          <a:xfrm>
            <a:off x="8712498" y="2033191"/>
            <a:ext cx="833834"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Break</a:t>
            </a:r>
          </a:p>
        </p:txBody>
      </p:sp>
      <p:sp>
        <p:nvSpPr>
          <p:cNvPr id="61" name="Rounded Rectangle 60"/>
          <p:cNvSpPr/>
          <p:nvPr/>
        </p:nvSpPr>
        <p:spPr>
          <a:xfrm>
            <a:off x="9609832"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62" name="TextBox 61"/>
          <p:cNvSpPr txBox="1"/>
          <p:nvPr/>
        </p:nvSpPr>
        <p:spPr>
          <a:xfrm>
            <a:off x="9609832"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14</a:t>
            </a:r>
          </a:p>
        </p:txBody>
      </p:sp>
      <p:sp>
        <p:nvSpPr>
          <p:cNvPr id="63" name="Rounded Rectangle 62"/>
          <p:cNvSpPr/>
          <p:nvPr/>
        </p:nvSpPr>
        <p:spPr>
          <a:xfrm>
            <a:off x="10216555"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64" name="TextBox 63"/>
          <p:cNvSpPr txBox="1"/>
          <p:nvPr/>
        </p:nvSpPr>
        <p:spPr>
          <a:xfrm>
            <a:off x="10216555"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15</a:t>
            </a:r>
          </a:p>
        </p:txBody>
      </p:sp>
      <p:sp>
        <p:nvSpPr>
          <p:cNvPr id="65" name="Rounded Rectangle 64"/>
          <p:cNvSpPr/>
          <p:nvPr/>
        </p:nvSpPr>
        <p:spPr>
          <a:xfrm>
            <a:off x="10823277"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66" name="TextBox 65"/>
          <p:cNvSpPr txBox="1"/>
          <p:nvPr/>
        </p:nvSpPr>
        <p:spPr>
          <a:xfrm>
            <a:off x="10823277"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16</a:t>
            </a:r>
          </a:p>
        </p:txBody>
      </p:sp>
      <p:sp>
        <p:nvSpPr>
          <p:cNvPr id="67" name="Rounded Rectangle 66"/>
          <p:cNvSpPr/>
          <p:nvPr/>
        </p:nvSpPr>
        <p:spPr>
          <a:xfrm>
            <a:off x="11075789"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68" name="Rounded Rectangle 67"/>
          <p:cNvSpPr/>
          <p:nvPr/>
        </p:nvSpPr>
        <p:spPr>
          <a:xfrm>
            <a:off x="812800" y="2618581"/>
            <a:ext cx="10566400" cy="528241"/>
          </a:xfrm>
          <a:prstGeom prst="roundRect">
            <a:avLst>
              <a:gd name="adj" fmla="val 12021"/>
            </a:avLst>
          </a:prstGeom>
          <a:solidFill>
            <a:srgbClr val="E9E3E4"/>
          </a:solidFill>
          <a:ln w="19050">
            <a:solidFill>
              <a:srgbClr val="861F41"/>
            </a:solidFill>
          </a:ln>
          <a:effectLst/>
        </p:spPr>
        <p:txBody>
          <a:bodyPr rtlCol="0" anchor="ctr"/>
          <a:lstStyle/>
          <a:p>
            <a:pPr algn="ctr"/>
          </a:p>
        </p:txBody>
      </p:sp>
      <p:sp>
        <p:nvSpPr>
          <p:cNvPr id="69" name="TextBox 68"/>
          <p:cNvSpPr txBox="1"/>
          <p:nvPr/>
        </p:nvSpPr>
        <p:spPr>
          <a:xfrm>
            <a:off x="984250" y="2796381"/>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1–2</a:t>
            </a:r>
          </a:p>
        </p:txBody>
      </p:sp>
      <p:sp>
        <p:nvSpPr>
          <p:cNvPr id="70" name="TextBox 69"/>
          <p:cNvSpPr txBox="1"/>
          <p:nvPr/>
        </p:nvSpPr>
        <p:spPr>
          <a:xfrm>
            <a:off x="2660650" y="2720181"/>
            <a:ext cx="83947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Java foundations — testing, exceptions, polymorphism</a:t>
            </a:r>
          </a:p>
        </p:txBody>
      </p:sp>
      <p:sp>
        <p:nvSpPr>
          <p:cNvPr id="71" name="Rounded Rectangle 70"/>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72" name="TextBox 71"/>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9 / 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The semester at a glance</a:t>
            </a:r>
          </a:p>
        </p:txBody>
      </p:sp>
      <p:sp>
        <p:nvSpPr>
          <p:cNvPr id="4" name="Rectangle 3"/>
          <p:cNvSpPr/>
          <p:nvPr/>
        </p:nvSpPr>
        <p:spPr>
          <a:xfrm>
            <a:off x="812800" y="1473200"/>
            <a:ext cx="694234" cy="337741"/>
          </a:xfrm>
          <a:prstGeom prst="rect">
            <a:avLst/>
          </a:prstGeom>
          <a:noFill/>
          <a:ln>
            <a:noFill/>
          </a:ln>
          <a:effectLst/>
        </p:spPr>
        <p:txBody>
          <a:bodyPr rtlCol="0" anchor="ctr"/>
          <a:lstStyle/>
          <a:p>
            <a:pPr algn="ctr"/>
          </a:p>
        </p:txBody>
      </p:sp>
      <p:sp>
        <p:nvSpPr>
          <p:cNvPr id="5" name="Rectangle 4"/>
          <p:cNvSpPr/>
          <p:nvPr/>
        </p:nvSpPr>
        <p:spPr>
          <a:xfrm>
            <a:off x="812800" y="1798241"/>
            <a:ext cx="694234" cy="12700"/>
          </a:xfrm>
          <a:prstGeom prst="rect">
            <a:avLst/>
          </a:prstGeom>
          <a:solidFill>
            <a:srgbClr val="6B4A52"/>
          </a:solidFill>
          <a:ln>
            <a:noFill/>
          </a:ln>
          <a:effectLst/>
        </p:spPr>
        <p:txBody>
          <a:bodyPr rtlCol="0" anchor="ctr"/>
          <a:lstStyle/>
          <a:p>
            <a:pPr algn="ctr"/>
          </a:p>
        </p:txBody>
      </p:sp>
      <p:sp>
        <p:nvSpPr>
          <p:cNvPr id="6" name="Rectangle 5"/>
          <p:cNvSpPr/>
          <p:nvPr/>
        </p:nvSpPr>
        <p:spPr>
          <a:xfrm>
            <a:off x="812800" y="1798241"/>
            <a:ext cx="12700" cy="50800"/>
          </a:xfrm>
          <a:prstGeom prst="rect">
            <a:avLst/>
          </a:prstGeom>
          <a:solidFill>
            <a:srgbClr val="6B4A52"/>
          </a:solidFill>
          <a:ln>
            <a:noFill/>
          </a:ln>
          <a:effectLst/>
        </p:spPr>
        <p:txBody>
          <a:bodyPr rtlCol="0" anchor="ctr"/>
          <a:lstStyle/>
          <a:p>
            <a:pPr algn="ctr"/>
          </a:p>
        </p:txBody>
      </p:sp>
      <p:sp>
        <p:nvSpPr>
          <p:cNvPr id="7" name="TextBox 6"/>
          <p:cNvSpPr txBox="1"/>
          <p:nvPr/>
        </p:nvSpPr>
        <p:spPr>
          <a:xfrm>
            <a:off x="812800" y="1492250"/>
            <a:ext cx="694234"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Aug</a:t>
            </a:r>
          </a:p>
        </p:txBody>
      </p:sp>
      <p:sp>
        <p:nvSpPr>
          <p:cNvPr id="8" name="Rectangle 7"/>
          <p:cNvSpPr/>
          <p:nvPr/>
        </p:nvSpPr>
        <p:spPr>
          <a:xfrm>
            <a:off x="1494333" y="1798241"/>
            <a:ext cx="12700" cy="50800"/>
          </a:xfrm>
          <a:prstGeom prst="rect">
            <a:avLst/>
          </a:prstGeom>
          <a:solidFill>
            <a:srgbClr val="6B4A52"/>
          </a:solidFill>
          <a:ln>
            <a:noFill/>
          </a:ln>
          <a:effectLst/>
        </p:spPr>
        <p:txBody>
          <a:bodyPr rtlCol="0" anchor="ctr"/>
          <a:lstStyle/>
          <a:p>
            <a:pPr algn="ctr"/>
          </a:p>
        </p:txBody>
      </p:sp>
      <p:sp>
        <p:nvSpPr>
          <p:cNvPr id="9" name="Rectangle 8"/>
          <p:cNvSpPr/>
          <p:nvPr/>
        </p:nvSpPr>
        <p:spPr>
          <a:xfrm>
            <a:off x="1557834" y="1473200"/>
            <a:ext cx="2604691" cy="337741"/>
          </a:xfrm>
          <a:prstGeom prst="rect">
            <a:avLst/>
          </a:prstGeom>
          <a:noFill/>
          <a:ln>
            <a:noFill/>
          </a:ln>
          <a:effectLst/>
        </p:spPr>
        <p:txBody>
          <a:bodyPr rtlCol="0" anchor="ctr"/>
          <a:lstStyle/>
          <a:p>
            <a:pPr algn="ctr"/>
          </a:p>
        </p:txBody>
      </p:sp>
      <p:sp>
        <p:nvSpPr>
          <p:cNvPr id="10" name="Rectangle 9"/>
          <p:cNvSpPr/>
          <p:nvPr/>
        </p:nvSpPr>
        <p:spPr>
          <a:xfrm>
            <a:off x="1557834" y="1798241"/>
            <a:ext cx="2604691" cy="12700"/>
          </a:xfrm>
          <a:prstGeom prst="rect">
            <a:avLst/>
          </a:prstGeom>
          <a:solidFill>
            <a:srgbClr val="6B4A52"/>
          </a:solidFill>
          <a:ln>
            <a:noFill/>
          </a:ln>
          <a:effectLst/>
        </p:spPr>
        <p:txBody>
          <a:bodyPr rtlCol="0" anchor="ctr"/>
          <a:lstStyle/>
          <a:p>
            <a:pPr algn="ctr"/>
          </a:p>
        </p:txBody>
      </p:sp>
      <p:sp>
        <p:nvSpPr>
          <p:cNvPr id="11" name="Rectangle 10"/>
          <p:cNvSpPr/>
          <p:nvPr/>
        </p:nvSpPr>
        <p:spPr>
          <a:xfrm>
            <a:off x="1557834" y="1798241"/>
            <a:ext cx="12700" cy="50800"/>
          </a:xfrm>
          <a:prstGeom prst="rect">
            <a:avLst/>
          </a:prstGeom>
          <a:solidFill>
            <a:srgbClr val="6B4A52"/>
          </a:solidFill>
          <a:ln>
            <a:noFill/>
          </a:ln>
          <a:effectLst/>
        </p:spPr>
        <p:txBody>
          <a:bodyPr rtlCol="0" anchor="ctr"/>
          <a:lstStyle/>
          <a:p>
            <a:pPr algn="ctr"/>
          </a:p>
        </p:txBody>
      </p:sp>
      <p:sp>
        <p:nvSpPr>
          <p:cNvPr id="12" name="TextBox 11"/>
          <p:cNvSpPr txBox="1"/>
          <p:nvPr/>
        </p:nvSpPr>
        <p:spPr>
          <a:xfrm>
            <a:off x="1557834" y="1492250"/>
            <a:ext cx="2604691"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Sep</a:t>
            </a:r>
          </a:p>
        </p:txBody>
      </p:sp>
      <p:sp>
        <p:nvSpPr>
          <p:cNvPr id="13" name="Rectangle 12"/>
          <p:cNvSpPr/>
          <p:nvPr/>
        </p:nvSpPr>
        <p:spPr>
          <a:xfrm>
            <a:off x="4149827" y="1798241"/>
            <a:ext cx="12700" cy="50800"/>
          </a:xfrm>
          <a:prstGeom prst="rect">
            <a:avLst/>
          </a:prstGeom>
          <a:solidFill>
            <a:srgbClr val="6B4A52"/>
          </a:solidFill>
          <a:ln>
            <a:noFill/>
          </a:ln>
          <a:effectLst/>
        </p:spPr>
        <p:txBody>
          <a:bodyPr rtlCol="0" anchor="ctr"/>
          <a:lstStyle/>
          <a:p>
            <a:pPr algn="ctr"/>
          </a:p>
        </p:txBody>
      </p:sp>
      <p:sp>
        <p:nvSpPr>
          <p:cNvPr id="14" name="Rectangle 13"/>
          <p:cNvSpPr/>
          <p:nvPr/>
        </p:nvSpPr>
        <p:spPr>
          <a:xfrm>
            <a:off x="4213324" y="1473200"/>
            <a:ext cx="2630091" cy="337741"/>
          </a:xfrm>
          <a:prstGeom prst="rect">
            <a:avLst/>
          </a:prstGeom>
          <a:noFill/>
          <a:ln>
            <a:noFill/>
          </a:ln>
          <a:effectLst/>
        </p:spPr>
        <p:txBody>
          <a:bodyPr rtlCol="0" anchor="ctr"/>
          <a:lstStyle/>
          <a:p>
            <a:pPr algn="ctr"/>
          </a:p>
        </p:txBody>
      </p:sp>
      <p:sp>
        <p:nvSpPr>
          <p:cNvPr id="15" name="Rectangle 14"/>
          <p:cNvSpPr/>
          <p:nvPr/>
        </p:nvSpPr>
        <p:spPr>
          <a:xfrm>
            <a:off x="4213324" y="1798241"/>
            <a:ext cx="2630091" cy="12700"/>
          </a:xfrm>
          <a:prstGeom prst="rect">
            <a:avLst/>
          </a:prstGeom>
          <a:solidFill>
            <a:srgbClr val="6B4A52"/>
          </a:solidFill>
          <a:ln>
            <a:noFill/>
          </a:ln>
          <a:effectLst/>
        </p:spPr>
        <p:txBody>
          <a:bodyPr rtlCol="0" anchor="ctr"/>
          <a:lstStyle/>
          <a:p>
            <a:pPr algn="ctr"/>
          </a:p>
        </p:txBody>
      </p:sp>
      <p:sp>
        <p:nvSpPr>
          <p:cNvPr id="16" name="Rectangle 15"/>
          <p:cNvSpPr/>
          <p:nvPr/>
        </p:nvSpPr>
        <p:spPr>
          <a:xfrm>
            <a:off x="4213324" y="1798241"/>
            <a:ext cx="12700" cy="50800"/>
          </a:xfrm>
          <a:prstGeom prst="rect">
            <a:avLst/>
          </a:prstGeom>
          <a:solidFill>
            <a:srgbClr val="6B4A52"/>
          </a:solidFill>
          <a:ln>
            <a:noFill/>
          </a:ln>
          <a:effectLst/>
        </p:spPr>
        <p:txBody>
          <a:bodyPr rtlCol="0" anchor="ctr"/>
          <a:lstStyle/>
          <a:p>
            <a:pPr algn="ctr"/>
          </a:p>
        </p:txBody>
      </p:sp>
      <p:sp>
        <p:nvSpPr>
          <p:cNvPr id="17" name="TextBox 16"/>
          <p:cNvSpPr txBox="1"/>
          <p:nvPr/>
        </p:nvSpPr>
        <p:spPr>
          <a:xfrm>
            <a:off x="4213324" y="1492250"/>
            <a:ext cx="2630091"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Oct</a:t>
            </a:r>
          </a:p>
        </p:txBody>
      </p:sp>
      <p:sp>
        <p:nvSpPr>
          <p:cNvPr id="18" name="Rectangle 17"/>
          <p:cNvSpPr/>
          <p:nvPr/>
        </p:nvSpPr>
        <p:spPr>
          <a:xfrm>
            <a:off x="6830718" y="1798241"/>
            <a:ext cx="12700" cy="50800"/>
          </a:xfrm>
          <a:prstGeom prst="rect">
            <a:avLst/>
          </a:prstGeom>
          <a:solidFill>
            <a:srgbClr val="6B4A52"/>
          </a:solidFill>
          <a:ln>
            <a:noFill/>
          </a:ln>
          <a:effectLst/>
        </p:spPr>
        <p:txBody>
          <a:bodyPr rtlCol="0" anchor="ctr"/>
          <a:lstStyle/>
          <a:p>
            <a:pPr algn="ctr"/>
          </a:p>
        </p:txBody>
      </p:sp>
      <p:sp>
        <p:nvSpPr>
          <p:cNvPr id="19" name="Rectangle 18"/>
          <p:cNvSpPr/>
          <p:nvPr/>
        </p:nvSpPr>
        <p:spPr>
          <a:xfrm>
            <a:off x="6894215" y="1473200"/>
            <a:ext cx="2797373" cy="337741"/>
          </a:xfrm>
          <a:prstGeom prst="rect">
            <a:avLst/>
          </a:prstGeom>
          <a:noFill/>
          <a:ln>
            <a:noFill/>
          </a:ln>
          <a:effectLst/>
        </p:spPr>
        <p:txBody>
          <a:bodyPr rtlCol="0" anchor="ctr"/>
          <a:lstStyle/>
          <a:p>
            <a:pPr algn="ctr"/>
          </a:p>
        </p:txBody>
      </p:sp>
      <p:sp>
        <p:nvSpPr>
          <p:cNvPr id="20" name="Rectangle 19"/>
          <p:cNvSpPr/>
          <p:nvPr/>
        </p:nvSpPr>
        <p:spPr>
          <a:xfrm>
            <a:off x="6894215" y="1798241"/>
            <a:ext cx="2797373" cy="12700"/>
          </a:xfrm>
          <a:prstGeom prst="rect">
            <a:avLst/>
          </a:prstGeom>
          <a:solidFill>
            <a:srgbClr val="6B4A52"/>
          </a:solidFill>
          <a:ln>
            <a:noFill/>
          </a:ln>
          <a:effectLst/>
        </p:spPr>
        <p:txBody>
          <a:bodyPr rtlCol="0" anchor="ctr"/>
          <a:lstStyle/>
          <a:p>
            <a:pPr algn="ctr"/>
          </a:p>
        </p:txBody>
      </p:sp>
      <p:sp>
        <p:nvSpPr>
          <p:cNvPr id="21" name="Rectangle 20"/>
          <p:cNvSpPr/>
          <p:nvPr/>
        </p:nvSpPr>
        <p:spPr>
          <a:xfrm>
            <a:off x="6894215" y="1798241"/>
            <a:ext cx="12700" cy="50800"/>
          </a:xfrm>
          <a:prstGeom prst="rect">
            <a:avLst/>
          </a:prstGeom>
          <a:solidFill>
            <a:srgbClr val="6B4A52"/>
          </a:solidFill>
          <a:ln>
            <a:noFill/>
          </a:ln>
          <a:effectLst/>
        </p:spPr>
        <p:txBody>
          <a:bodyPr rtlCol="0" anchor="ctr"/>
          <a:lstStyle/>
          <a:p>
            <a:pPr algn="ctr"/>
          </a:p>
        </p:txBody>
      </p:sp>
      <p:sp>
        <p:nvSpPr>
          <p:cNvPr id="22" name="TextBox 21"/>
          <p:cNvSpPr txBox="1"/>
          <p:nvPr/>
        </p:nvSpPr>
        <p:spPr>
          <a:xfrm>
            <a:off x="6894215" y="1492250"/>
            <a:ext cx="279737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Nov</a:t>
            </a:r>
          </a:p>
        </p:txBody>
      </p:sp>
      <p:sp>
        <p:nvSpPr>
          <p:cNvPr id="23" name="Rectangle 22"/>
          <p:cNvSpPr/>
          <p:nvPr/>
        </p:nvSpPr>
        <p:spPr>
          <a:xfrm>
            <a:off x="9678887" y="1798241"/>
            <a:ext cx="12700" cy="50800"/>
          </a:xfrm>
          <a:prstGeom prst="rect">
            <a:avLst/>
          </a:prstGeom>
          <a:solidFill>
            <a:srgbClr val="6B4A52"/>
          </a:solidFill>
          <a:ln>
            <a:noFill/>
          </a:ln>
          <a:effectLst/>
        </p:spPr>
        <p:txBody>
          <a:bodyPr rtlCol="0" anchor="ctr"/>
          <a:lstStyle/>
          <a:p>
            <a:pPr algn="ctr"/>
          </a:p>
        </p:txBody>
      </p:sp>
      <p:sp>
        <p:nvSpPr>
          <p:cNvPr id="24" name="Rectangle 23"/>
          <p:cNvSpPr/>
          <p:nvPr/>
        </p:nvSpPr>
        <p:spPr>
          <a:xfrm>
            <a:off x="9742388" y="1473200"/>
            <a:ext cx="1636812" cy="337741"/>
          </a:xfrm>
          <a:prstGeom prst="rect">
            <a:avLst/>
          </a:prstGeom>
          <a:noFill/>
          <a:ln>
            <a:noFill/>
          </a:ln>
          <a:effectLst/>
        </p:spPr>
        <p:txBody>
          <a:bodyPr rtlCol="0" anchor="ctr"/>
          <a:lstStyle/>
          <a:p>
            <a:pPr algn="ctr"/>
          </a:p>
        </p:txBody>
      </p:sp>
      <p:sp>
        <p:nvSpPr>
          <p:cNvPr id="25" name="Rectangle 24"/>
          <p:cNvSpPr/>
          <p:nvPr/>
        </p:nvSpPr>
        <p:spPr>
          <a:xfrm>
            <a:off x="9742388" y="1798241"/>
            <a:ext cx="1636812" cy="12700"/>
          </a:xfrm>
          <a:prstGeom prst="rect">
            <a:avLst/>
          </a:prstGeom>
          <a:solidFill>
            <a:srgbClr val="6B4A52"/>
          </a:solidFill>
          <a:ln>
            <a:noFill/>
          </a:ln>
          <a:effectLst/>
        </p:spPr>
        <p:txBody>
          <a:bodyPr rtlCol="0" anchor="ctr"/>
          <a:lstStyle/>
          <a:p>
            <a:pPr algn="ctr"/>
          </a:p>
        </p:txBody>
      </p:sp>
      <p:sp>
        <p:nvSpPr>
          <p:cNvPr id="26" name="Rectangle 25"/>
          <p:cNvSpPr/>
          <p:nvPr/>
        </p:nvSpPr>
        <p:spPr>
          <a:xfrm>
            <a:off x="9742388" y="1798241"/>
            <a:ext cx="12700" cy="50800"/>
          </a:xfrm>
          <a:prstGeom prst="rect">
            <a:avLst/>
          </a:prstGeom>
          <a:solidFill>
            <a:srgbClr val="6B4A52"/>
          </a:solidFill>
          <a:ln>
            <a:noFill/>
          </a:ln>
          <a:effectLst/>
        </p:spPr>
        <p:txBody>
          <a:bodyPr rtlCol="0" anchor="ctr"/>
          <a:lstStyle/>
          <a:p>
            <a:pPr algn="ctr"/>
          </a:p>
        </p:txBody>
      </p:sp>
      <p:sp>
        <p:nvSpPr>
          <p:cNvPr id="27" name="TextBox 26"/>
          <p:cNvSpPr txBox="1"/>
          <p:nvPr/>
        </p:nvSpPr>
        <p:spPr>
          <a:xfrm>
            <a:off x="9742388" y="1492250"/>
            <a:ext cx="1636812"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Dec</a:t>
            </a:r>
          </a:p>
        </p:txBody>
      </p:sp>
      <p:sp>
        <p:nvSpPr>
          <p:cNvPr id="28" name="Rectangle 27"/>
          <p:cNvSpPr/>
          <p:nvPr/>
        </p:nvSpPr>
        <p:spPr>
          <a:xfrm>
            <a:off x="11366502" y="1798241"/>
            <a:ext cx="12700" cy="50800"/>
          </a:xfrm>
          <a:prstGeom prst="rect">
            <a:avLst/>
          </a:prstGeom>
          <a:solidFill>
            <a:srgbClr val="6B4A52"/>
          </a:solidFill>
          <a:ln>
            <a:noFill/>
          </a:ln>
          <a:effectLst/>
        </p:spPr>
        <p:txBody>
          <a:bodyPr rtlCol="0" anchor="ctr"/>
          <a:lstStyle/>
          <a:p>
            <a:pPr algn="ctr"/>
          </a:p>
        </p:txBody>
      </p:sp>
      <p:sp>
        <p:nvSpPr>
          <p:cNvPr id="29" name="Rounded Rectangle 28"/>
          <p:cNvSpPr/>
          <p:nvPr/>
        </p:nvSpPr>
        <p:spPr>
          <a:xfrm>
            <a:off x="812800"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30" name="TextBox 29"/>
          <p:cNvSpPr txBox="1"/>
          <p:nvPr/>
        </p:nvSpPr>
        <p:spPr>
          <a:xfrm>
            <a:off x="812800"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a:t>
            </a:r>
          </a:p>
        </p:txBody>
      </p:sp>
      <p:sp>
        <p:nvSpPr>
          <p:cNvPr id="31" name="Rounded Rectangle 30"/>
          <p:cNvSpPr/>
          <p:nvPr/>
        </p:nvSpPr>
        <p:spPr>
          <a:xfrm>
            <a:off x="1419423"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32" name="TextBox 31"/>
          <p:cNvSpPr txBox="1"/>
          <p:nvPr/>
        </p:nvSpPr>
        <p:spPr>
          <a:xfrm>
            <a:off x="1419423"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2</a:t>
            </a:r>
          </a:p>
        </p:txBody>
      </p:sp>
      <p:sp>
        <p:nvSpPr>
          <p:cNvPr id="33" name="Rounded Rectangle 32"/>
          <p:cNvSpPr/>
          <p:nvPr/>
        </p:nvSpPr>
        <p:spPr>
          <a:xfrm>
            <a:off x="2026146"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34" name="TextBox 33"/>
          <p:cNvSpPr txBox="1"/>
          <p:nvPr/>
        </p:nvSpPr>
        <p:spPr>
          <a:xfrm>
            <a:off x="2026146"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3</a:t>
            </a:r>
          </a:p>
        </p:txBody>
      </p:sp>
      <p:sp>
        <p:nvSpPr>
          <p:cNvPr id="35" name="Rounded Rectangle 34"/>
          <p:cNvSpPr/>
          <p:nvPr/>
        </p:nvSpPr>
        <p:spPr>
          <a:xfrm>
            <a:off x="2632770"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36" name="TextBox 35"/>
          <p:cNvSpPr txBox="1"/>
          <p:nvPr/>
        </p:nvSpPr>
        <p:spPr>
          <a:xfrm>
            <a:off x="2632770"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4</a:t>
            </a:r>
          </a:p>
        </p:txBody>
      </p:sp>
      <p:sp>
        <p:nvSpPr>
          <p:cNvPr id="37" name="Rounded Rectangle 36"/>
          <p:cNvSpPr/>
          <p:nvPr/>
        </p:nvSpPr>
        <p:spPr>
          <a:xfrm>
            <a:off x="3239492"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38" name="TextBox 37"/>
          <p:cNvSpPr txBox="1"/>
          <p:nvPr/>
        </p:nvSpPr>
        <p:spPr>
          <a:xfrm>
            <a:off x="3239492"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5</a:t>
            </a:r>
          </a:p>
        </p:txBody>
      </p:sp>
      <p:sp>
        <p:nvSpPr>
          <p:cNvPr id="39" name="Rounded Rectangle 38"/>
          <p:cNvSpPr/>
          <p:nvPr/>
        </p:nvSpPr>
        <p:spPr>
          <a:xfrm>
            <a:off x="3492004" y="2339181"/>
            <a:ext cx="50800" cy="50800"/>
          </a:xfrm>
          <a:prstGeom prst="roundRect">
            <a:avLst>
              <a:gd name="adj" fmla="val 50000"/>
            </a:avLst>
          </a:prstGeom>
          <a:solidFill>
            <a:srgbClr val="F2F1ED"/>
          </a:solidFill>
          <a:ln>
            <a:noFill/>
          </a:ln>
          <a:effectLst/>
        </p:spPr>
        <p:txBody>
          <a:bodyPr rtlCol="0" anchor="ctr"/>
          <a:lstStyle/>
          <a:p>
            <a:pPr algn="ctr"/>
          </a:p>
        </p:txBody>
      </p:sp>
      <p:sp>
        <p:nvSpPr>
          <p:cNvPr id="40" name="Rounded Rectangle 39"/>
          <p:cNvSpPr/>
          <p:nvPr/>
        </p:nvSpPr>
        <p:spPr>
          <a:xfrm>
            <a:off x="3846116"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41" name="TextBox 40"/>
          <p:cNvSpPr txBox="1"/>
          <p:nvPr/>
        </p:nvSpPr>
        <p:spPr>
          <a:xfrm>
            <a:off x="3846116"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6</a:t>
            </a:r>
          </a:p>
        </p:txBody>
      </p:sp>
      <p:sp>
        <p:nvSpPr>
          <p:cNvPr id="42" name="Rounded Rectangle 41"/>
          <p:cNvSpPr/>
          <p:nvPr/>
        </p:nvSpPr>
        <p:spPr>
          <a:xfrm>
            <a:off x="4098627"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43" name="Rounded Rectangle 42"/>
          <p:cNvSpPr/>
          <p:nvPr/>
        </p:nvSpPr>
        <p:spPr>
          <a:xfrm>
            <a:off x="4452838" y="1912541"/>
            <a:ext cx="555823" cy="502841"/>
          </a:xfrm>
          <a:prstGeom prst="roundRect">
            <a:avLst>
              <a:gd name="adj" fmla="val 5051"/>
            </a:avLst>
          </a:prstGeom>
          <a:solidFill>
            <a:srgbClr val="E9E3E4"/>
          </a:solidFill>
          <a:ln>
            <a:noFill/>
          </a:ln>
          <a:effectLst/>
        </p:spPr>
        <p:txBody>
          <a:bodyPr rtlCol="0" anchor="ctr"/>
          <a:lstStyle/>
          <a:p>
            <a:pPr algn="ctr"/>
          </a:p>
        </p:txBody>
      </p:sp>
      <p:sp>
        <p:nvSpPr>
          <p:cNvPr id="44" name="TextBox 43"/>
          <p:cNvSpPr txBox="1"/>
          <p:nvPr/>
        </p:nvSpPr>
        <p:spPr>
          <a:xfrm>
            <a:off x="4452838" y="2020491"/>
            <a:ext cx="5558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7</a:t>
            </a:r>
          </a:p>
        </p:txBody>
      </p:sp>
      <p:sp>
        <p:nvSpPr>
          <p:cNvPr id="45" name="Rounded Rectangle 44"/>
          <p:cNvSpPr/>
          <p:nvPr/>
        </p:nvSpPr>
        <p:spPr>
          <a:xfrm>
            <a:off x="5059462"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46" name="TextBox 45"/>
          <p:cNvSpPr txBox="1"/>
          <p:nvPr/>
        </p:nvSpPr>
        <p:spPr>
          <a:xfrm>
            <a:off x="5059462"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8</a:t>
            </a:r>
          </a:p>
        </p:txBody>
      </p:sp>
      <p:sp>
        <p:nvSpPr>
          <p:cNvPr id="47" name="Rounded Rectangle 46"/>
          <p:cNvSpPr/>
          <p:nvPr/>
        </p:nvSpPr>
        <p:spPr>
          <a:xfrm>
            <a:off x="5666184"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48" name="TextBox 47"/>
          <p:cNvSpPr txBox="1"/>
          <p:nvPr/>
        </p:nvSpPr>
        <p:spPr>
          <a:xfrm>
            <a:off x="5666184"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9</a:t>
            </a:r>
          </a:p>
        </p:txBody>
      </p:sp>
      <p:sp>
        <p:nvSpPr>
          <p:cNvPr id="49" name="Rounded Rectangle 48"/>
          <p:cNvSpPr/>
          <p:nvPr/>
        </p:nvSpPr>
        <p:spPr>
          <a:xfrm>
            <a:off x="6272907"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50" name="TextBox 49"/>
          <p:cNvSpPr txBox="1"/>
          <p:nvPr/>
        </p:nvSpPr>
        <p:spPr>
          <a:xfrm>
            <a:off x="6272907"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10</a:t>
            </a:r>
          </a:p>
        </p:txBody>
      </p:sp>
      <p:sp>
        <p:nvSpPr>
          <p:cNvPr id="51" name="Rounded Rectangle 50"/>
          <p:cNvSpPr/>
          <p:nvPr/>
        </p:nvSpPr>
        <p:spPr>
          <a:xfrm>
            <a:off x="6525419"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52" name="Rounded Rectangle 51"/>
          <p:cNvSpPr/>
          <p:nvPr/>
        </p:nvSpPr>
        <p:spPr>
          <a:xfrm>
            <a:off x="6879630"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53" name="TextBox 52"/>
          <p:cNvSpPr txBox="1"/>
          <p:nvPr/>
        </p:nvSpPr>
        <p:spPr>
          <a:xfrm>
            <a:off x="6879630"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11</a:t>
            </a:r>
          </a:p>
        </p:txBody>
      </p:sp>
      <p:sp>
        <p:nvSpPr>
          <p:cNvPr id="54" name="Rounded Rectangle 53"/>
          <p:cNvSpPr/>
          <p:nvPr/>
        </p:nvSpPr>
        <p:spPr>
          <a:xfrm>
            <a:off x="7132141"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55" name="Rounded Rectangle 54"/>
          <p:cNvSpPr/>
          <p:nvPr/>
        </p:nvSpPr>
        <p:spPr>
          <a:xfrm>
            <a:off x="7486352"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56" name="TextBox 55"/>
          <p:cNvSpPr txBox="1"/>
          <p:nvPr/>
        </p:nvSpPr>
        <p:spPr>
          <a:xfrm>
            <a:off x="7486352"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12</a:t>
            </a:r>
          </a:p>
        </p:txBody>
      </p:sp>
      <p:sp>
        <p:nvSpPr>
          <p:cNvPr id="57" name="Rounded Rectangle 56"/>
          <p:cNvSpPr/>
          <p:nvPr/>
        </p:nvSpPr>
        <p:spPr>
          <a:xfrm>
            <a:off x="8093075"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58" name="TextBox 57"/>
          <p:cNvSpPr txBox="1"/>
          <p:nvPr/>
        </p:nvSpPr>
        <p:spPr>
          <a:xfrm>
            <a:off x="8093075"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13</a:t>
            </a:r>
          </a:p>
        </p:txBody>
      </p:sp>
      <p:sp>
        <p:nvSpPr>
          <p:cNvPr id="59" name="Rounded Rectangle 58"/>
          <p:cNvSpPr/>
          <p:nvPr/>
        </p:nvSpPr>
        <p:spPr>
          <a:xfrm>
            <a:off x="8699798" y="1912541"/>
            <a:ext cx="859234" cy="502841"/>
          </a:xfrm>
          <a:prstGeom prst="roundRect">
            <a:avLst>
              <a:gd name="adj" fmla="val 5051"/>
            </a:avLst>
          </a:prstGeom>
          <a:noFill/>
          <a:ln w="12700">
            <a:solidFill>
              <a:srgbClr val="6B4A52"/>
            </a:solidFill>
            <a:prstDash val="dash"/>
          </a:ln>
          <a:effectLst/>
        </p:spPr>
        <p:txBody>
          <a:bodyPr rtlCol="0" anchor="ctr"/>
          <a:lstStyle/>
          <a:p>
            <a:pPr algn="ctr"/>
          </a:p>
        </p:txBody>
      </p:sp>
      <p:sp>
        <p:nvSpPr>
          <p:cNvPr id="60" name="TextBox 59"/>
          <p:cNvSpPr txBox="1"/>
          <p:nvPr/>
        </p:nvSpPr>
        <p:spPr>
          <a:xfrm>
            <a:off x="8712498" y="2033191"/>
            <a:ext cx="833834"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Break</a:t>
            </a:r>
          </a:p>
        </p:txBody>
      </p:sp>
      <p:sp>
        <p:nvSpPr>
          <p:cNvPr id="61" name="Rounded Rectangle 60"/>
          <p:cNvSpPr/>
          <p:nvPr/>
        </p:nvSpPr>
        <p:spPr>
          <a:xfrm>
            <a:off x="9609832"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62" name="TextBox 61"/>
          <p:cNvSpPr txBox="1"/>
          <p:nvPr/>
        </p:nvSpPr>
        <p:spPr>
          <a:xfrm>
            <a:off x="9609832"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14</a:t>
            </a:r>
          </a:p>
        </p:txBody>
      </p:sp>
      <p:sp>
        <p:nvSpPr>
          <p:cNvPr id="63" name="Rounded Rectangle 62"/>
          <p:cNvSpPr/>
          <p:nvPr/>
        </p:nvSpPr>
        <p:spPr>
          <a:xfrm>
            <a:off x="10216555"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64" name="TextBox 63"/>
          <p:cNvSpPr txBox="1"/>
          <p:nvPr/>
        </p:nvSpPr>
        <p:spPr>
          <a:xfrm>
            <a:off x="10216555"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15</a:t>
            </a:r>
          </a:p>
        </p:txBody>
      </p:sp>
      <p:sp>
        <p:nvSpPr>
          <p:cNvPr id="65" name="Rounded Rectangle 64"/>
          <p:cNvSpPr/>
          <p:nvPr/>
        </p:nvSpPr>
        <p:spPr>
          <a:xfrm>
            <a:off x="10823277"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66" name="TextBox 65"/>
          <p:cNvSpPr txBox="1"/>
          <p:nvPr/>
        </p:nvSpPr>
        <p:spPr>
          <a:xfrm>
            <a:off x="10823277"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16</a:t>
            </a:r>
          </a:p>
        </p:txBody>
      </p:sp>
      <p:sp>
        <p:nvSpPr>
          <p:cNvPr id="67" name="Rounded Rectangle 66"/>
          <p:cNvSpPr/>
          <p:nvPr/>
        </p:nvSpPr>
        <p:spPr>
          <a:xfrm>
            <a:off x="11075789"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68" name="Rounded Rectangle 67"/>
          <p:cNvSpPr/>
          <p:nvPr/>
        </p:nvSpPr>
        <p:spPr>
          <a:xfrm>
            <a:off x="812800" y="2618581"/>
            <a:ext cx="10566400" cy="528241"/>
          </a:xfrm>
          <a:prstGeom prst="roundRect">
            <a:avLst>
              <a:gd name="adj" fmla="val 12021"/>
            </a:avLst>
          </a:prstGeom>
          <a:solidFill>
            <a:srgbClr val="E9E3E4"/>
          </a:solidFill>
          <a:ln w="19050">
            <a:solidFill>
              <a:srgbClr val="861F41"/>
            </a:solidFill>
          </a:ln>
          <a:effectLst/>
        </p:spPr>
        <p:txBody>
          <a:bodyPr rtlCol="0" anchor="ctr"/>
          <a:lstStyle/>
          <a:p>
            <a:pPr algn="ctr"/>
          </a:p>
        </p:txBody>
      </p:sp>
      <p:sp>
        <p:nvSpPr>
          <p:cNvPr id="69" name="TextBox 68"/>
          <p:cNvSpPr txBox="1"/>
          <p:nvPr/>
        </p:nvSpPr>
        <p:spPr>
          <a:xfrm>
            <a:off x="984250" y="2796381"/>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1–2</a:t>
            </a:r>
          </a:p>
        </p:txBody>
      </p:sp>
      <p:sp>
        <p:nvSpPr>
          <p:cNvPr id="70" name="TextBox 69"/>
          <p:cNvSpPr txBox="1"/>
          <p:nvPr/>
        </p:nvSpPr>
        <p:spPr>
          <a:xfrm>
            <a:off x="2660650" y="2720181"/>
            <a:ext cx="83947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Java foundations — testing, exceptions, polymorphism</a:t>
            </a:r>
          </a:p>
        </p:txBody>
      </p:sp>
      <p:sp>
        <p:nvSpPr>
          <p:cNvPr id="71" name="Rounded Rectangle 70"/>
          <p:cNvSpPr/>
          <p:nvPr/>
        </p:nvSpPr>
        <p:spPr>
          <a:xfrm>
            <a:off x="812800" y="3248422"/>
            <a:ext cx="10566400" cy="528241"/>
          </a:xfrm>
          <a:prstGeom prst="roundRect">
            <a:avLst>
              <a:gd name="adj" fmla="val 12021"/>
            </a:avLst>
          </a:prstGeom>
          <a:solidFill>
            <a:srgbClr val="E9E3E4"/>
          </a:solidFill>
          <a:ln w="19050">
            <a:solidFill>
              <a:srgbClr val="861F41"/>
            </a:solidFill>
          </a:ln>
          <a:effectLst/>
        </p:spPr>
        <p:txBody>
          <a:bodyPr rtlCol="0" anchor="ctr"/>
          <a:lstStyle/>
          <a:p>
            <a:pPr algn="ctr"/>
          </a:p>
        </p:txBody>
      </p:sp>
      <p:sp>
        <p:nvSpPr>
          <p:cNvPr id="72" name="TextBox 71"/>
          <p:cNvSpPr txBox="1"/>
          <p:nvPr/>
        </p:nvSpPr>
        <p:spPr>
          <a:xfrm>
            <a:off x="984250" y="3426222"/>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3–5</a:t>
            </a:r>
          </a:p>
        </p:txBody>
      </p:sp>
      <p:sp>
        <p:nvSpPr>
          <p:cNvPr id="73" name="TextBox 72"/>
          <p:cNvSpPr txBox="1"/>
          <p:nvPr/>
        </p:nvSpPr>
        <p:spPr>
          <a:xfrm>
            <a:off x="2660650" y="3350022"/>
            <a:ext cx="812036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Bags, linked chains, efficiency, stacks · Test 1 Wk 5</a:t>
            </a:r>
          </a:p>
        </p:txBody>
      </p:sp>
      <p:sp>
        <p:nvSpPr>
          <p:cNvPr id="74" name="TextBox 73"/>
          <p:cNvSpPr txBox="1"/>
          <p:nvPr/>
        </p:nvSpPr>
        <p:spPr>
          <a:xfrm>
            <a:off x="10933410" y="3426222"/>
            <a:ext cx="27434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P1</a:t>
            </a:r>
          </a:p>
        </p:txBody>
      </p:sp>
      <p:sp>
        <p:nvSpPr>
          <p:cNvPr id="75" name="Rounded Rectangle 74"/>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76" name="TextBox 75"/>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9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The semester at a glance</a:t>
            </a:r>
          </a:p>
        </p:txBody>
      </p:sp>
      <p:sp>
        <p:nvSpPr>
          <p:cNvPr id="4" name="Rectangle 3"/>
          <p:cNvSpPr/>
          <p:nvPr/>
        </p:nvSpPr>
        <p:spPr>
          <a:xfrm>
            <a:off x="812800" y="1473200"/>
            <a:ext cx="694234" cy="337741"/>
          </a:xfrm>
          <a:prstGeom prst="rect">
            <a:avLst/>
          </a:prstGeom>
          <a:noFill/>
          <a:ln>
            <a:noFill/>
          </a:ln>
          <a:effectLst/>
        </p:spPr>
        <p:txBody>
          <a:bodyPr rtlCol="0" anchor="ctr"/>
          <a:lstStyle/>
          <a:p>
            <a:pPr algn="ctr"/>
          </a:p>
        </p:txBody>
      </p:sp>
      <p:sp>
        <p:nvSpPr>
          <p:cNvPr id="5" name="Rectangle 4"/>
          <p:cNvSpPr/>
          <p:nvPr/>
        </p:nvSpPr>
        <p:spPr>
          <a:xfrm>
            <a:off x="812800" y="1798241"/>
            <a:ext cx="694234" cy="12700"/>
          </a:xfrm>
          <a:prstGeom prst="rect">
            <a:avLst/>
          </a:prstGeom>
          <a:solidFill>
            <a:srgbClr val="6B4A52"/>
          </a:solidFill>
          <a:ln>
            <a:noFill/>
          </a:ln>
          <a:effectLst/>
        </p:spPr>
        <p:txBody>
          <a:bodyPr rtlCol="0" anchor="ctr"/>
          <a:lstStyle/>
          <a:p>
            <a:pPr algn="ctr"/>
          </a:p>
        </p:txBody>
      </p:sp>
      <p:sp>
        <p:nvSpPr>
          <p:cNvPr id="6" name="Rectangle 5"/>
          <p:cNvSpPr/>
          <p:nvPr/>
        </p:nvSpPr>
        <p:spPr>
          <a:xfrm>
            <a:off x="812800" y="1798241"/>
            <a:ext cx="12700" cy="50800"/>
          </a:xfrm>
          <a:prstGeom prst="rect">
            <a:avLst/>
          </a:prstGeom>
          <a:solidFill>
            <a:srgbClr val="6B4A52"/>
          </a:solidFill>
          <a:ln>
            <a:noFill/>
          </a:ln>
          <a:effectLst/>
        </p:spPr>
        <p:txBody>
          <a:bodyPr rtlCol="0" anchor="ctr"/>
          <a:lstStyle/>
          <a:p>
            <a:pPr algn="ctr"/>
          </a:p>
        </p:txBody>
      </p:sp>
      <p:sp>
        <p:nvSpPr>
          <p:cNvPr id="7" name="TextBox 6"/>
          <p:cNvSpPr txBox="1"/>
          <p:nvPr/>
        </p:nvSpPr>
        <p:spPr>
          <a:xfrm>
            <a:off x="812800" y="1492250"/>
            <a:ext cx="694234"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Aug</a:t>
            </a:r>
          </a:p>
        </p:txBody>
      </p:sp>
      <p:sp>
        <p:nvSpPr>
          <p:cNvPr id="8" name="Rectangle 7"/>
          <p:cNvSpPr/>
          <p:nvPr/>
        </p:nvSpPr>
        <p:spPr>
          <a:xfrm>
            <a:off x="1494333" y="1798241"/>
            <a:ext cx="12700" cy="50800"/>
          </a:xfrm>
          <a:prstGeom prst="rect">
            <a:avLst/>
          </a:prstGeom>
          <a:solidFill>
            <a:srgbClr val="6B4A52"/>
          </a:solidFill>
          <a:ln>
            <a:noFill/>
          </a:ln>
          <a:effectLst/>
        </p:spPr>
        <p:txBody>
          <a:bodyPr rtlCol="0" anchor="ctr"/>
          <a:lstStyle/>
          <a:p>
            <a:pPr algn="ctr"/>
          </a:p>
        </p:txBody>
      </p:sp>
      <p:sp>
        <p:nvSpPr>
          <p:cNvPr id="9" name="Rectangle 8"/>
          <p:cNvSpPr/>
          <p:nvPr/>
        </p:nvSpPr>
        <p:spPr>
          <a:xfrm>
            <a:off x="1557834" y="1473200"/>
            <a:ext cx="2604691" cy="337741"/>
          </a:xfrm>
          <a:prstGeom prst="rect">
            <a:avLst/>
          </a:prstGeom>
          <a:noFill/>
          <a:ln>
            <a:noFill/>
          </a:ln>
          <a:effectLst/>
        </p:spPr>
        <p:txBody>
          <a:bodyPr rtlCol="0" anchor="ctr"/>
          <a:lstStyle/>
          <a:p>
            <a:pPr algn="ctr"/>
          </a:p>
        </p:txBody>
      </p:sp>
      <p:sp>
        <p:nvSpPr>
          <p:cNvPr id="10" name="Rectangle 9"/>
          <p:cNvSpPr/>
          <p:nvPr/>
        </p:nvSpPr>
        <p:spPr>
          <a:xfrm>
            <a:off x="1557834" y="1798241"/>
            <a:ext cx="2604691" cy="12700"/>
          </a:xfrm>
          <a:prstGeom prst="rect">
            <a:avLst/>
          </a:prstGeom>
          <a:solidFill>
            <a:srgbClr val="6B4A52"/>
          </a:solidFill>
          <a:ln>
            <a:noFill/>
          </a:ln>
          <a:effectLst/>
        </p:spPr>
        <p:txBody>
          <a:bodyPr rtlCol="0" anchor="ctr"/>
          <a:lstStyle/>
          <a:p>
            <a:pPr algn="ctr"/>
          </a:p>
        </p:txBody>
      </p:sp>
      <p:sp>
        <p:nvSpPr>
          <p:cNvPr id="11" name="Rectangle 10"/>
          <p:cNvSpPr/>
          <p:nvPr/>
        </p:nvSpPr>
        <p:spPr>
          <a:xfrm>
            <a:off x="1557834" y="1798241"/>
            <a:ext cx="12700" cy="50800"/>
          </a:xfrm>
          <a:prstGeom prst="rect">
            <a:avLst/>
          </a:prstGeom>
          <a:solidFill>
            <a:srgbClr val="6B4A52"/>
          </a:solidFill>
          <a:ln>
            <a:noFill/>
          </a:ln>
          <a:effectLst/>
        </p:spPr>
        <p:txBody>
          <a:bodyPr rtlCol="0" anchor="ctr"/>
          <a:lstStyle/>
          <a:p>
            <a:pPr algn="ctr"/>
          </a:p>
        </p:txBody>
      </p:sp>
      <p:sp>
        <p:nvSpPr>
          <p:cNvPr id="12" name="TextBox 11"/>
          <p:cNvSpPr txBox="1"/>
          <p:nvPr/>
        </p:nvSpPr>
        <p:spPr>
          <a:xfrm>
            <a:off x="1557834" y="1492250"/>
            <a:ext cx="2604691"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Sep</a:t>
            </a:r>
          </a:p>
        </p:txBody>
      </p:sp>
      <p:sp>
        <p:nvSpPr>
          <p:cNvPr id="13" name="Rectangle 12"/>
          <p:cNvSpPr/>
          <p:nvPr/>
        </p:nvSpPr>
        <p:spPr>
          <a:xfrm>
            <a:off x="4149827" y="1798241"/>
            <a:ext cx="12700" cy="50800"/>
          </a:xfrm>
          <a:prstGeom prst="rect">
            <a:avLst/>
          </a:prstGeom>
          <a:solidFill>
            <a:srgbClr val="6B4A52"/>
          </a:solidFill>
          <a:ln>
            <a:noFill/>
          </a:ln>
          <a:effectLst/>
        </p:spPr>
        <p:txBody>
          <a:bodyPr rtlCol="0" anchor="ctr"/>
          <a:lstStyle/>
          <a:p>
            <a:pPr algn="ctr"/>
          </a:p>
        </p:txBody>
      </p:sp>
      <p:sp>
        <p:nvSpPr>
          <p:cNvPr id="14" name="Rectangle 13"/>
          <p:cNvSpPr/>
          <p:nvPr/>
        </p:nvSpPr>
        <p:spPr>
          <a:xfrm>
            <a:off x="4213324" y="1473200"/>
            <a:ext cx="2630091" cy="337741"/>
          </a:xfrm>
          <a:prstGeom prst="rect">
            <a:avLst/>
          </a:prstGeom>
          <a:noFill/>
          <a:ln>
            <a:noFill/>
          </a:ln>
          <a:effectLst/>
        </p:spPr>
        <p:txBody>
          <a:bodyPr rtlCol="0" anchor="ctr"/>
          <a:lstStyle/>
          <a:p>
            <a:pPr algn="ctr"/>
          </a:p>
        </p:txBody>
      </p:sp>
      <p:sp>
        <p:nvSpPr>
          <p:cNvPr id="15" name="Rectangle 14"/>
          <p:cNvSpPr/>
          <p:nvPr/>
        </p:nvSpPr>
        <p:spPr>
          <a:xfrm>
            <a:off x="4213324" y="1798241"/>
            <a:ext cx="2630091" cy="12700"/>
          </a:xfrm>
          <a:prstGeom prst="rect">
            <a:avLst/>
          </a:prstGeom>
          <a:solidFill>
            <a:srgbClr val="6B4A52"/>
          </a:solidFill>
          <a:ln>
            <a:noFill/>
          </a:ln>
          <a:effectLst/>
        </p:spPr>
        <p:txBody>
          <a:bodyPr rtlCol="0" anchor="ctr"/>
          <a:lstStyle/>
          <a:p>
            <a:pPr algn="ctr"/>
          </a:p>
        </p:txBody>
      </p:sp>
      <p:sp>
        <p:nvSpPr>
          <p:cNvPr id="16" name="Rectangle 15"/>
          <p:cNvSpPr/>
          <p:nvPr/>
        </p:nvSpPr>
        <p:spPr>
          <a:xfrm>
            <a:off x="4213324" y="1798241"/>
            <a:ext cx="12700" cy="50800"/>
          </a:xfrm>
          <a:prstGeom prst="rect">
            <a:avLst/>
          </a:prstGeom>
          <a:solidFill>
            <a:srgbClr val="6B4A52"/>
          </a:solidFill>
          <a:ln>
            <a:noFill/>
          </a:ln>
          <a:effectLst/>
        </p:spPr>
        <p:txBody>
          <a:bodyPr rtlCol="0" anchor="ctr"/>
          <a:lstStyle/>
          <a:p>
            <a:pPr algn="ctr"/>
          </a:p>
        </p:txBody>
      </p:sp>
      <p:sp>
        <p:nvSpPr>
          <p:cNvPr id="17" name="TextBox 16"/>
          <p:cNvSpPr txBox="1"/>
          <p:nvPr/>
        </p:nvSpPr>
        <p:spPr>
          <a:xfrm>
            <a:off x="4213324" y="1492250"/>
            <a:ext cx="2630091"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Oct</a:t>
            </a:r>
          </a:p>
        </p:txBody>
      </p:sp>
      <p:sp>
        <p:nvSpPr>
          <p:cNvPr id="18" name="Rectangle 17"/>
          <p:cNvSpPr/>
          <p:nvPr/>
        </p:nvSpPr>
        <p:spPr>
          <a:xfrm>
            <a:off x="6830718" y="1798241"/>
            <a:ext cx="12700" cy="50800"/>
          </a:xfrm>
          <a:prstGeom prst="rect">
            <a:avLst/>
          </a:prstGeom>
          <a:solidFill>
            <a:srgbClr val="6B4A52"/>
          </a:solidFill>
          <a:ln>
            <a:noFill/>
          </a:ln>
          <a:effectLst/>
        </p:spPr>
        <p:txBody>
          <a:bodyPr rtlCol="0" anchor="ctr"/>
          <a:lstStyle/>
          <a:p>
            <a:pPr algn="ctr"/>
          </a:p>
        </p:txBody>
      </p:sp>
      <p:sp>
        <p:nvSpPr>
          <p:cNvPr id="19" name="Rectangle 18"/>
          <p:cNvSpPr/>
          <p:nvPr/>
        </p:nvSpPr>
        <p:spPr>
          <a:xfrm>
            <a:off x="6894215" y="1473200"/>
            <a:ext cx="2797373" cy="337741"/>
          </a:xfrm>
          <a:prstGeom prst="rect">
            <a:avLst/>
          </a:prstGeom>
          <a:noFill/>
          <a:ln>
            <a:noFill/>
          </a:ln>
          <a:effectLst/>
        </p:spPr>
        <p:txBody>
          <a:bodyPr rtlCol="0" anchor="ctr"/>
          <a:lstStyle/>
          <a:p>
            <a:pPr algn="ctr"/>
          </a:p>
        </p:txBody>
      </p:sp>
      <p:sp>
        <p:nvSpPr>
          <p:cNvPr id="20" name="Rectangle 19"/>
          <p:cNvSpPr/>
          <p:nvPr/>
        </p:nvSpPr>
        <p:spPr>
          <a:xfrm>
            <a:off x="6894215" y="1798241"/>
            <a:ext cx="2797373" cy="12700"/>
          </a:xfrm>
          <a:prstGeom prst="rect">
            <a:avLst/>
          </a:prstGeom>
          <a:solidFill>
            <a:srgbClr val="6B4A52"/>
          </a:solidFill>
          <a:ln>
            <a:noFill/>
          </a:ln>
          <a:effectLst/>
        </p:spPr>
        <p:txBody>
          <a:bodyPr rtlCol="0" anchor="ctr"/>
          <a:lstStyle/>
          <a:p>
            <a:pPr algn="ctr"/>
          </a:p>
        </p:txBody>
      </p:sp>
      <p:sp>
        <p:nvSpPr>
          <p:cNvPr id="21" name="Rectangle 20"/>
          <p:cNvSpPr/>
          <p:nvPr/>
        </p:nvSpPr>
        <p:spPr>
          <a:xfrm>
            <a:off x="6894215" y="1798241"/>
            <a:ext cx="12700" cy="50800"/>
          </a:xfrm>
          <a:prstGeom prst="rect">
            <a:avLst/>
          </a:prstGeom>
          <a:solidFill>
            <a:srgbClr val="6B4A52"/>
          </a:solidFill>
          <a:ln>
            <a:noFill/>
          </a:ln>
          <a:effectLst/>
        </p:spPr>
        <p:txBody>
          <a:bodyPr rtlCol="0" anchor="ctr"/>
          <a:lstStyle/>
          <a:p>
            <a:pPr algn="ctr"/>
          </a:p>
        </p:txBody>
      </p:sp>
      <p:sp>
        <p:nvSpPr>
          <p:cNvPr id="22" name="TextBox 21"/>
          <p:cNvSpPr txBox="1"/>
          <p:nvPr/>
        </p:nvSpPr>
        <p:spPr>
          <a:xfrm>
            <a:off x="6894215" y="1492250"/>
            <a:ext cx="279737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Nov</a:t>
            </a:r>
          </a:p>
        </p:txBody>
      </p:sp>
      <p:sp>
        <p:nvSpPr>
          <p:cNvPr id="23" name="Rectangle 22"/>
          <p:cNvSpPr/>
          <p:nvPr/>
        </p:nvSpPr>
        <p:spPr>
          <a:xfrm>
            <a:off x="9678887" y="1798241"/>
            <a:ext cx="12700" cy="50800"/>
          </a:xfrm>
          <a:prstGeom prst="rect">
            <a:avLst/>
          </a:prstGeom>
          <a:solidFill>
            <a:srgbClr val="6B4A52"/>
          </a:solidFill>
          <a:ln>
            <a:noFill/>
          </a:ln>
          <a:effectLst/>
        </p:spPr>
        <p:txBody>
          <a:bodyPr rtlCol="0" anchor="ctr"/>
          <a:lstStyle/>
          <a:p>
            <a:pPr algn="ctr"/>
          </a:p>
        </p:txBody>
      </p:sp>
      <p:sp>
        <p:nvSpPr>
          <p:cNvPr id="24" name="Rectangle 23"/>
          <p:cNvSpPr/>
          <p:nvPr/>
        </p:nvSpPr>
        <p:spPr>
          <a:xfrm>
            <a:off x="9742388" y="1473200"/>
            <a:ext cx="1636812" cy="337741"/>
          </a:xfrm>
          <a:prstGeom prst="rect">
            <a:avLst/>
          </a:prstGeom>
          <a:noFill/>
          <a:ln>
            <a:noFill/>
          </a:ln>
          <a:effectLst/>
        </p:spPr>
        <p:txBody>
          <a:bodyPr rtlCol="0" anchor="ctr"/>
          <a:lstStyle/>
          <a:p>
            <a:pPr algn="ctr"/>
          </a:p>
        </p:txBody>
      </p:sp>
      <p:sp>
        <p:nvSpPr>
          <p:cNvPr id="25" name="Rectangle 24"/>
          <p:cNvSpPr/>
          <p:nvPr/>
        </p:nvSpPr>
        <p:spPr>
          <a:xfrm>
            <a:off x="9742388" y="1798241"/>
            <a:ext cx="1636812" cy="12700"/>
          </a:xfrm>
          <a:prstGeom prst="rect">
            <a:avLst/>
          </a:prstGeom>
          <a:solidFill>
            <a:srgbClr val="6B4A52"/>
          </a:solidFill>
          <a:ln>
            <a:noFill/>
          </a:ln>
          <a:effectLst/>
        </p:spPr>
        <p:txBody>
          <a:bodyPr rtlCol="0" anchor="ctr"/>
          <a:lstStyle/>
          <a:p>
            <a:pPr algn="ctr"/>
          </a:p>
        </p:txBody>
      </p:sp>
      <p:sp>
        <p:nvSpPr>
          <p:cNvPr id="26" name="Rectangle 25"/>
          <p:cNvSpPr/>
          <p:nvPr/>
        </p:nvSpPr>
        <p:spPr>
          <a:xfrm>
            <a:off x="9742388" y="1798241"/>
            <a:ext cx="12700" cy="50800"/>
          </a:xfrm>
          <a:prstGeom prst="rect">
            <a:avLst/>
          </a:prstGeom>
          <a:solidFill>
            <a:srgbClr val="6B4A52"/>
          </a:solidFill>
          <a:ln>
            <a:noFill/>
          </a:ln>
          <a:effectLst/>
        </p:spPr>
        <p:txBody>
          <a:bodyPr rtlCol="0" anchor="ctr"/>
          <a:lstStyle/>
          <a:p>
            <a:pPr algn="ctr"/>
          </a:p>
        </p:txBody>
      </p:sp>
      <p:sp>
        <p:nvSpPr>
          <p:cNvPr id="27" name="TextBox 26"/>
          <p:cNvSpPr txBox="1"/>
          <p:nvPr/>
        </p:nvSpPr>
        <p:spPr>
          <a:xfrm>
            <a:off x="9742388" y="1492250"/>
            <a:ext cx="1636812"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Dec</a:t>
            </a:r>
          </a:p>
        </p:txBody>
      </p:sp>
      <p:sp>
        <p:nvSpPr>
          <p:cNvPr id="28" name="Rectangle 27"/>
          <p:cNvSpPr/>
          <p:nvPr/>
        </p:nvSpPr>
        <p:spPr>
          <a:xfrm>
            <a:off x="11366502" y="1798241"/>
            <a:ext cx="12700" cy="50800"/>
          </a:xfrm>
          <a:prstGeom prst="rect">
            <a:avLst/>
          </a:prstGeom>
          <a:solidFill>
            <a:srgbClr val="6B4A52"/>
          </a:solidFill>
          <a:ln>
            <a:noFill/>
          </a:ln>
          <a:effectLst/>
        </p:spPr>
        <p:txBody>
          <a:bodyPr rtlCol="0" anchor="ctr"/>
          <a:lstStyle/>
          <a:p>
            <a:pPr algn="ctr"/>
          </a:p>
        </p:txBody>
      </p:sp>
      <p:sp>
        <p:nvSpPr>
          <p:cNvPr id="29" name="Rounded Rectangle 28"/>
          <p:cNvSpPr/>
          <p:nvPr/>
        </p:nvSpPr>
        <p:spPr>
          <a:xfrm>
            <a:off x="812800"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30" name="TextBox 29"/>
          <p:cNvSpPr txBox="1"/>
          <p:nvPr/>
        </p:nvSpPr>
        <p:spPr>
          <a:xfrm>
            <a:off x="812800"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a:t>
            </a:r>
          </a:p>
        </p:txBody>
      </p:sp>
      <p:sp>
        <p:nvSpPr>
          <p:cNvPr id="31" name="Rounded Rectangle 30"/>
          <p:cNvSpPr/>
          <p:nvPr/>
        </p:nvSpPr>
        <p:spPr>
          <a:xfrm>
            <a:off x="1419423"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32" name="TextBox 31"/>
          <p:cNvSpPr txBox="1"/>
          <p:nvPr/>
        </p:nvSpPr>
        <p:spPr>
          <a:xfrm>
            <a:off x="1419423"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2</a:t>
            </a:r>
          </a:p>
        </p:txBody>
      </p:sp>
      <p:sp>
        <p:nvSpPr>
          <p:cNvPr id="33" name="Rounded Rectangle 32"/>
          <p:cNvSpPr/>
          <p:nvPr/>
        </p:nvSpPr>
        <p:spPr>
          <a:xfrm>
            <a:off x="2026146"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34" name="TextBox 33"/>
          <p:cNvSpPr txBox="1"/>
          <p:nvPr/>
        </p:nvSpPr>
        <p:spPr>
          <a:xfrm>
            <a:off x="2026146"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3</a:t>
            </a:r>
          </a:p>
        </p:txBody>
      </p:sp>
      <p:sp>
        <p:nvSpPr>
          <p:cNvPr id="35" name="Rounded Rectangle 34"/>
          <p:cNvSpPr/>
          <p:nvPr/>
        </p:nvSpPr>
        <p:spPr>
          <a:xfrm>
            <a:off x="2632770"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36" name="TextBox 35"/>
          <p:cNvSpPr txBox="1"/>
          <p:nvPr/>
        </p:nvSpPr>
        <p:spPr>
          <a:xfrm>
            <a:off x="2632770"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4</a:t>
            </a:r>
          </a:p>
        </p:txBody>
      </p:sp>
      <p:sp>
        <p:nvSpPr>
          <p:cNvPr id="37" name="Rounded Rectangle 36"/>
          <p:cNvSpPr/>
          <p:nvPr/>
        </p:nvSpPr>
        <p:spPr>
          <a:xfrm>
            <a:off x="3239492"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38" name="TextBox 37"/>
          <p:cNvSpPr txBox="1"/>
          <p:nvPr/>
        </p:nvSpPr>
        <p:spPr>
          <a:xfrm>
            <a:off x="3239492"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5</a:t>
            </a:r>
          </a:p>
        </p:txBody>
      </p:sp>
      <p:sp>
        <p:nvSpPr>
          <p:cNvPr id="39" name="Rounded Rectangle 38"/>
          <p:cNvSpPr/>
          <p:nvPr/>
        </p:nvSpPr>
        <p:spPr>
          <a:xfrm>
            <a:off x="3492004" y="2339181"/>
            <a:ext cx="50800" cy="50800"/>
          </a:xfrm>
          <a:prstGeom prst="roundRect">
            <a:avLst>
              <a:gd name="adj" fmla="val 50000"/>
            </a:avLst>
          </a:prstGeom>
          <a:solidFill>
            <a:srgbClr val="F2F1ED"/>
          </a:solidFill>
          <a:ln>
            <a:noFill/>
          </a:ln>
          <a:effectLst/>
        </p:spPr>
        <p:txBody>
          <a:bodyPr rtlCol="0" anchor="ctr"/>
          <a:lstStyle/>
          <a:p>
            <a:pPr algn="ctr"/>
          </a:p>
        </p:txBody>
      </p:sp>
      <p:sp>
        <p:nvSpPr>
          <p:cNvPr id="40" name="Rounded Rectangle 39"/>
          <p:cNvSpPr/>
          <p:nvPr/>
        </p:nvSpPr>
        <p:spPr>
          <a:xfrm>
            <a:off x="3846116"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41" name="TextBox 40"/>
          <p:cNvSpPr txBox="1"/>
          <p:nvPr/>
        </p:nvSpPr>
        <p:spPr>
          <a:xfrm>
            <a:off x="3846116"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6</a:t>
            </a:r>
          </a:p>
        </p:txBody>
      </p:sp>
      <p:sp>
        <p:nvSpPr>
          <p:cNvPr id="42" name="Rounded Rectangle 41"/>
          <p:cNvSpPr/>
          <p:nvPr/>
        </p:nvSpPr>
        <p:spPr>
          <a:xfrm>
            <a:off x="4098627" y="2339181"/>
            <a:ext cx="50800" cy="50800"/>
          </a:xfrm>
          <a:prstGeom prst="roundRect">
            <a:avLst>
              <a:gd name="adj" fmla="val 50000"/>
            </a:avLst>
          </a:prstGeom>
          <a:solidFill>
            <a:srgbClr val="F2F1ED"/>
          </a:solidFill>
          <a:ln>
            <a:noFill/>
          </a:ln>
          <a:effectLst/>
        </p:spPr>
        <p:txBody>
          <a:bodyPr rtlCol="0" anchor="ctr"/>
          <a:lstStyle/>
          <a:p>
            <a:pPr algn="ctr"/>
          </a:p>
        </p:txBody>
      </p:sp>
      <p:sp>
        <p:nvSpPr>
          <p:cNvPr id="43" name="Rounded Rectangle 42"/>
          <p:cNvSpPr/>
          <p:nvPr/>
        </p:nvSpPr>
        <p:spPr>
          <a:xfrm>
            <a:off x="4452838"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44" name="TextBox 43"/>
          <p:cNvSpPr txBox="1"/>
          <p:nvPr/>
        </p:nvSpPr>
        <p:spPr>
          <a:xfrm>
            <a:off x="4452838"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7</a:t>
            </a:r>
          </a:p>
        </p:txBody>
      </p:sp>
      <p:sp>
        <p:nvSpPr>
          <p:cNvPr id="45" name="Rounded Rectangle 44"/>
          <p:cNvSpPr/>
          <p:nvPr/>
        </p:nvSpPr>
        <p:spPr>
          <a:xfrm>
            <a:off x="5059462"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46" name="TextBox 45"/>
          <p:cNvSpPr txBox="1"/>
          <p:nvPr/>
        </p:nvSpPr>
        <p:spPr>
          <a:xfrm>
            <a:off x="5059462"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8</a:t>
            </a:r>
          </a:p>
        </p:txBody>
      </p:sp>
      <p:sp>
        <p:nvSpPr>
          <p:cNvPr id="47" name="Rounded Rectangle 46"/>
          <p:cNvSpPr/>
          <p:nvPr/>
        </p:nvSpPr>
        <p:spPr>
          <a:xfrm>
            <a:off x="5666184"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48" name="TextBox 47"/>
          <p:cNvSpPr txBox="1"/>
          <p:nvPr/>
        </p:nvSpPr>
        <p:spPr>
          <a:xfrm>
            <a:off x="5666184"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9</a:t>
            </a:r>
          </a:p>
        </p:txBody>
      </p:sp>
      <p:sp>
        <p:nvSpPr>
          <p:cNvPr id="49" name="Rounded Rectangle 48"/>
          <p:cNvSpPr/>
          <p:nvPr/>
        </p:nvSpPr>
        <p:spPr>
          <a:xfrm>
            <a:off x="6272907"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50" name="TextBox 49"/>
          <p:cNvSpPr txBox="1"/>
          <p:nvPr/>
        </p:nvSpPr>
        <p:spPr>
          <a:xfrm>
            <a:off x="6272907"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10</a:t>
            </a:r>
          </a:p>
        </p:txBody>
      </p:sp>
      <p:sp>
        <p:nvSpPr>
          <p:cNvPr id="51" name="Rounded Rectangle 50"/>
          <p:cNvSpPr/>
          <p:nvPr/>
        </p:nvSpPr>
        <p:spPr>
          <a:xfrm>
            <a:off x="6525419"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52" name="Rounded Rectangle 51"/>
          <p:cNvSpPr/>
          <p:nvPr/>
        </p:nvSpPr>
        <p:spPr>
          <a:xfrm>
            <a:off x="6879630"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53" name="TextBox 52"/>
          <p:cNvSpPr txBox="1"/>
          <p:nvPr/>
        </p:nvSpPr>
        <p:spPr>
          <a:xfrm>
            <a:off x="6879630"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11</a:t>
            </a:r>
          </a:p>
        </p:txBody>
      </p:sp>
      <p:sp>
        <p:nvSpPr>
          <p:cNvPr id="54" name="Rounded Rectangle 53"/>
          <p:cNvSpPr/>
          <p:nvPr/>
        </p:nvSpPr>
        <p:spPr>
          <a:xfrm>
            <a:off x="7132141"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55" name="Rounded Rectangle 54"/>
          <p:cNvSpPr/>
          <p:nvPr/>
        </p:nvSpPr>
        <p:spPr>
          <a:xfrm>
            <a:off x="7486352"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56" name="TextBox 55"/>
          <p:cNvSpPr txBox="1"/>
          <p:nvPr/>
        </p:nvSpPr>
        <p:spPr>
          <a:xfrm>
            <a:off x="7486352"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12</a:t>
            </a:r>
          </a:p>
        </p:txBody>
      </p:sp>
      <p:sp>
        <p:nvSpPr>
          <p:cNvPr id="57" name="Rounded Rectangle 56"/>
          <p:cNvSpPr/>
          <p:nvPr/>
        </p:nvSpPr>
        <p:spPr>
          <a:xfrm>
            <a:off x="8093075"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58" name="TextBox 57"/>
          <p:cNvSpPr txBox="1"/>
          <p:nvPr/>
        </p:nvSpPr>
        <p:spPr>
          <a:xfrm>
            <a:off x="8093075"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13</a:t>
            </a:r>
          </a:p>
        </p:txBody>
      </p:sp>
      <p:sp>
        <p:nvSpPr>
          <p:cNvPr id="59" name="Rounded Rectangle 58"/>
          <p:cNvSpPr/>
          <p:nvPr/>
        </p:nvSpPr>
        <p:spPr>
          <a:xfrm>
            <a:off x="8699798" y="1912541"/>
            <a:ext cx="859234" cy="502841"/>
          </a:xfrm>
          <a:prstGeom prst="roundRect">
            <a:avLst>
              <a:gd name="adj" fmla="val 5051"/>
            </a:avLst>
          </a:prstGeom>
          <a:noFill/>
          <a:ln w="12700">
            <a:solidFill>
              <a:srgbClr val="6B4A52"/>
            </a:solidFill>
            <a:prstDash val="dash"/>
          </a:ln>
          <a:effectLst/>
        </p:spPr>
        <p:txBody>
          <a:bodyPr rtlCol="0" anchor="ctr"/>
          <a:lstStyle/>
          <a:p>
            <a:pPr algn="ctr"/>
          </a:p>
        </p:txBody>
      </p:sp>
      <p:sp>
        <p:nvSpPr>
          <p:cNvPr id="60" name="TextBox 59"/>
          <p:cNvSpPr txBox="1"/>
          <p:nvPr/>
        </p:nvSpPr>
        <p:spPr>
          <a:xfrm>
            <a:off x="8712498" y="2033191"/>
            <a:ext cx="833834"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Break</a:t>
            </a:r>
          </a:p>
        </p:txBody>
      </p:sp>
      <p:sp>
        <p:nvSpPr>
          <p:cNvPr id="61" name="Rounded Rectangle 60"/>
          <p:cNvSpPr/>
          <p:nvPr/>
        </p:nvSpPr>
        <p:spPr>
          <a:xfrm>
            <a:off x="9609832"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62" name="TextBox 61"/>
          <p:cNvSpPr txBox="1"/>
          <p:nvPr/>
        </p:nvSpPr>
        <p:spPr>
          <a:xfrm>
            <a:off x="9609832"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14</a:t>
            </a:r>
          </a:p>
        </p:txBody>
      </p:sp>
      <p:sp>
        <p:nvSpPr>
          <p:cNvPr id="63" name="Rounded Rectangle 62"/>
          <p:cNvSpPr/>
          <p:nvPr/>
        </p:nvSpPr>
        <p:spPr>
          <a:xfrm>
            <a:off x="10216555"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64" name="TextBox 63"/>
          <p:cNvSpPr txBox="1"/>
          <p:nvPr/>
        </p:nvSpPr>
        <p:spPr>
          <a:xfrm>
            <a:off x="10216555"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15</a:t>
            </a:r>
          </a:p>
        </p:txBody>
      </p:sp>
      <p:sp>
        <p:nvSpPr>
          <p:cNvPr id="65" name="Rounded Rectangle 64"/>
          <p:cNvSpPr/>
          <p:nvPr/>
        </p:nvSpPr>
        <p:spPr>
          <a:xfrm>
            <a:off x="10823277"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66" name="TextBox 65"/>
          <p:cNvSpPr txBox="1"/>
          <p:nvPr/>
        </p:nvSpPr>
        <p:spPr>
          <a:xfrm>
            <a:off x="10823277"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16</a:t>
            </a:r>
          </a:p>
        </p:txBody>
      </p:sp>
      <p:sp>
        <p:nvSpPr>
          <p:cNvPr id="67" name="Rounded Rectangle 66"/>
          <p:cNvSpPr/>
          <p:nvPr/>
        </p:nvSpPr>
        <p:spPr>
          <a:xfrm>
            <a:off x="11075789"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68" name="Rounded Rectangle 67"/>
          <p:cNvSpPr/>
          <p:nvPr/>
        </p:nvSpPr>
        <p:spPr>
          <a:xfrm>
            <a:off x="812800" y="2618581"/>
            <a:ext cx="10566400" cy="528241"/>
          </a:xfrm>
          <a:prstGeom prst="roundRect">
            <a:avLst>
              <a:gd name="adj" fmla="val 12021"/>
            </a:avLst>
          </a:prstGeom>
          <a:solidFill>
            <a:srgbClr val="E9E3E4"/>
          </a:solidFill>
          <a:ln w="19050">
            <a:solidFill>
              <a:srgbClr val="861F41"/>
            </a:solidFill>
          </a:ln>
          <a:effectLst/>
        </p:spPr>
        <p:txBody>
          <a:bodyPr rtlCol="0" anchor="ctr"/>
          <a:lstStyle/>
          <a:p>
            <a:pPr algn="ctr"/>
          </a:p>
        </p:txBody>
      </p:sp>
      <p:sp>
        <p:nvSpPr>
          <p:cNvPr id="69" name="TextBox 68"/>
          <p:cNvSpPr txBox="1"/>
          <p:nvPr/>
        </p:nvSpPr>
        <p:spPr>
          <a:xfrm>
            <a:off x="984250" y="2796381"/>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1–2</a:t>
            </a:r>
          </a:p>
        </p:txBody>
      </p:sp>
      <p:sp>
        <p:nvSpPr>
          <p:cNvPr id="70" name="TextBox 69"/>
          <p:cNvSpPr txBox="1"/>
          <p:nvPr/>
        </p:nvSpPr>
        <p:spPr>
          <a:xfrm>
            <a:off x="2660650" y="2720181"/>
            <a:ext cx="83947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Java foundations — testing, exceptions, polymorphism</a:t>
            </a:r>
          </a:p>
        </p:txBody>
      </p:sp>
      <p:sp>
        <p:nvSpPr>
          <p:cNvPr id="71" name="Rounded Rectangle 70"/>
          <p:cNvSpPr/>
          <p:nvPr/>
        </p:nvSpPr>
        <p:spPr>
          <a:xfrm>
            <a:off x="812800" y="3248422"/>
            <a:ext cx="10566400" cy="528241"/>
          </a:xfrm>
          <a:prstGeom prst="roundRect">
            <a:avLst>
              <a:gd name="adj" fmla="val 12021"/>
            </a:avLst>
          </a:prstGeom>
          <a:solidFill>
            <a:srgbClr val="E9E3E4"/>
          </a:solidFill>
          <a:ln w="19050">
            <a:solidFill>
              <a:srgbClr val="861F41"/>
            </a:solidFill>
          </a:ln>
          <a:effectLst/>
        </p:spPr>
        <p:txBody>
          <a:bodyPr rtlCol="0" anchor="ctr"/>
          <a:lstStyle/>
          <a:p>
            <a:pPr algn="ctr"/>
          </a:p>
        </p:txBody>
      </p:sp>
      <p:sp>
        <p:nvSpPr>
          <p:cNvPr id="72" name="TextBox 71"/>
          <p:cNvSpPr txBox="1"/>
          <p:nvPr/>
        </p:nvSpPr>
        <p:spPr>
          <a:xfrm>
            <a:off x="984250" y="3426222"/>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3–5</a:t>
            </a:r>
          </a:p>
        </p:txBody>
      </p:sp>
      <p:sp>
        <p:nvSpPr>
          <p:cNvPr id="73" name="TextBox 72"/>
          <p:cNvSpPr txBox="1"/>
          <p:nvPr/>
        </p:nvSpPr>
        <p:spPr>
          <a:xfrm>
            <a:off x="2660650" y="3350022"/>
            <a:ext cx="812036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Bags, linked chains, efficiency, stacks · Test 1 Wk 5</a:t>
            </a:r>
          </a:p>
        </p:txBody>
      </p:sp>
      <p:sp>
        <p:nvSpPr>
          <p:cNvPr id="74" name="TextBox 73"/>
          <p:cNvSpPr txBox="1"/>
          <p:nvPr/>
        </p:nvSpPr>
        <p:spPr>
          <a:xfrm>
            <a:off x="10933410" y="3426222"/>
            <a:ext cx="27434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P1</a:t>
            </a:r>
          </a:p>
        </p:txBody>
      </p:sp>
      <p:sp>
        <p:nvSpPr>
          <p:cNvPr id="75" name="Rounded Rectangle 74"/>
          <p:cNvSpPr/>
          <p:nvPr/>
        </p:nvSpPr>
        <p:spPr>
          <a:xfrm>
            <a:off x="812800" y="3878262"/>
            <a:ext cx="10566400" cy="528241"/>
          </a:xfrm>
          <a:prstGeom prst="roundRect">
            <a:avLst>
              <a:gd name="adj" fmla="val 12021"/>
            </a:avLst>
          </a:prstGeom>
          <a:solidFill>
            <a:srgbClr val="E9E3E4"/>
          </a:solidFill>
          <a:ln w="19050">
            <a:solidFill>
              <a:srgbClr val="861F41"/>
            </a:solidFill>
          </a:ln>
          <a:effectLst/>
        </p:spPr>
        <p:txBody>
          <a:bodyPr rtlCol="0" anchor="ctr"/>
          <a:lstStyle/>
          <a:p>
            <a:pPr algn="ctr"/>
          </a:p>
        </p:txBody>
      </p:sp>
      <p:sp>
        <p:nvSpPr>
          <p:cNvPr id="76" name="TextBox 75"/>
          <p:cNvSpPr txBox="1"/>
          <p:nvPr/>
        </p:nvSpPr>
        <p:spPr>
          <a:xfrm>
            <a:off x="984250" y="4056062"/>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6–9</a:t>
            </a:r>
          </a:p>
        </p:txBody>
      </p:sp>
      <p:sp>
        <p:nvSpPr>
          <p:cNvPr id="77" name="TextBox 76"/>
          <p:cNvSpPr txBox="1"/>
          <p:nvPr/>
        </p:nvSpPr>
        <p:spPr>
          <a:xfrm>
            <a:off x="2660650" y="3979862"/>
            <a:ext cx="812036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Ethics &amp; MVC, recursion, queues, lists · Test 1 redo Wk 6</a:t>
            </a:r>
          </a:p>
        </p:txBody>
      </p:sp>
      <p:sp>
        <p:nvSpPr>
          <p:cNvPr id="78" name="TextBox 77"/>
          <p:cNvSpPr txBox="1"/>
          <p:nvPr/>
        </p:nvSpPr>
        <p:spPr>
          <a:xfrm>
            <a:off x="10933410" y="4056062"/>
            <a:ext cx="27434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P2</a:t>
            </a:r>
          </a:p>
        </p:txBody>
      </p:sp>
      <p:sp>
        <p:nvSpPr>
          <p:cNvPr id="79" name="Rounded Rectangle 78"/>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80" name="TextBox 79"/>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9 / 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The semester at a glance</a:t>
            </a:r>
          </a:p>
        </p:txBody>
      </p:sp>
      <p:sp>
        <p:nvSpPr>
          <p:cNvPr id="4" name="Rectangle 3"/>
          <p:cNvSpPr/>
          <p:nvPr/>
        </p:nvSpPr>
        <p:spPr>
          <a:xfrm>
            <a:off x="812800" y="1473200"/>
            <a:ext cx="694234" cy="337741"/>
          </a:xfrm>
          <a:prstGeom prst="rect">
            <a:avLst/>
          </a:prstGeom>
          <a:noFill/>
          <a:ln>
            <a:noFill/>
          </a:ln>
          <a:effectLst/>
        </p:spPr>
        <p:txBody>
          <a:bodyPr rtlCol="0" anchor="ctr"/>
          <a:lstStyle/>
          <a:p>
            <a:pPr algn="ctr"/>
          </a:p>
        </p:txBody>
      </p:sp>
      <p:sp>
        <p:nvSpPr>
          <p:cNvPr id="5" name="Rectangle 4"/>
          <p:cNvSpPr/>
          <p:nvPr/>
        </p:nvSpPr>
        <p:spPr>
          <a:xfrm>
            <a:off x="812800" y="1798241"/>
            <a:ext cx="694234" cy="12700"/>
          </a:xfrm>
          <a:prstGeom prst="rect">
            <a:avLst/>
          </a:prstGeom>
          <a:solidFill>
            <a:srgbClr val="6B4A52"/>
          </a:solidFill>
          <a:ln>
            <a:noFill/>
          </a:ln>
          <a:effectLst/>
        </p:spPr>
        <p:txBody>
          <a:bodyPr rtlCol="0" anchor="ctr"/>
          <a:lstStyle/>
          <a:p>
            <a:pPr algn="ctr"/>
          </a:p>
        </p:txBody>
      </p:sp>
      <p:sp>
        <p:nvSpPr>
          <p:cNvPr id="6" name="Rectangle 5"/>
          <p:cNvSpPr/>
          <p:nvPr/>
        </p:nvSpPr>
        <p:spPr>
          <a:xfrm>
            <a:off x="812800" y="1798241"/>
            <a:ext cx="12700" cy="50800"/>
          </a:xfrm>
          <a:prstGeom prst="rect">
            <a:avLst/>
          </a:prstGeom>
          <a:solidFill>
            <a:srgbClr val="6B4A52"/>
          </a:solidFill>
          <a:ln>
            <a:noFill/>
          </a:ln>
          <a:effectLst/>
        </p:spPr>
        <p:txBody>
          <a:bodyPr rtlCol="0" anchor="ctr"/>
          <a:lstStyle/>
          <a:p>
            <a:pPr algn="ctr"/>
          </a:p>
        </p:txBody>
      </p:sp>
      <p:sp>
        <p:nvSpPr>
          <p:cNvPr id="7" name="TextBox 6"/>
          <p:cNvSpPr txBox="1"/>
          <p:nvPr/>
        </p:nvSpPr>
        <p:spPr>
          <a:xfrm>
            <a:off x="812800" y="1492250"/>
            <a:ext cx="694234"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Aug</a:t>
            </a:r>
          </a:p>
        </p:txBody>
      </p:sp>
      <p:sp>
        <p:nvSpPr>
          <p:cNvPr id="8" name="Rectangle 7"/>
          <p:cNvSpPr/>
          <p:nvPr/>
        </p:nvSpPr>
        <p:spPr>
          <a:xfrm>
            <a:off x="1494333" y="1798241"/>
            <a:ext cx="12700" cy="50800"/>
          </a:xfrm>
          <a:prstGeom prst="rect">
            <a:avLst/>
          </a:prstGeom>
          <a:solidFill>
            <a:srgbClr val="6B4A52"/>
          </a:solidFill>
          <a:ln>
            <a:noFill/>
          </a:ln>
          <a:effectLst/>
        </p:spPr>
        <p:txBody>
          <a:bodyPr rtlCol="0" anchor="ctr"/>
          <a:lstStyle/>
          <a:p>
            <a:pPr algn="ctr"/>
          </a:p>
        </p:txBody>
      </p:sp>
      <p:sp>
        <p:nvSpPr>
          <p:cNvPr id="9" name="Rectangle 8"/>
          <p:cNvSpPr/>
          <p:nvPr/>
        </p:nvSpPr>
        <p:spPr>
          <a:xfrm>
            <a:off x="1557834" y="1473200"/>
            <a:ext cx="2604691" cy="337741"/>
          </a:xfrm>
          <a:prstGeom prst="rect">
            <a:avLst/>
          </a:prstGeom>
          <a:noFill/>
          <a:ln>
            <a:noFill/>
          </a:ln>
          <a:effectLst/>
        </p:spPr>
        <p:txBody>
          <a:bodyPr rtlCol="0" anchor="ctr"/>
          <a:lstStyle/>
          <a:p>
            <a:pPr algn="ctr"/>
          </a:p>
        </p:txBody>
      </p:sp>
      <p:sp>
        <p:nvSpPr>
          <p:cNvPr id="10" name="Rectangle 9"/>
          <p:cNvSpPr/>
          <p:nvPr/>
        </p:nvSpPr>
        <p:spPr>
          <a:xfrm>
            <a:off x="1557834" y="1798241"/>
            <a:ext cx="2604691" cy="12700"/>
          </a:xfrm>
          <a:prstGeom prst="rect">
            <a:avLst/>
          </a:prstGeom>
          <a:solidFill>
            <a:srgbClr val="6B4A52"/>
          </a:solidFill>
          <a:ln>
            <a:noFill/>
          </a:ln>
          <a:effectLst/>
        </p:spPr>
        <p:txBody>
          <a:bodyPr rtlCol="0" anchor="ctr"/>
          <a:lstStyle/>
          <a:p>
            <a:pPr algn="ctr"/>
          </a:p>
        </p:txBody>
      </p:sp>
      <p:sp>
        <p:nvSpPr>
          <p:cNvPr id="11" name="Rectangle 10"/>
          <p:cNvSpPr/>
          <p:nvPr/>
        </p:nvSpPr>
        <p:spPr>
          <a:xfrm>
            <a:off x="1557834" y="1798241"/>
            <a:ext cx="12700" cy="50800"/>
          </a:xfrm>
          <a:prstGeom prst="rect">
            <a:avLst/>
          </a:prstGeom>
          <a:solidFill>
            <a:srgbClr val="6B4A52"/>
          </a:solidFill>
          <a:ln>
            <a:noFill/>
          </a:ln>
          <a:effectLst/>
        </p:spPr>
        <p:txBody>
          <a:bodyPr rtlCol="0" anchor="ctr"/>
          <a:lstStyle/>
          <a:p>
            <a:pPr algn="ctr"/>
          </a:p>
        </p:txBody>
      </p:sp>
      <p:sp>
        <p:nvSpPr>
          <p:cNvPr id="12" name="TextBox 11"/>
          <p:cNvSpPr txBox="1"/>
          <p:nvPr/>
        </p:nvSpPr>
        <p:spPr>
          <a:xfrm>
            <a:off x="1557834" y="1492250"/>
            <a:ext cx="2604691"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Sep</a:t>
            </a:r>
          </a:p>
        </p:txBody>
      </p:sp>
      <p:sp>
        <p:nvSpPr>
          <p:cNvPr id="13" name="Rectangle 12"/>
          <p:cNvSpPr/>
          <p:nvPr/>
        </p:nvSpPr>
        <p:spPr>
          <a:xfrm>
            <a:off x="4149827" y="1798241"/>
            <a:ext cx="12700" cy="50800"/>
          </a:xfrm>
          <a:prstGeom prst="rect">
            <a:avLst/>
          </a:prstGeom>
          <a:solidFill>
            <a:srgbClr val="6B4A52"/>
          </a:solidFill>
          <a:ln>
            <a:noFill/>
          </a:ln>
          <a:effectLst/>
        </p:spPr>
        <p:txBody>
          <a:bodyPr rtlCol="0" anchor="ctr"/>
          <a:lstStyle/>
          <a:p>
            <a:pPr algn="ctr"/>
          </a:p>
        </p:txBody>
      </p:sp>
      <p:sp>
        <p:nvSpPr>
          <p:cNvPr id="14" name="Rectangle 13"/>
          <p:cNvSpPr/>
          <p:nvPr/>
        </p:nvSpPr>
        <p:spPr>
          <a:xfrm>
            <a:off x="4213324" y="1473200"/>
            <a:ext cx="2630091" cy="337741"/>
          </a:xfrm>
          <a:prstGeom prst="rect">
            <a:avLst/>
          </a:prstGeom>
          <a:noFill/>
          <a:ln>
            <a:noFill/>
          </a:ln>
          <a:effectLst/>
        </p:spPr>
        <p:txBody>
          <a:bodyPr rtlCol="0" anchor="ctr"/>
          <a:lstStyle/>
          <a:p>
            <a:pPr algn="ctr"/>
          </a:p>
        </p:txBody>
      </p:sp>
      <p:sp>
        <p:nvSpPr>
          <p:cNvPr id="15" name="Rectangle 14"/>
          <p:cNvSpPr/>
          <p:nvPr/>
        </p:nvSpPr>
        <p:spPr>
          <a:xfrm>
            <a:off x="4213324" y="1798241"/>
            <a:ext cx="2630091" cy="12700"/>
          </a:xfrm>
          <a:prstGeom prst="rect">
            <a:avLst/>
          </a:prstGeom>
          <a:solidFill>
            <a:srgbClr val="6B4A52"/>
          </a:solidFill>
          <a:ln>
            <a:noFill/>
          </a:ln>
          <a:effectLst/>
        </p:spPr>
        <p:txBody>
          <a:bodyPr rtlCol="0" anchor="ctr"/>
          <a:lstStyle/>
          <a:p>
            <a:pPr algn="ctr"/>
          </a:p>
        </p:txBody>
      </p:sp>
      <p:sp>
        <p:nvSpPr>
          <p:cNvPr id="16" name="Rectangle 15"/>
          <p:cNvSpPr/>
          <p:nvPr/>
        </p:nvSpPr>
        <p:spPr>
          <a:xfrm>
            <a:off x="4213324" y="1798241"/>
            <a:ext cx="12700" cy="50800"/>
          </a:xfrm>
          <a:prstGeom prst="rect">
            <a:avLst/>
          </a:prstGeom>
          <a:solidFill>
            <a:srgbClr val="6B4A52"/>
          </a:solidFill>
          <a:ln>
            <a:noFill/>
          </a:ln>
          <a:effectLst/>
        </p:spPr>
        <p:txBody>
          <a:bodyPr rtlCol="0" anchor="ctr"/>
          <a:lstStyle/>
          <a:p>
            <a:pPr algn="ctr"/>
          </a:p>
        </p:txBody>
      </p:sp>
      <p:sp>
        <p:nvSpPr>
          <p:cNvPr id="17" name="TextBox 16"/>
          <p:cNvSpPr txBox="1"/>
          <p:nvPr/>
        </p:nvSpPr>
        <p:spPr>
          <a:xfrm>
            <a:off x="4213324" y="1492250"/>
            <a:ext cx="2630091"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Oct</a:t>
            </a:r>
          </a:p>
        </p:txBody>
      </p:sp>
      <p:sp>
        <p:nvSpPr>
          <p:cNvPr id="18" name="Rectangle 17"/>
          <p:cNvSpPr/>
          <p:nvPr/>
        </p:nvSpPr>
        <p:spPr>
          <a:xfrm>
            <a:off x="6830718" y="1798241"/>
            <a:ext cx="12700" cy="50800"/>
          </a:xfrm>
          <a:prstGeom prst="rect">
            <a:avLst/>
          </a:prstGeom>
          <a:solidFill>
            <a:srgbClr val="6B4A52"/>
          </a:solidFill>
          <a:ln>
            <a:noFill/>
          </a:ln>
          <a:effectLst/>
        </p:spPr>
        <p:txBody>
          <a:bodyPr rtlCol="0" anchor="ctr"/>
          <a:lstStyle/>
          <a:p>
            <a:pPr algn="ctr"/>
          </a:p>
        </p:txBody>
      </p:sp>
      <p:sp>
        <p:nvSpPr>
          <p:cNvPr id="19" name="Rectangle 18"/>
          <p:cNvSpPr/>
          <p:nvPr/>
        </p:nvSpPr>
        <p:spPr>
          <a:xfrm>
            <a:off x="6894215" y="1473200"/>
            <a:ext cx="2797373" cy="337741"/>
          </a:xfrm>
          <a:prstGeom prst="rect">
            <a:avLst/>
          </a:prstGeom>
          <a:noFill/>
          <a:ln>
            <a:noFill/>
          </a:ln>
          <a:effectLst/>
        </p:spPr>
        <p:txBody>
          <a:bodyPr rtlCol="0" anchor="ctr"/>
          <a:lstStyle/>
          <a:p>
            <a:pPr algn="ctr"/>
          </a:p>
        </p:txBody>
      </p:sp>
      <p:sp>
        <p:nvSpPr>
          <p:cNvPr id="20" name="Rectangle 19"/>
          <p:cNvSpPr/>
          <p:nvPr/>
        </p:nvSpPr>
        <p:spPr>
          <a:xfrm>
            <a:off x="6894215" y="1798241"/>
            <a:ext cx="2797373" cy="12700"/>
          </a:xfrm>
          <a:prstGeom prst="rect">
            <a:avLst/>
          </a:prstGeom>
          <a:solidFill>
            <a:srgbClr val="6B4A52"/>
          </a:solidFill>
          <a:ln>
            <a:noFill/>
          </a:ln>
          <a:effectLst/>
        </p:spPr>
        <p:txBody>
          <a:bodyPr rtlCol="0" anchor="ctr"/>
          <a:lstStyle/>
          <a:p>
            <a:pPr algn="ctr"/>
          </a:p>
        </p:txBody>
      </p:sp>
      <p:sp>
        <p:nvSpPr>
          <p:cNvPr id="21" name="Rectangle 20"/>
          <p:cNvSpPr/>
          <p:nvPr/>
        </p:nvSpPr>
        <p:spPr>
          <a:xfrm>
            <a:off x="6894215" y="1798241"/>
            <a:ext cx="12700" cy="50800"/>
          </a:xfrm>
          <a:prstGeom prst="rect">
            <a:avLst/>
          </a:prstGeom>
          <a:solidFill>
            <a:srgbClr val="6B4A52"/>
          </a:solidFill>
          <a:ln>
            <a:noFill/>
          </a:ln>
          <a:effectLst/>
        </p:spPr>
        <p:txBody>
          <a:bodyPr rtlCol="0" anchor="ctr"/>
          <a:lstStyle/>
          <a:p>
            <a:pPr algn="ctr"/>
          </a:p>
        </p:txBody>
      </p:sp>
      <p:sp>
        <p:nvSpPr>
          <p:cNvPr id="22" name="TextBox 21"/>
          <p:cNvSpPr txBox="1"/>
          <p:nvPr/>
        </p:nvSpPr>
        <p:spPr>
          <a:xfrm>
            <a:off x="6894215" y="1492250"/>
            <a:ext cx="279737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Nov</a:t>
            </a:r>
          </a:p>
        </p:txBody>
      </p:sp>
      <p:sp>
        <p:nvSpPr>
          <p:cNvPr id="23" name="Rectangle 22"/>
          <p:cNvSpPr/>
          <p:nvPr/>
        </p:nvSpPr>
        <p:spPr>
          <a:xfrm>
            <a:off x="9678887" y="1798241"/>
            <a:ext cx="12700" cy="50800"/>
          </a:xfrm>
          <a:prstGeom prst="rect">
            <a:avLst/>
          </a:prstGeom>
          <a:solidFill>
            <a:srgbClr val="6B4A52"/>
          </a:solidFill>
          <a:ln>
            <a:noFill/>
          </a:ln>
          <a:effectLst/>
        </p:spPr>
        <p:txBody>
          <a:bodyPr rtlCol="0" anchor="ctr"/>
          <a:lstStyle/>
          <a:p>
            <a:pPr algn="ctr"/>
          </a:p>
        </p:txBody>
      </p:sp>
      <p:sp>
        <p:nvSpPr>
          <p:cNvPr id="24" name="Rectangle 23"/>
          <p:cNvSpPr/>
          <p:nvPr/>
        </p:nvSpPr>
        <p:spPr>
          <a:xfrm>
            <a:off x="9742388" y="1473200"/>
            <a:ext cx="1636812" cy="337741"/>
          </a:xfrm>
          <a:prstGeom prst="rect">
            <a:avLst/>
          </a:prstGeom>
          <a:noFill/>
          <a:ln>
            <a:noFill/>
          </a:ln>
          <a:effectLst/>
        </p:spPr>
        <p:txBody>
          <a:bodyPr rtlCol="0" anchor="ctr"/>
          <a:lstStyle/>
          <a:p>
            <a:pPr algn="ctr"/>
          </a:p>
        </p:txBody>
      </p:sp>
      <p:sp>
        <p:nvSpPr>
          <p:cNvPr id="25" name="Rectangle 24"/>
          <p:cNvSpPr/>
          <p:nvPr/>
        </p:nvSpPr>
        <p:spPr>
          <a:xfrm>
            <a:off x="9742388" y="1798241"/>
            <a:ext cx="1636812" cy="12700"/>
          </a:xfrm>
          <a:prstGeom prst="rect">
            <a:avLst/>
          </a:prstGeom>
          <a:solidFill>
            <a:srgbClr val="6B4A52"/>
          </a:solidFill>
          <a:ln>
            <a:noFill/>
          </a:ln>
          <a:effectLst/>
        </p:spPr>
        <p:txBody>
          <a:bodyPr rtlCol="0" anchor="ctr"/>
          <a:lstStyle/>
          <a:p>
            <a:pPr algn="ctr"/>
          </a:p>
        </p:txBody>
      </p:sp>
      <p:sp>
        <p:nvSpPr>
          <p:cNvPr id="26" name="Rectangle 25"/>
          <p:cNvSpPr/>
          <p:nvPr/>
        </p:nvSpPr>
        <p:spPr>
          <a:xfrm>
            <a:off x="9742388" y="1798241"/>
            <a:ext cx="12700" cy="50800"/>
          </a:xfrm>
          <a:prstGeom prst="rect">
            <a:avLst/>
          </a:prstGeom>
          <a:solidFill>
            <a:srgbClr val="6B4A52"/>
          </a:solidFill>
          <a:ln>
            <a:noFill/>
          </a:ln>
          <a:effectLst/>
        </p:spPr>
        <p:txBody>
          <a:bodyPr rtlCol="0" anchor="ctr"/>
          <a:lstStyle/>
          <a:p>
            <a:pPr algn="ctr"/>
          </a:p>
        </p:txBody>
      </p:sp>
      <p:sp>
        <p:nvSpPr>
          <p:cNvPr id="27" name="TextBox 26"/>
          <p:cNvSpPr txBox="1"/>
          <p:nvPr/>
        </p:nvSpPr>
        <p:spPr>
          <a:xfrm>
            <a:off x="9742388" y="1492250"/>
            <a:ext cx="1636812"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Dec</a:t>
            </a:r>
          </a:p>
        </p:txBody>
      </p:sp>
      <p:sp>
        <p:nvSpPr>
          <p:cNvPr id="28" name="Rectangle 27"/>
          <p:cNvSpPr/>
          <p:nvPr/>
        </p:nvSpPr>
        <p:spPr>
          <a:xfrm>
            <a:off x="11366502" y="1798241"/>
            <a:ext cx="12700" cy="50800"/>
          </a:xfrm>
          <a:prstGeom prst="rect">
            <a:avLst/>
          </a:prstGeom>
          <a:solidFill>
            <a:srgbClr val="6B4A52"/>
          </a:solidFill>
          <a:ln>
            <a:noFill/>
          </a:ln>
          <a:effectLst/>
        </p:spPr>
        <p:txBody>
          <a:bodyPr rtlCol="0" anchor="ctr"/>
          <a:lstStyle/>
          <a:p>
            <a:pPr algn="ctr"/>
          </a:p>
        </p:txBody>
      </p:sp>
      <p:sp>
        <p:nvSpPr>
          <p:cNvPr id="29" name="Rounded Rectangle 28"/>
          <p:cNvSpPr/>
          <p:nvPr/>
        </p:nvSpPr>
        <p:spPr>
          <a:xfrm>
            <a:off x="812800"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30" name="TextBox 29"/>
          <p:cNvSpPr txBox="1"/>
          <p:nvPr/>
        </p:nvSpPr>
        <p:spPr>
          <a:xfrm>
            <a:off x="812800"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a:t>
            </a:r>
          </a:p>
        </p:txBody>
      </p:sp>
      <p:sp>
        <p:nvSpPr>
          <p:cNvPr id="31" name="Rounded Rectangle 30"/>
          <p:cNvSpPr/>
          <p:nvPr/>
        </p:nvSpPr>
        <p:spPr>
          <a:xfrm>
            <a:off x="1419423"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32" name="TextBox 31"/>
          <p:cNvSpPr txBox="1"/>
          <p:nvPr/>
        </p:nvSpPr>
        <p:spPr>
          <a:xfrm>
            <a:off x="1419423"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2</a:t>
            </a:r>
          </a:p>
        </p:txBody>
      </p:sp>
      <p:sp>
        <p:nvSpPr>
          <p:cNvPr id="33" name="Rounded Rectangle 32"/>
          <p:cNvSpPr/>
          <p:nvPr/>
        </p:nvSpPr>
        <p:spPr>
          <a:xfrm>
            <a:off x="2026146"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34" name="TextBox 33"/>
          <p:cNvSpPr txBox="1"/>
          <p:nvPr/>
        </p:nvSpPr>
        <p:spPr>
          <a:xfrm>
            <a:off x="2026146"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3</a:t>
            </a:r>
          </a:p>
        </p:txBody>
      </p:sp>
      <p:sp>
        <p:nvSpPr>
          <p:cNvPr id="35" name="Rounded Rectangle 34"/>
          <p:cNvSpPr/>
          <p:nvPr/>
        </p:nvSpPr>
        <p:spPr>
          <a:xfrm>
            <a:off x="2632770"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36" name="TextBox 35"/>
          <p:cNvSpPr txBox="1"/>
          <p:nvPr/>
        </p:nvSpPr>
        <p:spPr>
          <a:xfrm>
            <a:off x="2632770"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4</a:t>
            </a:r>
          </a:p>
        </p:txBody>
      </p:sp>
      <p:sp>
        <p:nvSpPr>
          <p:cNvPr id="37" name="Rounded Rectangle 36"/>
          <p:cNvSpPr/>
          <p:nvPr/>
        </p:nvSpPr>
        <p:spPr>
          <a:xfrm>
            <a:off x="3239492"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38" name="TextBox 37"/>
          <p:cNvSpPr txBox="1"/>
          <p:nvPr/>
        </p:nvSpPr>
        <p:spPr>
          <a:xfrm>
            <a:off x="3239492"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5</a:t>
            </a:r>
          </a:p>
        </p:txBody>
      </p:sp>
      <p:sp>
        <p:nvSpPr>
          <p:cNvPr id="39" name="Rounded Rectangle 38"/>
          <p:cNvSpPr/>
          <p:nvPr/>
        </p:nvSpPr>
        <p:spPr>
          <a:xfrm>
            <a:off x="3492004" y="2339181"/>
            <a:ext cx="50800" cy="50800"/>
          </a:xfrm>
          <a:prstGeom prst="roundRect">
            <a:avLst>
              <a:gd name="adj" fmla="val 50000"/>
            </a:avLst>
          </a:prstGeom>
          <a:solidFill>
            <a:srgbClr val="F2F1ED"/>
          </a:solidFill>
          <a:ln>
            <a:noFill/>
          </a:ln>
          <a:effectLst/>
        </p:spPr>
        <p:txBody>
          <a:bodyPr rtlCol="0" anchor="ctr"/>
          <a:lstStyle/>
          <a:p>
            <a:pPr algn="ctr"/>
          </a:p>
        </p:txBody>
      </p:sp>
      <p:sp>
        <p:nvSpPr>
          <p:cNvPr id="40" name="Rounded Rectangle 39"/>
          <p:cNvSpPr/>
          <p:nvPr/>
        </p:nvSpPr>
        <p:spPr>
          <a:xfrm>
            <a:off x="3846116"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41" name="TextBox 40"/>
          <p:cNvSpPr txBox="1"/>
          <p:nvPr/>
        </p:nvSpPr>
        <p:spPr>
          <a:xfrm>
            <a:off x="3846116"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6</a:t>
            </a:r>
          </a:p>
        </p:txBody>
      </p:sp>
      <p:sp>
        <p:nvSpPr>
          <p:cNvPr id="42" name="Rounded Rectangle 41"/>
          <p:cNvSpPr/>
          <p:nvPr/>
        </p:nvSpPr>
        <p:spPr>
          <a:xfrm>
            <a:off x="4098627" y="2339181"/>
            <a:ext cx="50800" cy="50800"/>
          </a:xfrm>
          <a:prstGeom prst="roundRect">
            <a:avLst>
              <a:gd name="adj" fmla="val 50000"/>
            </a:avLst>
          </a:prstGeom>
          <a:solidFill>
            <a:srgbClr val="F2F1ED"/>
          </a:solidFill>
          <a:ln>
            <a:noFill/>
          </a:ln>
          <a:effectLst/>
        </p:spPr>
        <p:txBody>
          <a:bodyPr rtlCol="0" anchor="ctr"/>
          <a:lstStyle/>
          <a:p>
            <a:pPr algn="ctr"/>
          </a:p>
        </p:txBody>
      </p:sp>
      <p:sp>
        <p:nvSpPr>
          <p:cNvPr id="43" name="Rounded Rectangle 42"/>
          <p:cNvSpPr/>
          <p:nvPr/>
        </p:nvSpPr>
        <p:spPr>
          <a:xfrm>
            <a:off x="4452838"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44" name="TextBox 43"/>
          <p:cNvSpPr txBox="1"/>
          <p:nvPr/>
        </p:nvSpPr>
        <p:spPr>
          <a:xfrm>
            <a:off x="4452838"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7</a:t>
            </a:r>
          </a:p>
        </p:txBody>
      </p:sp>
      <p:sp>
        <p:nvSpPr>
          <p:cNvPr id="45" name="Rounded Rectangle 44"/>
          <p:cNvSpPr/>
          <p:nvPr/>
        </p:nvSpPr>
        <p:spPr>
          <a:xfrm>
            <a:off x="5059462"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46" name="TextBox 45"/>
          <p:cNvSpPr txBox="1"/>
          <p:nvPr/>
        </p:nvSpPr>
        <p:spPr>
          <a:xfrm>
            <a:off x="5059462"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8</a:t>
            </a:r>
          </a:p>
        </p:txBody>
      </p:sp>
      <p:sp>
        <p:nvSpPr>
          <p:cNvPr id="47" name="Rounded Rectangle 46"/>
          <p:cNvSpPr/>
          <p:nvPr/>
        </p:nvSpPr>
        <p:spPr>
          <a:xfrm>
            <a:off x="5666184"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48" name="TextBox 47"/>
          <p:cNvSpPr txBox="1"/>
          <p:nvPr/>
        </p:nvSpPr>
        <p:spPr>
          <a:xfrm>
            <a:off x="5666184"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9</a:t>
            </a:r>
          </a:p>
        </p:txBody>
      </p:sp>
      <p:sp>
        <p:nvSpPr>
          <p:cNvPr id="49" name="Rounded Rectangle 48"/>
          <p:cNvSpPr/>
          <p:nvPr/>
        </p:nvSpPr>
        <p:spPr>
          <a:xfrm>
            <a:off x="6272907"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50" name="TextBox 49"/>
          <p:cNvSpPr txBox="1"/>
          <p:nvPr/>
        </p:nvSpPr>
        <p:spPr>
          <a:xfrm>
            <a:off x="6272907"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10</a:t>
            </a:r>
          </a:p>
        </p:txBody>
      </p:sp>
      <p:sp>
        <p:nvSpPr>
          <p:cNvPr id="51" name="Rounded Rectangle 50"/>
          <p:cNvSpPr/>
          <p:nvPr/>
        </p:nvSpPr>
        <p:spPr>
          <a:xfrm>
            <a:off x="6525419" y="2339181"/>
            <a:ext cx="50800" cy="50800"/>
          </a:xfrm>
          <a:prstGeom prst="roundRect">
            <a:avLst>
              <a:gd name="adj" fmla="val 50000"/>
            </a:avLst>
          </a:prstGeom>
          <a:solidFill>
            <a:srgbClr val="F2F1ED"/>
          </a:solidFill>
          <a:ln>
            <a:noFill/>
          </a:ln>
          <a:effectLst/>
        </p:spPr>
        <p:txBody>
          <a:bodyPr rtlCol="0" anchor="ctr"/>
          <a:lstStyle/>
          <a:p>
            <a:pPr algn="ctr"/>
          </a:p>
        </p:txBody>
      </p:sp>
      <p:sp>
        <p:nvSpPr>
          <p:cNvPr id="52" name="Rounded Rectangle 51"/>
          <p:cNvSpPr/>
          <p:nvPr/>
        </p:nvSpPr>
        <p:spPr>
          <a:xfrm>
            <a:off x="6879630"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53" name="TextBox 52"/>
          <p:cNvSpPr txBox="1"/>
          <p:nvPr/>
        </p:nvSpPr>
        <p:spPr>
          <a:xfrm>
            <a:off x="6879630"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11</a:t>
            </a:r>
          </a:p>
        </p:txBody>
      </p:sp>
      <p:sp>
        <p:nvSpPr>
          <p:cNvPr id="54" name="Rounded Rectangle 53"/>
          <p:cNvSpPr/>
          <p:nvPr/>
        </p:nvSpPr>
        <p:spPr>
          <a:xfrm>
            <a:off x="7132141" y="2339181"/>
            <a:ext cx="50800" cy="50800"/>
          </a:xfrm>
          <a:prstGeom prst="roundRect">
            <a:avLst>
              <a:gd name="adj" fmla="val 50000"/>
            </a:avLst>
          </a:prstGeom>
          <a:solidFill>
            <a:srgbClr val="F2F1ED"/>
          </a:solidFill>
          <a:ln>
            <a:noFill/>
          </a:ln>
          <a:effectLst/>
        </p:spPr>
        <p:txBody>
          <a:bodyPr rtlCol="0" anchor="ctr"/>
          <a:lstStyle/>
          <a:p>
            <a:pPr algn="ctr"/>
          </a:p>
        </p:txBody>
      </p:sp>
      <p:sp>
        <p:nvSpPr>
          <p:cNvPr id="55" name="Rounded Rectangle 54"/>
          <p:cNvSpPr/>
          <p:nvPr/>
        </p:nvSpPr>
        <p:spPr>
          <a:xfrm>
            <a:off x="7486352"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56" name="TextBox 55"/>
          <p:cNvSpPr txBox="1"/>
          <p:nvPr/>
        </p:nvSpPr>
        <p:spPr>
          <a:xfrm>
            <a:off x="7486352"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12</a:t>
            </a:r>
          </a:p>
        </p:txBody>
      </p:sp>
      <p:sp>
        <p:nvSpPr>
          <p:cNvPr id="57" name="Rounded Rectangle 56"/>
          <p:cNvSpPr/>
          <p:nvPr/>
        </p:nvSpPr>
        <p:spPr>
          <a:xfrm>
            <a:off x="8093075"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58" name="TextBox 57"/>
          <p:cNvSpPr txBox="1"/>
          <p:nvPr/>
        </p:nvSpPr>
        <p:spPr>
          <a:xfrm>
            <a:off x="8093075"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13</a:t>
            </a:r>
          </a:p>
        </p:txBody>
      </p:sp>
      <p:sp>
        <p:nvSpPr>
          <p:cNvPr id="59" name="Rounded Rectangle 58"/>
          <p:cNvSpPr/>
          <p:nvPr/>
        </p:nvSpPr>
        <p:spPr>
          <a:xfrm>
            <a:off x="8699798" y="1912541"/>
            <a:ext cx="859234" cy="502841"/>
          </a:xfrm>
          <a:prstGeom prst="roundRect">
            <a:avLst>
              <a:gd name="adj" fmla="val 5051"/>
            </a:avLst>
          </a:prstGeom>
          <a:noFill/>
          <a:ln w="12700">
            <a:solidFill>
              <a:srgbClr val="6B4A52"/>
            </a:solidFill>
            <a:prstDash val="dash"/>
          </a:ln>
          <a:effectLst/>
        </p:spPr>
        <p:txBody>
          <a:bodyPr rtlCol="0" anchor="ctr"/>
          <a:lstStyle/>
          <a:p>
            <a:pPr algn="ctr"/>
          </a:p>
        </p:txBody>
      </p:sp>
      <p:sp>
        <p:nvSpPr>
          <p:cNvPr id="60" name="TextBox 59"/>
          <p:cNvSpPr txBox="1"/>
          <p:nvPr/>
        </p:nvSpPr>
        <p:spPr>
          <a:xfrm>
            <a:off x="8712498" y="2033191"/>
            <a:ext cx="833834"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Break</a:t>
            </a:r>
          </a:p>
        </p:txBody>
      </p:sp>
      <p:sp>
        <p:nvSpPr>
          <p:cNvPr id="61" name="Rounded Rectangle 60"/>
          <p:cNvSpPr/>
          <p:nvPr/>
        </p:nvSpPr>
        <p:spPr>
          <a:xfrm>
            <a:off x="9609832"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62" name="TextBox 61"/>
          <p:cNvSpPr txBox="1"/>
          <p:nvPr/>
        </p:nvSpPr>
        <p:spPr>
          <a:xfrm>
            <a:off x="9609832"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14</a:t>
            </a:r>
          </a:p>
        </p:txBody>
      </p:sp>
      <p:sp>
        <p:nvSpPr>
          <p:cNvPr id="63" name="Rounded Rectangle 62"/>
          <p:cNvSpPr/>
          <p:nvPr/>
        </p:nvSpPr>
        <p:spPr>
          <a:xfrm>
            <a:off x="10216555"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64" name="TextBox 63"/>
          <p:cNvSpPr txBox="1"/>
          <p:nvPr/>
        </p:nvSpPr>
        <p:spPr>
          <a:xfrm>
            <a:off x="10216555"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15</a:t>
            </a:r>
          </a:p>
        </p:txBody>
      </p:sp>
      <p:sp>
        <p:nvSpPr>
          <p:cNvPr id="65" name="Rounded Rectangle 64"/>
          <p:cNvSpPr/>
          <p:nvPr/>
        </p:nvSpPr>
        <p:spPr>
          <a:xfrm>
            <a:off x="10823277"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66" name="TextBox 65"/>
          <p:cNvSpPr txBox="1"/>
          <p:nvPr/>
        </p:nvSpPr>
        <p:spPr>
          <a:xfrm>
            <a:off x="10823277"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16</a:t>
            </a:r>
          </a:p>
        </p:txBody>
      </p:sp>
      <p:sp>
        <p:nvSpPr>
          <p:cNvPr id="67" name="Rounded Rectangle 66"/>
          <p:cNvSpPr/>
          <p:nvPr/>
        </p:nvSpPr>
        <p:spPr>
          <a:xfrm>
            <a:off x="11075789"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68" name="Rounded Rectangle 67"/>
          <p:cNvSpPr/>
          <p:nvPr/>
        </p:nvSpPr>
        <p:spPr>
          <a:xfrm>
            <a:off x="812800" y="2618581"/>
            <a:ext cx="10566400" cy="528241"/>
          </a:xfrm>
          <a:prstGeom prst="roundRect">
            <a:avLst>
              <a:gd name="adj" fmla="val 12021"/>
            </a:avLst>
          </a:prstGeom>
          <a:solidFill>
            <a:srgbClr val="E9E3E4"/>
          </a:solidFill>
          <a:ln w="19050">
            <a:solidFill>
              <a:srgbClr val="861F41"/>
            </a:solidFill>
          </a:ln>
          <a:effectLst/>
        </p:spPr>
        <p:txBody>
          <a:bodyPr rtlCol="0" anchor="ctr"/>
          <a:lstStyle/>
          <a:p>
            <a:pPr algn="ctr"/>
          </a:p>
        </p:txBody>
      </p:sp>
      <p:sp>
        <p:nvSpPr>
          <p:cNvPr id="69" name="TextBox 68"/>
          <p:cNvSpPr txBox="1"/>
          <p:nvPr/>
        </p:nvSpPr>
        <p:spPr>
          <a:xfrm>
            <a:off x="984250" y="2796381"/>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1–2</a:t>
            </a:r>
          </a:p>
        </p:txBody>
      </p:sp>
      <p:sp>
        <p:nvSpPr>
          <p:cNvPr id="70" name="TextBox 69"/>
          <p:cNvSpPr txBox="1"/>
          <p:nvPr/>
        </p:nvSpPr>
        <p:spPr>
          <a:xfrm>
            <a:off x="2660650" y="2720181"/>
            <a:ext cx="83947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Java foundations — testing, exceptions, polymorphism</a:t>
            </a:r>
          </a:p>
        </p:txBody>
      </p:sp>
      <p:sp>
        <p:nvSpPr>
          <p:cNvPr id="71" name="Rounded Rectangle 70"/>
          <p:cNvSpPr/>
          <p:nvPr/>
        </p:nvSpPr>
        <p:spPr>
          <a:xfrm>
            <a:off x="812800" y="3248422"/>
            <a:ext cx="10566400" cy="528241"/>
          </a:xfrm>
          <a:prstGeom prst="roundRect">
            <a:avLst>
              <a:gd name="adj" fmla="val 12021"/>
            </a:avLst>
          </a:prstGeom>
          <a:solidFill>
            <a:srgbClr val="E9E3E4"/>
          </a:solidFill>
          <a:ln w="19050">
            <a:solidFill>
              <a:srgbClr val="861F41"/>
            </a:solidFill>
          </a:ln>
          <a:effectLst/>
        </p:spPr>
        <p:txBody>
          <a:bodyPr rtlCol="0" anchor="ctr"/>
          <a:lstStyle/>
          <a:p>
            <a:pPr algn="ctr"/>
          </a:p>
        </p:txBody>
      </p:sp>
      <p:sp>
        <p:nvSpPr>
          <p:cNvPr id="72" name="TextBox 71"/>
          <p:cNvSpPr txBox="1"/>
          <p:nvPr/>
        </p:nvSpPr>
        <p:spPr>
          <a:xfrm>
            <a:off x="984250" y="3426222"/>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3–5</a:t>
            </a:r>
          </a:p>
        </p:txBody>
      </p:sp>
      <p:sp>
        <p:nvSpPr>
          <p:cNvPr id="73" name="TextBox 72"/>
          <p:cNvSpPr txBox="1"/>
          <p:nvPr/>
        </p:nvSpPr>
        <p:spPr>
          <a:xfrm>
            <a:off x="2660650" y="3350022"/>
            <a:ext cx="812036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Bags, linked chains, efficiency, stacks · Test 1 Wk 5</a:t>
            </a:r>
          </a:p>
        </p:txBody>
      </p:sp>
      <p:sp>
        <p:nvSpPr>
          <p:cNvPr id="74" name="TextBox 73"/>
          <p:cNvSpPr txBox="1"/>
          <p:nvPr/>
        </p:nvSpPr>
        <p:spPr>
          <a:xfrm>
            <a:off x="10933410" y="3426222"/>
            <a:ext cx="27434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P1</a:t>
            </a:r>
          </a:p>
        </p:txBody>
      </p:sp>
      <p:sp>
        <p:nvSpPr>
          <p:cNvPr id="75" name="Rounded Rectangle 74"/>
          <p:cNvSpPr/>
          <p:nvPr/>
        </p:nvSpPr>
        <p:spPr>
          <a:xfrm>
            <a:off x="812800" y="3878262"/>
            <a:ext cx="10566400" cy="528241"/>
          </a:xfrm>
          <a:prstGeom prst="roundRect">
            <a:avLst>
              <a:gd name="adj" fmla="val 12021"/>
            </a:avLst>
          </a:prstGeom>
          <a:solidFill>
            <a:srgbClr val="E9E3E4"/>
          </a:solidFill>
          <a:ln w="19050">
            <a:solidFill>
              <a:srgbClr val="861F41"/>
            </a:solidFill>
          </a:ln>
          <a:effectLst/>
        </p:spPr>
        <p:txBody>
          <a:bodyPr rtlCol="0" anchor="ctr"/>
          <a:lstStyle/>
          <a:p>
            <a:pPr algn="ctr"/>
          </a:p>
        </p:txBody>
      </p:sp>
      <p:sp>
        <p:nvSpPr>
          <p:cNvPr id="76" name="TextBox 75"/>
          <p:cNvSpPr txBox="1"/>
          <p:nvPr/>
        </p:nvSpPr>
        <p:spPr>
          <a:xfrm>
            <a:off x="984250" y="4056062"/>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6–9</a:t>
            </a:r>
          </a:p>
        </p:txBody>
      </p:sp>
      <p:sp>
        <p:nvSpPr>
          <p:cNvPr id="77" name="TextBox 76"/>
          <p:cNvSpPr txBox="1"/>
          <p:nvPr/>
        </p:nvSpPr>
        <p:spPr>
          <a:xfrm>
            <a:off x="2660650" y="3979862"/>
            <a:ext cx="812036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Ethics &amp; MVC, recursion, queues, lists · Test 1 redo Wk 6</a:t>
            </a:r>
          </a:p>
        </p:txBody>
      </p:sp>
      <p:sp>
        <p:nvSpPr>
          <p:cNvPr id="78" name="TextBox 77"/>
          <p:cNvSpPr txBox="1"/>
          <p:nvPr/>
        </p:nvSpPr>
        <p:spPr>
          <a:xfrm>
            <a:off x="10933410" y="4056062"/>
            <a:ext cx="27434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P2</a:t>
            </a:r>
          </a:p>
        </p:txBody>
      </p:sp>
      <p:sp>
        <p:nvSpPr>
          <p:cNvPr id="79" name="Rounded Rectangle 78"/>
          <p:cNvSpPr/>
          <p:nvPr/>
        </p:nvSpPr>
        <p:spPr>
          <a:xfrm>
            <a:off x="812800" y="4508103"/>
            <a:ext cx="10566400" cy="528241"/>
          </a:xfrm>
          <a:prstGeom prst="roundRect">
            <a:avLst>
              <a:gd name="adj" fmla="val 12021"/>
            </a:avLst>
          </a:prstGeom>
          <a:solidFill>
            <a:srgbClr val="E9E3E4"/>
          </a:solidFill>
          <a:ln w="19050">
            <a:solidFill>
              <a:srgbClr val="861F41"/>
            </a:solidFill>
          </a:ln>
          <a:effectLst/>
        </p:spPr>
        <p:txBody>
          <a:bodyPr rtlCol="0" anchor="ctr"/>
          <a:lstStyle/>
          <a:p>
            <a:pPr algn="ctr"/>
          </a:p>
        </p:txBody>
      </p:sp>
      <p:sp>
        <p:nvSpPr>
          <p:cNvPr id="80" name="TextBox 79"/>
          <p:cNvSpPr txBox="1"/>
          <p:nvPr/>
        </p:nvSpPr>
        <p:spPr>
          <a:xfrm>
            <a:off x="984250" y="4685903"/>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10–13</a:t>
            </a:r>
          </a:p>
        </p:txBody>
      </p:sp>
      <p:sp>
        <p:nvSpPr>
          <p:cNvPr id="81" name="TextBox 80"/>
          <p:cNvSpPr txBox="1"/>
          <p:nvPr/>
        </p:nvSpPr>
        <p:spPr>
          <a:xfrm>
            <a:off x="2660650" y="4609703"/>
            <a:ext cx="812036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Sorting, sorted lists, trees · Test 2 Wk 10 · redo Wk 11</a:t>
            </a:r>
          </a:p>
        </p:txBody>
      </p:sp>
      <p:sp>
        <p:nvSpPr>
          <p:cNvPr id="82" name="TextBox 81"/>
          <p:cNvSpPr txBox="1"/>
          <p:nvPr/>
        </p:nvSpPr>
        <p:spPr>
          <a:xfrm>
            <a:off x="10933410" y="4685903"/>
            <a:ext cx="27434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P3</a:t>
            </a:r>
          </a:p>
        </p:txBody>
      </p:sp>
      <p:sp>
        <p:nvSpPr>
          <p:cNvPr id="83" name="Rounded Rectangle 82"/>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84" name="TextBox 83"/>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9 / 28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The semester at a glance</a:t>
            </a:r>
          </a:p>
        </p:txBody>
      </p:sp>
      <p:sp>
        <p:nvSpPr>
          <p:cNvPr id="4" name="Rectangle 3"/>
          <p:cNvSpPr/>
          <p:nvPr/>
        </p:nvSpPr>
        <p:spPr>
          <a:xfrm>
            <a:off x="812800" y="1473200"/>
            <a:ext cx="694234" cy="337741"/>
          </a:xfrm>
          <a:prstGeom prst="rect">
            <a:avLst/>
          </a:prstGeom>
          <a:noFill/>
          <a:ln>
            <a:noFill/>
          </a:ln>
          <a:effectLst/>
        </p:spPr>
        <p:txBody>
          <a:bodyPr rtlCol="0" anchor="ctr"/>
          <a:lstStyle/>
          <a:p>
            <a:pPr algn="ctr"/>
          </a:p>
        </p:txBody>
      </p:sp>
      <p:sp>
        <p:nvSpPr>
          <p:cNvPr id="5" name="Rectangle 4"/>
          <p:cNvSpPr/>
          <p:nvPr/>
        </p:nvSpPr>
        <p:spPr>
          <a:xfrm>
            <a:off x="812800" y="1798241"/>
            <a:ext cx="694234" cy="12700"/>
          </a:xfrm>
          <a:prstGeom prst="rect">
            <a:avLst/>
          </a:prstGeom>
          <a:solidFill>
            <a:srgbClr val="6B4A52"/>
          </a:solidFill>
          <a:ln>
            <a:noFill/>
          </a:ln>
          <a:effectLst/>
        </p:spPr>
        <p:txBody>
          <a:bodyPr rtlCol="0" anchor="ctr"/>
          <a:lstStyle/>
          <a:p>
            <a:pPr algn="ctr"/>
          </a:p>
        </p:txBody>
      </p:sp>
      <p:sp>
        <p:nvSpPr>
          <p:cNvPr id="6" name="Rectangle 5"/>
          <p:cNvSpPr/>
          <p:nvPr/>
        </p:nvSpPr>
        <p:spPr>
          <a:xfrm>
            <a:off x="812800" y="1798241"/>
            <a:ext cx="12700" cy="50800"/>
          </a:xfrm>
          <a:prstGeom prst="rect">
            <a:avLst/>
          </a:prstGeom>
          <a:solidFill>
            <a:srgbClr val="6B4A52"/>
          </a:solidFill>
          <a:ln>
            <a:noFill/>
          </a:ln>
          <a:effectLst/>
        </p:spPr>
        <p:txBody>
          <a:bodyPr rtlCol="0" anchor="ctr"/>
          <a:lstStyle/>
          <a:p>
            <a:pPr algn="ctr"/>
          </a:p>
        </p:txBody>
      </p:sp>
      <p:sp>
        <p:nvSpPr>
          <p:cNvPr id="7" name="TextBox 6"/>
          <p:cNvSpPr txBox="1"/>
          <p:nvPr/>
        </p:nvSpPr>
        <p:spPr>
          <a:xfrm>
            <a:off x="812800" y="1492250"/>
            <a:ext cx="694234"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Aug</a:t>
            </a:r>
          </a:p>
        </p:txBody>
      </p:sp>
      <p:sp>
        <p:nvSpPr>
          <p:cNvPr id="8" name="Rectangle 7"/>
          <p:cNvSpPr/>
          <p:nvPr/>
        </p:nvSpPr>
        <p:spPr>
          <a:xfrm>
            <a:off x="1494333" y="1798241"/>
            <a:ext cx="12700" cy="50800"/>
          </a:xfrm>
          <a:prstGeom prst="rect">
            <a:avLst/>
          </a:prstGeom>
          <a:solidFill>
            <a:srgbClr val="6B4A52"/>
          </a:solidFill>
          <a:ln>
            <a:noFill/>
          </a:ln>
          <a:effectLst/>
        </p:spPr>
        <p:txBody>
          <a:bodyPr rtlCol="0" anchor="ctr"/>
          <a:lstStyle/>
          <a:p>
            <a:pPr algn="ctr"/>
          </a:p>
        </p:txBody>
      </p:sp>
      <p:sp>
        <p:nvSpPr>
          <p:cNvPr id="9" name="Rectangle 8"/>
          <p:cNvSpPr/>
          <p:nvPr/>
        </p:nvSpPr>
        <p:spPr>
          <a:xfrm>
            <a:off x="1557834" y="1473200"/>
            <a:ext cx="2604691" cy="337741"/>
          </a:xfrm>
          <a:prstGeom prst="rect">
            <a:avLst/>
          </a:prstGeom>
          <a:noFill/>
          <a:ln>
            <a:noFill/>
          </a:ln>
          <a:effectLst/>
        </p:spPr>
        <p:txBody>
          <a:bodyPr rtlCol="0" anchor="ctr"/>
          <a:lstStyle/>
          <a:p>
            <a:pPr algn="ctr"/>
          </a:p>
        </p:txBody>
      </p:sp>
      <p:sp>
        <p:nvSpPr>
          <p:cNvPr id="10" name="Rectangle 9"/>
          <p:cNvSpPr/>
          <p:nvPr/>
        </p:nvSpPr>
        <p:spPr>
          <a:xfrm>
            <a:off x="1557834" y="1798241"/>
            <a:ext cx="2604691" cy="12700"/>
          </a:xfrm>
          <a:prstGeom prst="rect">
            <a:avLst/>
          </a:prstGeom>
          <a:solidFill>
            <a:srgbClr val="6B4A52"/>
          </a:solidFill>
          <a:ln>
            <a:noFill/>
          </a:ln>
          <a:effectLst/>
        </p:spPr>
        <p:txBody>
          <a:bodyPr rtlCol="0" anchor="ctr"/>
          <a:lstStyle/>
          <a:p>
            <a:pPr algn="ctr"/>
          </a:p>
        </p:txBody>
      </p:sp>
      <p:sp>
        <p:nvSpPr>
          <p:cNvPr id="11" name="Rectangle 10"/>
          <p:cNvSpPr/>
          <p:nvPr/>
        </p:nvSpPr>
        <p:spPr>
          <a:xfrm>
            <a:off x="1557834" y="1798241"/>
            <a:ext cx="12700" cy="50800"/>
          </a:xfrm>
          <a:prstGeom prst="rect">
            <a:avLst/>
          </a:prstGeom>
          <a:solidFill>
            <a:srgbClr val="6B4A52"/>
          </a:solidFill>
          <a:ln>
            <a:noFill/>
          </a:ln>
          <a:effectLst/>
        </p:spPr>
        <p:txBody>
          <a:bodyPr rtlCol="0" anchor="ctr"/>
          <a:lstStyle/>
          <a:p>
            <a:pPr algn="ctr"/>
          </a:p>
        </p:txBody>
      </p:sp>
      <p:sp>
        <p:nvSpPr>
          <p:cNvPr id="12" name="TextBox 11"/>
          <p:cNvSpPr txBox="1"/>
          <p:nvPr/>
        </p:nvSpPr>
        <p:spPr>
          <a:xfrm>
            <a:off x="1557834" y="1492250"/>
            <a:ext cx="2604691"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Sep</a:t>
            </a:r>
          </a:p>
        </p:txBody>
      </p:sp>
      <p:sp>
        <p:nvSpPr>
          <p:cNvPr id="13" name="Rectangle 12"/>
          <p:cNvSpPr/>
          <p:nvPr/>
        </p:nvSpPr>
        <p:spPr>
          <a:xfrm>
            <a:off x="4149827" y="1798241"/>
            <a:ext cx="12700" cy="50800"/>
          </a:xfrm>
          <a:prstGeom prst="rect">
            <a:avLst/>
          </a:prstGeom>
          <a:solidFill>
            <a:srgbClr val="6B4A52"/>
          </a:solidFill>
          <a:ln>
            <a:noFill/>
          </a:ln>
          <a:effectLst/>
        </p:spPr>
        <p:txBody>
          <a:bodyPr rtlCol="0" anchor="ctr"/>
          <a:lstStyle/>
          <a:p>
            <a:pPr algn="ctr"/>
          </a:p>
        </p:txBody>
      </p:sp>
      <p:sp>
        <p:nvSpPr>
          <p:cNvPr id="14" name="Rectangle 13"/>
          <p:cNvSpPr/>
          <p:nvPr/>
        </p:nvSpPr>
        <p:spPr>
          <a:xfrm>
            <a:off x="4213324" y="1473200"/>
            <a:ext cx="2630091" cy="337741"/>
          </a:xfrm>
          <a:prstGeom prst="rect">
            <a:avLst/>
          </a:prstGeom>
          <a:noFill/>
          <a:ln>
            <a:noFill/>
          </a:ln>
          <a:effectLst/>
        </p:spPr>
        <p:txBody>
          <a:bodyPr rtlCol="0" anchor="ctr"/>
          <a:lstStyle/>
          <a:p>
            <a:pPr algn="ctr"/>
          </a:p>
        </p:txBody>
      </p:sp>
      <p:sp>
        <p:nvSpPr>
          <p:cNvPr id="15" name="Rectangle 14"/>
          <p:cNvSpPr/>
          <p:nvPr/>
        </p:nvSpPr>
        <p:spPr>
          <a:xfrm>
            <a:off x="4213324" y="1798241"/>
            <a:ext cx="2630091" cy="12700"/>
          </a:xfrm>
          <a:prstGeom prst="rect">
            <a:avLst/>
          </a:prstGeom>
          <a:solidFill>
            <a:srgbClr val="6B4A52"/>
          </a:solidFill>
          <a:ln>
            <a:noFill/>
          </a:ln>
          <a:effectLst/>
        </p:spPr>
        <p:txBody>
          <a:bodyPr rtlCol="0" anchor="ctr"/>
          <a:lstStyle/>
          <a:p>
            <a:pPr algn="ctr"/>
          </a:p>
        </p:txBody>
      </p:sp>
      <p:sp>
        <p:nvSpPr>
          <p:cNvPr id="16" name="Rectangle 15"/>
          <p:cNvSpPr/>
          <p:nvPr/>
        </p:nvSpPr>
        <p:spPr>
          <a:xfrm>
            <a:off x="4213324" y="1798241"/>
            <a:ext cx="12700" cy="50800"/>
          </a:xfrm>
          <a:prstGeom prst="rect">
            <a:avLst/>
          </a:prstGeom>
          <a:solidFill>
            <a:srgbClr val="6B4A52"/>
          </a:solidFill>
          <a:ln>
            <a:noFill/>
          </a:ln>
          <a:effectLst/>
        </p:spPr>
        <p:txBody>
          <a:bodyPr rtlCol="0" anchor="ctr"/>
          <a:lstStyle/>
          <a:p>
            <a:pPr algn="ctr"/>
          </a:p>
        </p:txBody>
      </p:sp>
      <p:sp>
        <p:nvSpPr>
          <p:cNvPr id="17" name="TextBox 16"/>
          <p:cNvSpPr txBox="1"/>
          <p:nvPr/>
        </p:nvSpPr>
        <p:spPr>
          <a:xfrm>
            <a:off x="4213324" y="1492250"/>
            <a:ext cx="2630091"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Oct</a:t>
            </a:r>
          </a:p>
        </p:txBody>
      </p:sp>
      <p:sp>
        <p:nvSpPr>
          <p:cNvPr id="18" name="Rectangle 17"/>
          <p:cNvSpPr/>
          <p:nvPr/>
        </p:nvSpPr>
        <p:spPr>
          <a:xfrm>
            <a:off x="6830718" y="1798241"/>
            <a:ext cx="12700" cy="50800"/>
          </a:xfrm>
          <a:prstGeom prst="rect">
            <a:avLst/>
          </a:prstGeom>
          <a:solidFill>
            <a:srgbClr val="6B4A52"/>
          </a:solidFill>
          <a:ln>
            <a:noFill/>
          </a:ln>
          <a:effectLst/>
        </p:spPr>
        <p:txBody>
          <a:bodyPr rtlCol="0" anchor="ctr"/>
          <a:lstStyle/>
          <a:p>
            <a:pPr algn="ctr"/>
          </a:p>
        </p:txBody>
      </p:sp>
      <p:sp>
        <p:nvSpPr>
          <p:cNvPr id="19" name="Rectangle 18"/>
          <p:cNvSpPr/>
          <p:nvPr/>
        </p:nvSpPr>
        <p:spPr>
          <a:xfrm>
            <a:off x="6894215" y="1473200"/>
            <a:ext cx="2797373" cy="337741"/>
          </a:xfrm>
          <a:prstGeom prst="rect">
            <a:avLst/>
          </a:prstGeom>
          <a:noFill/>
          <a:ln>
            <a:noFill/>
          </a:ln>
          <a:effectLst/>
        </p:spPr>
        <p:txBody>
          <a:bodyPr rtlCol="0" anchor="ctr"/>
          <a:lstStyle/>
          <a:p>
            <a:pPr algn="ctr"/>
          </a:p>
        </p:txBody>
      </p:sp>
      <p:sp>
        <p:nvSpPr>
          <p:cNvPr id="20" name="Rectangle 19"/>
          <p:cNvSpPr/>
          <p:nvPr/>
        </p:nvSpPr>
        <p:spPr>
          <a:xfrm>
            <a:off x="6894215" y="1798241"/>
            <a:ext cx="2797373" cy="12700"/>
          </a:xfrm>
          <a:prstGeom prst="rect">
            <a:avLst/>
          </a:prstGeom>
          <a:solidFill>
            <a:srgbClr val="6B4A52"/>
          </a:solidFill>
          <a:ln>
            <a:noFill/>
          </a:ln>
          <a:effectLst/>
        </p:spPr>
        <p:txBody>
          <a:bodyPr rtlCol="0" anchor="ctr"/>
          <a:lstStyle/>
          <a:p>
            <a:pPr algn="ctr"/>
          </a:p>
        </p:txBody>
      </p:sp>
      <p:sp>
        <p:nvSpPr>
          <p:cNvPr id="21" name="Rectangle 20"/>
          <p:cNvSpPr/>
          <p:nvPr/>
        </p:nvSpPr>
        <p:spPr>
          <a:xfrm>
            <a:off x="6894215" y="1798241"/>
            <a:ext cx="12700" cy="50800"/>
          </a:xfrm>
          <a:prstGeom prst="rect">
            <a:avLst/>
          </a:prstGeom>
          <a:solidFill>
            <a:srgbClr val="6B4A52"/>
          </a:solidFill>
          <a:ln>
            <a:noFill/>
          </a:ln>
          <a:effectLst/>
        </p:spPr>
        <p:txBody>
          <a:bodyPr rtlCol="0" anchor="ctr"/>
          <a:lstStyle/>
          <a:p>
            <a:pPr algn="ctr"/>
          </a:p>
        </p:txBody>
      </p:sp>
      <p:sp>
        <p:nvSpPr>
          <p:cNvPr id="22" name="TextBox 21"/>
          <p:cNvSpPr txBox="1"/>
          <p:nvPr/>
        </p:nvSpPr>
        <p:spPr>
          <a:xfrm>
            <a:off x="6894215" y="1492250"/>
            <a:ext cx="279737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Nov</a:t>
            </a:r>
          </a:p>
        </p:txBody>
      </p:sp>
      <p:sp>
        <p:nvSpPr>
          <p:cNvPr id="23" name="Rectangle 22"/>
          <p:cNvSpPr/>
          <p:nvPr/>
        </p:nvSpPr>
        <p:spPr>
          <a:xfrm>
            <a:off x="9678887" y="1798241"/>
            <a:ext cx="12700" cy="50800"/>
          </a:xfrm>
          <a:prstGeom prst="rect">
            <a:avLst/>
          </a:prstGeom>
          <a:solidFill>
            <a:srgbClr val="6B4A52"/>
          </a:solidFill>
          <a:ln>
            <a:noFill/>
          </a:ln>
          <a:effectLst/>
        </p:spPr>
        <p:txBody>
          <a:bodyPr rtlCol="0" anchor="ctr"/>
          <a:lstStyle/>
          <a:p>
            <a:pPr algn="ctr"/>
          </a:p>
        </p:txBody>
      </p:sp>
      <p:sp>
        <p:nvSpPr>
          <p:cNvPr id="24" name="Rectangle 23"/>
          <p:cNvSpPr/>
          <p:nvPr/>
        </p:nvSpPr>
        <p:spPr>
          <a:xfrm>
            <a:off x="9742388" y="1473200"/>
            <a:ext cx="1636812" cy="337741"/>
          </a:xfrm>
          <a:prstGeom prst="rect">
            <a:avLst/>
          </a:prstGeom>
          <a:noFill/>
          <a:ln>
            <a:noFill/>
          </a:ln>
          <a:effectLst/>
        </p:spPr>
        <p:txBody>
          <a:bodyPr rtlCol="0" anchor="ctr"/>
          <a:lstStyle/>
          <a:p>
            <a:pPr algn="ctr"/>
          </a:p>
        </p:txBody>
      </p:sp>
      <p:sp>
        <p:nvSpPr>
          <p:cNvPr id="25" name="Rectangle 24"/>
          <p:cNvSpPr/>
          <p:nvPr/>
        </p:nvSpPr>
        <p:spPr>
          <a:xfrm>
            <a:off x="9742388" y="1798241"/>
            <a:ext cx="1636812" cy="12700"/>
          </a:xfrm>
          <a:prstGeom prst="rect">
            <a:avLst/>
          </a:prstGeom>
          <a:solidFill>
            <a:srgbClr val="6B4A52"/>
          </a:solidFill>
          <a:ln>
            <a:noFill/>
          </a:ln>
          <a:effectLst/>
        </p:spPr>
        <p:txBody>
          <a:bodyPr rtlCol="0" anchor="ctr"/>
          <a:lstStyle/>
          <a:p>
            <a:pPr algn="ctr"/>
          </a:p>
        </p:txBody>
      </p:sp>
      <p:sp>
        <p:nvSpPr>
          <p:cNvPr id="26" name="Rectangle 25"/>
          <p:cNvSpPr/>
          <p:nvPr/>
        </p:nvSpPr>
        <p:spPr>
          <a:xfrm>
            <a:off x="9742388" y="1798241"/>
            <a:ext cx="12700" cy="50800"/>
          </a:xfrm>
          <a:prstGeom prst="rect">
            <a:avLst/>
          </a:prstGeom>
          <a:solidFill>
            <a:srgbClr val="6B4A52"/>
          </a:solidFill>
          <a:ln>
            <a:noFill/>
          </a:ln>
          <a:effectLst/>
        </p:spPr>
        <p:txBody>
          <a:bodyPr rtlCol="0" anchor="ctr"/>
          <a:lstStyle/>
          <a:p>
            <a:pPr algn="ctr"/>
          </a:p>
        </p:txBody>
      </p:sp>
      <p:sp>
        <p:nvSpPr>
          <p:cNvPr id="27" name="TextBox 26"/>
          <p:cNvSpPr txBox="1"/>
          <p:nvPr/>
        </p:nvSpPr>
        <p:spPr>
          <a:xfrm>
            <a:off x="9742388" y="1492250"/>
            <a:ext cx="1636812"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Dec</a:t>
            </a:r>
          </a:p>
        </p:txBody>
      </p:sp>
      <p:sp>
        <p:nvSpPr>
          <p:cNvPr id="28" name="Rectangle 27"/>
          <p:cNvSpPr/>
          <p:nvPr/>
        </p:nvSpPr>
        <p:spPr>
          <a:xfrm>
            <a:off x="11366502" y="1798241"/>
            <a:ext cx="12700" cy="50800"/>
          </a:xfrm>
          <a:prstGeom prst="rect">
            <a:avLst/>
          </a:prstGeom>
          <a:solidFill>
            <a:srgbClr val="6B4A52"/>
          </a:solidFill>
          <a:ln>
            <a:noFill/>
          </a:ln>
          <a:effectLst/>
        </p:spPr>
        <p:txBody>
          <a:bodyPr rtlCol="0" anchor="ctr"/>
          <a:lstStyle/>
          <a:p>
            <a:pPr algn="ctr"/>
          </a:p>
        </p:txBody>
      </p:sp>
      <p:sp>
        <p:nvSpPr>
          <p:cNvPr id="29" name="Rounded Rectangle 28"/>
          <p:cNvSpPr/>
          <p:nvPr/>
        </p:nvSpPr>
        <p:spPr>
          <a:xfrm>
            <a:off x="812800"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30" name="TextBox 29"/>
          <p:cNvSpPr txBox="1"/>
          <p:nvPr/>
        </p:nvSpPr>
        <p:spPr>
          <a:xfrm>
            <a:off x="812800"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a:t>
            </a:r>
          </a:p>
        </p:txBody>
      </p:sp>
      <p:sp>
        <p:nvSpPr>
          <p:cNvPr id="31" name="Rounded Rectangle 30"/>
          <p:cNvSpPr/>
          <p:nvPr/>
        </p:nvSpPr>
        <p:spPr>
          <a:xfrm>
            <a:off x="1419423"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32" name="TextBox 31"/>
          <p:cNvSpPr txBox="1"/>
          <p:nvPr/>
        </p:nvSpPr>
        <p:spPr>
          <a:xfrm>
            <a:off x="1419423"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2</a:t>
            </a:r>
          </a:p>
        </p:txBody>
      </p:sp>
      <p:sp>
        <p:nvSpPr>
          <p:cNvPr id="33" name="Rounded Rectangle 32"/>
          <p:cNvSpPr/>
          <p:nvPr/>
        </p:nvSpPr>
        <p:spPr>
          <a:xfrm>
            <a:off x="2026146"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34" name="TextBox 33"/>
          <p:cNvSpPr txBox="1"/>
          <p:nvPr/>
        </p:nvSpPr>
        <p:spPr>
          <a:xfrm>
            <a:off x="2026146"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3</a:t>
            </a:r>
          </a:p>
        </p:txBody>
      </p:sp>
      <p:sp>
        <p:nvSpPr>
          <p:cNvPr id="35" name="Rounded Rectangle 34"/>
          <p:cNvSpPr/>
          <p:nvPr/>
        </p:nvSpPr>
        <p:spPr>
          <a:xfrm>
            <a:off x="2632770"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36" name="TextBox 35"/>
          <p:cNvSpPr txBox="1"/>
          <p:nvPr/>
        </p:nvSpPr>
        <p:spPr>
          <a:xfrm>
            <a:off x="2632770"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4</a:t>
            </a:r>
          </a:p>
        </p:txBody>
      </p:sp>
      <p:sp>
        <p:nvSpPr>
          <p:cNvPr id="37" name="Rounded Rectangle 36"/>
          <p:cNvSpPr/>
          <p:nvPr/>
        </p:nvSpPr>
        <p:spPr>
          <a:xfrm>
            <a:off x="3239492"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38" name="TextBox 37"/>
          <p:cNvSpPr txBox="1"/>
          <p:nvPr/>
        </p:nvSpPr>
        <p:spPr>
          <a:xfrm>
            <a:off x="3239492"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5</a:t>
            </a:r>
          </a:p>
        </p:txBody>
      </p:sp>
      <p:sp>
        <p:nvSpPr>
          <p:cNvPr id="39" name="Rounded Rectangle 38"/>
          <p:cNvSpPr/>
          <p:nvPr/>
        </p:nvSpPr>
        <p:spPr>
          <a:xfrm>
            <a:off x="3492004" y="2339181"/>
            <a:ext cx="50800" cy="50800"/>
          </a:xfrm>
          <a:prstGeom prst="roundRect">
            <a:avLst>
              <a:gd name="adj" fmla="val 50000"/>
            </a:avLst>
          </a:prstGeom>
          <a:solidFill>
            <a:srgbClr val="F2F1ED"/>
          </a:solidFill>
          <a:ln>
            <a:noFill/>
          </a:ln>
          <a:effectLst/>
        </p:spPr>
        <p:txBody>
          <a:bodyPr rtlCol="0" anchor="ctr"/>
          <a:lstStyle/>
          <a:p>
            <a:pPr algn="ctr"/>
          </a:p>
        </p:txBody>
      </p:sp>
      <p:sp>
        <p:nvSpPr>
          <p:cNvPr id="40" name="Rounded Rectangle 39"/>
          <p:cNvSpPr/>
          <p:nvPr/>
        </p:nvSpPr>
        <p:spPr>
          <a:xfrm>
            <a:off x="3846116"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41" name="TextBox 40"/>
          <p:cNvSpPr txBox="1"/>
          <p:nvPr/>
        </p:nvSpPr>
        <p:spPr>
          <a:xfrm>
            <a:off x="3846116"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6</a:t>
            </a:r>
          </a:p>
        </p:txBody>
      </p:sp>
      <p:sp>
        <p:nvSpPr>
          <p:cNvPr id="42" name="Rounded Rectangle 41"/>
          <p:cNvSpPr/>
          <p:nvPr/>
        </p:nvSpPr>
        <p:spPr>
          <a:xfrm>
            <a:off x="4098627" y="2339181"/>
            <a:ext cx="50800" cy="50800"/>
          </a:xfrm>
          <a:prstGeom prst="roundRect">
            <a:avLst>
              <a:gd name="adj" fmla="val 50000"/>
            </a:avLst>
          </a:prstGeom>
          <a:solidFill>
            <a:srgbClr val="F2F1ED"/>
          </a:solidFill>
          <a:ln>
            <a:noFill/>
          </a:ln>
          <a:effectLst/>
        </p:spPr>
        <p:txBody>
          <a:bodyPr rtlCol="0" anchor="ctr"/>
          <a:lstStyle/>
          <a:p>
            <a:pPr algn="ctr"/>
          </a:p>
        </p:txBody>
      </p:sp>
      <p:sp>
        <p:nvSpPr>
          <p:cNvPr id="43" name="Rounded Rectangle 42"/>
          <p:cNvSpPr/>
          <p:nvPr/>
        </p:nvSpPr>
        <p:spPr>
          <a:xfrm>
            <a:off x="4452838"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44" name="TextBox 43"/>
          <p:cNvSpPr txBox="1"/>
          <p:nvPr/>
        </p:nvSpPr>
        <p:spPr>
          <a:xfrm>
            <a:off x="4452838"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7</a:t>
            </a:r>
          </a:p>
        </p:txBody>
      </p:sp>
      <p:sp>
        <p:nvSpPr>
          <p:cNvPr id="45" name="Rounded Rectangle 44"/>
          <p:cNvSpPr/>
          <p:nvPr/>
        </p:nvSpPr>
        <p:spPr>
          <a:xfrm>
            <a:off x="5059462"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46" name="TextBox 45"/>
          <p:cNvSpPr txBox="1"/>
          <p:nvPr/>
        </p:nvSpPr>
        <p:spPr>
          <a:xfrm>
            <a:off x="5059462"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8</a:t>
            </a:r>
          </a:p>
        </p:txBody>
      </p:sp>
      <p:sp>
        <p:nvSpPr>
          <p:cNvPr id="47" name="Rounded Rectangle 46"/>
          <p:cNvSpPr/>
          <p:nvPr/>
        </p:nvSpPr>
        <p:spPr>
          <a:xfrm>
            <a:off x="5666184"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48" name="TextBox 47"/>
          <p:cNvSpPr txBox="1"/>
          <p:nvPr/>
        </p:nvSpPr>
        <p:spPr>
          <a:xfrm>
            <a:off x="5666184"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9</a:t>
            </a:r>
          </a:p>
        </p:txBody>
      </p:sp>
      <p:sp>
        <p:nvSpPr>
          <p:cNvPr id="49" name="Rounded Rectangle 48"/>
          <p:cNvSpPr/>
          <p:nvPr/>
        </p:nvSpPr>
        <p:spPr>
          <a:xfrm>
            <a:off x="6272907"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50" name="TextBox 49"/>
          <p:cNvSpPr txBox="1"/>
          <p:nvPr/>
        </p:nvSpPr>
        <p:spPr>
          <a:xfrm>
            <a:off x="6272907"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10</a:t>
            </a:r>
          </a:p>
        </p:txBody>
      </p:sp>
      <p:sp>
        <p:nvSpPr>
          <p:cNvPr id="51" name="Rounded Rectangle 50"/>
          <p:cNvSpPr/>
          <p:nvPr/>
        </p:nvSpPr>
        <p:spPr>
          <a:xfrm>
            <a:off x="6525419" y="2339181"/>
            <a:ext cx="50800" cy="50800"/>
          </a:xfrm>
          <a:prstGeom prst="roundRect">
            <a:avLst>
              <a:gd name="adj" fmla="val 50000"/>
            </a:avLst>
          </a:prstGeom>
          <a:solidFill>
            <a:srgbClr val="F2F1ED"/>
          </a:solidFill>
          <a:ln>
            <a:noFill/>
          </a:ln>
          <a:effectLst/>
        </p:spPr>
        <p:txBody>
          <a:bodyPr rtlCol="0" anchor="ctr"/>
          <a:lstStyle/>
          <a:p>
            <a:pPr algn="ctr"/>
          </a:p>
        </p:txBody>
      </p:sp>
      <p:sp>
        <p:nvSpPr>
          <p:cNvPr id="52" name="Rounded Rectangle 51"/>
          <p:cNvSpPr/>
          <p:nvPr/>
        </p:nvSpPr>
        <p:spPr>
          <a:xfrm>
            <a:off x="6879630"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53" name="TextBox 52"/>
          <p:cNvSpPr txBox="1"/>
          <p:nvPr/>
        </p:nvSpPr>
        <p:spPr>
          <a:xfrm>
            <a:off x="6879630"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11</a:t>
            </a:r>
          </a:p>
        </p:txBody>
      </p:sp>
      <p:sp>
        <p:nvSpPr>
          <p:cNvPr id="54" name="Rounded Rectangle 53"/>
          <p:cNvSpPr/>
          <p:nvPr/>
        </p:nvSpPr>
        <p:spPr>
          <a:xfrm>
            <a:off x="7132141" y="2339181"/>
            <a:ext cx="50800" cy="50800"/>
          </a:xfrm>
          <a:prstGeom prst="roundRect">
            <a:avLst>
              <a:gd name="adj" fmla="val 50000"/>
            </a:avLst>
          </a:prstGeom>
          <a:solidFill>
            <a:srgbClr val="F2F1ED"/>
          </a:solidFill>
          <a:ln>
            <a:noFill/>
          </a:ln>
          <a:effectLst/>
        </p:spPr>
        <p:txBody>
          <a:bodyPr rtlCol="0" anchor="ctr"/>
          <a:lstStyle/>
          <a:p>
            <a:pPr algn="ctr"/>
          </a:p>
        </p:txBody>
      </p:sp>
      <p:sp>
        <p:nvSpPr>
          <p:cNvPr id="55" name="Rounded Rectangle 54"/>
          <p:cNvSpPr/>
          <p:nvPr/>
        </p:nvSpPr>
        <p:spPr>
          <a:xfrm>
            <a:off x="7486352"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56" name="TextBox 55"/>
          <p:cNvSpPr txBox="1"/>
          <p:nvPr/>
        </p:nvSpPr>
        <p:spPr>
          <a:xfrm>
            <a:off x="7486352"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12</a:t>
            </a:r>
          </a:p>
        </p:txBody>
      </p:sp>
      <p:sp>
        <p:nvSpPr>
          <p:cNvPr id="57" name="Rounded Rectangle 56"/>
          <p:cNvSpPr/>
          <p:nvPr/>
        </p:nvSpPr>
        <p:spPr>
          <a:xfrm>
            <a:off x="8093075"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58" name="TextBox 57"/>
          <p:cNvSpPr txBox="1"/>
          <p:nvPr/>
        </p:nvSpPr>
        <p:spPr>
          <a:xfrm>
            <a:off x="8093075"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13</a:t>
            </a:r>
          </a:p>
        </p:txBody>
      </p:sp>
      <p:sp>
        <p:nvSpPr>
          <p:cNvPr id="59" name="Rounded Rectangle 58"/>
          <p:cNvSpPr/>
          <p:nvPr/>
        </p:nvSpPr>
        <p:spPr>
          <a:xfrm>
            <a:off x="8699798" y="1912541"/>
            <a:ext cx="859234" cy="502841"/>
          </a:xfrm>
          <a:prstGeom prst="roundRect">
            <a:avLst>
              <a:gd name="adj" fmla="val 5051"/>
            </a:avLst>
          </a:prstGeom>
          <a:noFill/>
          <a:ln w="12700">
            <a:solidFill>
              <a:srgbClr val="6B4A52"/>
            </a:solidFill>
            <a:prstDash val="dash"/>
          </a:ln>
          <a:effectLst/>
        </p:spPr>
        <p:txBody>
          <a:bodyPr rtlCol="0" anchor="ctr"/>
          <a:lstStyle/>
          <a:p>
            <a:pPr algn="ctr"/>
          </a:p>
        </p:txBody>
      </p:sp>
      <p:sp>
        <p:nvSpPr>
          <p:cNvPr id="60" name="TextBox 59"/>
          <p:cNvSpPr txBox="1"/>
          <p:nvPr/>
        </p:nvSpPr>
        <p:spPr>
          <a:xfrm>
            <a:off x="8712498" y="2033191"/>
            <a:ext cx="833834"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Break</a:t>
            </a:r>
          </a:p>
        </p:txBody>
      </p:sp>
      <p:sp>
        <p:nvSpPr>
          <p:cNvPr id="61" name="Rounded Rectangle 60"/>
          <p:cNvSpPr/>
          <p:nvPr/>
        </p:nvSpPr>
        <p:spPr>
          <a:xfrm>
            <a:off x="9609832"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62" name="TextBox 61"/>
          <p:cNvSpPr txBox="1"/>
          <p:nvPr/>
        </p:nvSpPr>
        <p:spPr>
          <a:xfrm>
            <a:off x="9609832"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14</a:t>
            </a:r>
          </a:p>
        </p:txBody>
      </p:sp>
      <p:sp>
        <p:nvSpPr>
          <p:cNvPr id="63" name="Rounded Rectangle 62"/>
          <p:cNvSpPr/>
          <p:nvPr/>
        </p:nvSpPr>
        <p:spPr>
          <a:xfrm>
            <a:off x="10216555"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64" name="TextBox 63"/>
          <p:cNvSpPr txBox="1"/>
          <p:nvPr/>
        </p:nvSpPr>
        <p:spPr>
          <a:xfrm>
            <a:off x="10216555"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15</a:t>
            </a:r>
          </a:p>
        </p:txBody>
      </p:sp>
      <p:sp>
        <p:nvSpPr>
          <p:cNvPr id="65" name="Rounded Rectangle 64"/>
          <p:cNvSpPr/>
          <p:nvPr/>
        </p:nvSpPr>
        <p:spPr>
          <a:xfrm>
            <a:off x="10823277" y="1912541"/>
            <a:ext cx="555923" cy="502841"/>
          </a:xfrm>
          <a:prstGeom prst="roundRect">
            <a:avLst>
              <a:gd name="adj" fmla="val 5051"/>
            </a:avLst>
          </a:prstGeom>
          <a:solidFill>
            <a:srgbClr val="E9E3E4"/>
          </a:solidFill>
          <a:ln>
            <a:noFill/>
          </a:ln>
          <a:effectLst/>
        </p:spPr>
        <p:txBody>
          <a:bodyPr rtlCol="0" anchor="ctr"/>
          <a:lstStyle/>
          <a:p>
            <a:pPr algn="ctr"/>
          </a:p>
        </p:txBody>
      </p:sp>
      <p:sp>
        <p:nvSpPr>
          <p:cNvPr id="66" name="TextBox 65"/>
          <p:cNvSpPr txBox="1"/>
          <p:nvPr/>
        </p:nvSpPr>
        <p:spPr>
          <a:xfrm>
            <a:off x="10823277" y="2020491"/>
            <a:ext cx="55592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16</a:t>
            </a:r>
          </a:p>
        </p:txBody>
      </p:sp>
      <p:sp>
        <p:nvSpPr>
          <p:cNvPr id="67" name="Rounded Rectangle 66"/>
          <p:cNvSpPr/>
          <p:nvPr/>
        </p:nvSpPr>
        <p:spPr>
          <a:xfrm>
            <a:off x="11075789" y="2339181"/>
            <a:ext cx="50800" cy="50800"/>
          </a:xfrm>
          <a:prstGeom prst="roundRect">
            <a:avLst>
              <a:gd name="adj" fmla="val 50000"/>
            </a:avLst>
          </a:prstGeom>
          <a:solidFill>
            <a:srgbClr val="6B4A52"/>
          </a:solidFill>
          <a:ln>
            <a:noFill/>
          </a:ln>
          <a:effectLst/>
        </p:spPr>
        <p:txBody>
          <a:bodyPr rtlCol="0" anchor="ctr"/>
          <a:lstStyle/>
          <a:p>
            <a:pPr algn="ctr"/>
          </a:p>
        </p:txBody>
      </p:sp>
      <p:sp>
        <p:nvSpPr>
          <p:cNvPr id="68" name="Rounded Rectangle 67"/>
          <p:cNvSpPr/>
          <p:nvPr/>
        </p:nvSpPr>
        <p:spPr>
          <a:xfrm>
            <a:off x="812800" y="2618581"/>
            <a:ext cx="10566400" cy="528241"/>
          </a:xfrm>
          <a:prstGeom prst="roundRect">
            <a:avLst>
              <a:gd name="adj" fmla="val 12021"/>
            </a:avLst>
          </a:prstGeom>
          <a:solidFill>
            <a:srgbClr val="E9E3E4"/>
          </a:solidFill>
          <a:ln w="19050">
            <a:solidFill>
              <a:srgbClr val="861F41"/>
            </a:solidFill>
          </a:ln>
          <a:effectLst/>
        </p:spPr>
        <p:txBody>
          <a:bodyPr rtlCol="0" anchor="ctr"/>
          <a:lstStyle/>
          <a:p>
            <a:pPr algn="ctr"/>
          </a:p>
        </p:txBody>
      </p:sp>
      <p:sp>
        <p:nvSpPr>
          <p:cNvPr id="69" name="TextBox 68"/>
          <p:cNvSpPr txBox="1"/>
          <p:nvPr/>
        </p:nvSpPr>
        <p:spPr>
          <a:xfrm>
            <a:off x="984250" y="2796381"/>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1–2</a:t>
            </a:r>
          </a:p>
        </p:txBody>
      </p:sp>
      <p:sp>
        <p:nvSpPr>
          <p:cNvPr id="70" name="TextBox 69"/>
          <p:cNvSpPr txBox="1"/>
          <p:nvPr/>
        </p:nvSpPr>
        <p:spPr>
          <a:xfrm>
            <a:off x="2660650" y="2720181"/>
            <a:ext cx="83947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Java foundations — testing, exceptions, polymorphism</a:t>
            </a:r>
          </a:p>
        </p:txBody>
      </p:sp>
      <p:sp>
        <p:nvSpPr>
          <p:cNvPr id="71" name="Rounded Rectangle 70"/>
          <p:cNvSpPr/>
          <p:nvPr/>
        </p:nvSpPr>
        <p:spPr>
          <a:xfrm>
            <a:off x="812800" y="3248422"/>
            <a:ext cx="10566400" cy="528241"/>
          </a:xfrm>
          <a:prstGeom prst="roundRect">
            <a:avLst>
              <a:gd name="adj" fmla="val 12021"/>
            </a:avLst>
          </a:prstGeom>
          <a:solidFill>
            <a:srgbClr val="E9E3E4"/>
          </a:solidFill>
          <a:ln w="19050">
            <a:solidFill>
              <a:srgbClr val="861F41"/>
            </a:solidFill>
          </a:ln>
          <a:effectLst/>
        </p:spPr>
        <p:txBody>
          <a:bodyPr rtlCol="0" anchor="ctr"/>
          <a:lstStyle/>
          <a:p>
            <a:pPr algn="ctr"/>
          </a:p>
        </p:txBody>
      </p:sp>
      <p:sp>
        <p:nvSpPr>
          <p:cNvPr id="72" name="TextBox 71"/>
          <p:cNvSpPr txBox="1"/>
          <p:nvPr/>
        </p:nvSpPr>
        <p:spPr>
          <a:xfrm>
            <a:off x="984250" y="3426222"/>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3–5</a:t>
            </a:r>
          </a:p>
        </p:txBody>
      </p:sp>
      <p:sp>
        <p:nvSpPr>
          <p:cNvPr id="73" name="TextBox 72"/>
          <p:cNvSpPr txBox="1"/>
          <p:nvPr/>
        </p:nvSpPr>
        <p:spPr>
          <a:xfrm>
            <a:off x="2660650" y="3350022"/>
            <a:ext cx="812036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Bags, linked chains, efficiency, stacks · Test 1 Wk 5</a:t>
            </a:r>
          </a:p>
        </p:txBody>
      </p:sp>
      <p:sp>
        <p:nvSpPr>
          <p:cNvPr id="74" name="TextBox 73"/>
          <p:cNvSpPr txBox="1"/>
          <p:nvPr/>
        </p:nvSpPr>
        <p:spPr>
          <a:xfrm>
            <a:off x="10933410" y="3426222"/>
            <a:ext cx="27434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P1</a:t>
            </a:r>
          </a:p>
        </p:txBody>
      </p:sp>
      <p:sp>
        <p:nvSpPr>
          <p:cNvPr id="75" name="Rounded Rectangle 74"/>
          <p:cNvSpPr/>
          <p:nvPr/>
        </p:nvSpPr>
        <p:spPr>
          <a:xfrm>
            <a:off x="812800" y="3878262"/>
            <a:ext cx="10566400" cy="528241"/>
          </a:xfrm>
          <a:prstGeom prst="roundRect">
            <a:avLst>
              <a:gd name="adj" fmla="val 12021"/>
            </a:avLst>
          </a:prstGeom>
          <a:solidFill>
            <a:srgbClr val="E9E3E4"/>
          </a:solidFill>
          <a:ln w="19050">
            <a:solidFill>
              <a:srgbClr val="861F41"/>
            </a:solidFill>
          </a:ln>
          <a:effectLst/>
        </p:spPr>
        <p:txBody>
          <a:bodyPr rtlCol="0" anchor="ctr"/>
          <a:lstStyle/>
          <a:p>
            <a:pPr algn="ctr"/>
          </a:p>
        </p:txBody>
      </p:sp>
      <p:sp>
        <p:nvSpPr>
          <p:cNvPr id="76" name="TextBox 75"/>
          <p:cNvSpPr txBox="1"/>
          <p:nvPr/>
        </p:nvSpPr>
        <p:spPr>
          <a:xfrm>
            <a:off x="984250" y="4056062"/>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6–9</a:t>
            </a:r>
          </a:p>
        </p:txBody>
      </p:sp>
      <p:sp>
        <p:nvSpPr>
          <p:cNvPr id="77" name="TextBox 76"/>
          <p:cNvSpPr txBox="1"/>
          <p:nvPr/>
        </p:nvSpPr>
        <p:spPr>
          <a:xfrm>
            <a:off x="2660650" y="3979862"/>
            <a:ext cx="812036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Ethics &amp; MVC, recursion, queues, lists · Test 1 redo Wk 6</a:t>
            </a:r>
          </a:p>
        </p:txBody>
      </p:sp>
      <p:sp>
        <p:nvSpPr>
          <p:cNvPr id="78" name="TextBox 77"/>
          <p:cNvSpPr txBox="1"/>
          <p:nvPr/>
        </p:nvSpPr>
        <p:spPr>
          <a:xfrm>
            <a:off x="10933410" y="4056062"/>
            <a:ext cx="27434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P2</a:t>
            </a:r>
          </a:p>
        </p:txBody>
      </p:sp>
      <p:sp>
        <p:nvSpPr>
          <p:cNvPr id="79" name="Rounded Rectangle 78"/>
          <p:cNvSpPr/>
          <p:nvPr/>
        </p:nvSpPr>
        <p:spPr>
          <a:xfrm>
            <a:off x="812800" y="4508103"/>
            <a:ext cx="10566400" cy="528241"/>
          </a:xfrm>
          <a:prstGeom prst="roundRect">
            <a:avLst>
              <a:gd name="adj" fmla="val 12021"/>
            </a:avLst>
          </a:prstGeom>
          <a:solidFill>
            <a:srgbClr val="E9E3E4"/>
          </a:solidFill>
          <a:ln w="19050">
            <a:solidFill>
              <a:srgbClr val="861F41"/>
            </a:solidFill>
          </a:ln>
          <a:effectLst/>
        </p:spPr>
        <p:txBody>
          <a:bodyPr rtlCol="0" anchor="ctr"/>
          <a:lstStyle/>
          <a:p>
            <a:pPr algn="ctr"/>
          </a:p>
        </p:txBody>
      </p:sp>
      <p:sp>
        <p:nvSpPr>
          <p:cNvPr id="80" name="TextBox 79"/>
          <p:cNvSpPr txBox="1"/>
          <p:nvPr/>
        </p:nvSpPr>
        <p:spPr>
          <a:xfrm>
            <a:off x="984250" y="4685903"/>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10–13</a:t>
            </a:r>
          </a:p>
        </p:txBody>
      </p:sp>
      <p:sp>
        <p:nvSpPr>
          <p:cNvPr id="81" name="TextBox 80"/>
          <p:cNvSpPr txBox="1"/>
          <p:nvPr/>
        </p:nvSpPr>
        <p:spPr>
          <a:xfrm>
            <a:off x="2660650" y="4609703"/>
            <a:ext cx="812036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Sorting, sorted lists, trees · Test 2 Wk 10 · redo Wk 11</a:t>
            </a:r>
          </a:p>
        </p:txBody>
      </p:sp>
      <p:sp>
        <p:nvSpPr>
          <p:cNvPr id="82" name="TextBox 81"/>
          <p:cNvSpPr txBox="1"/>
          <p:nvPr/>
        </p:nvSpPr>
        <p:spPr>
          <a:xfrm>
            <a:off x="10933410" y="4685903"/>
            <a:ext cx="27434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P3</a:t>
            </a:r>
          </a:p>
        </p:txBody>
      </p:sp>
      <p:sp>
        <p:nvSpPr>
          <p:cNvPr id="83" name="Rounded Rectangle 82"/>
          <p:cNvSpPr/>
          <p:nvPr/>
        </p:nvSpPr>
        <p:spPr>
          <a:xfrm>
            <a:off x="812800" y="5137944"/>
            <a:ext cx="10566400" cy="528241"/>
          </a:xfrm>
          <a:prstGeom prst="roundRect">
            <a:avLst>
              <a:gd name="adj" fmla="val 12021"/>
            </a:avLst>
          </a:prstGeom>
          <a:solidFill>
            <a:srgbClr val="E9E3E4"/>
          </a:solidFill>
          <a:ln w="19050">
            <a:solidFill>
              <a:srgbClr val="861F41"/>
            </a:solidFill>
          </a:ln>
          <a:effectLst/>
        </p:spPr>
        <p:txBody>
          <a:bodyPr rtlCol="0" anchor="ctr"/>
          <a:lstStyle/>
          <a:p>
            <a:pPr algn="ctr"/>
          </a:p>
        </p:txBody>
      </p:sp>
      <p:sp>
        <p:nvSpPr>
          <p:cNvPr id="84" name="TextBox 83"/>
          <p:cNvSpPr txBox="1"/>
          <p:nvPr/>
        </p:nvSpPr>
        <p:spPr>
          <a:xfrm>
            <a:off x="984250" y="5315744"/>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14–15</a:t>
            </a:r>
          </a:p>
        </p:txBody>
      </p:sp>
      <p:sp>
        <p:nvSpPr>
          <p:cNvPr id="85" name="TextBox 84"/>
          <p:cNvSpPr txBox="1"/>
          <p:nvPr/>
        </p:nvSpPr>
        <p:spPr>
          <a:xfrm>
            <a:off x="2660650" y="5239544"/>
            <a:ext cx="743456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Binary search, BSTs, review — classes end Dec 9</a:t>
            </a:r>
          </a:p>
        </p:txBody>
      </p:sp>
      <p:sp>
        <p:nvSpPr>
          <p:cNvPr id="86" name="TextBox 85"/>
          <p:cNvSpPr txBox="1"/>
          <p:nvPr/>
        </p:nvSpPr>
        <p:spPr>
          <a:xfrm>
            <a:off x="10247610" y="5315744"/>
            <a:ext cx="96014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P3 demo</a:t>
            </a:r>
          </a:p>
        </p:txBody>
      </p:sp>
      <p:sp>
        <p:nvSpPr>
          <p:cNvPr id="87" name="Rounded Rectangle 86"/>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88" name="TextBox 87"/>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9 / 28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The semester at a glance</a:t>
            </a:r>
          </a:p>
        </p:txBody>
      </p:sp>
      <p:sp>
        <p:nvSpPr>
          <p:cNvPr id="4" name="Rectangle 3"/>
          <p:cNvSpPr/>
          <p:nvPr/>
        </p:nvSpPr>
        <p:spPr>
          <a:xfrm>
            <a:off x="812800" y="1473200"/>
            <a:ext cx="694234" cy="337741"/>
          </a:xfrm>
          <a:prstGeom prst="rect">
            <a:avLst/>
          </a:prstGeom>
          <a:noFill/>
          <a:ln>
            <a:noFill/>
          </a:ln>
          <a:effectLst/>
        </p:spPr>
        <p:txBody>
          <a:bodyPr rtlCol="0" anchor="ctr"/>
          <a:lstStyle/>
          <a:p>
            <a:pPr algn="ctr"/>
          </a:p>
        </p:txBody>
      </p:sp>
      <p:sp>
        <p:nvSpPr>
          <p:cNvPr id="5" name="Rectangle 4"/>
          <p:cNvSpPr/>
          <p:nvPr/>
        </p:nvSpPr>
        <p:spPr>
          <a:xfrm>
            <a:off x="812800" y="1798241"/>
            <a:ext cx="694234" cy="12700"/>
          </a:xfrm>
          <a:prstGeom prst="rect">
            <a:avLst/>
          </a:prstGeom>
          <a:solidFill>
            <a:srgbClr val="6B4A52"/>
          </a:solidFill>
          <a:ln>
            <a:noFill/>
          </a:ln>
          <a:effectLst/>
        </p:spPr>
        <p:txBody>
          <a:bodyPr rtlCol="0" anchor="ctr"/>
          <a:lstStyle/>
          <a:p>
            <a:pPr algn="ctr"/>
          </a:p>
        </p:txBody>
      </p:sp>
      <p:sp>
        <p:nvSpPr>
          <p:cNvPr id="6" name="Rectangle 5"/>
          <p:cNvSpPr/>
          <p:nvPr/>
        </p:nvSpPr>
        <p:spPr>
          <a:xfrm>
            <a:off x="812800" y="1798241"/>
            <a:ext cx="12700" cy="50800"/>
          </a:xfrm>
          <a:prstGeom prst="rect">
            <a:avLst/>
          </a:prstGeom>
          <a:solidFill>
            <a:srgbClr val="6B4A52"/>
          </a:solidFill>
          <a:ln>
            <a:noFill/>
          </a:ln>
          <a:effectLst/>
        </p:spPr>
        <p:txBody>
          <a:bodyPr rtlCol="0" anchor="ctr"/>
          <a:lstStyle/>
          <a:p>
            <a:pPr algn="ctr"/>
          </a:p>
        </p:txBody>
      </p:sp>
      <p:sp>
        <p:nvSpPr>
          <p:cNvPr id="7" name="TextBox 6"/>
          <p:cNvSpPr txBox="1"/>
          <p:nvPr/>
        </p:nvSpPr>
        <p:spPr>
          <a:xfrm>
            <a:off x="812800" y="1492250"/>
            <a:ext cx="694234"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Aug</a:t>
            </a:r>
          </a:p>
        </p:txBody>
      </p:sp>
      <p:sp>
        <p:nvSpPr>
          <p:cNvPr id="8" name="Rectangle 7"/>
          <p:cNvSpPr/>
          <p:nvPr/>
        </p:nvSpPr>
        <p:spPr>
          <a:xfrm>
            <a:off x="1494333" y="1798241"/>
            <a:ext cx="12700" cy="50800"/>
          </a:xfrm>
          <a:prstGeom prst="rect">
            <a:avLst/>
          </a:prstGeom>
          <a:solidFill>
            <a:srgbClr val="6B4A52"/>
          </a:solidFill>
          <a:ln>
            <a:noFill/>
          </a:ln>
          <a:effectLst/>
        </p:spPr>
        <p:txBody>
          <a:bodyPr rtlCol="0" anchor="ctr"/>
          <a:lstStyle/>
          <a:p>
            <a:pPr algn="ctr"/>
          </a:p>
        </p:txBody>
      </p:sp>
      <p:sp>
        <p:nvSpPr>
          <p:cNvPr id="9" name="Rectangle 8"/>
          <p:cNvSpPr/>
          <p:nvPr/>
        </p:nvSpPr>
        <p:spPr>
          <a:xfrm>
            <a:off x="1557834" y="1473200"/>
            <a:ext cx="2604691" cy="337741"/>
          </a:xfrm>
          <a:prstGeom prst="rect">
            <a:avLst/>
          </a:prstGeom>
          <a:noFill/>
          <a:ln>
            <a:noFill/>
          </a:ln>
          <a:effectLst/>
        </p:spPr>
        <p:txBody>
          <a:bodyPr rtlCol="0" anchor="ctr"/>
          <a:lstStyle/>
          <a:p>
            <a:pPr algn="ctr"/>
          </a:p>
        </p:txBody>
      </p:sp>
      <p:sp>
        <p:nvSpPr>
          <p:cNvPr id="10" name="Rectangle 9"/>
          <p:cNvSpPr/>
          <p:nvPr/>
        </p:nvSpPr>
        <p:spPr>
          <a:xfrm>
            <a:off x="1557834" y="1798241"/>
            <a:ext cx="2604691" cy="12700"/>
          </a:xfrm>
          <a:prstGeom prst="rect">
            <a:avLst/>
          </a:prstGeom>
          <a:solidFill>
            <a:srgbClr val="6B4A52"/>
          </a:solidFill>
          <a:ln>
            <a:noFill/>
          </a:ln>
          <a:effectLst/>
        </p:spPr>
        <p:txBody>
          <a:bodyPr rtlCol="0" anchor="ctr"/>
          <a:lstStyle/>
          <a:p>
            <a:pPr algn="ctr"/>
          </a:p>
        </p:txBody>
      </p:sp>
      <p:sp>
        <p:nvSpPr>
          <p:cNvPr id="11" name="Rectangle 10"/>
          <p:cNvSpPr/>
          <p:nvPr/>
        </p:nvSpPr>
        <p:spPr>
          <a:xfrm>
            <a:off x="1557834" y="1798241"/>
            <a:ext cx="12700" cy="50800"/>
          </a:xfrm>
          <a:prstGeom prst="rect">
            <a:avLst/>
          </a:prstGeom>
          <a:solidFill>
            <a:srgbClr val="6B4A52"/>
          </a:solidFill>
          <a:ln>
            <a:noFill/>
          </a:ln>
          <a:effectLst/>
        </p:spPr>
        <p:txBody>
          <a:bodyPr rtlCol="0" anchor="ctr"/>
          <a:lstStyle/>
          <a:p>
            <a:pPr algn="ctr"/>
          </a:p>
        </p:txBody>
      </p:sp>
      <p:sp>
        <p:nvSpPr>
          <p:cNvPr id="12" name="TextBox 11"/>
          <p:cNvSpPr txBox="1"/>
          <p:nvPr/>
        </p:nvSpPr>
        <p:spPr>
          <a:xfrm>
            <a:off x="1557834" y="1492250"/>
            <a:ext cx="2604691"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Sep</a:t>
            </a:r>
          </a:p>
        </p:txBody>
      </p:sp>
      <p:sp>
        <p:nvSpPr>
          <p:cNvPr id="13" name="Rectangle 12"/>
          <p:cNvSpPr/>
          <p:nvPr/>
        </p:nvSpPr>
        <p:spPr>
          <a:xfrm>
            <a:off x="4149827" y="1798241"/>
            <a:ext cx="12700" cy="50800"/>
          </a:xfrm>
          <a:prstGeom prst="rect">
            <a:avLst/>
          </a:prstGeom>
          <a:solidFill>
            <a:srgbClr val="6B4A52"/>
          </a:solidFill>
          <a:ln>
            <a:noFill/>
          </a:ln>
          <a:effectLst/>
        </p:spPr>
        <p:txBody>
          <a:bodyPr rtlCol="0" anchor="ctr"/>
          <a:lstStyle/>
          <a:p>
            <a:pPr algn="ctr"/>
          </a:p>
        </p:txBody>
      </p:sp>
      <p:sp>
        <p:nvSpPr>
          <p:cNvPr id="14" name="Rectangle 13"/>
          <p:cNvSpPr/>
          <p:nvPr/>
        </p:nvSpPr>
        <p:spPr>
          <a:xfrm>
            <a:off x="4213324" y="1473200"/>
            <a:ext cx="2630091" cy="337741"/>
          </a:xfrm>
          <a:prstGeom prst="rect">
            <a:avLst/>
          </a:prstGeom>
          <a:noFill/>
          <a:ln>
            <a:noFill/>
          </a:ln>
          <a:effectLst/>
        </p:spPr>
        <p:txBody>
          <a:bodyPr rtlCol="0" anchor="ctr"/>
          <a:lstStyle/>
          <a:p>
            <a:pPr algn="ctr"/>
          </a:p>
        </p:txBody>
      </p:sp>
      <p:sp>
        <p:nvSpPr>
          <p:cNvPr id="15" name="Rectangle 14"/>
          <p:cNvSpPr/>
          <p:nvPr/>
        </p:nvSpPr>
        <p:spPr>
          <a:xfrm>
            <a:off x="4213324" y="1798241"/>
            <a:ext cx="2630091" cy="12700"/>
          </a:xfrm>
          <a:prstGeom prst="rect">
            <a:avLst/>
          </a:prstGeom>
          <a:solidFill>
            <a:srgbClr val="6B4A52"/>
          </a:solidFill>
          <a:ln>
            <a:noFill/>
          </a:ln>
          <a:effectLst/>
        </p:spPr>
        <p:txBody>
          <a:bodyPr rtlCol="0" anchor="ctr"/>
          <a:lstStyle/>
          <a:p>
            <a:pPr algn="ctr"/>
          </a:p>
        </p:txBody>
      </p:sp>
      <p:sp>
        <p:nvSpPr>
          <p:cNvPr id="16" name="Rectangle 15"/>
          <p:cNvSpPr/>
          <p:nvPr/>
        </p:nvSpPr>
        <p:spPr>
          <a:xfrm>
            <a:off x="4213324" y="1798241"/>
            <a:ext cx="12700" cy="50800"/>
          </a:xfrm>
          <a:prstGeom prst="rect">
            <a:avLst/>
          </a:prstGeom>
          <a:solidFill>
            <a:srgbClr val="6B4A52"/>
          </a:solidFill>
          <a:ln>
            <a:noFill/>
          </a:ln>
          <a:effectLst/>
        </p:spPr>
        <p:txBody>
          <a:bodyPr rtlCol="0" anchor="ctr"/>
          <a:lstStyle/>
          <a:p>
            <a:pPr algn="ctr"/>
          </a:p>
        </p:txBody>
      </p:sp>
      <p:sp>
        <p:nvSpPr>
          <p:cNvPr id="17" name="TextBox 16"/>
          <p:cNvSpPr txBox="1"/>
          <p:nvPr/>
        </p:nvSpPr>
        <p:spPr>
          <a:xfrm>
            <a:off x="4213324" y="1492250"/>
            <a:ext cx="2630091"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Oct</a:t>
            </a:r>
          </a:p>
        </p:txBody>
      </p:sp>
      <p:sp>
        <p:nvSpPr>
          <p:cNvPr id="18" name="Rectangle 17"/>
          <p:cNvSpPr/>
          <p:nvPr/>
        </p:nvSpPr>
        <p:spPr>
          <a:xfrm>
            <a:off x="6830718" y="1798241"/>
            <a:ext cx="12700" cy="50800"/>
          </a:xfrm>
          <a:prstGeom prst="rect">
            <a:avLst/>
          </a:prstGeom>
          <a:solidFill>
            <a:srgbClr val="6B4A52"/>
          </a:solidFill>
          <a:ln>
            <a:noFill/>
          </a:ln>
          <a:effectLst/>
        </p:spPr>
        <p:txBody>
          <a:bodyPr rtlCol="0" anchor="ctr"/>
          <a:lstStyle/>
          <a:p>
            <a:pPr algn="ctr"/>
          </a:p>
        </p:txBody>
      </p:sp>
      <p:sp>
        <p:nvSpPr>
          <p:cNvPr id="19" name="Rectangle 18"/>
          <p:cNvSpPr/>
          <p:nvPr/>
        </p:nvSpPr>
        <p:spPr>
          <a:xfrm>
            <a:off x="6894215" y="1473200"/>
            <a:ext cx="2797373" cy="337741"/>
          </a:xfrm>
          <a:prstGeom prst="rect">
            <a:avLst/>
          </a:prstGeom>
          <a:noFill/>
          <a:ln>
            <a:noFill/>
          </a:ln>
          <a:effectLst/>
        </p:spPr>
        <p:txBody>
          <a:bodyPr rtlCol="0" anchor="ctr"/>
          <a:lstStyle/>
          <a:p>
            <a:pPr algn="ctr"/>
          </a:p>
        </p:txBody>
      </p:sp>
      <p:sp>
        <p:nvSpPr>
          <p:cNvPr id="20" name="Rectangle 19"/>
          <p:cNvSpPr/>
          <p:nvPr/>
        </p:nvSpPr>
        <p:spPr>
          <a:xfrm>
            <a:off x="6894215" y="1798241"/>
            <a:ext cx="2797373" cy="12700"/>
          </a:xfrm>
          <a:prstGeom prst="rect">
            <a:avLst/>
          </a:prstGeom>
          <a:solidFill>
            <a:srgbClr val="6B4A52"/>
          </a:solidFill>
          <a:ln>
            <a:noFill/>
          </a:ln>
          <a:effectLst/>
        </p:spPr>
        <p:txBody>
          <a:bodyPr rtlCol="0" anchor="ctr"/>
          <a:lstStyle/>
          <a:p>
            <a:pPr algn="ctr"/>
          </a:p>
        </p:txBody>
      </p:sp>
      <p:sp>
        <p:nvSpPr>
          <p:cNvPr id="21" name="Rectangle 20"/>
          <p:cNvSpPr/>
          <p:nvPr/>
        </p:nvSpPr>
        <p:spPr>
          <a:xfrm>
            <a:off x="6894215" y="1798241"/>
            <a:ext cx="12700" cy="50800"/>
          </a:xfrm>
          <a:prstGeom prst="rect">
            <a:avLst/>
          </a:prstGeom>
          <a:solidFill>
            <a:srgbClr val="6B4A52"/>
          </a:solidFill>
          <a:ln>
            <a:noFill/>
          </a:ln>
          <a:effectLst/>
        </p:spPr>
        <p:txBody>
          <a:bodyPr rtlCol="0" anchor="ctr"/>
          <a:lstStyle/>
          <a:p>
            <a:pPr algn="ctr"/>
          </a:p>
        </p:txBody>
      </p:sp>
      <p:sp>
        <p:nvSpPr>
          <p:cNvPr id="22" name="TextBox 21"/>
          <p:cNvSpPr txBox="1"/>
          <p:nvPr/>
        </p:nvSpPr>
        <p:spPr>
          <a:xfrm>
            <a:off x="6894215" y="1492250"/>
            <a:ext cx="2797373"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Nov</a:t>
            </a:r>
          </a:p>
        </p:txBody>
      </p:sp>
      <p:sp>
        <p:nvSpPr>
          <p:cNvPr id="23" name="Rectangle 22"/>
          <p:cNvSpPr/>
          <p:nvPr/>
        </p:nvSpPr>
        <p:spPr>
          <a:xfrm>
            <a:off x="9678887" y="1798241"/>
            <a:ext cx="12700" cy="50800"/>
          </a:xfrm>
          <a:prstGeom prst="rect">
            <a:avLst/>
          </a:prstGeom>
          <a:solidFill>
            <a:srgbClr val="6B4A52"/>
          </a:solidFill>
          <a:ln>
            <a:noFill/>
          </a:ln>
          <a:effectLst/>
        </p:spPr>
        <p:txBody>
          <a:bodyPr rtlCol="0" anchor="ctr"/>
          <a:lstStyle/>
          <a:p>
            <a:pPr algn="ctr"/>
          </a:p>
        </p:txBody>
      </p:sp>
      <p:sp>
        <p:nvSpPr>
          <p:cNvPr id="24" name="Rectangle 23"/>
          <p:cNvSpPr/>
          <p:nvPr/>
        </p:nvSpPr>
        <p:spPr>
          <a:xfrm>
            <a:off x="9742388" y="1473200"/>
            <a:ext cx="1636812" cy="337741"/>
          </a:xfrm>
          <a:prstGeom prst="rect">
            <a:avLst/>
          </a:prstGeom>
          <a:noFill/>
          <a:ln>
            <a:noFill/>
          </a:ln>
          <a:effectLst/>
        </p:spPr>
        <p:txBody>
          <a:bodyPr rtlCol="0" anchor="ctr"/>
          <a:lstStyle/>
          <a:p>
            <a:pPr algn="ctr"/>
          </a:p>
        </p:txBody>
      </p:sp>
      <p:sp>
        <p:nvSpPr>
          <p:cNvPr id="25" name="Rectangle 24"/>
          <p:cNvSpPr/>
          <p:nvPr/>
        </p:nvSpPr>
        <p:spPr>
          <a:xfrm>
            <a:off x="9742388" y="1798241"/>
            <a:ext cx="1636812" cy="12700"/>
          </a:xfrm>
          <a:prstGeom prst="rect">
            <a:avLst/>
          </a:prstGeom>
          <a:solidFill>
            <a:srgbClr val="6B4A52"/>
          </a:solidFill>
          <a:ln>
            <a:noFill/>
          </a:ln>
          <a:effectLst/>
        </p:spPr>
        <p:txBody>
          <a:bodyPr rtlCol="0" anchor="ctr"/>
          <a:lstStyle/>
          <a:p>
            <a:pPr algn="ctr"/>
          </a:p>
        </p:txBody>
      </p:sp>
      <p:sp>
        <p:nvSpPr>
          <p:cNvPr id="26" name="Rectangle 25"/>
          <p:cNvSpPr/>
          <p:nvPr/>
        </p:nvSpPr>
        <p:spPr>
          <a:xfrm>
            <a:off x="9742388" y="1798241"/>
            <a:ext cx="12700" cy="50800"/>
          </a:xfrm>
          <a:prstGeom prst="rect">
            <a:avLst/>
          </a:prstGeom>
          <a:solidFill>
            <a:srgbClr val="6B4A52"/>
          </a:solidFill>
          <a:ln>
            <a:noFill/>
          </a:ln>
          <a:effectLst/>
        </p:spPr>
        <p:txBody>
          <a:bodyPr rtlCol="0" anchor="ctr"/>
          <a:lstStyle/>
          <a:p>
            <a:pPr algn="ctr"/>
          </a:p>
        </p:txBody>
      </p:sp>
      <p:sp>
        <p:nvSpPr>
          <p:cNvPr id="27" name="TextBox 26"/>
          <p:cNvSpPr txBox="1"/>
          <p:nvPr/>
        </p:nvSpPr>
        <p:spPr>
          <a:xfrm>
            <a:off x="9742388" y="1492250"/>
            <a:ext cx="1636812"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Roboto Mono"/>
              </a:rPr>
              <a:t>Dec</a:t>
            </a:r>
          </a:p>
        </p:txBody>
      </p:sp>
      <p:sp>
        <p:nvSpPr>
          <p:cNvPr id="28" name="Rectangle 27"/>
          <p:cNvSpPr/>
          <p:nvPr/>
        </p:nvSpPr>
        <p:spPr>
          <a:xfrm>
            <a:off x="11366502" y="1798241"/>
            <a:ext cx="12700" cy="50800"/>
          </a:xfrm>
          <a:prstGeom prst="rect">
            <a:avLst/>
          </a:prstGeom>
          <a:solidFill>
            <a:srgbClr val="6B4A52"/>
          </a:solidFill>
          <a:ln>
            <a:noFill/>
          </a:ln>
          <a:effectLst/>
        </p:spPr>
        <p:txBody>
          <a:bodyPr rtlCol="0" anchor="ctr"/>
          <a:lstStyle/>
          <a:p>
            <a:pPr algn="ctr"/>
          </a:p>
        </p:txBody>
      </p:sp>
      <p:sp>
        <p:nvSpPr>
          <p:cNvPr id="29" name="Rounded Rectangle 28"/>
          <p:cNvSpPr/>
          <p:nvPr/>
        </p:nvSpPr>
        <p:spPr>
          <a:xfrm>
            <a:off x="812800"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30" name="TextBox 29"/>
          <p:cNvSpPr txBox="1"/>
          <p:nvPr/>
        </p:nvSpPr>
        <p:spPr>
          <a:xfrm>
            <a:off x="812800"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a:t>
            </a:r>
          </a:p>
        </p:txBody>
      </p:sp>
      <p:sp>
        <p:nvSpPr>
          <p:cNvPr id="31" name="Rounded Rectangle 30"/>
          <p:cNvSpPr/>
          <p:nvPr/>
        </p:nvSpPr>
        <p:spPr>
          <a:xfrm>
            <a:off x="1419423"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32" name="TextBox 31"/>
          <p:cNvSpPr txBox="1"/>
          <p:nvPr/>
        </p:nvSpPr>
        <p:spPr>
          <a:xfrm>
            <a:off x="1419423"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2</a:t>
            </a:r>
          </a:p>
        </p:txBody>
      </p:sp>
      <p:sp>
        <p:nvSpPr>
          <p:cNvPr id="33" name="Rounded Rectangle 32"/>
          <p:cNvSpPr/>
          <p:nvPr/>
        </p:nvSpPr>
        <p:spPr>
          <a:xfrm>
            <a:off x="2026146"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34" name="TextBox 33"/>
          <p:cNvSpPr txBox="1"/>
          <p:nvPr/>
        </p:nvSpPr>
        <p:spPr>
          <a:xfrm>
            <a:off x="2026146"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3</a:t>
            </a:r>
          </a:p>
        </p:txBody>
      </p:sp>
      <p:sp>
        <p:nvSpPr>
          <p:cNvPr id="35" name="Rounded Rectangle 34"/>
          <p:cNvSpPr/>
          <p:nvPr/>
        </p:nvSpPr>
        <p:spPr>
          <a:xfrm>
            <a:off x="2632770"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36" name="TextBox 35"/>
          <p:cNvSpPr txBox="1"/>
          <p:nvPr/>
        </p:nvSpPr>
        <p:spPr>
          <a:xfrm>
            <a:off x="2632770"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4</a:t>
            </a:r>
          </a:p>
        </p:txBody>
      </p:sp>
      <p:sp>
        <p:nvSpPr>
          <p:cNvPr id="37" name="Rounded Rectangle 36"/>
          <p:cNvSpPr/>
          <p:nvPr/>
        </p:nvSpPr>
        <p:spPr>
          <a:xfrm>
            <a:off x="3239492"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38" name="TextBox 37"/>
          <p:cNvSpPr txBox="1"/>
          <p:nvPr/>
        </p:nvSpPr>
        <p:spPr>
          <a:xfrm>
            <a:off x="3239492"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5</a:t>
            </a:r>
          </a:p>
        </p:txBody>
      </p:sp>
      <p:sp>
        <p:nvSpPr>
          <p:cNvPr id="39" name="Rounded Rectangle 38"/>
          <p:cNvSpPr/>
          <p:nvPr/>
        </p:nvSpPr>
        <p:spPr>
          <a:xfrm>
            <a:off x="3492004" y="2339181"/>
            <a:ext cx="50800" cy="50800"/>
          </a:xfrm>
          <a:prstGeom prst="roundRect">
            <a:avLst>
              <a:gd name="adj" fmla="val 50000"/>
            </a:avLst>
          </a:prstGeom>
          <a:solidFill>
            <a:srgbClr val="F2F1ED"/>
          </a:solidFill>
          <a:ln>
            <a:noFill/>
          </a:ln>
          <a:effectLst/>
        </p:spPr>
        <p:txBody>
          <a:bodyPr rtlCol="0" anchor="ctr"/>
          <a:lstStyle/>
          <a:p>
            <a:pPr algn="ctr"/>
          </a:p>
        </p:txBody>
      </p:sp>
      <p:sp>
        <p:nvSpPr>
          <p:cNvPr id="40" name="Rounded Rectangle 39"/>
          <p:cNvSpPr/>
          <p:nvPr/>
        </p:nvSpPr>
        <p:spPr>
          <a:xfrm>
            <a:off x="3846116"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41" name="TextBox 40"/>
          <p:cNvSpPr txBox="1"/>
          <p:nvPr/>
        </p:nvSpPr>
        <p:spPr>
          <a:xfrm>
            <a:off x="3846116"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6</a:t>
            </a:r>
          </a:p>
        </p:txBody>
      </p:sp>
      <p:sp>
        <p:nvSpPr>
          <p:cNvPr id="42" name="Rounded Rectangle 41"/>
          <p:cNvSpPr/>
          <p:nvPr/>
        </p:nvSpPr>
        <p:spPr>
          <a:xfrm>
            <a:off x="4098627" y="2339181"/>
            <a:ext cx="50800" cy="50800"/>
          </a:xfrm>
          <a:prstGeom prst="roundRect">
            <a:avLst>
              <a:gd name="adj" fmla="val 50000"/>
            </a:avLst>
          </a:prstGeom>
          <a:solidFill>
            <a:srgbClr val="F2F1ED"/>
          </a:solidFill>
          <a:ln>
            <a:noFill/>
          </a:ln>
          <a:effectLst/>
        </p:spPr>
        <p:txBody>
          <a:bodyPr rtlCol="0" anchor="ctr"/>
          <a:lstStyle/>
          <a:p>
            <a:pPr algn="ctr"/>
          </a:p>
        </p:txBody>
      </p:sp>
      <p:sp>
        <p:nvSpPr>
          <p:cNvPr id="43" name="Rounded Rectangle 42"/>
          <p:cNvSpPr/>
          <p:nvPr/>
        </p:nvSpPr>
        <p:spPr>
          <a:xfrm>
            <a:off x="4452838" y="1912541"/>
            <a:ext cx="555823" cy="502841"/>
          </a:xfrm>
          <a:prstGeom prst="roundRect">
            <a:avLst>
              <a:gd name="adj" fmla="val 5051"/>
            </a:avLst>
          </a:prstGeom>
          <a:solidFill>
            <a:srgbClr val="861F41"/>
          </a:solidFill>
          <a:ln>
            <a:noFill/>
          </a:ln>
          <a:effectLst/>
        </p:spPr>
        <p:txBody>
          <a:bodyPr rtlCol="0" anchor="ctr"/>
          <a:lstStyle/>
          <a:p>
            <a:pPr algn="ctr"/>
          </a:p>
        </p:txBody>
      </p:sp>
      <p:sp>
        <p:nvSpPr>
          <p:cNvPr id="44" name="TextBox 43"/>
          <p:cNvSpPr txBox="1"/>
          <p:nvPr/>
        </p:nvSpPr>
        <p:spPr>
          <a:xfrm>
            <a:off x="4452838" y="2020491"/>
            <a:ext cx="5558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7</a:t>
            </a:r>
          </a:p>
        </p:txBody>
      </p:sp>
      <p:sp>
        <p:nvSpPr>
          <p:cNvPr id="45" name="Rounded Rectangle 44"/>
          <p:cNvSpPr/>
          <p:nvPr/>
        </p:nvSpPr>
        <p:spPr>
          <a:xfrm>
            <a:off x="5059462"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46" name="TextBox 45"/>
          <p:cNvSpPr txBox="1"/>
          <p:nvPr/>
        </p:nvSpPr>
        <p:spPr>
          <a:xfrm>
            <a:off x="5059462"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8</a:t>
            </a:r>
          </a:p>
        </p:txBody>
      </p:sp>
      <p:sp>
        <p:nvSpPr>
          <p:cNvPr id="47" name="Rounded Rectangle 46"/>
          <p:cNvSpPr/>
          <p:nvPr/>
        </p:nvSpPr>
        <p:spPr>
          <a:xfrm>
            <a:off x="5666184"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48" name="TextBox 47"/>
          <p:cNvSpPr txBox="1"/>
          <p:nvPr/>
        </p:nvSpPr>
        <p:spPr>
          <a:xfrm>
            <a:off x="5666184"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9</a:t>
            </a:r>
          </a:p>
        </p:txBody>
      </p:sp>
      <p:sp>
        <p:nvSpPr>
          <p:cNvPr id="49" name="Rounded Rectangle 48"/>
          <p:cNvSpPr/>
          <p:nvPr/>
        </p:nvSpPr>
        <p:spPr>
          <a:xfrm>
            <a:off x="6272907"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50" name="TextBox 49"/>
          <p:cNvSpPr txBox="1"/>
          <p:nvPr/>
        </p:nvSpPr>
        <p:spPr>
          <a:xfrm>
            <a:off x="6272907"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10</a:t>
            </a:r>
          </a:p>
        </p:txBody>
      </p:sp>
      <p:sp>
        <p:nvSpPr>
          <p:cNvPr id="51" name="Rounded Rectangle 50"/>
          <p:cNvSpPr/>
          <p:nvPr/>
        </p:nvSpPr>
        <p:spPr>
          <a:xfrm>
            <a:off x="6525419" y="2339181"/>
            <a:ext cx="50800" cy="50800"/>
          </a:xfrm>
          <a:prstGeom prst="roundRect">
            <a:avLst>
              <a:gd name="adj" fmla="val 50000"/>
            </a:avLst>
          </a:prstGeom>
          <a:solidFill>
            <a:srgbClr val="F2F1ED"/>
          </a:solidFill>
          <a:ln>
            <a:noFill/>
          </a:ln>
          <a:effectLst/>
        </p:spPr>
        <p:txBody>
          <a:bodyPr rtlCol="0" anchor="ctr"/>
          <a:lstStyle/>
          <a:p>
            <a:pPr algn="ctr"/>
          </a:p>
        </p:txBody>
      </p:sp>
      <p:sp>
        <p:nvSpPr>
          <p:cNvPr id="52" name="Rounded Rectangle 51"/>
          <p:cNvSpPr/>
          <p:nvPr/>
        </p:nvSpPr>
        <p:spPr>
          <a:xfrm>
            <a:off x="6879630"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53" name="TextBox 52"/>
          <p:cNvSpPr txBox="1"/>
          <p:nvPr/>
        </p:nvSpPr>
        <p:spPr>
          <a:xfrm>
            <a:off x="6879630"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11</a:t>
            </a:r>
          </a:p>
        </p:txBody>
      </p:sp>
      <p:sp>
        <p:nvSpPr>
          <p:cNvPr id="54" name="Rounded Rectangle 53"/>
          <p:cNvSpPr/>
          <p:nvPr/>
        </p:nvSpPr>
        <p:spPr>
          <a:xfrm>
            <a:off x="7132141" y="2339181"/>
            <a:ext cx="50800" cy="50800"/>
          </a:xfrm>
          <a:prstGeom prst="roundRect">
            <a:avLst>
              <a:gd name="adj" fmla="val 50000"/>
            </a:avLst>
          </a:prstGeom>
          <a:solidFill>
            <a:srgbClr val="F2F1ED"/>
          </a:solidFill>
          <a:ln>
            <a:noFill/>
          </a:ln>
          <a:effectLst/>
        </p:spPr>
        <p:txBody>
          <a:bodyPr rtlCol="0" anchor="ctr"/>
          <a:lstStyle/>
          <a:p>
            <a:pPr algn="ctr"/>
          </a:p>
        </p:txBody>
      </p:sp>
      <p:sp>
        <p:nvSpPr>
          <p:cNvPr id="55" name="Rounded Rectangle 54"/>
          <p:cNvSpPr/>
          <p:nvPr/>
        </p:nvSpPr>
        <p:spPr>
          <a:xfrm>
            <a:off x="7486352"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56" name="TextBox 55"/>
          <p:cNvSpPr txBox="1"/>
          <p:nvPr/>
        </p:nvSpPr>
        <p:spPr>
          <a:xfrm>
            <a:off x="7486352"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12</a:t>
            </a:r>
          </a:p>
        </p:txBody>
      </p:sp>
      <p:sp>
        <p:nvSpPr>
          <p:cNvPr id="57" name="Rounded Rectangle 56"/>
          <p:cNvSpPr/>
          <p:nvPr/>
        </p:nvSpPr>
        <p:spPr>
          <a:xfrm>
            <a:off x="8093075"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58" name="TextBox 57"/>
          <p:cNvSpPr txBox="1"/>
          <p:nvPr/>
        </p:nvSpPr>
        <p:spPr>
          <a:xfrm>
            <a:off x="8093075"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13</a:t>
            </a:r>
          </a:p>
        </p:txBody>
      </p:sp>
      <p:sp>
        <p:nvSpPr>
          <p:cNvPr id="59" name="Rounded Rectangle 58"/>
          <p:cNvSpPr/>
          <p:nvPr/>
        </p:nvSpPr>
        <p:spPr>
          <a:xfrm>
            <a:off x="8699798" y="1912541"/>
            <a:ext cx="859234" cy="502841"/>
          </a:xfrm>
          <a:prstGeom prst="roundRect">
            <a:avLst>
              <a:gd name="adj" fmla="val 5051"/>
            </a:avLst>
          </a:prstGeom>
          <a:noFill/>
          <a:ln w="12700">
            <a:solidFill>
              <a:srgbClr val="6B4A52"/>
            </a:solidFill>
            <a:prstDash val="dash"/>
          </a:ln>
          <a:effectLst/>
        </p:spPr>
        <p:txBody>
          <a:bodyPr rtlCol="0" anchor="ctr"/>
          <a:lstStyle/>
          <a:p>
            <a:pPr algn="ctr"/>
          </a:p>
        </p:txBody>
      </p:sp>
      <p:sp>
        <p:nvSpPr>
          <p:cNvPr id="60" name="TextBox 59"/>
          <p:cNvSpPr txBox="1"/>
          <p:nvPr/>
        </p:nvSpPr>
        <p:spPr>
          <a:xfrm>
            <a:off x="8712498" y="2033191"/>
            <a:ext cx="833834"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Break</a:t>
            </a:r>
          </a:p>
        </p:txBody>
      </p:sp>
      <p:sp>
        <p:nvSpPr>
          <p:cNvPr id="61" name="Rounded Rectangle 60"/>
          <p:cNvSpPr/>
          <p:nvPr/>
        </p:nvSpPr>
        <p:spPr>
          <a:xfrm>
            <a:off x="9609832"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62" name="TextBox 61"/>
          <p:cNvSpPr txBox="1"/>
          <p:nvPr/>
        </p:nvSpPr>
        <p:spPr>
          <a:xfrm>
            <a:off x="9609832"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14</a:t>
            </a:r>
          </a:p>
        </p:txBody>
      </p:sp>
      <p:sp>
        <p:nvSpPr>
          <p:cNvPr id="63" name="Rounded Rectangle 62"/>
          <p:cNvSpPr/>
          <p:nvPr/>
        </p:nvSpPr>
        <p:spPr>
          <a:xfrm>
            <a:off x="10216555"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64" name="TextBox 63"/>
          <p:cNvSpPr txBox="1"/>
          <p:nvPr/>
        </p:nvSpPr>
        <p:spPr>
          <a:xfrm>
            <a:off x="10216555"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15</a:t>
            </a:r>
          </a:p>
        </p:txBody>
      </p:sp>
      <p:sp>
        <p:nvSpPr>
          <p:cNvPr id="65" name="Rounded Rectangle 64"/>
          <p:cNvSpPr/>
          <p:nvPr/>
        </p:nvSpPr>
        <p:spPr>
          <a:xfrm>
            <a:off x="10823277" y="1912541"/>
            <a:ext cx="555923" cy="502841"/>
          </a:xfrm>
          <a:prstGeom prst="roundRect">
            <a:avLst>
              <a:gd name="adj" fmla="val 5051"/>
            </a:avLst>
          </a:prstGeom>
          <a:solidFill>
            <a:srgbClr val="861F41"/>
          </a:solidFill>
          <a:ln>
            <a:noFill/>
          </a:ln>
          <a:effectLst/>
        </p:spPr>
        <p:txBody>
          <a:bodyPr rtlCol="0" anchor="ctr"/>
          <a:lstStyle/>
          <a:p>
            <a:pPr algn="ctr"/>
          </a:p>
        </p:txBody>
      </p:sp>
      <p:sp>
        <p:nvSpPr>
          <p:cNvPr id="66" name="TextBox 65"/>
          <p:cNvSpPr txBox="1"/>
          <p:nvPr/>
        </p:nvSpPr>
        <p:spPr>
          <a:xfrm>
            <a:off x="10823277" y="2020491"/>
            <a:ext cx="555923" cy="274320"/>
          </a:xfrm>
          <a:prstGeom prst="rect">
            <a:avLst/>
          </a:prstGeom>
          <a:noFill/>
        </p:spPr>
        <p:txBody>
          <a:bodyPr wrap="none" lIns="0" rIns="0" tIns="0" bIns="0" anchor="ctr">
            <a:noAutofit/>
          </a:bodyPr>
          <a:lstStyle/>
          <a:p>
            <a:pPr algn="ctr">
              <a:lnSpc>
                <a:spcPts val="2160"/>
              </a:lnSpc>
            </a:pPr>
            <a:r>
              <a:rPr sz="1800" b="0" i="0">
                <a:solidFill>
                  <a:srgbClr val="F2F1ED"/>
                </a:solidFill>
                <a:latin typeface="Verdana"/>
              </a:rPr>
              <a:t>16</a:t>
            </a:r>
          </a:p>
        </p:txBody>
      </p:sp>
      <p:sp>
        <p:nvSpPr>
          <p:cNvPr id="67" name="Rounded Rectangle 66"/>
          <p:cNvSpPr/>
          <p:nvPr/>
        </p:nvSpPr>
        <p:spPr>
          <a:xfrm>
            <a:off x="11075789" y="2339181"/>
            <a:ext cx="50800" cy="50800"/>
          </a:xfrm>
          <a:prstGeom prst="roundRect">
            <a:avLst>
              <a:gd name="adj" fmla="val 50000"/>
            </a:avLst>
          </a:prstGeom>
          <a:solidFill>
            <a:srgbClr val="F2F1ED"/>
          </a:solidFill>
          <a:ln>
            <a:noFill/>
          </a:ln>
          <a:effectLst/>
        </p:spPr>
        <p:txBody>
          <a:bodyPr rtlCol="0" anchor="ctr"/>
          <a:lstStyle/>
          <a:p>
            <a:pPr algn="ctr"/>
          </a:p>
        </p:txBody>
      </p:sp>
      <p:sp>
        <p:nvSpPr>
          <p:cNvPr id="68" name="Rounded Rectangle 67"/>
          <p:cNvSpPr/>
          <p:nvPr/>
        </p:nvSpPr>
        <p:spPr>
          <a:xfrm>
            <a:off x="812800" y="2618581"/>
            <a:ext cx="10566400" cy="520303"/>
          </a:xfrm>
          <a:prstGeom prst="roundRect">
            <a:avLst>
              <a:gd name="adj" fmla="val 12204"/>
            </a:avLst>
          </a:prstGeom>
          <a:solidFill>
            <a:srgbClr val="E9E3E4"/>
          </a:solidFill>
          <a:ln w="19050">
            <a:solidFill>
              <a:srgbClr val="861F41"/>
            </a:solidFill>
          </a:ln>
          <a:effectLst/>
        </p:spPr>
        <p:txBody>
          <a:bodyPr rtlCol="0" anchor="ctr"/>
          <a:lstStyle/>
          <a:p>
            <a:pPr algn="ctr"/>
          </a:p>
        </p:txBody>
      </p:sp>
      <p:sp>
        <p:nvSpPr>
          <p:cNvPr id="69" name="TextBox 68"/>
          <p:cNvSpPr txBox="1"/>
          <p:nvPr/>
        </p:nvSpPr>
        <p:spPr>
          <a:xfrm>
            <a:off x="984250" y="2796381"/>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1–2</a:t>
            </a:r>
          </a:p>
        </p:txBody>
      </p:sp>
      <p:sp>
        <p:nvSpPr>
          <p:cNvPr id="70" name="TextBox 69"/>
          <p:cNvSpPr txBox="1"/>
          <p:nvPr/>
        </p:nvSpPr>
        <p:spPr>
          <a:xfrm>
            <a:off x="2660650" y="2720181"/>
            <a:ext cx="83947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Java foundations — testing, exceptions, polymorphism</a:t>
            </a:r>
          </a:p>
        </p:txBody>
      </p:sp>
      <p:sp>
        <p:nvSpPr>
          <p:cNvPr id="71" name="Rounded Rectangle 70"/>
          <p:cNvSpPr/>
          <p:nvPr/>
        </p:nvSpPr>
        <p:spPr>
          <a:xfrm>
            <a:off x="812800" y="3240484"/>
            <a:ext cx="10566400" cy="520303"/>
          </a:xfrm>
          <a:prstGeom prst="roundRect">
            <a:avLst>
              <a:gd name="adj" fmla="val 12204"/>
            </a:avLst>
          </a:prstGeom>
          <a:solidFill>
            <a:srgbClr val="E9E3E4"/>
          </a:solidFill>
          <a:ln w="19050">
            <a:solidFill>
              <a:srgbClr val="861F41"/>
            </a:solidFill>
          </a:ln>
          <a:effectLst/>
        </p:spPr>
        <p:txBody>
          <a:bodyPr rtlCol="0" anchor="ctr"/>
          <a:lstStyle/>
          <a:p>
            <a:pPr algn="ctr"/>
          </a:p>
        </p:txBody>
      </p:sp>
      <p:sp>
        <p:nvSpPr>
          <p:cNvPr id="72" name="TextBox 71"/>
          <p:cNvSpPr txBox="1"/>
          <p:nvPr/>
        </p:nvSpPr>
        <p:spPr>
          <a:xfrm>
            <a:off x="984250" y="3418284"/>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3–5</a:t>
            </a:r>
          </a:p>
        </p:txBody>
      </p:sp>
      <p:sp>
        <p:nvSpPr>
          <p:cNvPr id="73" name="TextBox 72"/>
          <p:cNvSpPr txBox="1"/>
          <p:nvPr/>
        </p:nvSpPr>
        <p:spPr>
          <a:xfrm>
            <a:off x="2660650" y="3342084"/>
            <a:ext cx="812036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Bags, linked chains, efficiency, stacks · Test 1 Wk 5</a:t>
            </a:r>
          </a:p>
        </p:txBody>
      </p:sp>
      <p:sp>
        <p:nvSpPr>
          <p:cNvPr id="74" name="TextBox 73"/>
          <p:cNvSpPr txBox="1"/>
          <p:nvPr/>
        </p:nvSpPr>
        <p:spPr>
          <a:xfrm>
            <a:off x="10933410" y="3418284"/>
            <a:ext cx="27434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P1</a:t>
            </a:r>
          </a:p>
        </p:txBody>
      </p:sp>
      <p:sp>
        <p:nvSpPr>
          <p:cNvPr id="75" name="Rounded Rectangle 74"/>
          <p:cNvSpPr/>
          <p:nvPr/>
        </p:nvSpPr>
        <p:spPr>
          <a:xfrm>
            <a:off x="812800" y="3862388"/>
            <a:ext cx="10566400" cy="520303"/>
          </a:xfrm>
          <a:prstGeom prst="roundRect">
            <a:avLst>
              <a:gd name="adj" fmla="val 12204"/>
            </a:avLst>
          </a:prstGeom>
          <a:solidFill>
            <a:srgbClr val="E9E3E4"/>
          </a:solidFill>
          <a:ln w="19050">
            <a:solidFill>
              <a:srgbClr val="861F41"/>
            </a:solidFill>
          </a:ln>
          <a:effectLst/>
        </p:spPr>
        <p:txBody>
          <a:bodyPr rtlCol="0" anchor="ctr"/>
          <a:lstStyle/>
          <a:p>
            <a:pPr algn="ctr"/>
          </a:p>
        </p:txBody>
      </p:sp>
      <p:sp>
        <p:nvSpPr>
          <p:cNvPr id="76" name="TextBox 75"/>
          <p:cNvSpPr txBox="1"/>
          <p:nvPr/>
        </p:nvSpPr>
        <p:spPr>
          <a:xfrm>
            <a:off x="984250" y="4040188"/>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6–9</a:t>
            </a:r>
          </a:p>
        </p:txBody>
      </p:sp>
      <p:sp>
        <p:nvSpPr>
          <p:cNvPr id="77" name="TextBox 76"/>
          <p:cNvSpPr txBox="1"/>
          <p:nvPr/>
        </p:nvSpPr>
        <p:spPr>
          <a:xfrm>
            <a:off x="2660650" y="3963988"/>
            <a:ext cx="812036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Ethics &amp; MVC, recursion, queues, lists · Test 1 redo Wk 6</a:t>
            </a:r>
          </a:p>
        </p:txBody>
      </p:sp>
      <p:sp>
        <p:nvSpPr>
          <p:cNvPr id="78" name="TextBox 77"/>
          <p:cNvSpPr txBox="1"/>
          <p:nvPr/>
        </p:nvSpPr>
        <p:spPr>
          <a:xfrm>
            <a:off x="10933410" y="4040188"/>
            <a:ext cx="27434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P2</a:t>
            </a:r>
          </a:p>
        </p:txBody>
      </p:sp>
      <p:sp>
        <p:nvSpPr>
          <p:cNvPr id="79" name="Rounded Rectangle 78"/>
          <p:cNvSpPr/>
          <p:nvPr/>
        </p:nvSpPr>
        <p:spPr>
          <a:xfrm>
            <a:off x="812800" y="4484291"/>
            <a:ext cx="10566400" cy="520303"/>
          </a:xfrm>
          <a:prstGeom prst="roundRect">
            <a:avLst>
              <a:gd name="adj" fmla="val 12204"/>
            </a:avLst>
          </a:prstGeom>
          <a:solidFill>
            <a:srgbClr val="E9E3E4"/>
          </a:solidFill>
          <a:ln w="19050">
            <a:solidFill>
              <a:srgbClr val="861F41"/>
            </a:solidFill>
          </a:ln>
          <a:effectLst/>
        </p:spPr>
        <p:txBody>
          <a:bodyPr rtlCol="0" anchor="ctr"/>
          <a:lstStyle/>
          <a:p>
            <a:pPr algn="ctr"/>
          </a:p>
        </p:txBody>
      </p:sp>
      <p:sp>
        <p:nvSpPr>
          <p:cNvPr id="80" name="TextBox 79"/>
          <p:cNvSpPr txBox="1"/>
          <p:nvPr/>
        </p:nvSpPr>
        <p:spPr>
          <a:xfrm>
            <a:off x="984250" y="4662091"/>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10–13</a:t>
            </a:r>
          </a:p>
        </p:txBody>
      </p:sp>
      <p:sp>
        <p:nvSpPr>
          <p:cNvPr id="81" name="TextBox 80"/>
          <p:cNvSpPr txBox="1"/>
          <p:nvPr/>
        </p:nvSpPr>
        <p:spPr>
          <a:xfrm>
            <a:off x="2660650" y="4585891"/>
            <a:ext cx="812036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Sorting, sorted lists, trees · Test 2 Wk 10 · redo Wk 11</a:t>
            </a:r>
          </a:p>
        </p:txBody>
      </p:sp>
      <p:sp>
        <p:nvSpPr>
          <p:cNvPr id="82" name="TextBox 81"/>
          <p:cNvSpPr txBox="1"/>
          <p:nvPr/>
        </p:nvSpPr>
        <p:spPr>
          <a:xfrm>
            <a:off x="10933410" y="4662091"/>
            <a:ext cx="27434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P3</a:t>
            </a:r>
          </a:p>
        </p:txBody>
      </p:sp>
      <p:sp>
        <p:nvSpPr>
          <p:cNvPr id="83" name="Rounded Rectangle 82"/>
          <p:cNvSpPr/>
          <p:nvPr/>
        </p:nvSpPr>
        <p:spPr>
          <a:xfrm>
            <a:off x="812800" y="5106194"/>
            <a:ext cx="10566400" cy="520303"/>
          </a:xfrm>
          <a:prstGeom prst="roundRect">
            <a:avLst>
              <a:gd name="adj" fmla="val 12204"/>
            </a:avLst>
          </a:prstGeom>
          <a:solidFill>
            <a:srgbClr val="E9E3E4"/>
          </a:solidFill>
          <a:ln w="19050">
            <a:solidFill>
              <a:srgbClr val="861F41"/>
            </a:solidFill>
          </a:ln>
          <a:effectLst/>
        </p:spPr>
        <p:txBody>
          <a:bodyPr rtlCol="0" anchor="ctr"/>
          <a:lstStyle/>
          <a:p>
            <a:pPr algn="ctr"/>
          </a:p>
        </p:txBody>
      </p:sp>
      <p:sp>
        <p:nvSpPr>
          <p:cNvPr id="84" name="TextBox 83"/>
          <p:cNvSpPr txBox="1"/>
          <p:nvPr/>
        </p:nvSpPr>
        <p:spPr>
          <a:xfrm>
            <a:off x="984250" y="5283994"/>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14–15</a:t>
            </a:r>
          </a:p>
        </p:txBody>
      </p:sp>
      <p:sp>
        <p:nvSpPr>
          <p:cNvPr id="85" name="TextBox 84"/>
          <p:cNvSpPr txBox="1"/>
          <p:nvPr/>
        </p:nvSpPr>
        <p:spPr>
          <a:xfrm>
            <a:off x="2660650" y="5207794"/>
            <a:ext cx="743456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Binary search, BSTs, review — classes end Dec 9</a:t>
            </a:r>
          </a:p>
        </p:txBody>
      </p:sp>
      <p:sp>
        <p:nvSpPr>
          <p:cNvPr id="86" name="TextBox 85"/>
          <p:cNvSpPr txBox="1"/>
          <p:nvPr/>
        </p:nvSpPr>
        <p:spPr>
          <a:xfrm>
            <a:off x="10247610" y="5283994"/>
            <a:ext cx="96014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P3 demo</a:t>
            </a:r>
          </a:p>
        </p:txBody>
      </p:sp>
      <p:sp>
        <p:nvSpPr>
          <p:cNvPr id="87" name="Rounded Rectangle 86"/>
          <p:cNvSpPr/>
          <p:nvPr/>
        </p:nvSpPr>
        <p:spPr>
          <a:xfrm>
            <a:off x="812800" y="5728097"/>
            <a:ext cx="10566400" cy="520303"/>
          </a:xfrm>
          <a:prstGeom prst="roundRect">
            <a:avLst>
              <a:gd name="adj" fmla="val 12204"/>
            </a:avLst>
          </a:prstGeom>
          <a:solidFill>
            <a:srgbClr val="E9E3E4"/>
          </a:solidFill>
          <a:ln w="19050">
            <a:solidFill>
              <a:srgbClr val="861F41"/>
            </a:solidFill>
          </a:ln>
          <a:effectLst/>
        </p:spPr>
        <p:txBody>
          <a:bodyPr rtlCol="0" anchor="ctr"/>
          <a:lstStyle/>
          <a:p>
            <a:pPr algn="ctr"/>
          </a:p>
        </p:txBody>
      </p:sp>
      <p:sp>
        <p:nvSpPr>
          <p:cNvPr id="88" name="TextBox 87"/>
          <p:cNvSpPr txBox="1"/>
          <p:nvPr/>
        </p:nvSpPr>
        <p:spPr>
          <a:xfrm>
            <a:off x="984250" y="5905897"/>
            <a:ext cx="15240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Wk 16</a:t>
            </a:r>
          </a:p>
        </p:txBody>
      </p:sp>
      <p:sp>
        <p:nvSpPr>
          <p:cNvPr id="89" name="TextBox 88"/>
          <p:cNvSpPr txBox="1"/>
          <p:nvPr/>
        </p:nvSpPr>
        <p:spPr>
          <a:xfrm>
            <a:off x="2660650" y="5829697"/>
            <a:ext cx="83947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Final exam · Dec 11–16 · Good luck, Hokies!!!</a:t>
            </a:r>
          </a:p>
        </p:txBody>
      </p:sp>
      <p:sp>
        <p:nvSpPr>
          <p:cNvPr id="90" name="Rounded Rectangle 89"/>
          <p:cNvSpPr/>
          <p:nvPr/>
        </p:nvSpPr>
        <p:spPr>
          <a:xfrm>
            <a:off x="11010404" y="6286500"/>
            <a:ext cx="876796" cy="368300"/>
          </a:xfrm>
          <a:prstGeom prst="roundRect">
            <a:avLst>
              <a:gd name="adj" fmla="val 50000"/>
            </a:avLst>
          </a:prstGeom>
          <a:solidFill>
            <a:srgbClr val="E9E3E4"/>
          </a:solidFill>
          <a:ln>
            <a:noFill/>
          </a:ln>
          <a:effectLst/>
        </p:spPr>
        <p:txBody>
          <a:bodyPr rtlCol="0" anchor="ctr"/>
          <a:lstStyle/>
          <a:p>
            <a:pPr algn="ctr"/>
          </a:p>
        </p:txBody>
      </p:sp>
      <p:sp>
        <p:nvSpPr>
          <p:cNvPr id="91" name="TextBox 90"/>
          <p:cNvSpPr txBox="1"/>
          <p:nvPr/>
        </p:nvSpPr>
        <p:spPr>
          <a:xfrm>
            <a:off x="11162804" y="6337300"/>
            <a:ext cx="571996"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9 / 28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Your week in a nutshell</a:t>
            </a:r>
          </a:p>
        </p:txBody>
      </p:sp>
      <p:pic>
        <p:nvPicPr>
          <p:cNvPr id="4" name="Picture 3" descr="be57ddf7e938ee1f.png"/>
          <p:cNvPicPr>
            <a:picLocks noChangeAspect="1"/>
          </p:cNvPicPr>
          <p:nvPr/>
        </p:nvPicPr>
        <p:blipFill>
          <a:blip r:embed="rId3"/>
          <a:stretch>
            <a:fillRect/>
          </a:stretch>
        </p:blipFill>
        <p:spPr>
          <a:xfrm>
            <a:off x="812800" y="1473200"/>
            <a:ext cx="10566400" cy="5111750"/>
          </a:xfrm>
          <a:prstGeom prst="rect">
            <a:avLst/>
          </a:prstGeom>
        </p:spPr>
      </p:pic>
      <p:sp>
        <p:nvSpPr>
          <p:cNvPr id="5" name="TextBox 4"/>
          <p:cNvSpPr txBox="1"/>
          <p:nvPr/>
        </p:nvSpPr>
        <p:spPr>
          <a:xfrm>
            <a:off x="812800" y="1536700"/>
            <a:ext cx="1761034"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Sun</a:t>
            </a:r>
          </a:p>
        </p:txBody>
      </p:sp>
      <p:sp>
        <p:nvSpPr>
          <p:cNvPr id="6" name="TextBox 5"/>
          <p:cNvSpPr txBox="1"/>
          <p:nvPr/>
        </p:nvSpPr>
        <p:spPr>
          <a:xfrm>
            <a:off x="2561134" y="1536700"/>
            <a:ext cx="1786434" cy="746720"/>
          </a:xfrm>
          <a:prstGeom prst="rect">
            <a:avLst/>
          </a:prstGeom>
          <a:noFill/>
        </p:spPr>
        <p:txBody>
          <a:bodyPr wrap="square" lIns="0" rIns="0" tIns="0" bIns="0" anchor="ctr">
            <a:noAutofit/>
          </a:bodyPr>
          <a:lstStyle/>
          <a:p>
            <a:pPr algn="ctr">
              <a:lnSpc>
                <a:spcPts val="3479"/>
              </a:lnSpc>
            </a:pPr>
            <a:r>
              <a:rPr sz="2400" b="0" i="0">
                <a:solidFill>
                  <a:srgbClr val="6B4A52"/>
                </a:solidFill>
                <a:latin typeface="Roboto Mono"/>
              </a:rPr>
              <a:t>Mon · lecture</a:t>
            </a:r>
          </a:p>
        </p:txBody>
      </p:sp>
      <p:sp>
        <p:nvSpPr>
          <p:cNvPr id="7" name="TextBox 6"/>
          <p:cNvSpPr txBox="1"/>
          <p:nvPr/>
        </p:nvSpPr>
        <p:spPr>
          <a:xfrm>
            <a:off x="4334867" y="1536700"/>
            <a:ext cx="1761133"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Tue</a:t>
            </a:r>
          </a:p>
        </p:txBody>
      </p:sp>
      <p:sp>
        <p:nvSpPr>
          <p:cNvPr id="8" name="TextBox 7"/>
          <p:cNvSpPr txBox="1"/>
          <p:nvPr/>
        </p:nvSpPr>
        <p:spPr>
          <a:xfrm>
            <a:off x="6083300" y="1536700"/>
            <a:ext cx="1786434" cy="746720"/>
          </a:xfrm>
          <a:prstGeom prst="rect">
            <a:avLst/>
          </a:prstGeom>
          <a:noFill/>
        </p:spPr>
        <p:txBody>
          <a:bodyPr wrap="square" lIns="0" rIns="0" tIns="0" bIns="0" anchor="ctr">
            <a:noAutofit/>
          </a:bodyPr>
          <a:lstStyle/>
          <a:p>
            <a:pPr algn="ctr">
              <a:lnSpc>
                <a:spcPts val="3479"/>
              </a:lnSpc>
            </a:pPr>
            <a:r>
              <a:rPr sz="2400" b="0" i="0">
                <a:solidFill>
                  <a:srgbClr val="6B4A52"/>
                </a:solidFill>
                <a:latin typeface="Roboto Mono"/>
              </a:rPr>
              <a:t>Wed · lecture</a:t>
            </a:r>
          </a:p>
        </p:txBody>
      </p:sp>
      <p:sp>
        <p:nvSpPr>
          <p:cNvPr id="9" name="TextBox 8"/>
          <p:cNvSpPr txBox="1"/>
          <p:nvPr/>
        </p:nvSpPr>
        <p:spPr>
          <a:xfrm>
            <a:off x="7857034" y="1536700"/>
            <a:ext cx="1761034"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Thu</a:t>
            </a:r>
          </a:p>
        </p:txBody>
      </p:sp>
      <p:sp>
        <p:nvSpPr>
          <p:cNvPr id="10" name="TextBox 9"/>
          <p:cNvSpPr txBox="1"/>
          <p:nvPr/>
        </p:nvSpPr>
        <p:spPr>
          <a:xfrm>
            <a:off x="9618067" y="1536700"/>
            <a:ext cx="1761133"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Fri</a:t>
            </a:r>
          </a:p>
        </p:txBody>
      </p:sp>
      <p:sp>
        <p:nvSpPr>
          <p:cNvPr id="11" name="Rounded Rectangle 10"/>
          <p:cNvSpPr/>
          <p:nvPr/>
        </p:nvSpPr>
        <p:spPr>
          <a:xfrm>
            <a:off x="10650240" y="6203950"/>
            <a:ext cx="1236960" cy="450850"/>
          </a:xfrm>
          <a:prstGeom prst="roundRect">
            <a:avLst>
              <a:gd name="adj" fmla="val 50000"/>
            </a:avLst>
          </a:prstGeom>
          <a:solidFill>
            <a:srgbClr val="E9E3E4"/>
          </a:solidFill>
          <a:ln>
            <a:noFill/>
          </a:ln>
          <a:effectLst/>
        </p:spPr>
        <p:txBody>
          <a:bodyPr rtlCol="0" anchor="ctr"/>
          <a:lstStyle/>
          <a:p>
            <a:pPr algn="ctr"/>
          </a:p>
        </p:txBody>
      </p:sp>
      <p:sp>
        <p:nvSpPr>
          <p:cNvPr id="12" name="TextBox 11"/>
          <p:cNvSpPr txBox="1"/>
          <p:nvPr/>
        </p:nvSpPr>
        <p:spPr>
          <a:xfrm>
            <a:off x="10802640" y="6261100"/>
            <a:ext cx="932160" cy="365760"/>
          </a:xfrm>
          <a:prstGeom prst="rect">
            <a:avLst/>
          </a:prstGeom>
          <a:noFill/>
        </p:spPr>
        <p:txBody>
          <a:bodyPr wrap="none" lIns="0" rIns="0" tIns="0" bIns="0" anchor="ctr">
            <a:noAutofit/>
          </a:bodyPr>
          <a:lstStyle/>
          <a:p>
            <a:pPr algn="l">
              <a:lnSpc>
                <a:spcPts val="2879"/>
              </a:lnSpc>
            </a:pPr>
            <a:r>
              <a:rPr sz="2400" b="0" i="0">
                <a:solidFill>
                  <a:srgbClr val="6B4A52"/>
                </a:solidFill>
                <a:latin typeface="Verdana"/>
              </a:rPr>
              <a:t>10 / 28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Your week in a nutshell</a:t>
            </a:r>
          </a:p>
        </p:txBody>
      </p:sp>
      <p:pic>
        <p:nvPicPr>
          <p:cNvPr id="4" name="Picture 3" descr="be57ddf7e938ee1f.png"/>
          <p:cNvPicPr>
            <a:picLocks noChangeAspect="1"/>
          </p:cNvPicPr>
          <p:nvPr/>
        </p:nvPicPr>
        <p:blipFill>
          <a:blip r:embed="rId3"/>
          <a:stretch>
            <a:fillRect/>
          </a:stretch>
        </p:blipFill>
        <p:spPr>
          <a:xfrm>
            <a:off x="812800" y="1473200"/>
            <a:ext cx="10566400" cy="5111750"/>
          </a:xfrm>
          <a:prstGeom prst="rect">
            <a:avLst/>
          </a:prstGeom>
        </p:spPr>
      </p:pic>
      <p:sp>
        <p:nvSpPr>
          <p:cNvPr id="5" name="TextBox 4"/>
          <p:cNvSpPr txBox="1"/>
          <p:nvPr/>
        </p:nvSpPr>
        <p:spPr>
          <a:xfrm>
            <a:off x="812800" y="1536700"/>
            <a:ext cx="1761034"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Sun</a:t>
            </a:r>
          </a:p>
        </p:txBody>
      </p:sp>
      <p:sp>
        <p:nvSpPr>
          <p:cNvPr id="6" name="TextBox 5"/>
          <p:cNvSpPr txBox="1"/>
          <p:nvPr/>
        </p:nvSpPr>
        <p:spPr>
          <a:xfrm>
            <a:off x="2561134" y="1536700"/>
            <a:ext cx="1786434" cy="746720"/>
          </a:xfrm>
          <a:prstGeom prst="rect">
            <a:avLst/>
          </a:prstGeom>
          <a:noFill/>
        </p:spPr>
        <p:txBody>
          <a:bodyPr wrap="square" lIns="0" rIns="0" tIns="0" bIns="0" anchor="ctr">
            <a:noAutofit/>
          </a:bodyPr>
          <a:lstStyle/>
          <a:p>
            <a:pPr algn="ctr">
              <a:lnSpc>
                <a:spcPts val="3479"/>
              </a:lnSpc>
            </a:pPr>
            <a:r>
              <a:rPr sz="2400" b="0" i="0">
                <a:solidFill>
                  <a:srgbClr val="6B4A52"/>
                </a:solidFill>
                <a:latin typeface="Roboto Mono"/>
              </a:rPr>
              <a:t>Mon · lecture</a:t>
            </a:r>
          </a:p>
        </p:txBody>
      </p:sp>
      <p:sp>
        <p:nvSpPr>
          <p:cNvPr id="7" name="TextBox 6"/>
          <p:cNvSpPr txBox="1"/>
          <p:nvPr/>
        </p:nvSpPr>
        <p:spPr>
          <a:xfrm>
            <a:off x="4334867" y="1536700"/>
            <a:ext cx="1761133"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Tue</a:t>
            </a:r>
          </a:p>
        </p:txBody>
      </p:sp>
      <p:sp>
        <p:nvSpPr>
          <p:cNvPr id="8" name="TextBox 7"/>
          <p:cNvSpPr txBox="1"/>
          <p:nvPr/>
        </p:nvSpPr>
        <p:spPr>
          <a:xfrm>
            <a:off x="6083300" y="1536700"/>
            <a:ext cx="1786434" cy="746720"/>
          </a:xfrm>
          <a:prstGeom prst="rect">
            <a:avLst/>
          </a:prstGeom>
          <a:noFill/>
        </p:spPr>
        <p:txBody>
          <a:bodyPr wrap="square" lIns="0" rIns="0" tIns="0" bIns="0" anchor="ctr">
            <a:noAutofit/>
          </a:bodyPr>
          <a:lstStyle/>
          <a:p>
            <a:pPr algn="ctr">
              <a:lnSpc>
                <a:spcPts val="3479"/>
              </a:lnSpc>
            </a:pPr>
            <a:r>
              <a:rPr sz="2400" b="0" i="0">
                <a:solidFill>
                  <a:srgbClr val="6B4A52"/>
                </a:solidFill>
                <a:latin typeface="Roboto Mono"/>
              </a:rPr>
              <a:t>Wed · lecture</a:t>
            </a:r>
          </a:p>
        </p:txBody>
      </p:sp>
      <p:sp>
        <p:nvSpPr>
          <p:cNvPr id="9" name="TextBox 8"/>
          <p:cNvSpPr txBox="1"/>
          <p:nvPr/>
        </p:nvSpPr>
        <p:spPr>
          <a:xfrm>
            <a:off x="7857034" y="1536700"/>
            <a:ext cx="1761034"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Thu</a:t>
            </a:r>
          </a:p>
        </p:txBody>
      </p:sp>
      <p:sp>
        <p:nvSpPr>
          <p:cNvPr id="10" name="TextBox 9"/>
          <p:cNvSpPr txBox="1"/>
          <p:nvPr/>
        </p:nvSpPr>
        <p:spPr>
          <a:xfrm>
            <a:off x="9618067" y="1536700"/>
            <a:ext cx="1761133"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Fri</a:t>
            </a:r>
          </a:p>
        </p:txBody>
      </p:sp>
      <p:sp>
        <p:nvSpPr>
          <p:cNvPr id="11" name="Rounded Rectangle 10"/>
          <p:cNvSpPr/>
          <p:nvPr/>
        </p:nvSpPr>
        <p:spPr>
          <a:xfrm>
            <a:off x="812800" y="2458641"/>
            <a:ext cx="10566400" cy="734020"/>
          </a:xfrm>
          <a:prstGeom prst="roundRect">
            <a:avLst>
              <a:gd name="adj" fmla="val 8650"/>
            </a:avLst>
          </a:prstGeom>
          <a:solidFill>
            <a:srgbClr val="E9E3E4"/>
          </a:solidFill>
          <a:ln w="19050">
            <a:solidFill>
              <a:srgbClr val="1C6091"/>
            </a:solidFill>
          </a:ln>
          <a:effectLst/>
        </p:spPr>
        <p:txBody>
          <a:bodyPr rtlCol="0" anchor="ctr"/>
          <a:lstStyle/>
          <a:p>
            <a:pPr algn="ctr"/>
          </a:p>
        </p:txBody>
      </p:sp>
      <p:sp>
        <p:nvSpPr>
          <p:cNvPr id="12" name="TextBox 11"/>
          <p:cNvSpPr txBox="1"/>
          <p:nvPr/>
        </p:nvSpPr>
        <p:spPr>
          <a:xfrm>
            <a:off x="984250" y="2630091"/>
            <a:ext cx="2413000" cy="365760"/>
          </a:xfrm>
          <a:prstGeom prst="rect">
            <a:avLst/>
          </a:prstGeom>
          <a:noFill/>
        </p:spPr>
        <p:txBody>
          <a:bodyPr wrap="none" lIns="0" rIns="0" tIns="0" bIns="0" anchor="ctr">
            <a:noAutofit/>
          </a:bodyPr>
          <a:lstStyle/>
          <a:p>
            <a:pPr algn="l">
              <a:lnSpc>
                <a:spcPts val="2880"/>
              </a:lnSpc>
            </a:pPr>
            <a:r>
              <a:rPr sz="2400" b="1" i="0">
                <a:solidFill>
                  <a:srgbClr val="1C6091"/>
                </a:solidFill>
                <a:latin typeface="Georgia"/>
              </a:rPr>
              <a:t>Study</a:t>
            </a:r>
          </a:p>
        </p:txBody>
      </p:sp>
      <p:sp>
        <p:nvSpPr>
          <p:cNvPr id="13" name="TextBox 12"/>
          <p:cNvSpPr txBox="1"/>
          <p:nvPr/>
        </p:nvSpPr>
        <p:spPr>
          <a:xfrm>
            <a:off x="3549650" y="2630091"/>
            <a:ext cx="7658100" cy="365760"/>
          </a:xfrm>
          <a:prstGeom prst="rect">
            <a:avLst/>
          </a:prstGeom>
          <a:noFill/>
        </p:spPr>
        <p:txBody>
          <a:bodyPr wrap="none" lIns="0" rIns="0" tIns="0" bIns="0" anchor="ctr">
            <a:noAutofit/>
          </a:bodyPr>
          <a:lstStyle/>
          <a:p>
            <a:pPr algn="l">
              <a:lnSpc>
                <a:spcPts val="3479"/>
              </a:lnSpc>
            </a:pPr>
            <a:r>
              <a:rPr sz="2400" b="0" i="0">
                <a:solidFill>
                  <a:srgbClr val="2C1A1F"/>
                </a:solidFill>
                <a:latin typeface="Verdana"/>
              </a:rPr>
              <a:t>PrairieLearn modules + exercises, due each Sunday.</a:t>
            </a:r>
          </a:p>
        </p:txBody>
      </p:sp>
      <p:sp>
        <p:nvSpPr>
          <p:cNvPr id="14" name="Rounded Rectangle 13"/>
          <p:cNvSpPr/>
          <p:nvPr/>
        </p:nvSpPr>
        <p:spPr>
          <a:xfrm>
            <a:off x="831850" y="3122811"/>
            <a:ext cx="1754684" cy="50800"/>
          </a:xfrm>
          <a:prstGeom prst="roundRect">
            <a:avLst>
              <a:gd name="adj" fmla="val 50000"/>
            </a:avLst>
          </a:prstGeom>
          <a:solidFill>
            <a:srgbClr val="1C6091"/>
          </a:solidFill>
          <a:ln>
            <a:noFill/>
          </a:ln>
          <a:effectLst/>
        </p:spPr>
        <p:txBody>
          <a:bodyPr rtlCol="0" anchor="ctr"/>
          <a:lstStyle/>
          <a:p>
            <a:pPr algn="ctr"/>
          </a:p>
        </p:txBody>
      </p:sp>
      <p:sp>
        <p:nvSpPr>
          <p:cNvPr id="15" name="Rounded Rectangle 14"/>
          <p:cNvSpPr/>
          <p:nvPr/>
        </p:nvSpPr>
        <p:spPr>
          <a:xfrm>
            <a:off x="10650240" y="6203950"/>
            <a:ext cx="1236960" cy="450850"/>
          </a:xfrm>
          <a:prstGeom prst="roundRect">
            <a:avLst>
              <a:gd name="adj" fmla="val 50000"/>
            </a:avLst>
          </a:prstGeom>
          <a:solidFill>
            <a:srgbClr val="E9E3E4"/>
          </a:solidFill>
          <a:ln>
            <a:noFill/>
          </a:ln>
          <a:effectLst/>
        </p:spPr>
        <p:txBody>
          <a:bodyPr rtlCol="0" anchor="ctr"/>
          <a:lstStyle/>
          <a:p>
            <a:pPr algn="ctr"/>
          </a:p>
        </p:txBody>
      </p:sp>
      <p:sp>
        <p:nvSpPr>
          <p:cNvPr id="16" name="TextBox 15"/>
          <p:cNvSpPr txBox="1"/>
          <p:nvPr/>
        </p:nvSpPr>
        <p:spPr>
          <a:xfrm>
            <a:off x="10802640" y="6261100"/>
            <a:ext cx="932160" cy="365760"/>
          </a:xfrm>
          <a:prstGeom prst="rect">
            <a:avLst/>
          </a:prstGeom>
          <a:noFill/>
        </p:spPr>
        <p:txBody>
          <a:bodyPr wrap="none" lIns="0" rIns="0" tIns="0" bIns="0" anchor="ctr">
            <a:noAutofit/>
          </a:bodyPr>
          <a:lstStyle/>
          <a:p>
            <a:pPr algn="l">
              <a:lnSpc>
                <a:spcPts val="2879"/>
              </a:lnSpc>
            </a:pPr>
            <a:r>
              <a:rPr sz="2400" b="0" i="0">
                <a:solidFill>
                  <a:srgbClr val="6B4A52"/>
                </a:solidFill>
                <a:latin typeface="Verdana"/>
              </a:rPr>
              <a:t>10 / 28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Your week in a nutshell</a:t>
            </a:r>
          </a:p>
        </p:txBody>
      </p:sp>
      <p:pic>
        <p:nvPicPr>
          <p:cNvPr id="4" name="Picture 3" descr="be57ddf7e938ee1f.png"/>
          <p:cNvPicPr>
            <a:picLocks noChangeAspect="1"/>
          </p:cNvPicPr>
          <p:nvPr/>
        </p:nvPicPr>
        <p:blipFill>
          <a:blip r:embed="rId3"/>
          <a:stretch>
            <a:fillRect/>
          </a:stretch>
        </p:blipFill>
        <p:spPr>
          <a:xfrm>
            <a:off x="812800" y="1473200"/>
            <a:ext cx="10566400" cy="5111750"/>
          </a:xfrm>
          <a:prstGeom prst="rect">
            <a:avLst/>
          </a:prstGeom>
        </p:spPr>
      </p:pic>
      <p:sp>
        <p:nvSpPr>
          <p:cNvPr id="5" name="TextBox 4"/>
          <p:cNvSpPr txBox="1"/>
          <p:nvPr/>
        </p:nvSpPr>
        <p:spPr>
          <a:xfrm>
            <a:off x="812800" y="1536700"/>
            <a:ext cx="1761034"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Sun</a:t>
            </a:r>
          </a:p>
        </p:txBody>
      </p:sp>
      <p:sp>
        <p:nvSpPr>
          <p:cNvPr id="6" name="TextBox 5"/>
          <p:cNvSpPr txBox="1"/>
          <p:nvPr/>
        </p:nvSpPr>
        <p:spPr>
          <a:xfrm>
            <a:off x="2561134" y="1536700"/>
            <a:ext cx="1786434" cy="746720"/>
          </a:xfrm>
          <a:prstGeom prst="rect">
            <a:avLst/>
          </a:prstGeom>
          <a:noFill/>
        </p:spPr>
        <p:txBody>
          <a:bodyPr wrap="square" lIns="0" rIns="0" tIns="0" bIns="0" anchor="ctr">
            <a:noAutofit/>
          </a:bodyPr>
          <a:lstStyle/>
          <a:p>
            <a:pPr algn="ctr">
              <a:lnSpc>
                <a:spcPts val="3479"/>
              </a:lnSpc>
            </a:pPr>
            <a:r>
              <a:rPr sz="2400" b="0" i="0">
                <a:solidFill>
                  <a:srgbClr val="6B4A52"/>
                </a:solidFill>
                <a:latin typeface="Roboto Mono"/>
              </a:rPr>
              <a:t>Mon · lecture</a:t>
            </a:r>
          </a:p>
        </p:txBody>
      </p:sp>
      <p:sp>
        <p:nvSpPr>
          <p:cNvPr id="7" name="TextBox 6"/>
          <p:cNvSpPr txBox="1"/>
          <p:nvPr/>
        </p:nvSpPr>
        <p:spPr>
          <a:xfrm>
            <a:off x="4334867" y="1536700"/>
            <a:ext cx="1761133"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Tue</a:t>
            </a:r>
          </a:p>
        </p:txBody>
      </p:sp>
      <p:sp>
        <p:nvSpPr>
          <p:cNvPr id="8" name="TextBox 7"/>
          <p:cNvSpPr txBox="1"/>
          <p:nvPr/>
        </p:nvSpPr>
        <p:spPr>
          <a:xfrm>
            <a:off x="6083300" y="1536700"/>
            <a:ext cx="1786434" cy="746720"/>
          </a:xfrm>
          <a:prstGeom prst="rect">
            <a:avLst/>
          </a:prstGeom>
          <a:noFill/>
        </p:spPr>
        <p:txBody>
          <a:bodyPr wrap="square" lIns="0" rIns="0" tIns="0" bIns="0" anchor="ctr">
            <a:noAutofit/>
          </a:bodyPr>
          <a:lstStyle/>
          <a:p>
            <a:pPr algn="ctr">
              <a:lnSpc>
                <a:spcPts val="3479"/>
              </a:lnSpc>
            </a:pPr>
            <a:r>
              <a:rPr sz="2400" b="0" i="0">
                <a:solidFill>
                  <a:srgbClr val="6B4A52"/>
                </a:solidFill>
                <a:latin typeface="Roboto Mono"/>
              </a:rPr>
              <a:t>Wed · lecture</a:t>
            </a:r>
          </a:p>
        </p:txBody>
      </p:sp>
      <p:sp>
        <p:nvSpPr>
          <p:cNvPr id="9" name="TextBox 8"/>
          <p:cNvSpPr txBox="1"/>
          <p:nvPr/>
        </p:nvSpPr>
        <p:spPr>
          <a:xfrm>
            <a:off x="7857034" y="1536700"/>
            <a:ext cx="1761034"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Thu</a:t>
            </a:r>
          </a:p>
        </p:txBody>
      </p:sp>
      <p:sp>
        <p:nvSpPr>
          <p:cNvPr id="10" name="TextBox 9"/>
          <p:cNvSpPr txBox="1"/>
          <p:nvPr/>
        </p:nvSpPr>
        <p:spPr>
          <a:xfrm>
            <a:off x="9618067" y="1536700"/>
            <a:ext cx="1761133"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Fri</a:t>
            </a:r>
          </a:p>
        </p:txBody>
      </p:sp>
      <p:sp>
        <p:nvSpPr>
          <p:cNvPr id="11" name="Rounded Rectangle 10"/>
          <p:cNvSpPr/>
          <p:nvPr/>
        </p:nvSpPr>
        <p:spPr>
          <a:xfrm>
            <a:off x="812800" y="2458641"/>
            <a:ext cx="10566400" cy="734020"/>
          </a:xfrm>
          <a:prstGeom prst="roundRect">
            <a:avLst>
              <a:gd name="adj" fmla="val 8650"/>
            </a:avLst>
          </a:prstGeom>
          <a:solidFill>
            <a:srgbClr val="E9E3E4"/>
          </a:solidFill>
          <a:ln w="19050">
            <a:solidFill>
              <a:srgbClr val="1C6091"/>
            </a:solidFill>
          </a:ln>
          <a:effectLst/>
        </p:spPr>
        <p:txBody>
          <a:bodyPr rtlCol="0" anchor="ctr"/>
          <a:lstStyle/>
          <a:p>
            <a:pPr algn="ctr"/>
          </a:p>
        </p:txBody>
      </p:sp>
      <p:sp>
        <p:nvSpPr>
          <p:cNvPr id="12" name="TextBox 11"/>
          <p:cNvSpPr txBox="1"/>
          <p:nvPr/>
        </p:nvSpPr>
        <p:spPr>
          <a:xfrm>
            <a:off x="984250" y="2630091"/>
            <a:ext cx="2413000" cy="365760"/>
          </a:xfrm>
          <a:prstGeom prst="rect">
            <a:avLst/>
          </a:prstGeom>
          <a:noFill/>
        </p:spPr>
        <p:txBody>
          <a:bodyPr wrap="none" lIns="0" rIns="0" tIns="0" bIns="0" anchor="ctr">
            <a:noAutofit/>
          </a:bodyPr>
          <a:lstStyle/>
          <a:p>
            <a:pPr algn="l">
              <a:lnSpc>
                <a:spcPts val="2880"/>
              </a:lnSpc>
            </a:pPr>
            <a:r>
              <a:rPr sz="2400" b="1" i="0">
                <a:solidFill>
                  <a:srgbClr val="1C6091"/>
                </a:solidFill>
                <a:latin typeface="Georgia"/>
              </a:rPr>
              <a:t>Study</a:t>
            </a:r>
          </a:p>
        </p:txBody>
      </p:sp>
      <p:sp>
        <p:nvSpPr>
          <p:cNvPr id="13" name="TextBox 12"/>
          <p:cNvSpPr txBox="1"/>
          <p:nvPr/>
        </p:nvSpPr>
        <p:spPr>
          <a:xfrm>
            <a:off x="3549650" y="2630091"/>
            <a:ext cx="7658100" cy="365760"/>
          </a:xfrm>
          <a:prstGeom prst="rect">
            <a:avLst/>
          </a:prstGeom>
          <a:noFill/>
        </p:spPr>
        <p:txBody>
          <a:bodyPr wrap="none" lIns="0" rIns="0" tIns="0" bIns="0" anchor="ctr">
            <a:noAutofit/>
          </a:bodyPr>
          <a:lstStyle/>
          <a:p>
            <a:pPr algn="l">
              <a:lnSpc>
                <a:spcPts val="3479"/>
              </a:lnSpc>
            </a:pPr>
            <a:r>
              <a:rPr sz="2400" b="0" i="0">
                <a:solidFill>
                  <a:srgbClr val="2C1A1F"/>
                </a:solidFill>
                <a:latin typeface="Verdana"/>
              </a:rPr>
              <a:t>PrairieLearn modules + exercises, due each Sunday.</a:t>
            </a:r>
          </a:p>
        </p:txBody>
      </p:sp>
      <p:sp>
        <p:nvSpPr>
          <p:cNvPr id="14" name="Rounded Rectangle 13"/>
          <p:cNvSpPr/>
          <p:nvPr/>
        </p:nvSpPr>
        <p:spPr>
          <a:xfrm>
            <a:off x="831850" y="3122811"/>
            <a:ext cx="1754684" cy="50800"/>
          </a:xfrm>
          <a:prstGeom prst="roundRect">
            <a:avLst>
              <a:gd name="adj" fmla="val 50000"/>
            </a:avLst>
          </a:prstGeom>
          <a:solidFill>
            <a:srgbClr val="1C6091"/>
          </a:solidFill>
          <a:ln>
            <a:noFill/>
          </a:ln>
          <a:effectLst/>
        </p:spPr>
        <p:txBody>
          <a:bodyPr rtlCol="0" anchor="ctr"/>
          <a:lstStyle/>
          <a:p>
            <a:pPr algn="ctr"/>
          </a:p>
        </p:txBody>
      </p:sp>
      <p:sp>
        <p:nvSpPr>
          <p:cNvPr id="15" name="Rounded Rectangle 14"/>
          <p:cNvSpPr/>
          <p:nvPr/>
        </p:nvSpPr>
        <p:spPr>
          <a:xfrm>
            <a:off x="812800" y="3294261"/>
            <a:ext cx="10566400" cy="734020"/>
          </a:xfrm>
          <a:prstGeom prst="roundRect">
            <a:avLst>
              <a:gd name="adj" fmla="val 8650"/>
            </a:avLst>
          </a:prstGeom>
          <a:solidFill>
            <a:srgbClr val="E9E3E4"/>
          </a:solidFill>
          <a:ln w="19050">
            <a:solidFill>
              <a:srgbClr val="861F41"/>
            </a:solidFill>
          </a:ln>
          <a:effectLst/>
        </p:spPr>
        <p:txBody>
          <a:bodyPr rtlCol="0" anchor="ctr"/>
          <a:lstStyle/>
          <a:p>
            <a:pPr algn="ctr"/>
          </a:p>
        </p:txBody>
      </p:sp>
      <p:sp>
        <p:nvSpPr>
          <p:cNvPr id="16" name="TextBox 15"/>
          <p:cNvSpPr txBox="1"/>
          <p:nvPr/>
        </p:nvSpPr>
        <p:spPr>
          <a:xfrm>
            <a:off x="984250" y="3465711"/>
            <a:ext cx="2413000" cy="365760"/>
          </a:xfrm>
          <a:prstGeom prst="rect">
            <a:avLst/>
          </a:prstGeom>
          <a:noFill/>
        </p:spPr>
        <p:txBody>
          <a:bodyPr wrap="none" lIns="0" rIns="0" tIns="0" bIns="0" anchor="ctr">
            <a:noAutofit/>
          </a:bodyPr>
          <a:lstStyle/>
          <a:p>
            <a:pPr algn="l">
              <a:lnSpc>
                <a:spcPts val="2880"/>
              </a:lnSpc>
            </a:pPr>
            <a:r>
              <a:rPr sz="2400" b="1" i="0">
                <a:solidFill>
                  <a:srgbClr val="861F41"/>
                </a:solidFill>
                <a:latin typeface="Georgia"/>
              </a:rPr>
              <a:t>Peer instruction</a:t>
            </a:r>
          </a:p>
        </p:txBody>
      </p:sp>
      <p:sp>
        <p:nvSpPr>
          <p:cNvPr id="17" name="TextBox 16"/>
          <p:cNvSpPr txBox="1"/>
          <p:nvPr/>
        </p:nvSpPr>
        <p:spPr>
          <a:xfrm>
            <a:off x="3549650" y="3465711"/>
            <a:ext cx="7658100" cy="365760"/>
          </a:xfrm>
          <a:prstGeom prst="rect">
            <a:avLst/>
          </a:prstGeom>
          <a:noFill/>
        </p:spPr>
        <p:txBody>
          <a:bodyPr wrap="none" lIns="0" rIns="0" tIns="0" bIns="0" anchor="ctr">
            <a:noAutofit/>
          </a:bodyPr>
          <a:lstStyle/>
          <a:p>
            <a:pPr algn="l">
              <a:lnSpc>
                <a:spcPts val="3479"/>
              </a:lnSpc>
            </a:pPr>
            <a:r>
              <a:rPr sz="2400" b="0" i="0">
                <a:solidFill>
                  <a:srgbClr val="2C1A1F"/>
                </a:solidFill>
                <a:latin typeface="Verdana"/>
              </a:rPr>
              <a:t>In every lecture, to earn credit.</a:t>
            </a:r>
          </a:p>
        </p:txBody>
      </p:sp>
      <p:sp>
        <p:nvSpPr>
          <p:cNvPr id="18" name="Rounded Rectangle 17"/>
          <p:cNvSpPr/>
          <p:nvPr/>
        </p:nvSpPr>
        <p:spPr>
          <a:xfrm>
            <a:off x="2586534" y="3958431"/>
            <a:ext cx="1754684" cy="50800"/>
          </a:xfrm>
          <a:prstGeom prst="roundRect">
            <a:avLst>
              <a:gd name="adj" fmla="val 50000"/>
            </a:avLst>
          </a:prstGeom>
          <a:solidFill>
            <a:srgbClr val="861F41"/>
          </a:solidFill>
          <a:ln>
            <a:noFill/>
          </a:ln>
          <a:effectLst/>
        </p:spPr>
        <p:txBody>
          <a:bodyPr rtlCol="0" anchor="ctr"/>
          <a:lstStyle/>
          <a:p>
            <a:pPr algn="ctr"/>
          </a:p>
        </p:txBody>
      </p:sp>
      <p:sp>
        <p:nvSpPr>
          <p:cNvPr id="19" name="Rounded Rectangle 18"/>
          <p:cNvSpPr/>
          <p:nvPr/>
        </p:nvSpPr>
        <p:spPr>
          <a:xfrm>
            <a:off x="6096000" y="3958431"/>
            <a:ext cx="1754684" cy="50800"/>
          </a:xfrm>
          <a:prstGeom prst="roundRect">
            <a:avLst>
              <a:gd name="adj" fmla="val 50000"/>
            </a:avLst>
          </a:prstGeom>
          <a:solidFill>
            <a:srgbClr val="861F41"/>
          </a:solidFill>
          <a:ln>
            <a:noFill/>
          </a:ln>
          <a:effectLst/>
        </p:spPr>
        <p:txBody>
          <a:bodyPr rtlCol="0" anchor="ctr"/>
          <a:lstStyle/>
          <a:p>
            <a:pPr algn="ctr"/>
          </a:p>
        </p:txBody>
      </p:sp>
      <p:sp>
        <p:nvSpPr>
          <p:cNvPr id="20" name="Rounded Rectangle 19"/>
          <p:cNvSpPr/>
          <p:nvPr/>
        </p:nvSpPr>
        <p:spPr>
          <a:xfrm>
            <a:off x="10650240" y="6203950"/>
            <a:ext cx="1236960" cy="450850"/>
          </a:xfrm>
          <a:prstGeom prst="roundRect">
            <a:avLst>
              <a:gd name="adj" fmla="val 50000"/>
            </a:avLst>
          </a:prstGeom>
          <a:solidFill>
            <a:srgbClr val="E9E3E4"/>
          </a:solidFill>
          <a:ln>
            <a:noFill/>
          </a:ln>
          <a:effectLst/>
        </p:spPr>
        <p:txBody>
          <a:bodyPr rtlCol="0" anchor="ctr"/>
          <a:lstStyle/>
          <a:p>
            <a:pPr algn="ctr"/>
          </a:p>
        </p:txBody>
      </p:sp>
      <p:sp>
        <p:nvSpPr>
          <p:cNvPr id="21" name="TextBox 20"/>
          <p:cNvSpPr txBox="1"/>
          <p:nvPr/>
        </p:nvSpPr>
        <p:spPr>
          <a:xfrm>
            <a:off x="10802640" y="6261100"/>
            <a:ext cx="932160" cy="365760"/>
          </a:xfrm>
          <a:prstGeom prst="rect">
            <a:avLst/>
          </a:prstGeom>
          <a:noFill/>
        </p:spPr>
        <p:txBody>
          <a:bodyPr wrap="none" lIns="0" rIns="0" tIns="0" bIns="0" anchor="ctr">
            <a:noAutofit/>
          </a:bodyPr>
          <a:lstStyle/>
          <a:p>
            <a:pPr algn="l">
              <a:lnSpc>
                <a:spcPts val="2879"/>
              </a:lnSpc>
            </a:pPr>
            <a:r>
              <a:rPr sz="2400" b="0" i="0">
                <a:solidFill>
                  <a:srgbClr val="6B4A52"/>
                </a:solidFill>
                <a:latin typeface="Verdana"/>
              </a:rPr>
              <a:t>10 / 28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Your week in a nutshell</a:t>
            </a:r>
          </a:p>
        </p:txBody>
      </p:sp>
      <p:pic>
        <p:nvPicPr>
          <p:cNvPr id="4" name="Picture 3" descr="be57ddf7e938ee1f.png"/>
          <p:cNvPicPr>
            <a:picLocks noChangeAspect="1"/>
          </p:cNvPicPr>
          <p:nvPr/>
        </p:nvPicPr>
        <p:blipFill>
          <a:blip r:embed="rId3"/>
          <a:stretch>
            <a:fillRect/>
          </a:stretch>
        </p:blipFill>
        <p:spPr>
          <a:xfrm>
            <a:off x="812800" y="1473200"/>
            <a:ext cx="10566400" cy="5111750"/>
          </a:xfrm>
          <a:prstGeom prst="rect">
            <a:avLst/>
          </a:prstGeom>
        </p:spPr>
      </p:pic>
      <p:sp>
        <p:nvSpPr>
          <p:cNvPr id="5" name="TextBox 4"/>
          <p:cNvSpPr txBox="1"/>
          <p:nvPr/>
        </p:nvSpPr>
        <p:spPr>
          <a:xfrm>
            <a:off x="812800" y="1536700"/>
            <a:ext cx="1761034"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Sun</a:t>
            </a:r>
          </a:p>
        </p:txBody>
      </p:sp>
      <p:sp>
        <p:nvSpPr>
          <p:cNvPr id="6" name="TextBox 5"/>
          <p:cNvSpPr txBox="1"/>
          <p:nvPr/>
        </p:nvSpPr>
        <p:spPr>
          <a:xfrm>
            <a:off x="2561134" y="1536700"/>
            <a:ext cx="1786434" cy="746720"/>
          </a:xfrm>
          <a:prstGeom prst="rect">
            <a:avLst/>
          </a:prstGeom>
          <a:noFill/>
        </p:spPr>
        <p:txBody>
          <a:bodyPr wrap="square" lIns="0" rIns="0" tIns="0" bIns="0" anchor="ctr">
            <a:noAutofit/>
          </a:bodyPr>
          <a:lstStyle/>
          <a:p>
            <a:pPr algn="ctr">
              <a:lnSpc>
                <a:spcPts val="3479"/>
              </a:lnSpc>
            </a:pPr>
            <a:r>
              <a:rPr sz="2400" b="0" i="0">
                <a:solidFill>
                  <a:srgbClr val="6B4A52"/>
                </a:solidFill>
                <a:latin typeface="Roboto Mono"/>
              </a:rPr>
              <a:t>Mon · lecture</a:t>
            </a:r>
          </a:p>
        </p:txBody>
      </p:sp>
      <p:sp>
        <p:nvSpPr>
          <p:cNvPr id="7" name="TextBox 6"/>
          <p:cNvSpPr txBox="1"/>
          <p:nvPr/>
        </p:nvSpPr>
        <p:spPr>
          <a:xfrm>
            <a:off x="4334867" y="1536700"/>
            <a:ext cx="1761133"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Tue</a:t>
            </a:r>
          </a:p>
        </p:txBody>
      </p:sp>
      <p:sp>
        <p:nvSpPr>
          <p:cNvPr id="8" name="TextBox 7"/>
          <p:cNvSpPr txBox="1"/>
          <p:nvPr/>
        </p:nvSpPr>
        <p:spPr>
          <a:xfrm>
            <a:off x="6083300" y="1536700"/>
            <a:ext cx="1786434" cy="746720"/>
          </a:xfrm>
          <a:prstGeom prst="rect">
            <a:avLst/>
          </a:prstGeom>
          <a:noFill/>
        </p:spPr>
        <p:txBody>
          <a:bodyPr wrap="square" lIns="0" rIns="0" tIns="0" bIns="0" anchor="ctr">
            <a:noAutofit/>
          </a:bodyPr>
          <a:lstStyle/>
          <a:p>
            <a:pPr algn="ctr">
              <a:lnSpc>
                <a:spcPts val="3479"/>
              </a:lnSpc>
            </a:pPr>
            <a:r>
              <a:rPr sz="2400" b="0" i="0">
                <a:solidFill>
                  <a:srgbClr val="6B4A52"/>
                </a:solidFill>
                <a:latin typeface="Roboto Mono"/>
              </a:rPr>
              <a:t>Wed · lecture</a:t>
            </a:r>
          </a:p>
        </p:txBody>
      </p:sp>
      <p:sp>
        <p:nvSpPr>
          <p:cNvPr id="9" name="TextBox 8"/>
          <p:cNvSpPr txBox="1"/>
          <p:nvPr/>
        </p:nvSpPr>
        <p:spPr>
          <a:xfrm>
            <a:off x="7857034" y="1536700"/>
            <a:ext cx="1761034"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Thu</a:t>
            </a:r>
          </a:p>
        </p:txBody>
      </p:sp>
      <p:sp>
        <p:nvSpPr>
          <p:cNvPr id="10" name="TextBox 9"/>
          <p:cNvSpPr txBox="1"/>
          <p:nvPr/>
        </p:nvSpPr>
        <p:spPr>
          <a:xfrm>
            <a:off x="9618067" y="1536700"/>
            <a:ext cx="1761133"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Fri</a:t>
            </a:r>
          </a:p>
        </p:txBody>
      </p:sp>
      <p:sp>
        <p:nvSpPr>
          <p:cNvPr id="11" name="Rounded Rectangle 10"/>
          <p:cNvSpPr/>
          <p:nvPr/>
        </p:nvSpPr>
        <p:spPr>
          <a:xfrm>
            <a:off x="812800" y="2458641"/>
            <a:ext cx="10566400" cy="734020"/>
          </a:xfrm>
          <a:prstGeom prst="roundRect">
            <a:avLst>
              <a:gd name="adj" fmla="val 8650"/>
            </a:avLst>
          </a:prstGeom>
          <a:solidFill>
            <a:srgbClr val="E9E3E4"/>
          </a:solidFill>
          <a:ln w="19050">
            <a:solidFill>
              <a:srgbClr val="1C6091"/>
            </a:solidFill>
          </a:ln>
          <a:effectLst/>
        </p:spPr>
        <p:txBody>
          <a:bodyPr rtlCol="0" anchor="ctr"/>
          <a:lstStyle/>
          <a:p>
            <a:pPr algn="ctr"/>
          </a:p>
        </p:txBody>
      </p:sp>
      <p:sp>
        <p:nvSpPr>
          <p:cNvPr id="12" name="TextBox 11"/>
          <p:cNvSpPr txBox="1"/>
          <p:nvPr/>
        </p:nvSpPr>
        <p:spPr>
          <a:xfrm>
            <a:off x="984250" y="2630091"/>
            <a:ext cx="2413000" cy="365760"/>
          </a:xfrm>
          <a:prstGeom prst="rect">
            <a:avLst/>
          </a:prstGeom>
          <a:noFill/>
        </p:spPr>
        <p:txBody>
          <a:bodyPr wrap="none" lIns="0" rIns="0" tIns="0" bIns="0" anchor="ctr">
            <a:noAutofit/>
          </a:bodyPr>
          <a:lstStyle/>
          <a:p>
            <a:pPr algn="l">
              <a:lnSpc>
                <a:spcPts val="2880"/>
              </a:lnSpc>
            </a:pPr>
            <a:r>
              <a:rPr sz="2400" b="1" i="0">
                <a:solidFill>
                  <a:srgbClr val="1C6091"/>
                </a:solidFill>
                <a:latin typeface="Georgia"/>
              </a:rPr>
              <a:t>Study</a:t>
            </a:r>
          </a:p>
        </p:txBody>
      </p:sp>
      <p:sp>
        <p:nvSpPr>
          <p:cNvPr id="13" name="TextBox 12"/>
          <p:cNvSpPr txBox="1"/>
          <p:nvPr/>
        </p:nvSpPr>
        <p:spPr>
          <a:xfrm>
            <a:off x="3549650" y="2630091"/>
            <a:ext cx="7658100" cy="365760"/>
          </a:xfrm>
          <a:prstGeom prst="rect">
            <a:avLst/>
          </a:prstGeom>
          <a:noFill/>
        </p:spPr>
        <p:txBody>
          <a:bodyPr wrap="none" lIns="0" rIns="0" tIns="0" bIns="0" anchor="ctr">
            <a:noAutofit/>
          </a:bodyPr>
          <a:lstStyle/>
          <a:p>
            <a:pPr algn="l">
              <a:lnSpc>
                <a:spcPts val="3479"/>
              </a:lnSpc>
            </a:pPr>
            <a:r>
              <a:rPr sz="2400" b="0" i="0">
                <a:solidFill>
                  <a:srgbClr val="2C1A1F"/>
                </a:solidFill>
                <a:latin typeface="Verdana"/>
              </a:rPr>
              <a:t>PrairieLearn modules + exercises, due each Sunday.</a:t>
            </a:r>
          </a:p>
        </p:txBody>
      </p:sp>
      <p:sp>
        <p:nvSpPr>
          <p:cNvPr id="14" name="Rounded Rectangle 13"/>
          <p:cNvSpPr/>
          <p:nvPr/>
        </p:nvSpPr>
        <p:spPr>
          <a:xfrm>
            <a:off x="831850" y="3122811"/>
            <a:ext cx="1754684" cy="50800"/>
          </a:xfrm>
          <a:prstGeom prst="roundRect">
            <a:avLst>
              <a:gd name="adj" fmla="val 50000"/>
            </a:avLst>
          </a:prstGeom>
          <a:solidFill>
            <a:srgbClr val="1C6091"/>
          </a:solidFill>
          <a:ln>
            <a:noFill/>
          </a:ln>
          <a:effectLst/>
        </p:spPr>
        <p:txBody>
          <a:bodyPr rtlCol="0" anchor="ctr"/>
          <a:lstStyle/>
          <a:p>
            <a:pPr algn="ctr"/>
          </a:p>
        </p:txBody>
      </p:sp>
      <p:sp>
        <p:nvSpPr>
          <p:cNvPr id="15" name="Rounded Rectangle 14"/>
          <p:cNvSpPr/>
          <p:nvPr/>
        </p:nvSpPr>
        <p:spPr>
          <a:xfrm>
            <a:off x="812800" y="3294261"/>
            <a:ext cx="10566400" cy="734020"/>
          </a:xfrm>
          <a:prstGeom prst="roundRect">
            <a:avLst>
              <a:gd name="adj" fmla="val 8650"/>
            </a:avLst>
          </a:prstGeom>
          <a:solidFill>
            <a:srgbClr val="E9E3E4"/>
          </a:solidFill>
          <a:ln w="19050">
            <a:solidFill>
              <a:srgbClr val="861F41"/>
            </a:solidFill>
          </a:ln>
          <a:effectLst/>
        </p:spPr>
        <p:txBody>
          <a:bodyPr rtlCol="0" anchor="ctr"/>
          <a:lstStyle/>
          <a:p>
            <a:pPr algn="ctr"/>
          </a:p>
        </p:txBody>
      </p:sp>
      <p:sp>
        <p:nvSpPr>
          <p:cNvPr id="16" name="TextBox 15"/>
          <p:cNvSpPr txBox="1"/>
          <p:nvPr/>
        </p:nvSpPr>
        <p:spPr>
          <a:xfrm>
            <a:off x="984250" y="3465711"/>
            <a:ext cx="2413000" cy="365760"/>
          </a:xfrm>
          <a:prstGeom prst="rect">
            <a:avLst/>
          </a:prstGeom>
          <a:noFill/>
        </p:spPr>
        <p:txBody>
          <a:bodyPr wrap="none" lIns="0" rIns="0" tIns="0" bIns="0" anchor="ctr">
            <a:noAutofit/>
          </a:bodyPr>
          <a:lstStyle/>
          <a:p>
            <a:pPr algn="l">
              <a:lnSpc>
                <a:spcPts val="2880"/>
              </a:lnSpc>
            </a:pPr>
            <a:r>
              <a:rPr sz="2400" b="1" i="0">
                <a:solidFill>
                  <a:srgbClr val="861F41"/>
                </a:solidFill>
                <a:latin typeface="Georgia"/>
              </a:rPr>
              <a:t>Peer instruction</a:t>
            </a:r>
          </a:p>
        </p:txBody>
      </p:sp>
      <p:sp>
        <p:nvSpPr>
          <p:cNvPr id="17" name="TextBox 16"/>
          <p:cNvSpPr txBox="1"/>
          <p:nvPr/>
        </p:nvSpPr>
        <p:spPr>
          <a:xfrm>
            <a:off x="3549650" y="3465711"/>
            <a:ext cx="7658100" cy="365760"/>
          </a:xfrm>
          <a:prstGeom prst="rect">
            <a:avLst/>
          </a:prstGeom>
          <a:noFill/>
        </p:spPr>
        <p:txBody>
          <a:bodyPr wrap="none" lIns="0" rIns="0" tIns="0" bIns="0" anchor="ctr">
            <a:noAutofit/>
          </a:bodyPr>
          <a:lstStyle/>
          <a:p>
            <a:pPr algn="l">
              <a:lnSpc>
                <a:spcPts val="3479"/>
              </a:lnSpc>
            </a:pPr>
            <a:r>
              <a:rPr sz="2400" b="0" i="0">
                <a:solidFill>
                  <a:srgbClr val="2C1A1F"/>
                </a:solidFill>
                <a:latin typeface="Verdana"/>
              </a:rPr>
              <a:t>In every lecture, to earn credit.</a:t>
            </a:r>
          </a:p>
        </p:txBody>
      </p:sp>
      <p:sp>
        <p:nvSpPr>
          <p:cNvPr id="18" name="Rounded Rectangle 17"/>
          <p:cNvSpPr/>
          <p:nvPr/>
        </p:nvSpPr>
        <p:spPr>
          <a:xfrm>
            <a:off x="2586534" y="3958431"/>
            <a:ext cx="1754684" cy="50800"/>
          </a:xfrm>
          <a:prstGeom prst="roundRect">
            <a:avLst>
              <a:gd name="adj" fmla="val 50000"/>
            </a:avLst>
          </a:prstGeom>
          <a:solidFill>
            <a:srgbClr val="861F41"/>
          </a:solidFill>
          <a:ln>
            <a:noFill/>
          </a:ln>
          <a:effectLst/>
        </p:spPr>
        <p:txBody>
          <a:bodyPr rtlCol="0" anchor="ctr"/>
          <a:lstStyle/>
          <a:p>
            <a:pPr algn="ctr"/>
          </a:p>
        </p:txBody>
      </p:sp>
      <p:sp>
        <p:nvSpPr>
          <p:cNvPr id="19" name="Rounded Rectangle 18"/>
          <p:cNvSpPr/>
          <p:nvPr/>
        </p:nvSpPr>
        <p:spPr>
          <a:xfrm>
            <a:off x="6096000" y="3958431"/>
            <a:ext cx="1754684" cy="50800"/>
          </a:xfrm>
          <a:prstGeom prst="roundRect">
            <a:avLst>
              <a:gd name="adj" fmla="val 50000"/>
            </a:avLst>
          </a:prstGeom>
          <a:solidFill>
            <a:srgbClr val="861F41"/>
          </a:solidFill>
          <a:ln>
            <a:noFill/>
          </a:ln>
          <a:effectLst/>
        </p:spPr>
        <p:txBody>
          <a:bodyPr rtlCol="0" anchor="ctr"/>
          <a:lstStyle/>
          <a:p>
            <a:pPr algn="ctr"/>
          </a:p>
        </p:txBody>
      </p:sp>
      <p:sp>
        <p:nvSpPr>
          <p:cNvPr id="20" name="Rounded Rectangle 19"/>
          <p:cNvSpPr/>
          <p:nvPr/>
        </p:nvSpPr>
        <p:spPr>
          <a:xfrm>
            <a:off x="812800" y="4129881"/>
            <a:ext cx="10566400" cy="1175941"/>
          </a:xfrm>
          <a:prstGeom prst="roundRect">
            <a:avLst>
              <a:gd name="adj" fmla="val 5399"/>
            </a:avLst>
          </a:prstGeom>
          <a:solidFill>
            <a:srgbClr val="E9E3E4"/>
          </a:solidFill>
          <a:ln w="19050">
            <a:solidFill>
              <a:srgbClr val="9D3A29"/>
            </a:solidFill>
          </a:ln>
          <a:effectLst/>
        </p:spPr>
        <p:txBody>
          <a:bodyPr rtlCol="0" anchor="ctr"/>
          <a:lstStyle/>
          <a:p>
            <a:pPr algn="ctr"/>
          </a:p>
        </p:txBody>
      </p:sp>
      <p:sp>
        <p:nvSpPr>
          <p:cNvPr id="21" name="TextBox 20"/>
          <p:cNvSpPr txBox="1"/>
          <p:nvPr/>
        </p:nvSpPr>
        <p:spPr>
          <a:xfrm>
            <a:off x="984250" y="4301331"/>
            <a:ext cx="2438400" cy="702270"/>
          </a:xfrm>
          <a:prstGeom prst="rect">
            <a:avLst/>
          </a:prstGeom>
          <a:noFill/>
        </p:spPr>
        <p:txBody>
          <a:bodyPr wrap="square" lIns="0" rIns="0" tIns="0" bIns="0" anchor="ctr">
            <a:noAutofit/>
          </a:bodyPr>
          <a:lstStyle/>
          <a:p>
            <a:pPr algn="l">
              <a:lnSpc>
                <a:spcPts val="2880"/>
              </a:lnSpc>
            </a:pPr>
            <a:r>
              <a:rPr sz="2400" b="1" i="0">
                <a:solidFill>
                  <a:srgbClr val="9D3A29"/>
                </a:solidFill>
                <a:latin typeface="Georgia"/>
              </a:rPr>
              <a:t>Homework &amp; challenge</a:t>
            </a:r>
          </a:p>
        </p:txBody>
      </p:sp>
      <p:sp>
        <p:nvSpPr>
          <p:cNvPr id="22" name="TextBox 21"/>
          <p:cNvSpPr txBox="1"/>
          <p:nvPr/>
        </p:nvSpPr>
        <p:spPr>
          <a:xfrm>
            <a:off x="3549650" y="4301331"/>
            <a:ext cx="7683500" cy="778470"/>
          </a:xfrm>
          <a:prstGeom prst="rect">
            <a:avLst/>
          </a:prstGeom>
          <a:noFill/>
        </p:spPr>
        <p:txBody>
          <a:bodyPr wrap="square" lIns="0" rIns="0" tIns="0" bIns="0" anchor="ctr">
            <a:noAutofit/>
          </a:bodyPr>
          <a:lstStyle/>
          <a:p>
            <a:pPr algn="l">
              <a:lnSpc>
                <a:spcPts val="3479"/>
              </a:lnSpc>
            </a:pPr>
            <a:r>
              <a:rPr sz="2400" b="0" i="0">
                <a:solidFill>
                  <a:srgbClr val="2C1A1F"/>
                </a:solidFill>
                <a:latin typeface="Verdana"/>
              </a:rPr>
              <a:t>Weekly homework + lab challenge exercise — due Friday.</a:t>
            </a:r>
          </a:p>
        </p:txBody>
      </p:sp>
      <p:sp>
        <p:nvSpPr>
          <p:cNvPr id="23" name="Rounded Rectangle 22"/>
          <p:cNvSpPr/>
          <p:nvPr/>
        </p:nvSpPr>
        <p:spPr>
          <a:xfrm>
            <a:off x="9605367" y="5235972"/>
            <a:ext cx="1754684" cy="50800"/>
          </a:xfrm>
          <a:prstGeom prst="roundRect">
            <a:avLst>
              <a:gd name="adj" fmla="val 50000"/>
            </a:avLst>
          </a:prstGeom>
          <a:solidFill>
            <a:srgbClr val="9D3A29"/>
          </a:solidFill>
          <a:ln>
            <a:noFill/>
          </a:ln>
          <a:effectLst/>
        </p:spPr>
        <p:txBody>
          <a:bodyPr rtlCol="0" anchor="ctr"/>
          <a:lstStyle/>
          <a:p>
            <a:pPr algn="ctr"/>
          </a:p>
        </p:txBody>
      </p:sp>
      <p:sp>
        <p:nvSpPr>
          <p:cNvPr id="24" name="Rounded Rectangle 23"/>
          <p:cNvSpPr/>
          <p:nvPr/>
        </p:nvSpPr>
        <p:spPr>
          <a:xfrm>
            <a:off x="10650240" y="6203950"/>
            <a:ext cx="1236960" cy="450850"/>
          </a:xfrm>
          <a:prstGeom prst="roundRect">
            <a:avLst>
              <a:gd name="adj" fmla="val 50000"/>
            </a:avLst>
          </a:prstGeom>
          <a:solidFill>
            <a:srgbClr val="E9E3E4"/>
          </a:solidFill>
          <a:ln>
            <a:noFill/>
          </a:ln>
          <a:effectLst/>
        </p:spPr>
        <p:txBody>
          <a:bodyPr rtlCol="0" anchor="ctr"/>
          <a:lstStyle/>
          <a:p>
            <a:pPr algn="ctr"/>
          </a:p>
        </p:txBody>
      </p:sp>
      <p:sp>
        <p:nvSpPr>
          <p:cNvPr id="25" name="TextBox 24"/>
          <p:cNvSpPr txBox="1"/>
          <p:nvPr/>
        </p:nvSpPr>
        <p:spPr>
          <a:xfrm>
            <a:off x="10802640" y="6261100"/>
            <a:ext cx="932160" cy="365760"/>
          </a:xfrm>
          <a:prstGeom prst="rect">
            <a:avLst/>
          </a:prstGeom>
          <a:noFill/>
        </p:spPr>
        <p:txBody>
          <a:bodyPr wrap="none" lIns="0" rIns="0" tIns="0" bIns="0" anchor="ctr">
            <a:noAutofit/>
          </a:bodyPr>
          <a:lstStyle/>
          <a:p>
            <a:pPr algn="l">
              <a:lnSpc>
                <a:spcPts val="2879"/>
              </a:lnSpc>
            </a:pPr>
            <a:r>
              <a:rPr sz="2400" b="0" i="0">
                <a:solidFill>
                  <a:srgbClr val="6B4A52"/>
                </a:solidFill>
                <a:latin typeface="Verdana"/>
              </a:rPr>
              <a:t>10 / 28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Your week in a nutshell</a:t>
            </a:r>
          </a:p>
        </p:txBody>
      </p:sp>
      <p:pic>
        <p:nvPicPr>
          <p:cNvPr id="4" name="Picture 3" descr="be57ddf7e938ee1f.png"/>
          <p:cNvPicPr>
            <a:picLocks noChangeAspect="1"/>
          </p:cNvPicPr>
          <p:nvPr/>
        </p:nvPicPr>
        <p:blipFill>
          <a:blip r:embed="rId3"/>
          <a:stretch>
            <a:fillRect/>
          </a:stretch>
        </p:blipFill>
        <p:spPr>
          <a:xfrm>
            <a:off x="812800" y="1473200"/>
            <a:ext cx="10566400" cy="5111750"/>
          </a:xfrm>
          <a:prstGeom prst="rect">
            <a:avLst/>
          </a:prstGeom>
        </p:spPr>
      </p:pic>
      <p:sp>
        <p:nvSpPr>
          <p:cNvPr id="5" name="TextBox 4"/>
          <p:cNvSpPr txBox="1"/>
          <p:nvPr/>
        </p:nvSpPr>
        <p:spPr>
          <a:xfrm>
            <a:off x="812800" y="1536700"/>
            <a:ext cx="1761034"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Sun</a:t>
            </a:r>
          </a:p>
        </p:txBody>
      </p:sp>
      <p:sp>
        <p:nvSpPr>
          <p:cNvPr id="6" name="TextBox 5"/>
          <p:cNvSpPr txBox="1"/>
          <p:nvPr/>
        </p:nvSpPr>
        <p:spPr>
          <a:xfrm>
            <a:off x="2561134" y="1536700"/>
            <a:ext cx="1786434" cy="746720"/>
          </a:xfrm>
          <a:prstGeom prst="rect">
            <a:avLst/>
          </a:prstGeom>
          <a:noFill/>
        </p:spPr>
        <p:txBody>
          <a:bodyPr wrap="square" lIns="0" rIns="0" tIns="0" bIns="0" anchor="ctr">
            <a:noAutofit/>
          </a:bodyPr>
          <a:lstStyle/>
          <a:p>
            <a:pPr algn="ctr">
              <a:lnSpc>
                <a:spcPts val="3479"/>
              </a:lnSpc>
            </a:pPr>
            <a:r>
              <a:rPr sz="2400" b="0" i="0">
                <a:solidFill>
                  <a:srgbClr val="6B4A52"/>
                </a:solidFill>
                <a:latin typeface="Roboto Mono"/>
              </a:rPr>
              <a:t>Mon · lecture</a:t>
            </a:r>
          </a:p>
        </p:txBody>
      </p:sp>
      <p:sp>
        <p:nvSpPr>
          <p:cNvPr id="7" name="TextBox 6"/>
          <p:cNvSpPr txBox="1"/>
          <p:nvPr/>
        </p:nvSpPr>
        <p:spPr>
          <a:xfrm>
            <a:off x="4334867" y="1536700"/>
            <a:ext cx="1761133"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Tue</a:t>
            </a:r>
          </a:p>
        </p:txBody>
      </p:sp>
      <p:sp>
        <p:nvSpPr>
          <p:cNvPr id="8" name="TextBox 7"/>
          <p:cNvSpPr txBox="1"/>
          <p:nvPr/>
        </p:nvSpPr>
        <p:spPr>
          <a:xfrm>
            <a:off x="6083300" y="1536700"/>
            <a:ext cx="1786434" cy="746720"/>
          </a:xfrm>
          <a:prstGeom prst="rect">
            <a:avLst/>
          </a:prstGeom>
          <a:noFill/>
        </p:spPr>
        <p:txBody>
          <a:bodyPr wrap="square" lIns="0" rIns="0" tIns="0" bIns="0" anchor="ctr">
            <a:noAutofit/>
          </a:bodyPr>
          <a:lstStyle/>
          <a:p>
            <a:pPr algn="ctr">
              <a:lnSpc>
                <a:spcPts val="3479"/>
              </a:lnSpc>
            </a:pPr>
            <a:r>
              <a:rPr sz="2400" b="0" i="0">
                <a:solidFill>
                  <a:srgbClr val="6B4A52"/>
                </a:solidFill>
                <a:latin typeface="Roboto Mono"/>
              </a:rPr>
              <a:t>Wed · lecture</a:t>
            </a:r>
          </a:p>
        </p:txBody>
      </p:sp>
      <p:sp>
        <p:nvSpPr>
          <p:cNvPr id="9" name="TextBox 8"/>
          <p:cNvSpPr txBox="1"/>
          <p:nvPr/>
        </p:nvSpPr>
        <p:spPr>
          <a:xfrm>
            <a:off x="7857034" y="1536700"/>
            <a:ext cx="1761034"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Thu</a:t>
            </a:r>
          </a:p>
        </p:txBody>
      </p:sp>
      <p:sp>
        <p:nvSpPr>
          <p:cNvPr id="10" name="TextBox 9"/>
          <p:cNvSpPr txBox="1"/>
          <p:nvPr/>
        </p:nvSpPr>
        <p:spPr>
          <a:xfrm>
            <a:off x="9618067" y="1536700"/>
            <a:ext cx="1761133" cy="365760"/>
          </a:xfrm>
          <a:prstGeom prst="rect">
            <a:avLst/>
          </a:prstGeom>
          <a:noFill/>
        </p:spPr>
        <p:txBody>
          <a:bodyPr wrap="none" lIns="0" rIns="0" tIns="0" bIns="0" anchor="ctr">
            <a:noAutofit/>
          </a:bodyPr>
          <a:lstStyle/>
          <a:p>
            <a:pPr algn="ctr">
              <a:lnSpc>
                <a:spcPts val="3479"/>
              </a:lnSpc>
            </a:pPr>
            <a:r>
              <a:rPr sz="2400" b="0" i="0">
                <a:solidFill>
                  <a:srgbClr val="6B4A52"/>
                </a:solidFill>
                <a:latin typeface="Roboto Mono"/>
              </a:rPr>
              <a:t>Fri</a:t>
            </a:r>
          </a:p>
        </p:txBody>
      </p:sp>
      <p:sp>
        <p:nvSpPr>
          <p:cNvPr id="11" name="Rounded Rectangle 10"/>
          <p:cNvSpPr/>
          <p:nvPr/>
        </p:nvSpPr>
        <p:spPr>
          <a:xfrm>
            <a:off x="812800" y="2458641"/>
            <a:ext cx="10566400" cy="734020"/>
          </a:xfrm>
          <a:prstGeom prst="roundRect">
            <a:avLst>
              <a:gd name="adj" fmla="val 8650"/>
            </a:avLst>
          </a:prstGeom>
          <a:solidFill>
            <a:srgbClr val="E9E3E4"/>
          </a:solidFill>
          <a:ln w="19050">
            <a:solidFill>
              <a:srgbClr val="1C6091"/>
            </a:solidFill>
          </a:ln>
          <a:effectLst/>
        </p:spPr>
        <p:txBody>
          <a:bodyPr rtlCol="0" anchor="ctr"/>
          <a:lstStyle/>
          <a:p>
            <a:pPr algn="ctr"/>
          </a:p>
        </p:txBody>
      </p:sp>
      <p:sp>
        <p:nvSpPr>
          <p:cNvPr id="12" name="TextBox 11"/>
          <p:cNvSpPr txBox="1"/>
          <p:nvPr/>
        </p:nvSpPr>
        <p:spPr>
          <a:xfrm>
            <a:off x="984250" y="2630091"/>
            <a:ext cx="2413000" cy="365760"/>
          </a:xfrm>
          <a:prstGeom prst="rect">
            <a:avLst/>
          </a:prstGeom>
          <a:noFill/>
        </p:spPr>
        <p:txBody>
          <a:bodyPr wrap="none" lIns="0" rIns="0" tIns="0" bIns="0" anchor="ctr">
            <a:noAutofit/>
          </a:bodyPr>
          <a:lstStyle/>
          <a:p>
            <a:pPr algn="l">
              <a:lnSpc>
                <a:spcPts val="2880"/>
              </a:lnSpc>
            </a:pPr>
            <a:r>
              <a:rPr sz="2400" b="1" i="0">
                <a:solidFill>
                  <a:srgbClr val="1C6091"/>
                </a:solidFill>
                <a:latin typeface="Georgia"/>
              </a:rPr>
              <a:t>Study</a:t>
            </a:r>
          </a:p>
        </p:txBody>
      </p:sp>
      <p:sp>
        <p:nvSpPr>
          <p:cNvPr id="13" name="TextBox 12"/>
          <p:cNvSpPr txBox="1"/>
          <p:nvPr/>
        </p:nvSpPr>
        <p:spPr>
          <a:xfrm>
            <a:off x="3549650" y="2630091"/>
            <a:ext cx="7658100" cy="365760"/>
          </a:xfrm>
          <a:prstGeom prst="rect">
            <a:avLst/>
          </a:prstGeom>
          <a:noFill/>
        </p:spPr>
        <p:txBody>
          <a:bodyPr wrap="none" lIns="0" rIns="0" tIns="0" bIns="0" anchor="ctr">
            <a:noAutofit/>
          </a:bodyPr>
          <a:lstStyle/>
          <a:p>
            <a:pPr algn="l">
              <a:lnSpc>
                <a:spcPts val="3479"/>
              </a:lnSpc>
            </a:pPr>
            <a:r>
              <a:rPr sz="2400" b="0" i="0">
                <a:solidFill>
                  <a:srgbClr val="2C1A1F"/>
                </a:solidFill>
                <a:latin typeface="Verdana"/>
              </a:rPr>
              <a:t>PrairieLearn modules + exercises, due each Sunday.</a:t>
            </a:r>
          </a:p>
        </p:txBody>
      </p:sp>
      <p:sp>
        <p:nvSpPr>
          <p:cNvPr id="14" name="Rounded Rectangle 13"/>
          <p:cNvSpPr/>
          <p:nvPr/>
        </p:nvSpPr>
        <p:spPr>
          <a:xfrm>
            <a:off x="831850" y="3122811"/>
            <a:ext cx="1754684" cy="50800"/>
          </a:xfrm>
          <a:prstGeom prst="roundRect">
            <a:avLst>
              <a:gd name="adj" fmla="val 50000"/>
            </a:avLst>
          </a:prstGeom>
          <a:solidFill>
            <a:srgbClr val="1C6091"/>
          </a:solidFill>
          <a:ln>
            <a:noFill/>
          </a:ln>
          <a:effectLst/>
        </p:spPr>
        <p:txBody>
          <a:bodyPr rtlCol="0" anchor="ctr"/>
          <a:lstStyle/>
          <a:p>
            <a:pPr algn="ctr"/>
          </a:p>
        </p:txBody>
      </p:sp>
      <p:sp>
        <p:nvSpPr>
          <p:cNvPr id="15" name="Rounded Rectangle 14"/>
          <p:cNvSpPr/>
          <p:nvPr/>
        </p:nvSpPr>
        <p:spPr>
          <a:xfrm>
            <a:off x="812800" y="3294261"/>
            <a:ext cx="10566400" cy="734020"/>
          </a:xfrm>
          <a:prstGeom prst="roundRect">
            <a:avLst>
              <a:gd name="adj" fmla="val 8650"/>
            </a:avLst>
          </a:prstGeom>
          <a:solidFill>
            <a:srgbClr val="E9E3E4"/>
          </a:solidFill>
          <a:ln w="19050">
            <a:solidFill>
              <a:srgbClr val="861F41"/>
            </a:solidFill>
          </a:ln>
          <a:effectLst/>
        </p:spPr>
        <p:txBody>
          <a:bodyPr rtlCol="0" anchor="ctr"/>
          <a:lstStyle/>
          <a:p>
            <a:pPr algn="ctr"/>
          </a:p>
        </p:txBody>
      </p:sp>
      <p:sp>
        <p:nvSpPr>
          <p:cNvPr id="16" name="TextBox 15"/>
          <p:cNvSpPr txBox="1"/>
          <p:nvPr/>
        </p:nvSpPr>
        <p:spPr>
          <a:xfrm>
            <a:off x="984250" y="3465711"/>
            <a:ext cx="2413000" cy="365760"/>
          </a:xfrm>
          <a:prstGeom prst="rect">
            <a:avLst/>
          </a:prstGeom>
          <a:noFill/>
        </p:spPr>
        <p:txBody>
          <a:bodyPr wrap="none" lIns="0" rIns="0" tIns="0" bIns="0" anchor="ctr">
            <a:noAutofit/>
          </a:bodyPr>
          <a:lstStyle/>
          <a:p>
            <a:pPr algn="l">
              <a:lnSpc>
                <a:spcPts val="2880"/>
              </a:lnSpc>
            </a:pPr>
            <a:r>
              <a:rPr sz="2400" b="1" i="0">
                <a:solidFill>
                  <a:srgbClr val="861F41"/>
                </a:solidFill>
                <a:latin typeface="Georgia"/>
              </a:rPr>
              <a:t>Peer instruction</a:t>
            </a:r>
          </a:p>
        </p:txBody>
      </p:sp>
      <p:sp>
        <p:nvSpPr>
          <p:cNvPr id="17" name="TextBox 16"/>
          <p:cNvSpPr txBox="1"/>
          <p:nvPr/>
        </p:nvSpPr>
        <p:spPr>
          <a:xfrm>
            <a:off x="3549650" y="3465711"/>
            <a:ext cx="7658100" cy="365760"/>
          </a:xfrm>
          <a:prstGeom prst="rect">
            <a:avLst/>
          </a:prstGeom>
          <a:noFill/>
        </p:spPr>
        <p:txBody>
          <a:bodyPr wrap="none" lIns="0" rIns="0" tIns="0" bIns="0" anchor="ctr">
            <a:noAutofit/>
          </a:bodyPr>
          <a:lstStyle/>
          <a:p>
            <a:pPr algn="l">
              <a:lnSpc>
                <a:spcPts val="3479"/>
              </a:lnSpc>
            </a:pPr>
            <a:r>
              <a:rPr sz="2400" b="0" i="0">
                <a:solidFill>
                  <a:srgbClr val="2C1A1F"/>
                </a:solidFill>
                <a:latin typeface="Verdana"/>
              </a:rPr>
              <a:t>In every lecture, to earn credit.</a:t>
            </a:r>
          </a:p>
        </p:txBody>
      </p:sp>
      <p:sp>
        <p:nvSpPr>
          <p:cNvPr id="18" name="Rounded Rectangle 17"/>
          <p:cNvSpPr/>
          <p:nvPr/>
        </p:nvSpPr>
        <p:spPr>
          <a:xfrm>
            <a:off x="2586534" y="3958431"/>
            <a:ext cx="1754684" cy="50800"/>
          </a:xfrm>
          <a:prstGeom prst="roundRect">
            <a:avLst>
              <a:gd name="adj" fmla="val 50000"/>
            </a:avLst>
          </a:prstGeom>
          <a:solidFill>
            <a:srgbClr val="861F41"/>
          </a:solidFill>
          <a:ln>
            <a:noFill/>
          </a:ln>
          <a:effectLst/>
        </p:spPr>
        <p:txBody>
          <a:bodyPr rtlCol="0" anchor="ctr"/>
          <a:lstStyle/>
          <a:p>
            <a:pPr algn="ctr"/>
          </a:p>
        </p:txBody>
      </p:sp>
      <p:sp>
        <p:nvSpPr>
          <p:cNvPr id="19" name="Rounded Rectangle 18"/>
          <p:cNvSpPr/>
          <p:nvPr/>
        </p:nvSpPr>
        <p:spPr>
          <a:xfrm>
            <a:off x="6096000" y="3958431"/>
            <a:ext cx="1754684" cy="50800"/>
          </a:xfrm>
          <a:prstGeom prst="roundRect">
            <a:avLst>
              <a:gd name="adj" fmla="val 50000"/>
            </a:avLst>
          </a:prstGeom>
          <a:solidFill>
            <a:srgbClr val="861F41"/>
          </a:solidFill>
          <a:ln>
            <a:noFill/>
          </a:ln>
          <a:effectLst/>
        </p:spPr>
        <p:txBody>
          <a:bodyPr rtlCol="0" anchor="ctr"/>
          <a:lstStyle/>
          <a:p>
            <a:pPr algn="ctr"/>
          </a:p>
        </p:txBody>
      </p:sp>
      <p:sp>
        <p:nvSpPr>
          <p:cNvPr id="20" name="Rounded Rectangle 19"/>
          <p:cNvSpPr/>
          <p:nvPr/>
        </p:nvSpPr>
        <p:spPr>
          <a:xfrm>
            <a:off x="812800" y="4129881"/>
            <a:ext cx="10566400" cy="1175941"/>
          </a:xfrm>
          <a:prstGeom prst="roundRect">
            <a:avLst>
              <a:gd name="adj" fmla="val 5399"/>
            </a:avLst>
          </a:prstGeom>
          <a:solidFill>
            <a:srgbClr val="E9E3E4"/>
          </a:solidFill>
          <a:ln w="19050">
            <a:solidFill>
              <a:srgbClr val="9D3A29"/>
            </a:solidFill>
          </a:ln>
          <a:effectLst/>
        </p:spPr>
        <p:txBody>
          <a:bodyPr rtlCol="0" anchor="ctr"/>
          <a:lstStyle/>
          <a:p>
            <a:pPr algn="ctr"/>
          </a:p>
        </p:txBody>
      </p:sp>
      <p:sp>
        <p:nvSpPr>
          <p:cNvPr id="21" name="TextBox 20"/>
          <p:cNvSpPr txBox="1"/>
          <p:nvPr/>
        </p:nvSpPr>
        <p:spPr>
          <a:xfrm>
            <a:off x="984250" y="4301331"/>
            <a:ext cx="2438400" cy="702270"/>
          </a:xfrm>
          <a:prstGeom prst="rect">
            <a:avLst/>
          </a:prstGeom>
          <a:noFill/>
        </p:spPr>
        <p:txBody>
          <a:bodyPr wrap="square" lIns="0" rIns="0" tIns="0" bIns="0" anchor="ctr">
            <a:noAutofit/>
          </a:bodyPr>
          <a:lstStyle/>
          <a:p>
            <a:pPr algn="l">
              <a:lnSpc>
                <a:spcPts val="2880"/>
              </a:lnSpc>
            </a:pPr>
            <a:r>
              <a:rPr sz="2400" b="1" i="0">
                <a:solidFill>
                  <a:srgbClr val="9D3A29"/>
                </a:solidFill>
                <a:latin typeface="Georgia"/>
              </a:rPr>
              <a:t>Homework &amp; challenge</a:t>
            </a:r>
          </a:p>
        </p:txBody>
      </p:sp>
      <p:sp>
        <p:nvSpPr>
          <p:cNvPr id="22" name="TextBox 21"/>
          <p:cNvSpPr txBox="1"/>
          <p:nvPr/>
        </p:nvSpPr>
        <p:spPr>
          <a:xfrm>
            <a:off x="3549650" y="4301331"/>
            <a:ext cx="7683500" cy="778470"/>
          </a:xfrm>
          <a:prstGeom prst="rect">
            <a:avLst/>
          </a:prstGeom>
          <a:noFill/>
        </p:spPr>
        <p:txBody>
          <a:bodyPr wrap="square" lIns="0" rIns="0" tIns="0" bIns="0" anchor="ctr">
            <a:noAutofit/>
          </a:bodyPr>
          <a:lstStyle/>
          <a:p>
            <a:pPr algn="l">
              <a:lnSpc>
                <a:spcPts val="3479"/>
              </a:lnSpc>
            </a:pPr>
            <a:r>
              <a:rPr sz="2400" b="0" i="0">
                <a:solidFill>
                  <a:srgbClr val="2C1A1F"/>
                </a:solidFill>
                <a:latin typeface="Verdana"/>
              </a:rPr>
              <a:t>Weekly homework + lab challenge exercise — due Friday.</a:t>
            </a:r>
          </a:p>
        </p:txBody>
      </p:sp>
      <p:sp>
        <p:nvSpPr>
          <p:cNvPr id="23" name="Rounded Rectangle 22"/>
          <p:cNvSpPr/>
          <p:nvPr/>
        </p:nvSpPr>
        <p:spPr>
          <a:xfrm>
            <a:off x="9605367" y="5235972"/>
            <a:ext cx="1754684" cy="50800"/>
          </a:xfrm>
          <a:prstGeom prst="roundRect">
            <a:avLst>
              <a:gd name="adj" fmla="val 50000"/>
            </a:avLst>
          </a:prstGeom>
          <a:solidFill>
            <a:srgbClr val="9D3A29"/>
          </a:solidFill>
          <a:ln>
            <a:noFill/>
          </a:ln>
          <a:effectLst/>
        </p:spPr>
        <p:txBody>
          <a:bodyPr rtlCol="0" anchor="ctr"/>
          <a:lstStyle/>
          <a:p>
            <a:pPr algn="ctr"/>
          </a:p>
        </p:txBody>
      </p:sp>
      <p:sp>
        <p:nvSpPr>
          <p:cNvPr id="24" name="Rounded Rectangle 23"/>
          <p:cNvSpPr/>
          <p:nvPr/>
        </p:nvSpPr>
        <p:spPr>
          <a:xfrm>
            <a:off x="812800" y="5407422"/>
            <a:ext cx="10566400" cy="1175941"/>
          </a:xfrm>
          <a:prstGeom prst="roundRect">
            <a:avLst>
              <a:gd name="adj" fmla="val 5399"/>
            </a:avLst>
          </a:prstGeom>
          <a:solidFill>
            <a:srgbClr val="E9E3E4"/>
          </a:solidFill>
          <a:ln w="19050">
            <a:solidFill>
              <a:srgbClr val="B35510"/>
            </a:solidFill>
          </a:ln>
          <a:effectLst/>
        </p:spPr>
        <p:txBody>
          <a:bodyPr rtlCol="0" anchor="ctr"/>
          <a:lstStyle/>
          <a:p>
            <a:pPr algn="ctr"/>
          </a:p>
        </p:txBody>
      </p:sp>
      <p:sp>
        <p:nvSpPr>
          <p:cNvPr id="25" name="TextBox 24"/>
          <p:cNvSpPr txBox="1"/>
          <p:nvPr/>
        </p:nvSpPr>
        <p:spPr>
          <a:xfrm>
            <a:off x="984250" y="5578872"/>
            <a:ext cx="2438400" cy="702270"/>
          </a:xfrm>
          <a:prstGeom prst="rect">
            <a:avLst/>
          </a:prstGeom>
          <a:noFill/>
        </p:spPr>
        <p:txBody>
          <a:bodyPr wrap="square" lIns="0" rIns="0" tIns="0" bIns="0" anchor="ctr">
            <a:noAutofit/>
          </a:bodyPr>
          <a:lstStyle/>
          <a:p>
            <a:pPr algn="l">
              <a:lnSpc>
                <a:spcPts val="2880"/>
              </a:lnSpc>
            </a:pPr>
            <a:r>
              <a:rPr sz="2400" b="1" i="0">
                <a:solidFill>
                  <a:srgbClr val="A74C00"/>
                </a:solidFill>
                <a:latin typeface="Georgia"/>
              </a:rPr>
              <a:t>Project deliverables</a:t>
            </a:r>
          </a:p>
        </p:txBody>
      </p:sp>
      <p:sp>
        <p:nvSpPr>
          <p:cNvPr id="26" name="TextBox 25"/>
          <p:cNvSpPr txBox="1"/>
          <p:nvPr/>
        </p:nvSpPr>
        <p:spPr>
          <a:xfrm>
            <a:off x="3549650" y="5578872"/>
            <a:ext cx="7683500" cy="778470"/>
          </a:xfrm>
          <a:prstGeom prst="rect">
            <a:avLst/>
          </a:prstGeom>
          <a:noFill/>
        </p:spPr>
        <p:txBody>
          <a:bodyPr wrap="square" lIns="0" rIns="0" tIns="0" bIns="0" anchor="ctr">
            <a:noAutofit/>
          </a:bodyPr>
          <a:lstStyle/>
          <a:p>
            <a:pPr algn="l">
              <a:lnSpc>
                <a:spcPts val="3479"/>
              </a:lnSpc>
            </a:pPr>
            <a:r>
              <a:rPr sz="2400" b="0" i="0">
                <a:solidFill>
                  <a:srgbClr val="2C1A1F"/>
                </a:solidFill>
                <a:latin typeface="Verdana"/>
              </a:rPr>
              <a:t>Uploaded before your lab time, whichever day yours meets.</a:t>
            </a:r>
          </a:p>
        </p:txBody>
      </p:sp>
      <p:sp>
        <p:nvSpPr>
          <p:cNvPr id="27" name="Rounded Rectangle 26"/>
          <p:cNvSpPr/>
          <p:nvPr/>
        </p:nvSpPr>
        <p:spPr>
          <a:xfrm>
            <a:off x="831850" y="6513512"/>
            <a:ext cx="10528300" cy="50800"/>
          </a:xfrm>
          <a:prstGeom prst="roundRect">
            <a:avLst>
              <a:gd name="adj" fmla="val 50000"/>
            </a:avLst>
          </a:prstGeom>
          <a:solidFill>
            <a:srgbClr val="B35510"/>
          </a:solidFill>
          <a:ln>
            <a:noFill/>
          </a:ln>
          <a:effectLst/>
        </p:spPr>
        <p:txBody>
          <a:bodyPr rtlCol="0" anchor="ctr"/>
          <a:lstStyle/>
          <a:p>
            <a:pPr algn="ctr"/>
          </a:p>
        </p:txBody>
      </p:sp>
      <p:sp>
        <p:nvSpPr>
          <p:cNvPr id="28" name="Rounded Rectangle 27"/>
          <p:cNvSpPr/>
          <p:nvPr/>
        </p:nvSpPr>
        <p:spPr>
          <a:xfrm>
            <a:off x="10650240" y="6203950"/>
            <a:ext cx="1236960" cy="450850"/>
          </a:xfrm>
          <a:prstGeom prst="roundRect">
            <a:avLst>
              <a:gd name="adj" fmla="val 50000"/>
            </a:avLst>
          </a:prstGeom>
          <a:solidFill>
            <a:srgbClr val="E9E3E4"/>
          </a:solidFill>
          <a:ln>
            <a:noFill/>
          </a:ln>
          <a:effectLst/>
        </p:spPr>
        <p:txBody>
          <a:bodyPr rtlCol="0" anchor="ctr"/>
          <a:lstStyle/>
          <a:p>
            <a:pPr algn="ctr"/>
          </a:p>
        </p:txBody>
      </p:sp>
      <p:sp>
        <p:nvSpPr>
          <p:cNvPr id="29" name="TextBox 28"/>
          <p:cNvSpPr txBox="1"/>
          <p:nvPr/>
        </p:nvSpPr>
        <p:spPr>
          <a:xfrm>
            <a:off x="10802640" y="6261100"/>
            <a:ext cx="932160" cy="365760"/>
          </a:xfrm>
          <a:prstGeom prst="rect">
            <a:avLst/>
          </a:prstGeom>
          <a:noFill/>
        </p:spPr>
        <p:txBody>
          <a:bodyPr wrap="none" lIns="0" rIns="0" tIns="0" bIns="0" anchor="ctr">
            <a:noAutofit/>
          </a:bodyPr>
          <a:lstStyle/>
          <a:p>
            <a:pPr algn="l">
              <a:lnSpc>
                <a:spcPts val="2879"/>
              </a:lnSpc>
            </a:pPr>
            <a:r>
              <a:rPr sz="2400" b="0" i="0">
                <a:solidFill>
                  <a:srgbClr val="6B4A52"/>
                </a:solidFill>
                <a:latin typeface="Verdana"/>
              </a:rPr>
              <a:t>10 / 28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The Project Structure</a:t>
            </a:r>
          </a:p>
        </p:txBody>
      </p:sp>
      <p:sp>
        <p:nvSpPr>
          <p:cNvPr id="4" name="Rectangle 3"/>
          <p:cNvSpPr/>
          <p:nvPr/>
        </p:nvSpPr>
        <p:spPr>
          <a:xfrm>
            <a:off x="812800" y="1498600"/>
            <a:ext cx="1562695" cy="883841"/>
          </a:xfrm>
          <a:prstGeom prst="rect">
            <a:avLst/>
          </a:prstGeom>
          <a:noFill/>
          <a:ln>
            <a:noFill/>
          </a:ln>
          <a:effectLst/>
        </p:spPr>
        <p:txBody>
          <a:bodyPr rtlCol="0" anchor="ctr"/>
          <a:lstStyle/>
          <a:p>
            <a:pPr algn="ctr"/>
          </a:p>
        </p:txBody>
      </p:sp>
      <p:sp>
        <p:nvSpPr>
          <p:cNvPr id="5" name="Rectangle 4"/>
          <p:cNvSpPr/>
          <p:nvPr/>
        </p:nvSpPr>
        <p:spPr>
          <a:xfrm>
            <a:off x="812800" y="2369741"/>
            <a:ext cx="1562695" cy="12700"/>
          </a:xfrm>
          <a:prstGeom prst="rect">
            <a:avLst/>
          </a:prstGeom>
          <a:solidFill>
            <a:srgbClr val="6B4A52">
              <a:alpha val="45000"/>
            </a:srgbClr>
          </a:solidFill>
          <a:ln>
            <a:noFill/>
          </a:ln>
          <a:effectLst/>
        </p:spPr>
        <p:txBody>
          <a:bodyPr rtlCol="0" anchor="ctr"/>
          <a:lstStyle/>
          <a:p>
            <a:pPr algn="ctr"/>
          </a:p>
        </p:txBody>
      </p:sp>
      <p:sp>
        <p:nvSpPr>
          <p:cNvPr id="6" name="Rectangle 5"/>
          <p:cNvSpPr/>
          <p:nvPr/>
        </p:nvSpPr>
        <p:spPr>
          <a:xfrm>
            <a:off x="2375495" y="1498600"/>
            <a:ext cx="2532559" cy="883841"/>
          </a:xfrm>
          <a:prstGeom prst="rect">
            <a:avLst/>
          </a:prstGeom>
          <a:noFill/>
          <a:ln>
            <a:noFill/>
          </a:ln>
          <a:effectLst/>
        </p:spPr>
        <p:txBody>
          <a:bodyPr rtlCol="0" anchor="ctr"/>
          <a:lstStyle/>
          <a:p>
            <a:pPr algn="ctr"/>
          </a:p>
        </p:txBody>
      </p:sp>
      <p:sp>
        <p:nvSpPr>
          <p:cNvPr id="7" name="Rectangle 6"/>
          <p:cNvSpPr/>
          <p:nvPr/>
        </p:nvSpPr>
        <p:spPr>
          <a:xfrm>
            <a:off x="2375495" y="1498600"/>
            <a:ext cx="2532559" cy="50800"/>
          </a:xfrm>
          <a:prstGeom prst="rect">
            <a:avLst/>
          </a:prstGeom>
          <a:solidFill>
            <a:srgbClr val="B35510">
              <a:alpha val="30000"/>
            </a:srgbClr>
          </a:solidFill>
          <a:ln>
            <a:noFill/>
          </a:ln>
          <a:effectLst/>
        </p:spPr>
        <p:txBody>
          <a:bodyPr rtlCol="0" anchor="ctr"/>
          <a:lstStyle/>
          <a:p>
            <a:pPr algn="ctr"/>
          </a:p>
        </p:txBody>
      </p:sp>
      <p:sp>
        <p:nvSpPr>
          <p:cNvPr id="8" name="Rectangle 7"/>
          <p:cNvSpPr/>
          <p:nvPr/>
        </p:nvSpPr>
        <p:spPr>
          <a:xfrm>
            <a:off x="2375495" y="2369741"/>
            <a:ext cx="2532559" cy="12700"/>
          </a:xfrm>
          <a:prstGeom prst="rect">
            <a:avLst/>
          </a:prstGeom>
          <a:solidFill>
            <a:srgbClr val="6B4A52">
              <a:alpha val="13500"/>
            </a:srgbClr>
          </a:solidFill>
          <a:ln>
            <a:noFill/>
          </a:ln>
          <a:effectLst/>
        </p:spPr>
        <p:txBody>
          <a:bodyPr rtlCol="0" anchor="ctr"/>
          <a:lstStyle/>
          <a:p>
            <a:pPr algn="ctr"/>
          </a:p>
        </p:txBody>
      </p:sp>
      <p:sp>
        <p:nvSpPr>
          <p:cNvPr id="9" name="TextBox 8"/>
          <p:cNvSpPr txBox="1"/>
          <p:nvPr/>
        </p:nvSpPr>
        <p:spPr>
          <a:xfrm>
            <a:off x="2527895" y="1676400"/>
            <a:ext cx="2227759" cy="274320"/>
          </a:xfrm>
          <a:prstGeom prst="rect">
            <a:avLst/>
          </a:prstGeom>
          <a:noFill/>
        </p:spPr>
        <p:txBody>
          <a:bodyPr wrap="none" lIns="0" rIns="0" tIns="0" bIns="0" anchor="ctr">
            <a:noAutofit/>
          </a:bodyPr>
          <a:lstStyle/>
          <a:p>
            <a:pPr algn="l">
              <a:lnSpc>
                <a:spcPts val="2610"/>
              </a:lnSpc>
            </a:pPr>
            <a:r>
              <a:rPr sz="1800" b="0" i="0">
                <a:solidFill>
                  <a:srgbClr val="B35510">
                    <a:alpha val="30000"/>
                  </a:srgbClr>
                </a:solidFill>
                <a:latin typeface="Roboto Mono"/>
              </a:rPr>
              <a:t>P1</a:t>
            </a:r>
          </a:p>
        </p:txBody>
      </p:sp>
      <p:sp>
        <p:nvSpPr>
          <p:cNvPr id="10" name="Rectangle 9"/>
          <p:cNvSpPr/>
          <p:nvPr/>
        </p:nvSpPr>
        <p:spPr>
          <a:xfrm>
            <a:off x="4908054" y="1498600"/>
            <a:ext cx="3239195" cy="883841"/>
          </a:xfrm>
          <a:prstGeom prst="rect">
            <a:avLst/>
          </a:prstGeom>
          <a:noFill/>
          <a:ln>
            <a:noFill/>
          </a:ln>
          <a:effectLst/>
        </p:spPr>
        <p:txBody>
          <a:bodyPr rtlCol="0" anchor="ctr"/>
          <a:lstStyle/>
          <a:p>
            <a:pPr algn="ctr"/>
          </a:p>
        </p:txBody>
      </p:sp>
      <p:sp>
        <p:nvSpPr>
          <p:cNvPr id="11" name="Rectangle 10"/>
          <p:cNvSpPr/>
          <p:nvPr/>
        </p:nvSpPr>
        <p:spPr>
          <a:xfrm>
            <a:off x="4908054" y="1498600"/>
            <a:ext cx="3239195" cy="50800"/>
          </a:xfrm>
          <a:prstGeom prst="rect">
            <a:avLst/>
          </a:prstGeom>
          <a:solidFill>
            <a:srgbClr val="9D3A29">
              <a:alpha val="30000"/>
            </a:srgbClr>
          </a:solidFill>
          <a:ln>
            <a:noFill/>
          </a:ln>
          <a:effectLst/>
        </p:spPr>
        <p:txBody>
          <a:bodyPr rtlCol="0" anchor="ctr"/>
          <a:lstStyle/>
          <a:p>
            <a:pPr algn="ctr"/>
          </a:p>
        </p:txBody>
      </p:sp>
      <p:sp>
        <p:nvSpPr>
          <p:cNvPr id="12" name="Rectangle 11"/>
          <p:cNvSpPr/>
          <p:nvPr/>
        </p:nvSpPr>
        <p:spPr>
          <a:xfrm>
            <a:off x="4908054" y="2369741"/>
            <a:ext cx="3239195" cy="12700"/>
          </a:xfrm>
          <a:prstGeom prst="rect">
            <a:avLst/>
          </a:prstGeom>
          <a:solidFill>
            <a:srgbClr val="6B4A52">
              <a:alpha val="13500"/>
            </a:srgbClr>
          </a:solidFill>
          <a:ln>
            <a:noFill/>
          </a:ln>
          <a:effectLst/>
        </p:spPr>
        <p:txBody>
          <a:bodyPr rtlCol="0" anchor="ctr"/>
          <a:lstStyle/>
          <a:p>
            <a:pPr algn="ctr"/>
          </a:p>
        </p:txBody>
      </p:sp>
      <p:sp>
        <p:nvSpPr>
          <p:cNvPr id="13" name="TextBox 12"/>
          <p:cNvSpPr txBox="1"/>
          <p:nvPr/>
        </p:nvSpPr>
        <p:spPr>
          <a:xfrm>
            <a:off x="5060454" y="1676400"/>
            <a:ext cx="2934395" cy="274320"/>
          </a:xfrm>
          <a:prstGeom prst="rect">
            <a:avLst/>
          </a:prstGeom>
          <a:noFill/>
        </p:spPr>
        <p:txBody>
          <a:bodyPr wrap="none" lIns="0" rIns="0" tIns="0" bIns="0" anchor="ctr">
            <a:noAutofit/>
          </a:bodyPr>
          <a:lstStyle/>
          <a:p>
            <a:pPr algn="l">
              <a:lnSpc>
                <a:spcPts val="2610"/>
              </a:lnSpc>
            </a:pPr>
            <a:r>
              <a:rPr sz="1800" b="0" i="0">
                <a:solidFill>
                  <a:srgbClr val="9D3A29">
                    <a:alpha val="30000"/>
                  </a:srgbClr>
                </a:solidFill>
                <a:latin typeface="Roboto Mono"/>
              </a:rPr>
              <a:t>P2</a:t>
            </a:r>
          </a:p>
        </p:txBody>
      </p:sp>
      <p:sp>
        <p:nvSpPr>
          <p:cNvPr id="14" name="Rectangle 13"/>
          <p:cNvSpPr/>
          <p:nvPr/>
        </p:nvSpPr>
        <p:spPr>
          <a:xfrm>
            <a:off x="8147248" y="1498600"/>
            <a:ext cx="3231952" cy="883841"/>
          </a:xfrm>
          <a:prstGeom prst="rect">
            <a:avLst/>
          </a:prstGeom>
          <a:noFill/>
          <a:ln>
            <a:noFill/>
          </a:ln>
          <a:effectLst/>
        </p:spPr>
        <p:txBody>
          <a:bodyPr rtlCol="0" anchor="ctr"/>
          <a:lstStyle/>
          <a:p>
            <a:pPr algn="ctr"/>
          </a:p>
        </p:txBody>
      </p:sp>
      <p:sp>
        <p:nvSpPr>
          <p:cNvPr id="15" name="Rectangle 14"/>
          <p:cNvSpPr/>
          <p:nvPr/>
        </p:nvSpPr>
        <p:spPr>
          <a:xfrm>
            <a:off x="8147248" y="1498600"/>
            <a:ext cx="3231952" cy="50800"/>
          </a:xfrm>
          <a:prstGeom prst="rect">
            <a:avLst/>
          </a:prstGeom>
          <a:solidFill>
            <a:srgbClr val="1C6091">
              <a:alpha val="30000"/>
            </a:srgbClr>
          </a:solidFill>
          <a:ln>
            <a:noFill/>
          </a:ln>
          <a:effectLst/>
        </p:spPr>
        <p:txBody>
          <a:bodyPr rtlCol="0" anchor="ctr"/>
          <a:lstStyle/>
          <a:p>
            <a:pPr algn="ctr"/>
          </a:p>
        </p:txBody>
      </p:sp>
      <p:sp>
        <p:nvSpPr>
          <p:cNvPr id="16" name="Rectangle 15"/>
          <p:cNvSpPr/>
          <p:nvPr/>
        </p:nvSpPr>
        <p:spPr>
          <a:xfrm>
            <a:off x="8147248" y="2369741"/>
            <a:ext cx="3231952" cy="12700"/>
          </a:xfrm>
          <a:prstGeom prst="rect">
            <a:avLst/>
          </a:prstGeom>
          <a:solidFill>
            <a:srgbClr val="6B4A52">
              <a:alpha val="13500"/>
            </a:srgbClr>
          </a:solidFill>
          <a:ln>
            <a:noFill/>
          </a:ln>
          <a:effectLst/>
        </p:spPr>
        <p:txBody>
          <a:bodyPr rtlCol="0" anchor="ctr"/>
          <a:lstStyle/>
          <a:p>
            <a:pPr algn="ctr"/>
          </a:p>
        </p:txBody>
      </p:sp>
      <p:sp>
        <p:nvSpPr>
          <p:cNvPr id="17" name="TextBox 16"/>
          <p:cNvSpPr txBox="1"/>
          <p:nvPr/>
        </p:nvSpPr>
        <p:spPr>
          <a:xfrm>
            <a:off x="8299648" y="1676400"/>
            <a:ext cx="2927152" cy="274320"/>
          </a:xfrm>
          <a:prstGeom prst="rect">
            <a:avLst/>
          </a:prstGeom>
          <a:noFill/>
        </p:spPr>
        <p:txBody>
          <a:bodyPr wrap="none" lIns="0" rIns="0" tIns="0" bIns="0" anchor="ctr">
            <a:noAutofit/>
          </a:bodyPr>
          <a:lstStyle/>
          <a:p>
            <a:pPr algn="l">
              <a:lnSpc>
                <a:spcPts val="2610"/>
              </a:lnSpc>
            </a:pPr>
            <a:r>
              <a:rPr sz="1800" b="0" i="0">
                <a:solidFill>
                  <a:srgbClr val="1C6091">
                    <a:alpha val="30000"/>
                  </a:srgbClr>
                </a:solidFill>
                <a:latin typeface="Roboto Mono"/>
              </a:rPr>
              <a:t>P3</a:t>
            </a:r>
          </a:p>
        </p:txBody>
      </p:sp>
      <p:sp>
        <p:nvSpPr>
          <p:cNvPr id="18" name="Rectangle 17"/>
          <p:cNvSpPr/>
          <p:nvPr/>
        </p:nvSpPr>
        <p:spPr>
          <a:xfrm>
            <a:off x="812800" y="2382441"/>
            <a:ext cx="1562695" cy="633809"/>
          </a:xfrm>
          <a:prstGeom prst="rect">
            <a:avLst/>
          </a:prstGeom>
          <a:noFill/>
          <a:ln>
            <a:noFill/>
          </a:ln>
          <a:effectLst/>
        </p:spPr>
        <p:txBody>
          <a:bodyPr rtlCol="0" anchor="ctr"/>
          <a:lstStyle/>
          <a:p>
            <a:pPr algn="ctr"/>
          </a:p>
        </p:txBody>
      </p:sp>
      <p:sp>
        <p:nvSpPr>
          <p:cNvPr id="19" name="Rectangle 18"/>
          <p:cNvSpPr/>
          <p:nvPr/>
        </p:nvSpPr>
        <p:spPr>
          <a:xfrm>
            <a:off x="812800" y="3003550"/>
            <a:ext cx="1562695" cy="12700"/>
          </a:xfrm>
          <a:prstGeom prst="rect">
            <a:avLst/>
          </a:prstGeom>
          <a:solidFill>
            <a:srgbClr val="6B4A52">
              <a:alpha val="45000"/>
            </a:srgbClr>
          </a:solidFill>
          <a:ln>
            <a:noFill/>
          </a:ln>
          <a:effectLst/>
        </p:spPr>
        <p:txBody>
          <a:bodyPr rtlCol="0" anchor="ctr"/>
          <a:lstStyle/>
          <a:p>
            <a:pPr algn="ctr"/>
          </a:p>
        </p:txBody>
      </p:sp>
      <p:sp>
        <p:nvSpPr>
          <p:cNvPr id="20" name="TextBox 19"/>
          <p:cNvSpPr txBox="1"/>
          <p:nvPr/>
        </p:nvSpPr>
        <p:spPr>
          <a:xfrm>
            <a:off x="965200" y="2490391"/>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Core</a:t>
            </a:r>
          </a:p>
        </p:txBody>
      </p:sp>
      <p:sp>
        <p:nvSpPr>
          <p:cNvPr id="21" name="Rectangle 20"/>
          <p:cNvSpPr/>
          <p:nvPr/>
        </p:nvSpPr>
        <p:spPr>
          <a:xfrm>
            <a:off x="2375495" y="2382441"/>
            <a:ext cx="2532559" cy="633809"/>
          </a:xfrm>
          <a:prstGeom prst="rect">
            <a:avLst/>
          </a:prstGeom>
          <a:noFill/>
          <a:ln>
            <a:noFill/>
          </a:ln>
          <a:effectLst/>
        </p:spPr>
        <p:txBody>
          <a:bodyPr rtlCol="0" anchor="ctr"/>
          <a:lstStyle/>
          <a:p>
            <a:pPr algn="ctr"/>
          </a:p>
        </p:txBody>
      </p:sp>
      <p:sp>
        <p:nvSpPr>
          <p:cNvPr id="22" name="Rectangle 21"/>
          <p:cNvSpPr/>
          <p:nvPr/>
        </p:nvSpPr>
        <p:spPr>
          <a:xfrm>
            <a:off x="2375495" y="3003550"/>
            <a:ext cx="2532559" cy="12700"/>
          </a:xfrm>
          <a:prstGeom prst="rect">
            <a:avLst/>
          </a:prstGeom>
          <a:solidFill>
            <a:srgbClr val="6B4A52">
              <a:alpha val="13500"/>
            </a:srgbClr>
          </a:solidFill>
          <a:ln>
            <a:noFill/>
          </a:ln>
          <a:effectLst/>
        </p:spPr>
        <p:txBody>
          <a:bodyPr rtlCol="0" anchor="ctr"/>
          <a:lstStyle/>
          <a:p>
            <a:pPr algn="ctr"/>
          </a:p>
        </p:txBody>
      </p:sp>
      <p:sp>
        <p:nvSpPr>
          <p:cNvPr id="23" name="TextBox 22"/>
          <p:cNvSpPr txBox="1"/>
          <p:nvPr/>
        </p:nvSpPr>
        <p:spPr>
          <a:xfrm>
            <a:off x="2527895" y="2490391"/>
            <a:ext cx="2227759"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Java + Exceptions</a:t>
            </a:r>
          </a:p>
        </p:txBody>
      </p:sp>
      <p:sp>
        <p:nvSpPr>
          <p:cNvPr id="24" name="Rectangle 23"/>
          <p:cNvSpPr/>
          <p:nvPr/>
        </p:nvSpPr>
        <p:spPr>
          <a:xfrm>
            <a:off x="4908054" y="2382441"/>
            <a:ext cx="3239195" cy="633809"/>
          </a:xfrm>
          <a:prstGeom prst="rect">
            <a:avLst/>
          </a:prstGeom>
          <a:noFill/>
          <a:ln>
            <a:noFill/>
          </a:ln>
          <a:effectLst/>
        </p:spPr>
        <p:txBody>
          <a:bodyPr rtlCol="0" anchor="ctr"/>
          <a:lstStyle/>
          <a:p>
            <a:pPr algn="ctr"/>
          </a:p>
        </p:txBody>
      </p:sp>
      <p:sp>
        <p:nvSpPr>
          <p:cNvPr id="25" name="Rectangle 24"/>
          <p:cNvSpPr/>
          <p:nvPr/>
        </p:nvSpPr>
        <p:spPr>
          <a:xfrm>
            <a:off x="4908054" y="3003550"/>
            <a:ext cx="3239195" cy="12700"/>
          </a:xfrm>
          <a:prstGeom prst="rect">
            <a:avLst/>
          </a:prstGeom>
          <a:solidFill>
            <a:srgbClr val="6B4A52">
              <a:alpha val="13500"/>
            </a:srgbClr>
          </a:solidFill>
          <a:ln>
            <a:noFill/>
          </a:ln>
          <a:effectLst/>
        </p:spPr>
        <p:txBody>
          <a:bodyPr rtlCol="0" anchor="ctr"/>
          <a:lstStyle/>
          <a:p>
            <a:pPr algn="ctr"/>
          </a:p>
        </p:txBody>
      </p:sp>
      <p:sp>
        <p:nvSpPr>
          <p:cNvPr id="26" name="TextBox 25"/>
          <p:cNvSpPr txBox="1"/>
          <p:nvPr/>
        </p:nvSpPr>
        <p:spPr>
          <a:xfrm>
            <a:off x="5060454" y="2490391"/>
            <a:ext cx="2934395"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Generic Bag&lt;T&gt;</a:t>
            </a:r>
          </a:p>
        </p:txBody>
      </p:sp>
      <p:sp>
        <p:nvSpPr>
          <p:cNvPr id="27" name="Rectangle 26"/>
          <p:cNvSpPr/>
          <p:nvPr/>
        </p:nvSpPr>
        <p:spPr>
          <a:xfrm>
            <a:off x="8147248" y="2382441"/>
            <a:ext cx="3231952" cy="633809"/>
          </a:xfrm>
          <a:prstGeom prst="rect">
            <a:avLst/>
          </a:prstGeom>
          <a:noFill/>
          <a:ln>
            <a:noFill/>
          </a:ln>
          <a:effectLst/>
        </p:spPr>
        <p:txBody>
          <a:bodyPr rtlCol="0" anchor="ctr"/>
          <a:lstStyle/>
          <a:p>
            <a:pPr algn="ctr"/>
          </a:p>
        </p:txBody>
      </p:sp>
      <p:sp>
        <p:nvSpPr>
          <p:cNvPr id="28" name="Rectangle 27"/>
          <p:cNvSpPr/>
          <p:nvPr/>
        </p:nvSpPr>
        <p:spPr>
          <a:xfrm>
            <a:off x="8147248" y="3003550"/>
            <a:ext cx="3231952" cy="12700"/>
          </a:xfrm>
          <a:prstGeom prst="rect">
            <a:avLst/>
          </a:prstGeom>
          <a:solidFill>
            <a:srgbClr val="6B4A52">
              <a:alpha val="13500"/>
            </a:srgbClr>
          </a:solidFill>
          <a:ln>
            <a:noFill/>
          </a:ln>
          <a:effectLst/>
        </p:spPr>
        <p:txBody>
          <a:bodyPr rtlCol="0" anchor="ctr"/>
          <a:lstStyle/>
          <a:p>
            <a:pPr algn="ctr"/>
          </a:p>
        </p:txBody>
      </p:sp>
      <p:sp>
        <p:nvSpPr>
          <p:cNvPr id="29" name="TextBox 28"/>
          <p:cNvSpPr txBox="1"/>
          <p:nvPr/>
        </p:nvSpPr>
        <p:spPr>
          <a:xfrm>
            <a:off x="8299648" y="2490391"/>
            <a:ext cx="2927152"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Queue + MVC</a:t>
            </a:r>
          </a:p>
        </p:txBody>
      </p:sp>
      <p:sp>
        <p:nvSpPr>
          <p:cNvPr id="30" name="Rectangle 29"/>
          <p:cNvSpPr/>
          <p:nvPr/>
        </p:nvSpPr>
        <p:spPr>
          <a:xfrm>
            <a:off x="812800" y="3016250"/>
            <a:ext cx="1562695" cy="633809"/>
          </a:xfrm>
          <a:prstGeom prst="rect">
            <a:avLst/>
          </a:prstGeom>
          <a:noFill/>
          <a:ln>
            <a:noFill/>
          </a:ln>
          <a:effectLst/>
        </p:spPr>
        <p:txBody>
          <a:bodyPr rtlCol="0" anchor="ctr"/>
          <a:lstStyle/>
          <a:p>
            <a:pPr algn="ctr"/>
          </a:p>
        </p:txBody>
      </p:sp>
      <p:sp>
        <p:nvSpPr>
          <p:cNvPr id="31" name="Rectangle 30"/>
          <p:cNvSpPr/>
          <p:nvPr/>
        </p:nvSpPr>
        <p:spPr>
          <a:xfrm>
            <a:off x="812800" y="3637359"/>
            <a:ext cx="1562695" cy="12700"/>
          </a:xfrm>
          <a:prstGeom prst="rect">
            <a:avLst/>
          </a:prstGeom>
          <a:solidFill>
            <a:srgbClr val="6B4A52">
              <a:alpha val="45000"/>
            </a:srgbClr>
          </a:solidFill>
          <a:ln>
            <a:noFill/>
          </a:ln>
          <a:effectLst/>
        </p:spPr>
        <p:txBody>
          <a:bodyPr rtlCol="0" anchor="ctr"/>
          <a:lstStyle/>
          <a:p>
            <a:pPr algn="ctr"/>
          </a:p>
        </p:txBody>
      </p:sp>
      <p:sp>
        <p:nvSpPr>
          <p:cNvPr id="32" name="TextBox 31"/>
          <p:cNvSpPr txBox="1"/>
          <p:nvPr/>
        </p:nvSpPr>
        <p:spPr>
          <a:xfrm>
            <a:off x="965200" y="3124200"/>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Weeks</a:t>
            </a:r>
          </a:p>
        </p:txBody>
      </p:sp>
      <p:sp>
        <p:nvSpPr>
          <p:cNvPr id="33" name="Rectangle 32"/>
          <p:cNvSpPr/>
          <p:nvPr/>
        </p:nvSpPr>
        <p:spPr>
          <a:xfrm>
            <a:off x="2375495" y="3016250"/>
            <a:ext cx="2532559" cy="633809"/>
          </a:xfrm>
          <a:prstGeom prst="rect">
            <a:avLst/>
          </a:prstGeom>
          <a:noFill/>
          <a:ln>
            <a:noFill/>
          </a:ln>
          <a:effectLst/>
        </p:spPr>
        <p:txBody>
          <a:bodyPr rtlCol="0" anchor="ctr"/>
          <a:lstStyle/>
          <a:p>
            <a:pPr algn="ctr"/>
          </a:p>
        </p:txBody>
      </p:sp>
      <p:sp>
        <p:nvSpPr>
          <p:cNvPr id="34" name="Rectangle 33"/>
          <p:cNvSpPr/>
          <p:nvPr/>
        </p:nvSpPr>
        <p:spPr>
          <a:xfrm>
            <a:off x="2375495" y="3637359"/>
            <a:ext cx="2532559" cy="12700"/>
          </a:xfrm>
          <a:prstGeom prst="rect">
            <a:avLst/>
          </a:prstGeom>
          <a:solidFill>
            <a:srgbClr val="6B4A52">
              <a:alpha val="13500"/>
            </a:srgbClr>
          </a:solidFill>
          <a:ln>
            <a:noFill/>
          </a:ln>
          <a:effectLst/>
        </p:spPr>
        <p:txBody>
          <a:bodyPr rtlCol="0" anchor="ctr"/>
          <a:lstStyle/>
          <a:p>
            <a:pPr algn="ctr"/>
          </a:p>
        </p:txBody>
      </p:sp>
      <p:sp>
        <p:nvSpPr>
          <p:cNvPr id="35" name="TextBox 34"/>
          <p:cNvSpPr txBox="1"/>
          <p:nvPr/>
        </p:nvSpPr>
        <p:spPr>
          <a:xfrm>
            <a:off x="2527895" y="3124200"/>
            <a:ext cx="2227759"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3–5</a:t>
            </a:r>
          </a:p>
        </p:txBody>
      </p:sp>
      <p:sp>
        <p:nvSpPr>
          <p:cNvPr id="36" name="Rectangle 35"/>
          <p:cNvSpPr/>
          <p:nvPr/>
        </p:nvSpPr>
        <p:spPr>
          <a:xfrm>
            <a:off x="4908054" y="3016250"/>
            <a:ext cx="3239195" cy="633809"/>
          </a:xfrm>
          <a:prstGeom prst="rect">
            <a:avLst/>
          </a:prstGeom>
          <a:noFill/>
          <a:ln>
            <a:noFill/>
          </a:ln>
          <a:effectLst/>
        </p:spPr>
        <p:txBody>
          <a:bodyPr rtlCol="0" anchor="ctr"/>
          <a:lstStyle/>
          <a:p>
            <a:pPr algn="ctr"/>
          </a:p>
        </p:txBody>
      </p:sp>
      <p:sp>
        <p:nvSpPr>
          <p:cNvPr id="37" name="Rectangle 36"/>
          <p:cNvSpPr/>
          <p:nvPr/>
        </p:nvSpPr>
        <p:spPr>
          <a:xfrm>
            <a:off x="4908054" y="3637359"/>
            <a:ext cx="3239195" cy="12700"/>
          </a:xfrm>
          <a:prstGeom prst="rect">
            <a:avLst/>
          </a:prstGeom>
          <a:solidFill>
            <a:srgbClr val="6B4A52">
              <a:alpha val="13500"/>
            </a:srgbClr>
          </a:solidFill>
          <a:ln>
            <a:noFill/>
          </a:ln>
          <a:effectLst/>
        </p:spPr>
        <p:txBody>
          <a:bodyPr rtlCol="0" anchor="ctr"/>
          <a:lstStyle/>
          <a:p>
            <a:pPr algn="ctr"/>
          </a:p>
        </p:txBody>
      </p:sp>
      <p:sp>
        <p:nvSpPr>
          <p:cNvPr id="38" name="TextBox 37"/>
          <p:cNvSpPr txBox="1"/>
          <p:nvPr/>
        </p:nvSpPr>
        <p:spPr>
          <a:xfrm>
            <a:off x="5060454" y="3124200"/>
            <a:ext cx="2934395"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6–9</a:t>
            </a:r>
          </a:p>
        </p:txBody>
      </p:sp>
      <p:sp>
        <p:nvSpPr>
          <p:cNvPr id="39" name="Rectangle 38"/>
          <p:cNvSpPr/>
          <p:nvPr/>
        </p:nvSpPr>
        <p:spPr>
          <a:xfrm>
            <a:off x="8147248" y="3016250"/>
            <a:ext cx="3231952" cy="633809"/>
          </a:xfrm>
          <a:prstGeom prst="rect">
            <a:avLst/>
          </a:prstGeom>
          <a:noFill/>
          <a:ln>
            <a:noFill/>
          </a:ln>
          <a:effectLst/>
        </p:spPr>
        <p:txBody>
          <a:bodyPr rtlCol="0" anchor="ctr"/>
          <a:lstStyle/>
          <a:p>
            <a:pPr algn="ctr"/>
          </a:p>
        </p:txBody>
      </p:sp>
      <p:sp>
        <p:nvSpPr>
          <p:cNvPr id="40" name="Rectangle 39"/>
          <p:cNvSpPr/>
          <p:nvPr/>
        </p:nvSpPr>
        <p:spPr>
          <a:xfrm>
            <a:off x="8147248" y="3637359"/>
            <a:ext cx="3231952" cy="12700"/>
          </a:xfrm>
          <a:prstGeom prst="rect">
            <a:avLst/>
          </a:prstGeom>
          <a:solidFill>
            <a:srgbClr val="6B4A52">
              <a:alpha val="13500"/>
            </a:srgbClr>
          </a:solidFill>
          <a:ln>
            <a:noFill/>
          </a:ln>
          <a:effectLst/>
        </p:spPr>
        <p:txBody>
          <a:bodyPr rtlCol="0" anchor="ctr"/>
          <a:lstStyle/>
          <a:p>
            <a:pPr algn="ctr"/>
          </a:p>
        </p:txBody>
      </p:sp>
      <p:sp>
        <p:nvSpPr>
          <p:cNvPr id="41" name="TextBox 40"/>
          <p:cNvSpPr txBox="1"/>
          <p:nvPr/>
        </p:nvSpPr>
        <p:spPr>
          <a:xfrm>
            <a:off x="8299648" y="3124200"/>
            <a:ext cx="2927152"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10–15</a:t>
            </a:r>
          </a:p>
        </p:txBody>
      </p:sp>
      <p:sp>
        <p:nvSpPr>
          <p:cNvPr id="42" name="Rectangle 41"/>
          <p:cNvSpPr/>
          <p:nvPr/>
        </p:nvSpPr>
        <p:spPr>
          <a:xfrm>
            <a:off x="812800" y="3650059"/>
            <a:ext cx="1562695" cy="633809"/>
          </a:xfrm>
          <a:prstGeom prst="rect">
            <a:avLst/>
          </a:prstGeom>
          <a:noFill/>
          <a:ln>
            <a:noFill/>
          </a:ln>
          <a:effectLst/>
        </p:spPr>
        <p:txBody>
          <a:bodyPr rtlCol="0" anchor="ctr"/>
          <a:lstStyle/>
          <a:p>
            <a:pPr algn="ctr"/>
          </a:p>
        </p:txBody>
      </p:sp>
      <p:sp>
        <p:nvSpPr>
          <p:cNvPr id="43" name="Rectangle 42"/>
          <p:cNvSpPr/>
          <p:nvPr/>
        </p:nvSpPr>
        <p:spPr>
          <a:xfrm>
            <a:off x="812800" y="4271169"/>
            <a:ext cx="1562695" cy="12700"/>
          </a:xfrm>
          <a:prstGeom prst="rect">
            <a:avLst/>
          </a:prstGeom>
          <a:solidFill>
            <a:srgbClr val="6B4A52">
              <a:alpha val="45000"/>
            </a:srgbClr>
          </a:solidFill>
          <a:ln>
            <a:noFill/>
          </a:ln>
          <a:effectLst/>
        </p:spPr>
        <p:txBody>
          <a:bodyPr rtlCol="0" anchor="ctr"/>
          <a:lstStyle/>
          <a:p>
            <a:pPr algn="ctr"/>
          </a:p>
        </p:txBody>
      </p:sp>
      <p:sp>
        <p:nvSpPr>
          <p:cNvPr id="44" name="TextBox 43"/>
          <p:cNvSpPr txBox="1"/>
          <p:nvPr/>
        </p:nvSpPr>
        <p:spPr>
          <a:xfrm>
            <a:off x="965200" y="3758009"/>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Teams</a:t>
            </a:r>
          </a:p>
        </p:txBody>
      </p:sp>
      <p:sp>
        <p:nvSpPr>
          <p:cNvPr id="45" name="Rectangle 44"/>
          <p:cNvSpPr/>
          <p:nvPr/>
        </p:nvSpPr>
        <p:spPr>
          <a:xfrm>
            <a:off x="2375495" y="3650059"/>
            <a:ext cx="2532559" cy="633809"/>
          </a:xfrm>
          <a:prstGeom prst="rect">
            <a:avLst/>
          </a:prstGeom>
          <a:noFill/>
          <a:ln>
            <a:noFill/>
          </a:ln>
          <a:effectLst/>
        </p:spPr>
        <p:txBody>
          <a:bodyPr rtlCol="0" anchor="ctr"/>
          <a:lstStyle/>
          <a:p>
            <a:pPr algn="ctr"/>
          </a:p>
        </p:txBody>
      </p:sp>
      <p:sp>
        <p:nvSpPr>
          <p:cNvPr id="46" name="Rectangle 45"/>
          <p:cNvSpPr/>
          <p:nvPr/>
        </p:nvSpPr>
        <p:spPr>
          <a:xfrm>
            <a:off x="2375495" y="4271169"/>
            <a:ext cx="2532559" cy="12700"/>
          </a:xfrm>
          <a:prstGeom prst="rect">
            <a:avLst/>
          </a:prstGeom>
          <a:solidFill>
            <a:srgbClr val="6B4A52">
              <a:alpha val="13500"/>
            </a:srgbClr>
          </a:solidFill>
          <a:ln>
            <a:noFill/>
          </a:ln>
          <a:effectLst/>
        </p:spPr>
        <p:txBody>
          <a:bodyPr rtlCol="0" anchor="ctr"/>
          <a:lstStyle/>
          <a:p>
            <a:pPr algn="ctr"/>
          </a:p>
        </p:txBody>
      </p:sp>
      <p:sp>
        <p:nvSpPr>
          <p:cNvPr id="47" name="TextBox 46"/>
          <p:cNvSpPr txBox="1"/>
          <p:nvPr/>
        </p:nvSpPr>
        <p:spPr>
          <a:xfrm>
            <a:off x="2527895" y="3758009"/>
            <a:ext cx="2227759"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Assigned, 3–4</a:t>
            </a:r>
          </a:p>
        </p:txBody>
      </p:sp>
      <p:sp>
        <p:nvSpPr>
          <p:cNvPr id="48" name="Rectangle 47"/>
          <p:cNvSpPr/>
          <p:nvPr/>
        </p:nvSpPr>
        <p:spPr>
          <a:xfrm>
            <a:off x="4908054" y="3650059"/>
            <a:ext cx="3239195" cy="633809"/>
          </a:xfrm>
          <a:prstGeom prst="rect">
            <a:avLst/>
          </a:prstGeom>
          <a:noFill/>
          <a:ln>
            <a:noFill/>
          </a:ln>
          <a:effectLst/>
        </p:spPr>
        <p:txBody>
          <a:bodyPr rtlCol="0" anchor="ctr"/>
          <a:lstStyle/>
          <a:p>
            <a:pPr algn="ctr"/>
          </a:p>
        </p:txBody>
      </p:sp>
      <p:sp>
        <p:nvSpPr>
          <p:cNvPr id="49" name="Rectangle 48"/>
          <p:cNvSpPr/>
          <p:nvPr/>
        </p:nvSpPr>
        <p:spPr>
          <a:xfrm>
            <a:off x="4908054" y="4271169"/>
            <a:ext cx="3239195" cy="12700"/>
          </a:xfrm>
          <a:prstGeom prst="rect">
            <a:avLst/>
          </a:prstGeom>
          <a:solidFill>
            <a:srgbClr val="6B4A52">
              <a:alpha val="13500"/>
            </a:srgbClr>
          </a:solidFill>
          <a:ln>
            <a:noFill/>
          </a:ln>
          <a:effectLst/>
        </p:spPr>
        <p:txBody>
          <a:bodyPr rtlCol="0" anchor="ctr"/>
          <a:lstStyle/>
          <a:p>
            <a:pPr algn="ctr"/>
          </a:p>
        </p:txBody>
      </p:sp>
      <p:sp>
        <p:nvSpPr>
          <p:cNvPr id="50" name="TextBox 49"/>
          <p:cNvSpPr txBox="1"/>
          <p:nvPr/>
        </p:nvSpPr>
        <p:spPr>
          <a:xfrm>
            <a:off x="5060454" y="3758009"/>
            <a:ext cx="2934395"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Re-form, 3–4</a:t>
            </a:r>
          </a:p>
        </p:txBody>
      </p:sp>
      <p:sp>
        <p:nvSpPr>
          <p:cNvPr id="51" name="Rectangle 50"/>
          <p:cNvSpPr/>
          <p:nvPr/>
        </p:nvSpPr>
        <p:spPr>
          <a:xfrm>
            <a:off x="8147248" y="3650059"/>
            <a:ext cx="3231952" cy="633809"/>
          </a:xfrm>
          <a:prstGeom prst="rect">
            <a:avLst/>
          </a:prstGeom>
          <a:noFill/>
          <a:ln>
            <a:noFill/>
          </a:ln>
          <a:effectLst/>
        </p:spPr>
        <p:txBody>
          <a:bodyPr rtlCol="0" anchor="ctr"/>
          <a:lstStyle/>
          <a:p>
            <a:pPr algn="ctr"/>
          </a:p>
        </p:txBody>
      </p:sp>
      <p:sp>
        <p:nvSpPr>
          <p:cNvPr id="52" name="Rectangle 51"/>
          <p:cNvSpPr/>
          <p:nvPr/>
        </p:nvSpPr>
        <p:spPr>
          <a:xfrm>
            <a:off x="8147248" y="4271169"/>
            <a:ext cx="3231952" cy="12700"/>
          </a:xfrm>
          <a:prstGeom prst="rect">
            <a:avLst/>
          </a:prstGeom>
          <a:solidFill>
            <a:srgbClr val="6B4A52">
              <a:alpha val="13500"/>
            </a:srgbClr>
          </a:solidFill>
          <a:ln>
            <a:noFill/>
          </a:ln>
          <a:effectLst/>
        </p:spPr>
        <p:txBody>
          <a:bodyPr rtlCol="0" anchor="ctr"/>
          <a:lstStyle/>
          <a:p>
            <a:pPr algn="ctr"/>
          </a:p>
        </p:txBody>
      </p:sp>
      <p:sp>
        <p:nvSpPr>
          <p:cNvPr id="53" name="TextBox 52"/>
          <p:cNvSpPr txBox="1"/>
          <p:nvPr/>
        </p:nvSpPr>
        <p:spPr>
          <a:xfrm>
            <a:off x="8299648" y="3758009"/>
            <a:ext cx="2927152"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Re-form, 3–4</a:t>
            </a:r>
          </a:p>
        </p:txBody>
      </p:sp>
      <p:sp>
        <p:nvSpPr>
          <p:cNvPr id="54" name="Rectangle 53"/>
          <p:cNvSpPr/>
          <p:nvPr/>
        </p:nvSpPr>
        <p:spPr>
          <a:xfrm>
            <a:off x="812800" y="4283869"/>
            <a:ext cx="1562695" cy="633809"/>
          </a:xfrm>
          <a:prstGeom prst="rect">
            <a:avLst/>
          </a:prstGeom>
          <a:noFill/>
          <a:ln>
            <a:noFill/>
          </a:ln>
          <a:effectLst/>
        </p:spPr>
        <p:txBody>
          <a:bodyPr rtlCol="0" anchor="ctr"/>
          <a:lstStyle/>
          <a:p>
            <a:pPr algn="ctr"/>
          </a:p>
        </p:txBody>
      </p:sp>
      <p:sp>
        <p:nvSpPr>
          <p:cNvPr id="55" name="Rectangle 54"/>
          <p:cNvSpPr/>
          <p:nvPr/>
        </p:nvSpPr>
        <p:spPr>
          <a:xfrm>
            <a:off x="812800" y="4904978"/>
            <a:ext cx="1562695" cy="12700"/>
          </a:xfrm>
          <a:prstGeom prst="rect">
            <a:avLst/>
          </a:prstGeom>
          <a:solidFill>
            <a:srgbClr val="6B4A52">
              <a:alpha val="45000"/>
            </a:srgbClr>
          </a:solidFill>
          <a:ln>
            <a:noFill/>
          </a:ln>
          <a:effectLst/>
        </p:spPr>
        <p:txBody>
          <a:bodyPr rtlCol="0" anchor="ctr"/>
          <a:lstStyle/>
          <a:p>
            <a:pPr algn="ctr"/>
          </a:p>
        </p:txBody>
      </p:sp>
      <p:sp>
        <p:nvSpPr>
          <p:cNvPr id="56" name="TextBox 55"/>
          <p:cNvSpPr txBox="1"/>
          <p:nvPr/>
        </p:nvSpPr>
        <p:spPr>
          <a:xfrm>
            <a:off x="965200" y="4391819"/>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Deliverables</a:t>
            </a:r>
          </a:p>
        </p:txBody>
      </p:sp>
      <p:sp>
        <p:nvSpPr>
          <p:cNvPr id="57" name="Rectangle 56"/>
          <p:cNvSpPr/>
          <p:nvPr/>
        </p:nvSpPr>
        <p:spPr>
          <a:xfrm>
            <a:off x="2375495" y="4283869"/>
            <a:ext cx="2532559" cy="633809"/>
          </a:xfrm>
          <a:prstGeom prst="rect">
            <a:avLst/>
          </a:prstGeom>
          <a:noFill/>
          <a:ln>
            <a:noFill/>
          </a:ln>
          <a:effectLst/>
        </p:spPr>
        <p:txBody>
          <a:bodyPr rtlCol="0" anchor="ctr"/>
          <a:lstStyle/>
          <a:p>
            <a:pPr algn="ctr"/>
          </a:p>
        </p:txBody>
      </p:sp>
      <p:sp>
        <p:nvSpPr>
          <p:cNvPr id="58" name="Rectangle 57"/>
          <p:cNvSpPr/>
          <p:nvPr/>
        </p:nvSpPr>
        <p:spPr>
          <a:xfrm>
            <a:off x="2375495" y="4904978"/>
            <a:ext cx="2532559" cy="12700"/>
          </a:xfrm>
          <a:prstGeom prst="rect">
            <a:avLst/>
          </a:prstGeom>
          <a:solidFill>
            <a:srgbClr val="6B4A52">
              <a:alpha val="13500"/>
            </a:srgbClr>
          </a:solidFill>
          <a:ln>
            <a:noFill/>
          </a:ln>
          <a:effectLst/>
        </p:spPr>
        <p:txBody>
          <a:bodyPr rtlCol="0" anchor="ctr"/>
          <a:lstStyle/>
          <a:p>
            <a:pPr algn="ctr"/>
          </a:p>
        </p:txBody>
      </p:sp>
      <p:sp>
        <p:nvSpPr>
          <p:cNvPr id="59" name="TextBox 58"/>
          <p:cNvSpPr txBox="1"/>
          <p:nvPr/>
        </p:nvSpPr>
        <p:spPr>
          <a:xfrm>
            <a:off x="2527895" y="4391819"/>
            <a:ext cx="2227759"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Scope · Spec · Final</a:t>
            </a:r>
          </a:p>
        </p:txBody>
      </p:sp>
      <p:sp>
        <p:nvSpPr>
          <p:cNvPr id="60" name="Rectangle 59"/>
          <p:cNvSpPr/>
          <p:nvPr/>
        </p:nvSpPr>
        <p:spPr>
          <a:xfrm>
            <a:off x="4908054" y="4283869"/>
            <a:ext cx="3239195" cy="633809"/>
          </a:xfrm>
          <a:prstGeom prst="rect">
            <a:avLst/>
          </a:prstGeom>
          <a:noFill/>
          <a:ln>
            <a:noFill/>
          </a:ln>
          <a:effectLst/>
        </p:spPr>
        <p:txBody>
          <a:bodyPr rtlCol="0" anchor="ctr"/>
          <a:lstStyle/>
          <a:p>
            <a:pPr algn="ctr"/>
          </a:p>
        </p:txBody>
      </p:sp>
      <p:sp>
        <p:nvSpPr>
          <p:cNvPr id="61" name="Rectangle 60"/>
          <p:cNvSpPr/>
          <p:nvPr/>
        </p:nvSpPr>
        <p:spPr>
          <a:xfrm>
            <a:off x="4908054" y="4904978"/>
            <a:ext cx="3239195" cy="12700"/>
          </a:xfrm>
          <a:prstGeom prst="rect">
            <a:avLst/>
          </a:prstGeom>
          <a:solidFill>
            <a:srgbClr val="6B4A52">
              <a:alpha val="13500"/>
            </a:srgbClr>
          </a:solidFill>
          <a:ln>
            <a:noFill/>
          </a:ln>
          <a:effectLst/>
        </p:spPr>
        <p:txBody>
          <a:bodyPr rtlCol="0" anchor="ctr"/>
          <a:lstStyle/>
          <a:p>
            <a:pPr algn="ctr"/>
          </a:p>
        </p:txBody>
      </p:sp>
      <p:sp>
        <p:nvSpPr>
          <p:cNvPr id="62" name="TextBox 61"/>
          <p:cNvSpPr txBox="1"/>
          <p:nvPr/>
        </p:nvSpPr>
        <p:spPr>
          <a:xfrm>
            <a:off x="5060454" y="4391819"/>
            <a:ext cx="2934395"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 Prototype + Tests</a:t>
            </a:r>
          </a:p>
        </p:txBody>
      </p:sp>
      <p:sp>
        <p:nvSpPr>
          <p:cNvPr id="63" name="Rectangle 62"/>
          <p:cNvSpPr/>
          <p:nvPr/>
        </p:nvSpPr>
        <p:spPr>
          <a:xfrm>
            <a:off x="8147248" y="4283869"/>
            <a:ext cx="3231952" cy="633809"/>
          </a:xfrm>
          <a:prstGeom prst="rect">
            <a:avLst/>
          </a:prstGeom>
          <a:noFill/>
          <a:ln>
            <a:noFill/>
          </a:ln>
          <a:effectLst/>
        </p:spPr>
        <p:txBody>
          <a:bodyPr rtlCol="0" anchor="ctr"/>
          <a:lstStyle/>
          <a:p>
            <a:pPr algn="ctr"/>
          </a:p>
        </p:txBody>
      </p:sp>
      <p:sp>
        <p:nvSpPr>
          <p:cNvPr id="64" name="Rectangle 63"/>
          <p:cNvSpPr/>
          <p:nvPr/>
        </p:nvSpPr>
        <p:spPr>
          <a:xfrm>
            <a:off x="8147248" y="4904978"/>
            <a:ext cx="3231952" cy="12700"/>
          </a:xfrm>
          <a:prstGeom prst="rect">
            <a:avLst/>
          </a:prstGeom>
          <a:solidFill>
            <a:srgbClr val="6B4A52">
              <a:alpha val="13500"/>
            </a:srgbClr>
          </a:solidFill>
          <a:ln>
            <a:noFill/>
          </a:ln>
          <a:effectLst/>
        </p:spPr>
        <p:txBody>
          <a:bodyPr rtlCol="0" anchor="ctr"/>
          <a:lstStyle/>
          <a:p>
            <a:pPr algn="ctr"/>
          </a:p>
        </p:txBody>
      </p:sp>
      <p:sp>
        <p:nvSpPr>
          <p:cNvPr id="65" name="TextBox 64"/>
          <p:cNvSpPr txBox="1"/>
          <p:nvPr/>
        </p:nvSpPr>
        <p:spPr>
          <a:xfrm>
            <a:off x="8299648" y="4391819"/>
            <a:ext cx="2927152"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 Second prototype</a:t>
            </a:r>
          </a:p>
        </p:txBody>
      </p:sp>
      <p:sp>
        <p:nvSpPr>
          <p:cNvPr id="66" name="Rectangle 65"/>
          <p:cNvSpPr/>
          <p:nvPr/>
        </p:nvSpPr>
        <p:spPr>
          <a:xfrm>
            <a:off x="812800" y="4917678"/>
            <a:ext cx="1562695" cy="1324372"/>
          </a:xfrm>
          <a:prstGeom prst="rect">
            <a:avLst/>
          </a:prstGeom>
          <a:noFill/>
          <a:ln>
            <a:noFill/>
          </a:ln>
          <a:effectLst/>
        </p:spPr>
        <p:txBody>
          <a:bodyPr rtlCol="0" anchor="ctr"/>
          <a:lstStyle/>
          <a:p>
            <a:pPr algn="ctr"/>
          </a:p>
        </p:txBody>
      </p:sp>
      <p:sp>
        <p:nvSpPr>
          <p:cNvPr id="67" name="Rectangle 66"/>
          <p:cNvSpPr/>
          <p:nvPr/>
        </p:nvSpPr>
        <p:spPr>
          <a:xfrm>
            <a:off x="812800" y="6229350"/>
            <a:ext cx="1562695" cy="12700"/>
          </a:xfrm>
          <a:prstGeom prst="rect">
            <a:avLst/>
          </a:prstGeom>
          <a:solidFill>
            <a:srgbClr val="6B4A52">
              <a:alpha val="45000"/>
            </a:srgbClr>
          </a:solidFill>
          <a:ln>
            <a:noFill/>
          </a:ln>
          <a:effectLst/>
        </p:spPr>
        <p:txBody>
          <a:bodyPr rtlCol="0" anchor="ctr"/>
          <a:lstStyle/>
          <a:p>
            <a:pPr algn="ctr"/>
          </a:p>
        </p:txBody>
      </p:sp>
      <p:sp>
        <p:nvSpPr>
          <p:cNvPr id="68" name="TextBox 67"/>
          <p:cNvSpPr txBox="1"/>
          <p:nvPr/>
        </p:nvSpPr>
        <p:spPr>
          <a:xfrm>
            <a:off x="965200" y="5025628"/>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Lesson</a:t>
            </a:r>
          </a:p>
        </p:txBody>
      </p:sp>
      <p:sp>
        <p:nvSpPr>
          <p:cNvPr id="69" name="Rectangle 68"/>
          <p:cNvSpPr/>
          <p:nvPr/>
        </p:nvSpPr>
        <p:spPr>
          <a:xfrm>
            <a:off x="2375495" y="4917678"/>
            <a:ext cx="2532559" cy="1324372"/>
          </a:xfrm>
          <a:prstGeom prst="rect">
            <a:avLst/>
          </a:prstGeom>
          <a:noFill/>
          <a:ln>
            <a:noFill/>
          </a:ln>
          <a:effectLst/>
        </p:spPr>
        <p:txBody>
          <a:bodyPr rtlCol="0" anchor="ctr"/>
          <a:lstStyle/>
          <a:p>
            <a:pPr algn="ctr"/>
          </a:p>
        </p:txBody>
      </p:sp>
      <p:sp>
        <p:nvSpPr>
          <p:cNvPr id="70" name="Rectangle 69"/>
          <p:cNvSpPr/>
          <p:nvPr/>
        </p:nvSpPr>
        <p:spPr>
          <a:xfrm>
            <a:off x="2375495" y="6229350"/>
            <a:ext cx="2532559" cy="12700"/>
          </a:xfrm>
          <a:prstGeom prst="rect">
            <a:avLst/>
          </a:prstGeom>
          <a:solidFill>
            <a:srgbClr val="6B4A52">
              <a:alpha val="13500"/>
            </a:srgbClr>
          </a:solidFill>
          <a:ln>
            <a:noFill/>
          </a:ln>
          <a:effectLst/>
        </p:spPr>
        <p:txBody>
          <a:bodyPr rtlCol="0" anchor="ctr"/>
          <a:lstStyle/>
          <a:p>
            <a:pPr algn="ctr"/>
          </a:p>
        </p:txBody>
      </p:sp>
      <p:sp>
        <p:nvSpPr>
          <p:cNvPr id="71" name="TextBox 70"/>
          <p:cNvSpPr txBox="1"/>
          <p:nvPr/>
        </p:nvSpPr>
        <p:spPr>
          <a:xfrm>
            <a:off x="2527895" y="5051028"/>
            <a:ext cx="2253159" cy="732730"/>
          </a:xfrm>
          <a:prstGeom prst="rect">
            <a:avLst/>
          </a:prstGeom>
          <a:noFill/>
        </p:spPr>
        <p:txBody>
          <a:bodyPr wrap="square" lIns="0" rIns="0" tIns="0" bIns="0" anchor="ctr">
            <a:noAutofit/>
          </a:bodyPr>
          <a:lstStyle/>
          <a:p>
            <a:pPr algn="l">
              <a:lnSpc>
                <a:spcPts val="3120"/>
              </a:lnSpc>
            </a:pPr>
            <a:r>
              <a:rPr sz="2400" b="0" i="0">
                <a:solidFill>
                  <a:srgbClr val="861F41">
                    <a:alpha val="30000"/>
                  </a:srgbClr>
                </a:solidFill>
                <a:latin typeface="Georgia"/>
              </a:rPr>
              <a:t>Define before you build</a:t>
            </a:r>
          </a:p>
        </p:txBody>
      </p:sp>
      <p:sp>
        <p:nvSpPr>
          <p:cNvPr id="72" name="Rectangle 71"/>
          <p:cNvSpPr/>
          <p:nvPr/>
        </p:nvSpPr>
        <p:spPr>
          <a:xfrm>
            <a:off x="4908054" y="4917678"/>
            <a:ext cx="3239195" cy="1324372"/>
          </a:xfrm>
          <a:prstGeom prst="rect">
            <a:avLst/>
          </a:prstGeom>
          <a:noFill/>
          <a:ln>
            <a:noFill/>
          </a:ln>
          <a:effectLst/>
        </p:spPr>
        <p:txBody>
          <a:bodyPr rtlCol="0" anchor="ctr"/>
          <a:lstStyle/>
          <a:p>
            <a:pPr algn="ctr"/>
          </a:p>
        </p:txBody>
      </p:sp>
      <p:sp>
        <p:nvSpPr>
          <p:cNvPr id="73" name="Rectangle 72"/>
          <p:cNvSpPr/>
          <p:nvPr/>
        </p:nvSpPr>
        <p:spPr>
          <a:xfrm>
            <a:off x="4908054" y="6229350"/>
            <a:ext cx="3239195" cy="12700"/>
          </a:xfrm>
          <a:prstGeom prst="rect">
            <a:avLst/>
          </a:prstGeom>
          <a:solidFill>
            <a:srgbClr val="6B4A52">
              <a:alpha val="13500"/>
            </a:srgbClr>
          </a:solidFill>
          <a:ln>
            <a:noFill/>
          </a:ln>
          <a:effectLst/>
        </p:spPr>
        <p:txBody>
          <a:bodyPr rtlCol="0" anchor="ctr"/>
          <a:lstStyle/>
          <a:p>
            <a:pPr algn="ctr"/>
          </a:p>
        </p:txBody>
      </p:sp>
      <p:sp>
        <p:nvSpPr>
          <p:cNvPr id="74" name="TextBox 73"/>
          <p:cNvSpPr txBox="1"/>
          <p:nvPr/>
        </p:nvSpPr>
        <p:spPr>
          <a:xfrm>
            <a:off x="5060454" y="5051028"/>
            <a:ext cx="2959795" cy="732730"/>
          </a:xfrm>
          <a:prstGeom prst="rect">
            <a:avLst/>
          </a:prstGeom>
          <a:noFill/>
        </p:spPr>
        <p:txBody>
          <a:bodyPr wrap="square" lIns="0" rIns="0" tIns="0" bIns="0" anchor="ctr">
            <a:noAutofit/>
          </a:bodyPr>
          <a:lstStyle/>
          <a:p>
            <a:pPr algn="l">
              <a:lnSpc>
                <a:spcPts val="3120"/>
              </a:lnSpc>
            </a:pPr>
            <a:r>
              <a:rPr sz="2400" b="0" i="0">
                <a:solidFill>
                  <a:srgbClr val="861F41">
                    <a:alpha val="30000"/>
                  </a:srgbClr>
                </a:solidFill>
                <a:latin typeface="Georgia"/>
              </a:rPr>
              <a:t>Clear contracts make reuse cheap</a:t>
            </a:r>
          </a:p>
        </p:txBody>
      </p:sp>
      <p:sp>
        <p:nvSpPr>
          <p:cNvPr id="75" name="Rectangle 74"/>
          <p:cNvSpPr/>
          <p:nvPr/>
        </p:nvSpPr>
        <p:spPr>
          <a:xfrm>
            <a:off x="8147248" y="4917678"/>
            <a:ext cx="3231952" cy="1324372"/>
          </a:xfrm>
          <a:prstGeom prst="rect">
            <a:avLst/>
          </a:prstGeom>
          <a:noFill/>
          <a:ln>
            <a:noFill/>
          </a:ln>
          <a:effectLst/>
        </p:spPr>
        <p:txBody>
          <a:bodyPr rtlCol="0" anchor="ctr"/>
          <a:lstStyle/>
          <a:p>
            <a:pPr algn="ctr"/>
          </a:p>
        </p:txBody>
      </p:sp>
      <p:sp>
        <p:nvSpPr>
          <p:cNvPr id="76" name="Rectangle 75"/>
          <p:cNvSpPr/>
          <p:nvPr/>
        </p:nvSpPr>
        <p:spPr>
          <a:xfrm>
            <a:off x="8147248" y="6229350"/>
            <a:ext cx="3231952" cy="12700"/>
          </a:xfrm>
          <a:prstGeom prst="rect">
            <a:avLst/>
          </a:prstGeom>
          <a:solidFill>
            <a:srgbClr val="6B4A52">
              <a:alpha val="13500"/>
            </a:srgbClr>
          </a:solidFill>
          <a:ln>
            <a:noFill/>
          </a:ln>
          <a:effectLst/>
        </p:spPr>
        <p:txBody>
          <a:bodyPr rtlCol="0" anchor="ctr"/>
          <a:lstStyle/>
          <a:p>
            <a:pPr algn="ctr"/>
          </a:p>
        </p:txBody>
      </p:sp>
      <p:sp>
        <p:nvSpPr>
          <p:cNvPr id="77" name="TextBox 76"/>
          <p:cNvSpPr txBox="1"/>
          <p:nvPr/>
        </p:nvSpPr>
        <p:spPr>
          <a:xfrm>
            <a:off x="8299648" y="5051028"/>
            <a:ext cx="2952552" cy="732730"/>
          </a:xfrm>
          <a:prstGeom prst="rect">
            <a:avLst/>
          </a:prstGeom>
          <a:noFill/>
        </p:spPr>
        <p:txBody>
          <a:bodyPr wrap="square" lIns="0" rIns="0" tIns="0" bIns="0" anchor="ctr">
            <a:noAutofit/>
          </a:bodyPr>
          <a:lstStyle/>
          <a:p>
            <a:pPr algn="l">
              <a:lnSpc>
                <a:spcPts val="3120"/>
              </a:lnSpc>
            </a:pPr>
            <a:r>
              <a:rPr sz="2400" b="0" i="0">
                <a:solidFill>
                  <a:srgbClr val="861F41">
                    <a:alpha val="30000"/>
                  </a:srgbClr>
                </a:solidFill>
                <a:latin typeface="Georgia"/>
              </a:rPr>
              <a:t>Good boundaries absorb change</a:t>
            </a:r>
          </a:p>
        </p:txBody>
      </p:sp>
      <p:sp>
        <p:nvSpPr>
          <p:cNvPr id="78" name="Rounded Rectangle 77"/>
          <p:cNvSpPr/>
          <p:nvPr/>
        </p:nvSpPr>
        <p:spPr>
          <a:xfrm>
            <a:off x="10900271" y="6286500"/>
            <a:ext cx="986929" cy="368300"/>
          </a:xfrm>
          <a:prstGeom prst="roundRect">
            <a:avLst>
              <a:gd name="adj" fmla="val 50000"/>
            </a:avLst>
          </a:prstGeom>
          <a:solidFill>
            <a:srgbClr val="E9E3E4"/>
          </a:solidFill>
          <a:ln>
            <a:noFill/>
          </a:ln>
          <a:effectLst/>
        </p:spPr>
        <p:txBody>
          <a:bodyPr rtlCol="0" anchor="ctr"/>
          <a:lstStyle/>
          <a:p>
            <a:pPr algn="ctr"/>
          </a:p>
        </p:txBody>
      </p:sp>
      <p:sp>
        <p:nvSpPr>
          <p:cNvPr id="79" name="TextBox 78"/>
          <p:cNvSpPr txBox="1"/>
          <p:nvPr/>
        </p:nvSpPr>
        <p:spPr>
          <a:xfrm>
            <a:off x="11052671" y="6337300"/>
            <a:ext cx="682129"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11 / 28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The Project Structure</a:t>
            </a:r>
          </a:p>
        </p:txBody>
      </p:sp>
      <p:sp>
        <p:nvSpPr>
          <p:cNvPr id="4" name="Rectangle 3"/>
          <p:cNvSpPr/>
          <p:nvPr/>
        </p:nvSpPr>
        <p:spPr>
          <a:xfrm>
            <a:off x="812800" y="1498600"/>
            <a:ext cx="1562695" cy="883841"/>
          </a:xfrm>
          <a:prstGeom prst="rect">
            <a:avLst/>
          </a:prstGeom>
          <a:noFill/>
          <a:ln>
            <a:noFill/>
          </a:ln>
          <a:effectLst/>
        </p:spPr>
        <p:txBody>
          <a:bodyPr rtlCol="0" anchor="ctr"/>
          <a:lstStyle/>
          <a:p>
            <a:pPr algn="ctr"/>
          </a:p>
        </p:txBody>
      </p:sp>
      <p:sp>
        <p:nvSpPr>
          <p:cNvPr id="5" name="Rectangle 4"/>
          <p:cNvSpPr/>
          <p:nvPr/>
        </p:nvSpPr>
        <p:spPr>
          <a:xfrm>
            <a:off x="812800" y="2369741"/>
            <a:ext cx="1562695" cy="12700"/>
          </a:xfrm>
          <a:prstGeom prst="rect">
            <a:avLst/>
          </a:prstGeom>
          <a:solidFill>
            <a:srgbClr val="6B4A52">
              <a:alpha val="45000"/>
            </a:srgbClr>
          </a:solidFill>
          <a:ln>
            <a:noFill/>
          </a:ln>
          <a:effectLst/>
        </p:spPr>
        <p:txBody>
          <a:bodyPr rtlCol="0" anchor="ctr"/>
          <a:lstStyle/>
          <a:p>
            <a:pPr algn="ctr"/>
          </a:p>
        </p:txBody>
      </p:sp>
      <p:sp>
        <p:nvSpPr>
          <p:cNvPr id="6" name="Rectangle 5"/>
          <p:cNvSpPr/>
          <p:nvPr/>
        </p:nvSpPr>
        <p:spPr>
          <a:xfrm>
            <a:off x="2375495" y="1498600"/>
            <a:ext cx="2532559" cy="883841"/>
          </a:xfrm>
          <a:prstGeom prst="rect">
            <a:avLst/>
          </a:prstGeom>
          <a:noFill/>
          <a:ln>
            <a:noFill/>
          </a:ln>
          <a:effectLst/>
        </p:spPr>
        <p:txBody>
          <a:bodyPr rtlCol="0" anchor="ctr"/>
          <a:lstStyle/>
          <a:p>
            <a:pPr algn="ctr"/>
          </a:p>
        </p:txBody>
      </p:sp>
      <p:sp>
        <p:nvSpPr>
          <p:cNvPr id="7" name="Rectangle 6"/>
          <p:cNvSpPr/>
          <p:nvPr/>
        </p:nvSpPr>
        <p:spPr>
          <a:xfrm>
            <a:off x="2375495" y="1498600"/>
            <a:ext cx="2532559" cy="50800"/>
          </a:xfrm>
          <a:prstGeom prst="rect">
            <a:avLst/>
          </a:prstGeom>
          <a:solidFill>
            <a:srgbClr val="B35510"/>
          </a:solidFill>
          <a:ln>
            <a:noFill/>
          </a:ln>
          <a:effectLst/>
        </p:spPr>
        <p:txBody>
          <a:bodyPr rtlCol="0" anchor="ctr"/>
          <a:lstStyle/>
          <a:p>
            <a:pPr algn="ctr"/>
          </a:p>
        </p:txBody>
      </p:sp>
      <p:sp>
        <p:nvSpPr>
          <p:cNvPr id="8" name="Rectangle 7"/>
          <p:cNvSpPr/>
          <p:nvPr/>
        </p:nvSpPr>
        <p:spPr>
          <a:xfrm>
            <a:off x="2375495" y="2369741"/>
            <a:ext cx="2532559" cy="12700"/>
          </a:xfrm>
          <a:prstGeom prst="rect">
            <a:avLst/>
          </a:prstGeom>
          <a:solidFill>
            <a:srgbClr val="6B4A52">
              <a:alpha val="45000"/>
            </a:srgbClr>
          </a:solidFill>
          <a:ln>
            <a:noFill/>
          </a:ln>
          <a:effectLst/>
        </p:spPr>
        <p:txBody>
          <a:bodyPr rtlCol="0" anchor="ctr"/>
          <a:lstStyle/>
          <a:p>
            <a:pPr algn="ctr"/>
          </a:p>
        </p:txBody>
      </p:sp>
      <p:sp>
        <p:nvSpPr>
          <p:cNvPr id="9" name="TextBox 8"/>
          <p:cNvSpPr txBox="1"/>
          <p:nvPr/>
        </p:nvSpPr>
        <p:spPr>
          <a:xfrm>
            <a:off x="2527895" y="1676400"/>
            <a:ext cx="2227759"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Roboto Mono"/>
              </a:rPr>
              <a:t>P1</a:t>
            </a:r>
          </a:p>
        </p:txBody>
      </p:sp>
      <p:sp>
        <p:nvSpPr>
          <p:cNvPr id="10" name="Rectangle 9"/>
          <p:cNvSpPr/>
          <p:nvPr/>
        </p:nvSpPr>
        <p:spPr>
          <a:xfrm>
            <a:off x="4908054" y="1498600"/>
            <a:ext cx="3239195" cy="883841"/>
          </a:xfrm>
          <a:prstGeom prst="rect">
            <a:avLst/>
          </a:prstGeom>
          <a:noFill/>
          <a:ln>
            <a:noFill/>
          </a:ln>
          <a:effectLst/>
        </p:spPr>
        <p:txBody>
          <a:bodyPr rtlCol="0" anchor="ctr"/>
          <a:lstStyle/>
          <a:p>
            <a:pPr algn="ctr"/>
          </a:p>
        </p:txBody>
      </p:sp>
      <p:sp>
        <p:nvSpPr>
          <p:cNvPr id="11" name="Rectangle 10"/>
          <p:cNvSpPr/>
          <p:nvPr/>
        </p:nvSpPr>
        <p:spPr>
          <a:xfrm>
            <a:off x="4908054" y="1498600"/>
            <a:ext cx="3239195" cy="50800"/>
          </a:xfrm>
          <a:prstGeom prst="rect">
            <a:avLst/>
          </a:prstGeom>
          <a:solidFill>
            <a:srgbClr val="9D3A29">
              <a:alpha val="30000"/>
            </a:srgbClr>
          </a:solidFill>
          <a:ln>
            <a:noFill/>
          </a:ln>
          <a:effectLst/>
        </p:spPr>
        <p:txBody>
          <a:bodyPr rtlCol="0" anchor="ctr"/>
          <a:lstStyle/>
          <a:p>
            <a:pPr algn="ctr"/>
          </a:p>
        </p:txBody>
      </p:sp>
      <p:sp>
        <p:nvSpPr>
          <p:cNvPr id="12" name="Rectangle 11"/>
          <p:cNvSpPr/>
          <p:nvPr/>
        </p:nvSpPr>
        <p:spPr>
          <a:xfrm>
            <a:off x="4908054" y="2369741"/>
            <a:ext cx="3239195" cy="12700"/>
          </a:xfrm>
          <a:prstGeom prst="rect">
            <a:avLst/>
          </a:prstGeom>
          <a:solidFill>
            <a:srgbClr val="6B4A52">
              <a:alpha val="13500"/>
            </a:srgbClr>
          </a:solidFill>
          <a:ln>
            <a:noFill/>
          </a:ln>
          <a:effectLst/>
        </p:spPr>
        <p:txBody>
          <a:bodyPr rtlCol="0" anchor="ctr"/>
          <a:lstStyle/>
          <a:p>
            <a:pPr algn="ctr"/>
          </a:p>
        </p:txBody>
      </p:sp>
      <p:sp>
        <p:nvSpPr>
          <p:cNvPr id="13" name="TextBox 12"/>
          <p:cNvSpPr txBox="1"/>
          <p:nvPr/>
        </p:nvSpPr>
        <p:spPr>
          <a:xfrm>
            <a:off x="5060454" y="1676400"/>
            <a:ext cx="2934395" cy="274320"/>
          </a:xfrm>
          <a:prstGeom prst="rect">
            <a:avLst/>
          </a:prstGeom>
          <a:noFill/>
        </p:spPr>
        <p:txBody>
          <a:bodyPr wrap="none" lIns="0" rIns="0" tIns="0" bIns="0" anchor="ctr">
            <a:noAutofit/>
          </a:bodyPr>
          <a:lstStyle/>
          <a:p>
            <a:pPr algn="l">
              <a:lnSpc>
                <a:spcPts val="2610"/>
              </a:lnSpc>
            </a:pPr>
            <a:r>
              <a:rPr sz="1800" b="0" i="0">
                <a:solidFill>
                  <a:srgbClr val="9D3A29">
                    <a:alpha val="30000"/>
                  </a:srgbClr>
                </a:solidFill>
                <a:latin typeface="Roboto Mono"/>
              </a:rPr>
              <a:t>P2</a:t>
            </a:r>
          </a:p>
        </p:txBody>
      </p:sp>
      <p:sp>
        <p:nvSpPr>
          <p:cNvPr id="14" name="Rectangle 13"/>
          <p:cNvSpPr/>
          <p:nvPr/>
        </p:nvSpPr>
        <p:spPr>
          <a:xfrm>
            <a:off x="8147248" y="1498600"/>
            <a:ext cx="3231952" cy="883841"/>
          </a:xfrm>
          <a:prstGeom prst="rect">
            <a:avLst/>
          </a:prstGeom>
          <a:noFill/>
          <a:ln>
            <a:noFill/>
          </a:ln>
          <a:effectLst/>
        </p:spPr>
        <p:txBody>
          <a:bodyPr rtlCol="0" anchor="ctr"/>
          <a:lstStyle/>
          <a:p>
            <a:pPr algn="ctr"/>
          </a:p>
        </p:txBody>
      </p:sp>
      <p:sp>
        <p:nvSpPr>
          <p:cNvPr id="15" name="Rectangle 14"/>
          <p:cNvSpPr/>
          <p:nvPr/>
        </p:nvSpPr>
        <p:spPr>
          <a:xfrm>
            <a:off x="8147248" y="1498600"/>
            <a:ext cx="3231952" cy="50800"/>
          </a:xfrm>
          <a:prstGeom prst="rect">
            <a:avLst/>
          </a:prstGeom>
          <a:solidFill>
            <a:srgbClr val="1C6091">
              <a:alpha val="30000"/>
            </a:srgbClr>
          </a:solidFill>
          <a:ln>
            <a:noFill/>
          </a:ln>
          <a:effectLst/>
        </p:spPr>
        <p:txBody>
          <a:bodyPr rtlCol="0" anchor="ctr"/>
          <a:lstStyle/>
          <a:p>
            <a:pPr algn="ctr"/>
          </a:p>
        </p:txBody>
      </p:sp>
      <p:sp>
        <p:nvSpPr>
          <p:cNvPr id="16" name="Rectangle 15"/>
          <p:cNvSpPr/>
          <p:nvPr/>
        </p:nvSpPr>
        <p:spPr>
          <a:xfrm>
            <a:off x="8147248" y="2369741"/>
            <a:ext cx="3231952" cy="12700"/>
          </a:xfrm>
          <a:prstGeom prst="rect">
            <a:avLst/>
          </a:prstGeom>
          <a:solidFill>
            <a:srgbClr val="6B4A52">
              <a:alpha val="13500"/>
            </a:srgbClr>
          </a:solidFill>
          <a:ln>
            <a:noFill/>
          </a:ln>
          <a:effectLst/>
        </p:spPr>
        <p:txBody>
          <a:bodyPr rtlCol="0" anchor="ctr"/>
          <a:lstStyle/>
          <a:p>
            <a:pPr algn="ctr"/>
          </a:p>
        </p:txBody>
      </p:sp>
      <p:sp>
        <p:nvSpPr>
          <p:cNvPr id="17" name="TextBox 16"/>
          <p:cNvSpPr txBox="1"/>
          <p:nvPr/>
        </p:nvSpPr>
        <p:spPr>
          <a:xfrm>
            <a:off x="8299648" y="1676400"/>
            <a:ext cx="2927152" cy="274320"/>
          </a:xfrm>
          <a:prstGeom prst="rect">
            <a:avLst/>
          </a:prstGeom>
          <a:noFill/>
        </p:spPr>
        <p:txBody>
          <a:bodyPr wrap="none" lIns="0" rIns="0" tIns="0" bIns="0" anchor="ctr">
            <a:noAutofit/>
          </a:bodyPr>
          <a:lstStyle/>
          <a:p>
            <a:pPr algn="l">
              <a:lnSpc>
                <a:spcPts val="2610"/>
              </a:lnSpc>
            </a:pPr>
            <a:r>
              <a:rPr sz="1800" b="0" i="0">
                <a:solidFill>
                  <a:srgbClr val="1C6091">
                    <a:alpha val="30000"/>
                  </a:srgbClr>
                </a:solidFill>
                <a:latin typeface="Roboto Mono"/>
              </a:rPr>
              <a:t>P3</a:t>
            </a:r>
          </a:p>
        </p:txBody>
      </p:sp>
      <p:sp>
        <p:nvSpPr>
          <p:cNvPr id="18" name="Rectangle 17"/>
          <p:cNvSpPr/>
          <p:nvPr/>
        </p:nvSpPr>
        <p:spPr>
          <a:xfrm>
            <a:off x="812800" y="2382441"/>
            <a:ext cx="1562695" cy="633809"/>
          </a:xfrm>
          <a:prstGeom prst="rect">
            <a:avLst/>
          </a:prstGeom>
          <a:noFill/>
          <a:ln>
            <a:noFill/>
          </a:ln>
          <a:effectLst/>
        </p:spPr>
        <p:txBody>
          <a:bodyPr rtlCol="0" anchor="ctr"/>
          <a:lstStyle/>
          <a:p>
            <a:pPr algn="ctr"/>
          </a:p>
        </p:txBody>
      </p:sp>
      <p:sp>
        <p:nvSpPr>
          <p:cNvPr id="19" name="Rectangle 18"/>
          <p:cNvSpPr/>
          <p:nvPr/>
        </p:nvSpPr>
        <p:spPr>
          <a:xfrm>
            <a:off x="812800" y="3003550"/>
            <a:ext cx="1562695" cy="12700"/>
          </a:xfrm>
          <a:prstGeom prst="rect">
            <a:avLst/>
          </a:prstGeom>
          <a:solidFill>
            <a:srgbClr val="6B4A52">
              <a:alpha val="45000"/>
            </a:srgbClr>
          </a:solidFill>
          <a:ln>
            <a:noFill/>
          </a:ln>
          <a:effectLst/>
        </p:spPr>
        <p:txBody>
          <a:bodyPr rtlCol="0" anchor="ctr"/>
          <a:lstStyle/>
          <a:p>
            <a:pPr algn="ctr"/>
          </a:p>
        </p:txBody>
      </p:sp>
      <p:sp>
        <p:nvSpPr>
          <p:cNvPr id="20" name="TextBox 19"/>
          <p:cNvSpPr txBox="1"/>
          <p:nvPr/>
        </p:nvSpPr>
        <p:spPr>
          <a:xfrm>
            <a:off x="965200" y="2490391"/>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Core</a:t>
            </a:r>
          </a:p>
        </p:txBody>
      </p:sp>
      <p:sp>
        <p:nvSpPr>
          <p:cNvPr id="21" name="Rectangle 20"/>
          <p:cNvSpPr/>
          <p:nvPr/>
        </p:nvSpPr>
        <p:spPr>
          <a:xfrm>
            <a:off x="2375495" y="2382441"/>
            <a:ext cx="2532559" cy="633809"/>
          </a:xfrm>
          <a:prstGeom prst="rect">
            <a:avLst/>
          </a:prstGeom>
          <a:noFill/>
          <a:ln>
            <a:noFill/>
          </a:ln>
          <a:effectLst/>
        </p:spPr>
        <p:txBody>
          <a:bodyPr rtlCol="0" anchor="ctr"/>
          <a:lstStyle/>
          <a:p>
            <a:pPr algn="ctr"/>
          </a:p>
        </p:txBody>
      </p:sp>
      <p:sp>
        <p:nvSpPr>
          <p:cNvPr id="22" name="Rectangle 21"/>
          <p:cNvSpPr/>
          <p:nvPr/>
        </p:nvSpPr>
        <p:spPr>
          <a:xfrm>
            <a:off x="2375495" y="3003550"/>
            <a:ext cx="2532559" cy="12700"/>
          </a:xfrm>
          <a:prstGeom prst="rect">
            <a:avLst/>
          </a:prstGeom>
          <a:solidFill>
            <a:srgbClr val="6B4A52">
              <a:alpha val="45000"/>
            </a:srgbClr>
          </a:solidFill>
          <a:ln>
            <a:noFill/>
          </a:ln>
          <a:effectLst/>
        </p:spPr>
        <p:txBody>
          <a:bodyPr rtlCol="0" anchor="ctr"/>
          <a:lstStyle/>
          <a:p>
            <a:pPr algn="ctr"/>
          </a:p>
        </p:txBody>
      </p:sp>
      <p:sp>
        <p:nvSpPr>
          <p:cNvPr id="23" name="TextBox 22"/>
          <p:cNvSpPr txBox="1"/>
          <p:nvPr/>
        </p:nvSpPr>
        <p:spPr>
          <a:xfrm>
            <a:off x="2527895" y="2490391"/>
            <a:ext cx="2227759"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Java + Exceptions</a:t>
            </a:r>
          </a:p>
        </p:txBody>
      </p:sp>
      <p:sp>
        <p:nvSpPr>
          <p:cNvPr id="24" name="Rectangle 23"/>
          <p:cNvSpPr/>
          <p:nvPr/>
        </p:nvSpPr>
        <p:spPr>
          <a:xfrm>
            <a:off x="4908054" y="2382441"/>
            <a:ext cx="3239195" cy="633809"/>
          </a:xfrm>
          <a:prstGeom prst="rect">
            <a:avLst/>
          </a:prstGeom>
          <a:noFill/>
          <a:ln>
            <a:noFill/>
          </a:ln>
          <a:effectLst/>
        </p:spPr>
        <p:txBody>
          <a:bodyPr rtlCol="0" anchor="ctr"/>
          <a:lstStyle/>
          <a:p>
            <a:pPr algn="ctr"/>
          </a:p>
        </p:txBody>
      </p:sp>
      <p:sp>
        <p:nvSpPr>
          <p:cNvPr id="25" name="Rectangle 24"/>
          <p:cNvSpPr/>
          <p:nvPr/>
        </p:nvSpPr>
        <p:spPr>
          <a:xfrm>
            <a:off x="4908054" y="3003550"/>
            <a:ext cx="3239195" cy="12700"/>
          </a:xfrm>
          <a:prstGeom prst="rect">
            <a:avLst/>
          </a:prstGeom>
          <a:solidFill>
            <a:srgbClr val="6B4A52">
              <a:alpha val="13500"/>
            </a:srgbClr>
          </a:solidFill>
          <a:ln>
            <a:noFill/>
          </a:ln>
          <a:effectLst/>
        </p:spPr>
        <p:txBody>
          <a:bodyPr rtlCol="0" anchor="ctr"/>
          <a:lstStyle/>
          <a:p>
            <a:pPr algn="ctr"/>
          </a:p>
        </p:txBody>
      </p:sp>
      <p:sp>
        <p:nvSpPr>
          <p:cNvPr id="26" name="TextBox 25"/>
          <p:cNvSpPr txBox="1"/>
          <p:nvPr/>
        </p:nvSpPr>
        <p:spPr>
          <a:xfrm>
            <a:off x="5060454" y="2490391"/>
            <a:ext cx="2934395"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Generic Bag&lt;T&gt;</a:t>
            </a:r>
          </a:p>
        </p:txBody>
      </p:sp>
      <p:sp>
        <p:nvSpPr>
          <p:cNvPr id="27" name="Rectangle 26"/>
          <p:cNvSpPr/>
          <p:nvPr/>
        </p:nvSpPr>
        <p:spPr>
          <a:xfrm>
            <a:off x="8147248" y="2382441"/>
            <a:ext cx="3231952" cy="633809"/>
          </a:xfrm>
          <a:prstGeom prst="rect">
            <a:avLst/>
          </a:prstGeom>
          <a:noFill/>
          <a:ln>
            <a:noFill/>
          </a:ln>
          <a:effectLst/>
        </p:spPr>
        <p:txBody>
          <a:bodyPr rtlCol="0" anchor="ctr"/>
          <a:lstStyle/>
          <a:p>
            <a:pPr algn="ctr"/>
          </a:p>
        </p:txBody>
      </p:sp>
      <p:sp>
        <p:nvSpPr>
          <p:cNvPr id="28" name="Rectangle 27"/>
          <p:cNvSpPr/>
          <p:nvPr/>
        </p:nvSpPr>
        <p:spPr>
          <a:xfrm>
            <a:off x="8147248" y="3003550"/>
            <a:ext cx="3231952" cy="12700"/>
          </a:xfrm>
          <a:prstGeom prst="rect">
            <a:avLst/>
          </a:prstGeom>
          <a:solidFill>
            <a:srgbClr val="6B4A52">
              <a:alpha val="13500"/>
            </a:srgbClr>
          </a:solidFill>
          <a:ln>
            <a:noFill/>
          </a:ln>
          <a:effectLst/>
        </p:spPr>
        <p:txBody>
          <a:bodyPr rtlCol="0" anchor="ctr"/>
          <a:lstStyle/>
          <a:p>
            <a:pPr algn="ctr"/>
          </a:p>
        </p:txBody>
      </p:sp>
      <p:sp>
        <p:nvSpPr>
          <p:cNvPr id="29" name="TextBox 28"/>
          <p:cNvSpPr txBox="1"/>
          <p:nvPr/>
        </p:nvSpPr>
        <p:spPr>
          <a:xfrm>
            <a:off x="8299648" y="2490391"/>
            <a:ext cx="2927152"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Queue + MVC</a:t>
            </a:r>
          </a:p>
        </p:txBody>
      </p:sp>
      <p:sp>
        <p:nvSpPr>
          <p:cNvPr id="30" name="Rectangle 29"/>
          <p:cNvSpPr/>
          <p:nvPr/>
        </p:nvSpPr>
        <p:spPr>
          <a:xfrm>
            <a:off x="812800" y="3016250"/>
            <a:ext cx="1562695" cy="633809"/>
          </a:xfrm>
          <a:prstGeom prst="rect">
            <a:avLst/>
          </a:prstGeom>
          <a:noFill/>
          <a:ln>
            <a:noFill/>
          </a:ln>
          <a:effectLst/>
        </p:spPr>
        <p:txBody>
          <a:bodyPr rtlCol="0" anchor="ctr"/>
          <a:lstStyle/>
          <a:p>
            <a:pPr algn="ctr"/>
          </a:p>
        </p:txBody>
      </p:sp>
      <p:sp>
        <p:nvSpPr>
          <p:cNvPr id="31" name="Rectangle 30"/>
          <p:cNvSpPr/>
          <p:nvPr/>
        </p:nvSpPr>
        <p:spPr>
          <a:xfrm>
            <a:off x="812800" y="3637359"/>
            <a:ext cx="1562695" cy="12700"/>
          </a:xfrm>
          <a:prstGeom prst="rect">
            <a:avLst/>
          </a:prstGeom>
          <a:solidFill>
            <a:srgbClr val="6B4A52">
              <a:alpha val="45000"/>
            </a:srgbClr>
          </a:solidFill>
          <a:ln>
            <a:noFill/>
          </a:ln>
          <a:effectLst/>
        </p:spPr>
        <p:txBody>
          <a:bodyPr rtlCol="0" anchor="ctr"/>
          <a:lstStyle/>
          <a:p>
            <a:pPr algn="ctr"/>
          </a:p>
        </p:txBody>
      </p:sp>
      <p:sp>
        <p:nvSpPr>
          <p:cNvPr id="32" name="TextBox 31"/>
          <p:cNvSpPr txBox="1"/>
          <p:nvPr/>
        </p:nvSpPr>
        <p:spPr>
          <a:xfrm>
            <a:off x="965200" y="3124200"/>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Weeks</a:t>
            </a:r>
          </a:p>
        </p:txBody>
      </p:sp>
      <p:sp>
        <p:nvSpPr>
          <p:cNvPr id="33" name="Rectangle 32"/>
          <p:cNvSpPr/>
          <p:nvPr/>
        </p:nvSpPr>
        <p:spPr>
          <a:xfrm>
            <a:off x="2375495" y="3016250"/>
            <a:ext cx="2532559" cy="633809"/>
          </a:xfrm>
          <a:prstGeom prst="rect">
            <a:avLst/>
          </a:prstGeom>
          <a:noFill/>
          <a:ln>
            <a:noFill/>
          </a:ln>
          <a:effectLst/>
        </p:spPr>
        <p:txBody>
          <a:bodyPr rtlCol="0" anchor="ctr"/>
          <a:lstStyle/>
          <a:p>
            <a:pPr algn="ctr"/>
          </a:p>
        </p:txBody>
      </p:sp>
      <p:sp>
        <p:nvSpPr>
          <p:cNvPr id="34" name="Rectangle 33"/>
          <p:cNvSpPr/>
          <p:nvPr/>
        </p:nvSpPr>
        <p:spPr>
          <a:xfrm>
            <a:off x="2375495" y="3637359"/>
            <a:ext cx="2532559" cy="12700"/>
          </a:xfrm>
          <a:prstGeom prst="rect">
            <a:avLst/>
          </a:prstGeom>
          <a:solidFill>
            <a:srgbClr val="6B4A52">
              <a:alpha val="45000"/>
            </a:srgbClr>
          </a:solidFill>
          <a:ln>
            <a:noFill/>
          </a:ln>
          <a:effectLst/>
        </p:spPr>
        <p:txBody>
          <a:bodyPr rtlCol="0" anchor="ctr"/>
          <a:lstStyle/>
          <a:p>
            <a:pPr algn="ctr"/>
          </a:p>
        </p:txBody>
      </p:sp>
      <p:sp>
        <p:nvSpPr>
          <p:cNvPr id="35" name="TextBox 34"/>
          <p:cNvSpPr txBox="1"/>
          <p:nvPr/>
        </p:nvSpPr>
        <p:spPr>
          <a:xfrm>
            <a:off x="2527895" y="3124200"/>
            <a:ext cx="2227759"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3–5</a:t>
            </a:r>
          </a:p>
        </p:txBody>
      </p:sp>
      <p:sp>
        <p:nvSpPr>
          <p:cNvPr id="36" name="Rectangle 35"/>
          <p:cNvSpPr/>
          <p:nvPr/>
        </p:nvSpPr>
        <p:spPr>
          <a:xfrm>
            <a:off x="4908054" y="3016250"/>
            <a:ext cx="3239195" cy="633809"/>
          </a:xfrm>
          <a:prstGeom prst="rect">
            <a:avLst/>
          </a:prstGeom>
          <a:noFill/>
          <a:ln>
            <a:noFill/>
          </a:ln>
          <a:effectLst/>
        </p:spPr>
        <p:txBody>
          <a:bodyPr rtlCol="0" anchor="ctr"/>
          <a:lstStyle/>
          <a:p>
            <a:pPr algn="ctr"/>
          </a:p>
        </p:txBody>
      </p:sp>
      <p:sp>
        <p:nvSpPr>
          <p:cNvPr id="37" name="Rectangle 36"/>
          <p:cNvSpPr/>
          <p:nvPr/>
        </p:nvSpPr>
        <p:spPr>
          <a:xfrm>
            <a:off x="4908054" y="3637359"/>
            <a:ext cx="3239195" cy="12700"/>
          </a:xfrm>
          <a:prstGeom prst="rect">
            <a:avLst/>
          </a:prstGeom>
          <a:solidFill>
            <a:srgbClr val="6B4A52">
              <a:alpha val="13500"/>
            </a:srgbClr>
          </a:solidFill>
          <a:ln>
            <a:noFill/>
          </a:ln>
          <a:effectLst/>
        </p:spPr>
        <p:txBody>
          <a:bodyPr rtlCol="0" anchor="ctr"/>
          <a:lstStyle/>
          <a:p>
            <a:pPr algn="ctr"/>
          </a:p>
        </p:txBody>
      </p:sp>
      <p:sp>
        <p:nvSpPr>
          <p:cNvPr id="38" name="TextBox 37"/>
          <p:cNvSpPr txBox="1"/>
          <p:nvPr/>
        </p:nvSpPr>
        <p:spPr>
          <a:xfrm>
            <a:off x="5060454" y="3124200"/>
            <a:ext cx="2934395"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6–9</a:t>
            </a:r>
          </a:p>
        </p:txBody>
      </p:sp>
      <p:sp>
        <p:nvSpPr>
          <p:cNvPr id="39" name="Rectangle 38"/>
          <p:cNvSpPr/>
          <p:nvPr/>
        </p:nvSpPr>
        <p:spPr>
          <a:xfrm>
            <a:off x="8147248" y="3016250"/>
            <a:ext cx="3231952" cy="633809"/>
          </a:xfrm>
          <a:prstGeom prst="rect">
            <a:avLst/>
          </a:prstGeom>
          <a:noFill/>
          <a:ln>
            <a:noFill/>
          </a:ln>
          <a:effectLst/>
        </p:spPr>
        <p:txBody>
          <a:bodyPr rtlCol="0" anchor="ctr"/>
          <a:lstStyle/>
          <a:p>
            <a:pPr algn="ctr"/>
          </a:p>
        </p:txBody>
      </p:sp>
      <p:sp>
        <p:nvSpPr>
          <p:cNvPr id="40" name="Rectangle 39"/>
          <p:cNvSpPr/>
          <p:nvPr/>
        </p:nvSpPr>
        <p:spPr>
          <a:xfrm>
            <a:off x="8147248" y="3637359"/>
            <a:ext cx="3231952" cy="12700"/>
          </a:xfrm>
          <a:prstGeom prst="rect">
            <a:avLst/>
          </a:prstGeom>
          <a:solidFill>
            <a:srgbClr val="6B4A52">
              <a:alpha val="13500"/>
            </a:srgbClr>
          </a:solidFill>
          <a:ln>
            <a:noFill/>
          </a:ln>
          <a:effectLst/>
        </p:spPr>
        <p:txBody>
          <a:bodyPr rtlCol="0" anchor="ctr"/>
          <a:lstStyle/>
          <a:p>
            <a:pPr algn="ctr"/>
          </a:p>
        </p:txBody>
      </p:sp>
      <p:sp>
        <p:nvSpPr>
          <p:cNvPr id="41" name="TextBox 40"/>
          <p:cNvSpPr txBox="1"/>
          <p:nvPr/>
        </p:nvSpPr>
        <p:spPr>
          <a:xfrm>
            <a:off x="8299648" y="3124200"/>
            <a:ext cx="2927152"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10–15</a:t>
            </a:r>
          </a:p>
        </p:txBody>
      </p:sp>
      <p:sp>
        <p:nvSpPr>
          <p:cNvPr id="42" name="Rectangle 41"/>
          <p:cNvSpPr/>
          <p:nvPr/>
        </p:nvSpPr>
        <p:spPr>
          <a:xfrm>
            <a:off x="812800" y="3650059"/>
            <a:ext cx="1562695" cy="633809"/>
          </a:xfrm>
          <a:prstGeom prst="rect">
            <a:avLst/>
          </a:prstGeom>
          <a:noFill/>
          <a:ln>
            <a:noFill/>
          </a:ln>
          <a:effectLst/>
        </p:spPr>
        <p:txBody>
          <a:bodyPr rtlCol="0" anchor="ctr"/>
          <a:lstStyle/>
          <a:p>
            <a:pPr algn="ctr"/>
          </a:p>
        </p:txBody>
      </p:sp>
      <p:sp>
        <p:nvSpPr>
          <p:cNvPr id="43" name="Rectangle 42"/>
          <p:cNvSpPr/>
          <p:nvPr/>
        </p:nvSpPr>
        <p:spPr>
          <a:xfrm>
            <a:off x="812800" y="4271169"/>
            <a:ext cx="1562695" cy="12700"/>
          </a:xfrm>
          <a:prstGeom prst="rect">
            <a:avLst/>
          </a:prstGeom>
          <a:solidFill>
            <a:srgbClr val="6B4A52">
              <a:alpha val="45000"/>
            </a:srgbClr>
          </a:solidFill>
          <a:ln>
            <a:noFill/>
          </a:ln>
          <a:effectLst/>
        </p:spPr>
        <p:txBody>
          <a:bodyPr rtlCol="0" anchor="ctr"/>
          <a:lstStyle/>
          <a:p>
            <a:pPr algn="ctr"/>
          </a:p>
        </p:txBody>
      </p:sp>
      <p:sp>
        <p:nvSpPr>
          <p:cNvPr id="44" name="TextBox 43"/>
          <p:cNvSpPr txBox="1"/>
          <p:nvPr/>
        </p:nvSpPr>
        <p:spPr>
          <a:xfrm>
            <a:off x="965200" y="3758009"/>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Teams</a:t>
            </a:r>
          </a:p>
        </p:txBody>
      </p:sp>
      <p:sp>
        <p:nvSpPr>
          <p:cNvPr id="45" name="Rectangle 44"/>
          <p:cNvSpPr/>
          <p:nvPr/>
        </p:nvSpPr>
        <p:spPr>
          <a:xfrm>
            <a:off x="2375495" y="3650059"/>
            <a:ext cx="2532559" cy="633809"/>
          </a:xfrm>
          <a:prstGeom prst="rect">
            <a:avLst/>
          </a:prstGeom>
          <a:noFill/>
          <a:ln>
            <a:noFill/>
          </a:ln>
          <a:effectLst/>
        </p:spPr>
        <p:txBody>
          <a:bodyPr rtlCol="0" anchor="ctr"/>
          <a:lstStyle/>
          <a:p>
            <a:pPr algn="ctr"/>
          </a:p>
        </p:txBody>
      </p:sp>
      <p:sp>
        <p:nvSpPr>
          <p:cNvPr id="46" name="Rectangle 45"/>
          <p:cNvSpPr/>
          <p:nvPr/>
        </p:nvSpPr>
        <p:spPr>
          <a:xfrm>
            <a:off x="2375495" y="4271169"/>
            <a:ext cx="2532559" cy="12700"/>
          </a:xfrm>
          <a:prstGeom prst="rect">
            <a:avLst/>
          </a:prstGeom>
          <a:solidFill>
            <a:srgbClr val="6B4A52">
              <a:alpha val="45000"/>
            </a:srgbClr>
          </a:solidFill>
          <a:ln>
            <a:noFill/>
          </a:ln>
          <a:effectLst/>
        </p:spPr>
        <p:txBody>
          <a:bodyPr rtlCol="0" anchor="ctr"/>
          <a:lstStyle/>
          <a:p>
            <a:pPr algn="ctr"/>
          </a:p>
        </p:txBody>
      </p:sp>
      <p:sp>
        <p:nvSpPr>
          <p:cNvPr id="47" name="TextBox 46"/>
          <p:cNvSpPr txBox="1"/>
          <p:nvPr/>
        </p:nvSpPr>
        <p:spPr>
          <a:xfrm>
            <a:off x="2527895" y="3758009"/>
            <a:ext cx="2227759"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Assigned, 3–4</a:t>
            </a:r>
          </a:p>
        </p:txBody>
      </p:sp>
      <p:sp>
        <p:nvSpPr>
          <p:cNvPr id="48" name="Rectangle 47"/>
          <p:cNvSpPr/>
          <p:nvPr/>
        </p:nvSpPr>
        <p:spPr>
          <a:xfrm>
            <a:off x="4908054" y="3650059"/>
            <a:ext cx="3239195" cy="633809"/>
          </a:xfrm>
          <a:prstGeom prst="rect">
            <a:avLst/>
          </a:prstGeom>
          <a:noFill/>
          <a:ln>
            <a:noFill/>
          </a:ln>
          <a:effectLst/>
        </p:spPr>
        <p:txBody>
          <a:bodyPr rtlCol="0" anchor="ctr"/>
          <a:lstStyle/>
          <a:p>
            <a:pPr algn="ctr"/>
          </a:p>
        </p:txBody>
      </p:sp>
      <p:sp>
        <p:nvSpPr>
          <p:cNvPr id="49" name="Rectangle 48"/>
          <p:cNvSpPr/>
          <p:nvPr/>
        </p:nvSpPr>
        <p:spPr>
          <a:xfrm>
            <a:off x="4908054" y="4271169"/>
            <a:ext cx="3239195" cy="12700"/>
          </a:xfrm>
          <a:prstGeom prst="rect">
            <a:avLst/>
          </a:prstGeom>
          <a:solidFill>
            <a:srgbClr val="6B4A52">
              <a:alpha val="13500"/>
            </a:srgbClr>
          </a:solidFill>
          <a:ln>
            <a:noFill/>
          </a:ln>
          <a:effectLst/>
        </p:spPr>
        <p:txBody>
          <a:bodyPr rtlCol="0" anchor="ctr"/>
          <a:lstStyle/>
          <a:p>
            <a:pPr algn="ctr"/>
          </a:p>
        </p:txBody>
      </p:sp>
      <p:sp>
        <p:nvSpPr>
          <p:cNvPr id="50" name="TextBox 49"/>
          <p:cNvSpPr txBox="1"/>
          <p:nvPr/>
        </p:nvSpPr>
        <p:spPr>
          <a:xfrm>
            <a:off x="5060454" y="3758009"/>
            <a:ext cx="2934395"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Re-form, 3–4</a:t>
            </a:r>
          </a:p>
        </p:txBody>
      </p:sp>
      <p:sp>
        <p:nvSpPr>
          <p:cNvPr id="51" name="Rectangle 50"/>
          <p:cNvSpPr/>
          <p:nvPr/>
        </p:nvSpPr>
        <p:spPr>
          <a:xfrm>
            <a:off x="8147248" y="3650059"/>
            <a:ext cx="3231952" cy="633809"/>
          </a:xfrm>
          <a:prstGeom prst="rect">
            <a:avLst/>
          </a:prstGeom>
          <a:noFill/>
          <a:ln>
            <a:noFill/>
          </a:ln>
          <a:effectLst/>
        </p:spPr>
        <p:txBody>
          <a:bodyPr rtlCol="0" anchor="ctr"/>
          <a:lstStyle/>
          <a:p>
            <a:pPr algn="ctr"/>
          </a:p>
        </p:txBody>
      </p:sp>
      <p:sp>
        <p:nvSpPr>
          <p:cNvPr id="52" name="Rectangle 51"/>
          <p:cNvSpPr/>
          <p:nvPr/>
        </p:nvSpPr>
        <p:spPr>
          <a:xfrm>
            <a:off x="8147248" y="4271169"/>
            <a:ext cx="3231952" cy="12700"/>
          </a:xfrm>
          <a:prstGeom prst="rect">
            <a:avLst/>
          </a:prstGeom>
          <a:solidFill>
            <a:srgbClr val="6B4A52">
              <a:alpha val="13500"/>
            </a:srgbClr>
          </a:solidFill>
          <a:ln>
            <a:noFill/>
          </a:ln>
          <a:effectLst/>
        </p:spPr>
        <p:txBody>
          <a:bodyPr rtlCol="0" anchor="ctr"/>
          <a:lstStyle/>
          <a:p>
            <a:pPr algn="ctr"/>
          </a:p>
        </p:txBody>
      </p:sp>
      <p:sp>
        <p:nvSpPr>
          <p:cNvPr id="53" name="TextBox 52"/>
          <p:cNvSpPr txBox="1"/>
          <p:nvPr/>
        </p:nvSpPr>
        <p:spPr>
          <a:xfrm>
            <a:off x="8299648" y="3758009"/>
            <a:ext cx="2927152"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Re-form, 3–4</a:t>
            </a:r>
          </a:p>
        </p:txBody>
      </p:sp>
      <p:sp>
        <p:nvSpPr>
          <p:cNvPr id="54" name="Rectangle 53"/>
          <p:cNvSpPr/>
          <p:nvPr/>
        </p:nvSpPr>
        <p:spPr>
          <a:xfrm>
            <a:off x="812800" y="4283869"/>
            <a:ext cx="1562695" cy="633809"/>
          </a:xfrm>
          <a:prstGeom prst="rect">
            <a:avLst/>
          </a:prstGeom>
          <a:noFill/>
          <a:ln>
            <a:noFill/>
          </a:ln>
          <a:effectLst/>
        </p:spPr>
        <p:txBody>
          <a:bodyPr rtlCol="0" anchor="ctr"/>
          <a:lstStyle/>
          <a:p>
            <a:pPr algn="ctr"/>
          </a:p>
        </p:txBody>
      </p:sp>
      <p:sp>
        <p:nvSpPr>
          <p:cNvPr id="55" name="Rectangle 54"/>
          <p:cNvSpPr/>
          <p:nvPr/>
        </p:nvSpPr>
        <p:spPr>
          <a:xfrm>
            <a:off x="812800" y="4904978"/>
            <a:ext cx="1562695" cy="12700"/>
          </a:xfrm>
          <a:prstGeom prst="rect">
            <a:avLst/>
          </a:prstGeom>
          <a:solidFill>
            <a:srgbClr val="6B4A52">
              <a:alpha val="45000"/>
            </a:srgbClr>
          </a:solidFill>
          <a:ln>
            <a:noFill/>
          </a:ln>
          <a:effectLst/>
        </p:spPr>
        <p:txBody>
          <a:bodyPr rtlCol="0" anchor="ctr"/>
          <a:lstStyle/>
          <a:p>
            <a:pPr algn="ctr"/>
          </a:p>
        </p:txBody>
      </p:sp>
      <p:sp>
        <p:nvSpPr>
          <p:cNvPr id="56" name="TextBox 55"/>
          <p:cNvSpPr txBox="1"/>
          <p:nvPr/>
        </p:nvSpPr>
        <p:spPr>
          <a:xfrm>
            <a:off x="965200" y="4391819"/>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Deliverables</a:t>
            </a:r>
          </a:p>
        </p:txBody>
      </p:sp>
      <p:sp>
        <p:nvSpPr>
          <p:cNvPr id="57" name="Rectangle 56"/>
          <p:cNvSpPr/>
          <p:nvPr/>
        </p:nvSpPr>
        <p:spPr>
          <a:xfrm>
            <a:off x="2375495" y="4283869"/>
            <a:ext cx="2532559" cy="633809"/>
          </a:xfrm>
          <a:prstGeom prst="rect">
            <a:avLst/>
          </a:prstGeom>
          <a:noFill/>
          <a:ln>
            <a:noFill/>
          </a:ln>
          <a:effectLst/>
        </p:spPr>
        <p:txBody>
          <a:bodyPr rtlCol="0" anchor="ctr"/>
          <a:lstStyle/>
          <a:p>
            <a:pPr algn="ctr"/>
          </a:p>
        </p:txBody>
      </p:sp>
      <p:sp>
        <p:nvSpPr>
          <p:cNvPr id="58" name="Rectangle 57"/>
          <p:cNvSpPr/>
          <p:nvPr/>
        </p:nvSpPr>
        <p:spPr>
          <a:xfrm>
            <a:off x="2375495" y="4904978"/>
            <a:ext cx="2532559" cy="12700"/>
          </a:xfrm>
          <a:prstGeom prst="rect">
            <a:avLst/>
          </a:prstGeom>
          <a:solidFill>
            <a:srgbClr val="6B4A52">
              <a:alpha val="45000"/>
            </a:srgbClr>
          </a:solidFill>
          <a:ln>
            <a:noFill/>
          </a:ln>
          <a:effectLst/>
        </p:spPr>
        <p:txBody>
          <a:bodyPr rtlCol="0" anchor="ctr"/>
          <a:lstStyle/>
          <a:p>
            <a:pPr algn="ctr"/>
          </a:p>
        </p:txBody>
      </p:sp>
      <p:sp>
        <p:nvSpPr>
          <p:cNvPr id="59" name="TextBox 58"/>
          <p:cNvSpPr txBox="1"/>
          <p:nvPr/>
        </p:nvSpPr>
        <p:spPr>
          <a:xfrm>
            <a:off x="2527895" y="4391819"/>
            <a:ext cx="2227759"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Scope · Spec · Final</a:t>
            </a:r>
          </a:p>
        </p:txBody>
      </p:sp>
      <p:sp>
        <p:nvSpPr>
          <p:cNvPr id="60" name="Rectangle 59"/>
          <p:cNvSpPr/>
          <p:nvPr/>
        </p:nvSpPr>
        <p:spPr>
          <a:xfrm>
            <a:off x="4908054" y="4283869"/>
            <a:ext cx="3239195" cy="633809"/>
          </a:xfrm>
          <a:prstGeom prst="rect">
            <a:avLst/>
          </a:prstGeom>
          <a:noFill/>
          <a:ln>
            <a:noFill/>
          </a:ln>
          <a:effectLst/>
        </p:spPr>
        <p:txBody>
          <a:bodyPr rtlCol="0" anchor="ctr"/>
          <a:lstStyle/>
          <a:p>
            <a:pPr algn="ctr"/>
          </a:p>
        </p:txBody>
      </p:sp>
      <p:sp>
        <p:nvSpPr>
          <p:cNvPr id="61" name="Rectangle 60"/>
          <p:cNvSpPr/>
          <p:nvPr/>
        </p:nvSpPr>
        <p:spPr>
          <a:xfrm>
            <a:off x="4908054" y="4904978"/>
            <a:ext cx="3239195" cy="12700"/>
          </a:xfrm>
          <a:prstGeom prst="rect">
            <a:avLst/>
          </a:prstGeom>
          <a:solidFill>
            <a:srgbClr val="6B4A52">
              <a:alpha val="13500"/>
            </a:srgbClr>
          </a:solidFill>
          <a:ln>
            <a:noFill/>
          </a:ln>
          <a:effectLst/>
        </p:spPr>
        <p:txBody>
          <a:bodyPr rtlCol="0" anchor="ctr"/>
          <a:lstStyle/>
          <a:p>
            <a:pPr algn="ctr"/>
          </a:p>
        </p:txBody>
      </p:sp>
      <p:sp>
        <p:nvSpPr>
          <p:cNvPr id="62" name="TextBox 61"/>
          <p:cNvSpPr txBox="1"/>
          <p:nvPr/>
        </p:nvSpPr>
        <p:spPr>
          <a:xfrm>
            <a:off x="5060454" y="4391819"/>
            <a:ext cx="2934395"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 Prototype + Tests</a:t>
            </a:r>
          </a:p>
        </p:txBody>
      </p:sp>
      <p:sp>
        <p:nvSpPr>
          <p:cNvPr id="63" name="Rectangle 62"/>
          <p:cNvSpPr/>
          <p:nvPr/>
        </p:nvSpPr>
        <p:spPr>
          <a:xfrm>
            <a:off x="8147248" y="4283869"/>
            <a:ext cx="3231952" cy="633809"/>
          </a:xfrm>
          <a:prstGeom prst="rect">
            <a:avLst/>
          </a:prstGeom>
          <a:noFill/>
          <a:ln>
            <a:noFill/>
          </a:ln>
          <a:effectLst/>
        </p:spPr>
        <p:txBody>
          <a:bodyPr rtlCol="0" anchor="ctr"/>
          <a:lstStyle/>
          <a:p>
            <a:pPr algn="ctr"/>
          </a:p>
        </p:txBody>
      </p:sp>
      <p:sp>
        <p:nvSpPr>
          <p:cNvPr id="64" name="Rectangle 63"/>
          <p:cNvSpPr/>
          <p:nvPr/>
        </p:nvSpPr>
        <p:spPr>
          <a:xfrm>
            <a:off x="8147248" y="4904978"/>
            <a:ext cx="3231952" cy="12700"/>
          </a:xfrm>
          <a:prstGeom prst="rect">
            <a:avLst/>
          </a:prstGeom>
          <a:solidFill>
            <a:srgbClr val="6B4A52">
              <a:alpha val="13500"/>
            </a:srgbClr>
          </a:solidFill>
          <a:ln>
            <a:noFill/>
          </a:ln>
          <a:effectLst/>
        </p:spPr>
        <p:txBody>
          <a:bodyPr rtlCol="0" anchor="ctr"/>
          <a:lstStyle/>
          <a:p>
            <a:pPr algn="ctr"/>
          </a:p>
        </p:txBody>
      </p:sp>
      <p:sp>
        <p:nvSpPr>
          <p:cNvPr id="65" name="TextBox 64"/>
          <p:cNvSpPr txBox="1"/>
          <p:nvPr/>
        </p:nvSpPr>
        <p:spPr>
          <a:xfrm>
            <a:off x="8299648" y="4391819"/>
            <a:ext cx="2927152"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 Second prototype</a:t>
            </a:r>
          </a:p>
        </p:txBody>
      </p:sp>
      <p:sp>
        <p:nvSpPr>
          <p:cNvPr id="66" name="Rectangle 65"/>
          <p:cNvSpPr/>
          <p:nvPr/>
        </p:nvSpPr>
        <p:spPr>
          <a:xfrm>
            <a:off x="812800" y="4917678"/>
            <a:ext cx="1562695" cy="1324372"/>
          </a:xfrm>
          <a:prstGeom prst="rect">
            <a:avLst/>
          </a:prstGeom>
          <a:noFill/>
          <a:ln>
            <a:noFill/>
          </a:ln>
          <a:effectLst/>
        </p:spPr>
        <p:txBody>
          <a:bodyPr rtlCol="0" anchor="ctr"/>
          <a:lstStyle/>
          <a:p>
            <a:pPr algn="ctr"/>
          </a:p>
        </p:txBody>
      </p:sp>
      <p:sp>
        <p:nvSpPr>
          <p:cNvPr id="67" name="Rectangle 66"/>
          <p:cNvSpPr/>
          <p:nvPr/>
        </p:nvSpPr>
        <p:spPr>
          <a:xfrm>
            <a:off x="812800" y="6229350"/>
            <a:ext cx="1562695" cy="12700"/>
          </a:xfrm>
          <a:prstGeom prst="rect">
            <a:avLst/>
          </a:prstGeom>
          <a:solidFill>
            <a:srgbClr val="6B4A52">
              <a:alpha val="45000"/>
            </a:srgbClr>
          </a:solidFill>
          <a:ln>
            <a:noFill/>
          </a:ln>
          <a:effectLst/>
        </p:spPr>
        <p:txBody>
          <a:bodyPr rtlCol="0" anchor="ctr"/>
          <a:lstStyle/>
          <a:p>
            <a:pPr algn="ctr"/>
          </a:p>
        </p:txBody>
      </p:sp>
      <p:sp>
        <p:nvSpPr>
          <p:cNvPr id="68" name="TextBox 67"/>
          <p:cNvSpPr txBox="1"/>
          <p:nvPr/>
        </p:nvSpPr>
        <p:spPr>
          <a:xfrm>
            <a:off x="965200" y="5025628"/>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Lesson</a:t>
            </a:r>
          </a:p>
        </p:txBody>
      </p:sp>
      <p:sp>
        <p:nvSpPr>
          <p:cNvPr id="69" name="Rectangle 68"/>
          <p:cNvSpPr/>
          <p:nvPr/>
        </p:nvSpPr>
        <p:spPr>
          <a:xfrm>
            <a:off x="2375495" y="4917678"/>
            <a:ext cx="2532559" cy="1324372"/>
          </a:xfrm>
          <a:prstGeom prst="rect">
            <a:avLst/>
          </a:prstGeom>
          <a:noFill/>
          <a:ln>
            <a:noFill/>
          </a:ln>
          <a:effectLst/>
        </p:spPr>
        <p:txBody>
          <a:bodyPr rtlCol="0" anchor="ctr"/>
          <a:lstStyle/>
          <a:p>
            <a:pPr algn="ctr"/>
          </a:p>
        </p:txBody>
      </p:sp>
      <p:sp>
        <p:nvSpPr>
          <p:cNvPr id="70" name="Rectangle 69"/>
          <p:cNvSpPr/>
          <p:nvPr/>
        </p:nvSpPr>
        <p:spPr>
          <a:xfrm>
            <a:off x="2375495" y="6229350"/>
            <a:ext cx="2532559" cy="12700"/>
          </a:xfrm>
          <a:prstGeom prst="rect">
            <a:avLst/>
          </a:prstGeom>
          <a:solidFill>
            <a:srgbClr val="6B4A52">
              <a:alpha val="45000"/>
            </a:srgbClr>
          </a:solidFill>
          <a:ln>
            <a:noFill/>
          </a:ln>
          <a:effectLst/>
        </p:spPr>
        <p:txBody>
          <a:bodyPr rtlCol="0" anchor="ctr"/>
          <a:lstStyle/>
          <a:p>
            <a:pPr algn="ctr"/>
          </a:p>
        </p:txBody>
      </p:sp>
      <p:sp>
        <p:nvSpPr>
          <p:cNvPr id="71" name="TextBox 70"/>
          <p:cNvSpPr txBox="1"/>
          <p:nvPr/>
        </p:nvSpPr>
        <p:spPr>
          <a:xfrm>
            <a:off x="2527895" y="5051028"/>
            <a:ext cx="2253159" cy="732730"/>
          </a:xfrm>
          <a:prstGeom prst="rect">
            <a:avLst/>
          </a:prstGeom>
          <a:noFill/>
        </p:spPr>
        <p:txBody>
          <a:bodyPr wrap="square" lIns="0" rIns="0" tIns="0" bIns="0" anchor="ctr">
            <a:noAutofit/>
          </a:bodyPr>
          <a:lstStyle/>
          <a:p>
            <a:pPr algn="l">
              <a:lnSpc>
                <a:spcPts val="3120"/>
              </a:lnSpc>
            </a:pPr>
            <a:r>
              <a:rPr sz="2400" b="0" i="0">
                <a:solidFill>
                  <a:srgbClr val="861F41"/>
                </a:solidFill>
                <a:latin typeface="Georgia"/>
              </a:rPr>
              <a:t>Define before you build</a:t>
            </a:r>
          </a:p>
        </p:txBody>
      </p:sp>
      <p:sp>
        <p:nvSpPr>
          <p:cNvPr id="72" name="Rectangle 71"/>
          <p:cNvSpPr/>
          <p:nvPr/>
        </p:nvSpPr>
        <p:spPr>
          <a:xfrm>
            <a:off x="4908054" y="4917678"/>
            <a:ext cx="3239195" cy="1324372"/>
          </a:xfrm>
          <a:prstGeom prst="rect">
            <a:avLst/>
          </a:prstGeom>
          <a:noFill/>
          <a:ln>
            <a:noFill/>
          </a:ln>
          <a:effectLst/>
        </p:spPr>
        <p:txBody>
          <a:bodyPr rtlCol="0" anchor="ctr"/>
          <a:lstStyle/>
          <a:p>
            <a:pPr algn="ctr"/>
          </a:p>
        </p:txBody>
      </p:sp>
      <p:sp>
        <p:nvSpPr>
          <p:cNvPr id="73" name="Rectangle 72"/>
          <p:cNvSpPr/>
          <p:nvPr/>
        </p:nvSpPr>
        <p:spPr>
          <a:xfrm>
            <a:off x="4908054" y="6229350"/>
            <a:ext cx="3239195" cy="12700"/>
          </a:xfrm>
          <a:prstGeom prst="rect">
            <a:avLst/>
          </a:prstGeom>
          <a:solidFill>
            <a:srgbClr val="6B4A52">
              <a:alpha val="13500"/>
            </a:srgbClr>
          </a:solidFill>
          <a:ln>
            <a:noFill/>
          </a:ln>
          <a:effectLst/>
        </p:spPr>
        <p:txBody>
          <a:bodyPr rtlCol="0" anchor="ctr"/>
          <a:lstStyle/>
          <a:p>
            <a:pPr algn="ctr"/>
          </a:p>
        </p:txBody>
      </p:sp>
      <p:sp>
        <p:nvSpPr>
          <p:cNvPr id="74" name="TextBox 73"/>
          <p:cNvSpPr txBox="1"/>
          <p:nvPr/>
        </p:nvSpPr>
        <p:spPr>
          <a:xfrm>
            <a:off x="5060454" y="5051028"/>
            <a:ext cx="2959795" cy="732730"/>
          </a:xfrm>
          <a:prstGeom prst="rect">
            <a:avLst/>
          </a:prstGeom>
          <a:noFill/>
        </p:spPr>
        <p:txBody>
          <a:bodyPr wrap="square" lIns="0" rIns="0" tIns="0" bIns="0" anchor="ctr">
            <a:noAutofit/>
          </a:bodyPr>
          <a:lstStyle/>
          <a:p>
            <a:pPr algn="l">
              <a:lnSpc>
                <a:spcPts val="3120"/>
              </a:lnSpc>
            </a:pPr>
            <a:r>
              <a:rPr sz="2400" b="0" i="0">
                <a:solidFill>
                  <a:srgbClr val="861F41">
                    <a:alpha val="30000"/>
                  </a:srgbClr>
                </a:solidFill>
                <a:latin typeface="Georgia"/>
              </a:rPr>
              <a:t>Clear contracts make reuse cheap</a:t>
            </a:r>
          </a:p>
        </p:txBody>
      </p:sp>
      <p:sp>
        <p:nvSpPr>
          <p:cNvPr id="75" name="Rectangle 74"/>
          <p:cNvSpPr/>
          <p:nvPr/>
        </p:nvSpPr>
        <p:spPr>
          <a:xfrm>
            <a:off x="8147248" y="4917678"/>
            <a:ext cx="3231952" cy="1324372"/>
          </a:xfrm>
          <a:prstGeom prst="rect">
            <a:avLst/>
          </a:prstGeom>
          <a:noFill/>
          <a:ln>
            <a:noFill/>
          </a:ln>
          <a:effectLst/>
        </p:spPr>
        <p:txBody>
          <a:bodyPr rtlCol="0" anchor="ctr"/>
          <a:lstStyle/>
          <a:p>
            <a:pPr algn="ctr"/>
          </a:p>
        </p:txBody>
      </p:sp>
      <p:sp>
        <p:nvSpPr>
          <p:cNvPr id="76" name="Rectangle 75"/>
          <p:cNvSpPr/>
          <p:nvPr/>
        </p:nvSpPr>
        <p:spPr>
          <a:xfrm>
            <a:off x="8147248" y="6229350"/>
            <a:ext cx="3231952" cy="12700"/>
          </a:xfrm>
          <a:prstGeom prst="rect">
            <a:avLst/>
          </a:prstGeom>
          <a:solidFill>
            <a:srgbClr val="6B4A52">
              <a:alpha val="13500"/>
            </a:srgbClr>
          </a:solidFill>
          <a:ln>
            <a:noFill/>
          </a:ln>
          <a:effectLst/>
        </p:spPr>
        <p:txBody>
          <a:bodyPr rtlCol="0" anchor="ctr"/>
          <a:lstStyle/>
          <a:p>
            <a:pPr algn="ctr"/>
          </a:p>
        </p:txBody>
      </p:sp>
      <p:sp>
        <p:nvSpPr>
          <p:cNvPr id="77" name="TextBox 76"/>
          <p:cNvSpPr txBox="1"/>
          <p:nvPr/>
        </p:nvSpPr>
        <p:spPr>
          <a:xfrm>
            <a:off x="8299648" y="5051028"/>
            <a:ext cx="2952552" cy="732730"/>
          </a:xfrm>
          <a:prstGeom prst="rect">
            <a:avLst/>
          </a:prstGeom>
          <a:noFill/>
        </p:spPr>
        <p:txBody>
          <a:bodyPr wrap="square" lIns="0" rIns="0" tIns="0" bIns="0" anchor="ctr">
            <a:noAutofit/>
          </a:bodyPr>
          <a:lstStyle/>
          <a:p>
            <a:pPr algn="l">
              <a:lnSpc>
                <a:spcPts val="3120"/>
              </a:lnSpc>
            </a:pPr>
            <a:r>
              <a:rPr sz="2400" b="0" i="0">
                <a:solidFill>
                  <a:srgbClr val="861F41">
                    <a:alpha val="30000"/>
                  </a:srgbClr>
                </a:solidFill>
                <a:latin typeface="Georgia"/>
              </a:rPr>
              <a:t>Good boundaries absorb change</a:t>
            </a:r>
          </a:p>
        </p:txBody>
      </p:sp>
      <p:sp>
        <p:nvSpPr>
          <p:cNvPr id="78" name="Rounded Rectangle 77"/>
          <p:cNvSpPr/>
          <p:nvPr/>
        </p:nvSpPr>
        <p:spPr>
          <a:xfrm>
            <a:off x="10900271" y="6286500"/>
            <a:ext cx="986929" cy="368300"/>
          </a:xfrm>
          <a:prstGeom prst="roundRect">
            <a:avLst>
              <a:gd name="adj" fmla="val 50000"/>
            </a:avLst>
          </a:prstGeom>
          <a:solidFill>
            <a:srgbClr val="E9E3E4"/>
          </a:solidFill>
          <a:ln>
            <a:noFill/>
          </a:ln>
          <a:effectLst/>
        </p:spPr>
        <p:txBody>
          <a:bodyPr rtlCol="0" anchor="ctr"/>
          <a:lstStyle/>
          <a:p>
            <a:pPr algn="ctr"/>
          </a:p>
        </p:txBody>
      </p:sp>
      <p:sp>
        <p:nvSpPr>
          <p:cNvPr id="79" name="TextBox 78"/>
          <p:cNvSpPr txBox="1"/>
          <p:nvPr/>
        </p:nvSpPr>
        <p:spPr>
          <a:xfrm>
            <a:off x="11052671" y="6337300"/>
            <a:ext cx="682129"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11 / 28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The Project Structure</a:t>
            </a:r>
          </a:p>
        </p:txBody>
      </p:sp>
      <p:sp>
        <p:nvSpPr>
          <p:cNvPr id="4" name="Rectangle 3"/>
          <p:cNvSpPr/>
          <p:nvPr/>
        </p:nvSpPr>
        <p:spPr>
          <a:xfrm>
            <a:off x="812800" y="1498600"/>
            <a:ext cx="1562695" cy="883841"/>
          </a:xfrm>
          <a:prstGeom prst="rect">
            <a:avLst/>
          </a:prstGeom>
          <a:noFill/>
          <a:ln>
            <a:noFill/>
          </a:ln>
          <a:effectLst/>
        </p:spPr>
        <p:txBody>
          <a:bodyPr rtlCol="0" anchor="ctr"/>
          <a:lstStyle/>
          <a:p>
            <a:pPr algn="ctr"/>
          </a:p>
        </p:txBody>
      </p:sp>
      <p:sp>
        <p:nvSpPr>
          <p:cNvPr id="5" name="Rectangle 4"/>
          <p:cNvSpPr/>
          <p:nvPr/>
        </p:nvSpPr>
        <p:spPr>
          <a:xfrm>
            <a:off x="812800" y="2369741"/>
            <a:ext cx="1562695" cy="12700"/>
          </a:xfrm>
          <a:prstGeom prst="rect">
            <a:avLst/>
          </a:prstGeom>
          <a:solidFill>
            <a:srgbClr val="6B4A52">
              <a:alpha val="45000"/>
            </a:srgbClr>
          </a:solidFill>
          <a:ln>
            <a:noFill/>
          </a:ln>
          <a:effectLst/>
        </p:spPr>
        <p:txBody>
          <a:bodyPr rtlCol="0" anchor="ctr"/>
          <a:lstStyle/>
          <a:p>
            <a:pPr algn="ctr"/>
          </a:p>
        </p:txBody>
      </p:sp>
      <p:sp>
        <p:nvSpPr>
          <p:cNvPr id="6" name="Rectangle 5"/>
          <p:cNvSpPr/>
          <p:nvPr/>
        </p:nvSpPr>
        <p:spPr>
          <a:xfrm>
            <a:off x="2375495" y="1498600"/>
            <a:ext cx="2532559" cy="883841"/>
          </a:xfrm>
          <a:prstGeom prst="rect">
            <a:avLst/>
          </a:prstGeom>
          <a:noFill/>
          <a:ln>
            <a:noFill/>
          </a:ln>
          <a:effectLst/>
        </p:spPr>
        <p:txBody>
          <a:bodyPr rtlCol="0" anchor="ctr"/>
          <a:lstStyle/>
          <a:p>
            <a:pPr algn="ctr"/>
          </a:p>
        </p:txBody>
      </p:sp>
      <p:sp>
        <p:nvSpPr>
          <p:cNvPr id="7" name="Rectangle 6"/>
          <p:cNvSpPr/>
          <p:nvPr/>
        </p:nvSpPr>
        <p:spPr>
          <a:xfrm>
            <a:off x="2375495" y="1498600"/>
            <a:ext cx="2532559" cy="50800"/>
          </a:xfrm>
          <a:prstGeom prst="rect">
            <a:avLst/>
          </a:prstGeom>
          <a:solidFill>
            <a:srgbClr val="B35510"/>
          </a:solidFill>
          <a:ln>
            <a:noFill/>
          </a:ln>
          <a:effectLst/>
        </p:spPr>
        <p:txBody>
          <a:bodyPr rtlCol="0" anchor="ctr"/>
          <a:lstStyle/>
          <a:p>
            <a:pPr algn="ctr"/>
          </a:p>
        </p:txBody>
      </p:sp>
      <p:sp>
        <p:nvSpPr>
          <p:cNvPr id="8" name="Rectangle 7"/>
          <p:cNvSpPr/>
          <p:nvPr/>
        </p:nvSpPr>
        <p:spPr>
          <a:xfrm>
            <a:off x="2375495" y="2369741"/>
            <a:ext cx="2532559" cy="12700"/>
          </a:xfrm>
          <a:prstGeom prst="rect">
            <a:avLst/>
          </a:prstGeom>
          <a:solidFill>
            <a:srgbClr val="6B4A52">
              <a:alpha val="45000"/>
            </a:srgbClr>
          </a:solidFill>
          <a:ln>
            <a:noFill/>
          </a:ln>
          <a:effectLst/>
        </p:spPr>
        <p:txBody>
          <a:bodyPr rtlCol="0" anchor="ctr"/>
          <a:lstStyle/>
          <a:p>
            <a:pPr algn="ctr"/>
          </a:p>
        </p:txBody>
      </p:sp>
      <p:sp>
        <p:nvSpPr>
          <p:cNvPr id="9" name="TextBox 8"/>
          <p:cNvSpPr txBox="1"/>
          <p:nvPr/>
        </p:nvSpPr>
        <p:spPr>
          <a:xfrm>
            <a:off x="2527895" y="1676400"/>
            <a:ext cx="2227759"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Roboto Mono"/>
              </a:rPr>
              <a:t>P1</a:t>
            </a:r>
          </a:p>
        </p:txBody>
      </p:sp>
      <p:sp>
        <p:nvSpPr>
          <p:cNvPr id="10" name="Rectangle 9"/>
          <p:cNvSpPr/>
          <p:nvPr/>
        </p:nvSpPr>
        <p:spPr>
          <a:xfrm>
            <a:off x="4908054" y="1498600"/>
            <a:ext cx="3239195" cy="883841"/>
          </a:xfrm>
          <a:prstGeom prst="rect">
            <a:avLst/>
          </a:prstGeom>
          <a:noFill/>
          <a:ln>
            <a:noFill/>
          </a:ln>
          <a:effectLst/>
        </p:spPr>
        <p:txBody>
          <a:bodyPr rtlCol="0" anchor="ctr"/>
          <a:lstStyle/>
          <a:p>
            <a:pPr algn="ctr"/>
          </a:p>
        </p:txBody>
      </p:sp>
      <p:sp>
        <p:nvSpPr>
          <p:cNvPr id="11" name="Rectangle 10"/>
          <p:cNvSpPr/>
          <p:nvPr/>
        </p:nvSpPr>
        <p:spPr>
          <a:xfrm>
            <a:off x="4908054" y="1498600"/>
            <a:ext cx="3239195" cy="50800"/>
          </a:xfrm>
          <a:prstGeom prst="rect">
            <a:avLst/>
          </a:prstGeom>
          <a:solidFill>
            <a:srgbClr val="9D3A29"/>
          </a:solidFill>
          <a:ln>
            <a:noFill/>
          </a:ln>
          <a:effectLst/>
        </p:spPr>
        <p:txBody>
          <a:bodyPr rtlCol="0" anchor="ctr"/>
          <a:lstStyle/>
          <a:p>
            <a:pPr algn="ctr"/>
          </a:p>
        </p:txBody>
      </p:sp>
      <p:sp>
        <p:nvSpPr>
          <p:cNvPr id="12" name="Rectangle 11"/>
          <p:cNvSpPr/>
          <p:nvPr/>
        </p:nvSpPr>
        <p:spPr>
          <a:xfrm>
            <a:off x="4908054" y="2369741"/>
            <a:ext cx="3239195" cy="12700"/>
          </a:xfrm>
          <a:prstGeom prst="rect">
            <a:avLst/>
          </a:prstGeom>
          <a:solidFill>
            <a:srgbClr val="6B4A52">
              <a:alpha val="45000"/>
            </a:srgbClr>
          </a:solidFill>
          <a:ln>
            <a:noFill/>
          </a:ln>
          <a:effectLst/>
        </p:spPr>
        <p:txBody>
          <a:bodyPr rtlCol="0" anchor="ctr"/>
          <a:lstStyle/>
          <a:p>
            <a:pPr algn="ctr"/>
          </a:p>
        </p:txBody>
      </p:sp>
      <p:sp>
        <p:nvSpPr>
          <p:cNvPr id="13" name="TextBox 12"/>
          <p:cNvSpPr txBox="1"/>
          <p:nvPr/>
        </p:nvSpPr>
        <p:spPr>
          <a:xfrm>
            <a:off x="5060454" y="1676400"/>
            <a:ext cx="2934395" cy="274320"/>
          </a:xfrm>
          <a:prstGeom prst="rect">
            <a:avLst/>
          </a:prstGeom>
          <a:noFill/>
        </p:spPr>
        <p:txBody>
          <a:bodyPr wrap="none" lIns="0" rIns="0" tIns="0" bIns="0" anchor="ctr">
            <a:noAutofit/>
          </a:bodyPr>
          <a:lstStyle/>
          <a:p>
            <a:pPr algn="l">
              <a:lnSpc>
                <a:spcPts val="2610"/>
              </a:lnSpc>
            </a:pPr>
            <a:r>
              <a:rPr sz="1800" b="0" i="0">
                <a:solidFill>
                  <a:srgbClr val="9D3A29"/>
                </a:solidFill>
                <a:latin typeface="Roboto Mono"/>
              </a:rPr>
              <a:t>P2</a:t>
            </a:r>
          </a:p>
        </p:txBody>
      </p:sp>
      <p:sp>
        <p:nvSpPr>
          <p:cNvPr id="14" name="Rectangle 13"/>
          <p:cNvSpPr/>
          <p:nvPr/>
        </p:nvSpPr>
        <p:spPr>
          <a:xfrm>
            <a:off x="8147248" y="1498600"/>
            <a:ext cx="3231952" cy="883841"/>
          </a:xfrm>
          <a:prstGeom prst="rect">
            <a:avLst/>
          </a:prstGeom>
          <a:noFill/>
          <a:ln>
            <a:noFill/>
          </a:ln>
          <a:effectLst/>
        </p:spPr>
        <p:txBody>
          <a:bodyPr rtlCol="0" anchor="ctr"/>
          <a:lstStyle/>
          <a:p>
            <a:pPr algn="ctr"/>
          </a:p>
        </p:txBody>
      </p:sp>
      <p:sp>
        <p:nvSpPr>
          <p:cNvPr id="15" name="Rectangle 14"/>
          <p:cNvSpPr/>
          <p:nvPr/>
        </p:nvSpPr>
        <p:spPr>
          <a:xfrm>
            <a:off x="8147248" y="1498600"/>
            <a:ext cx="3231952" cy="50800"/>
          </a:xfrm>
          <a:prstGeom prst="rect">
            <a:avLst/>
          </a:prstGeom>
          <a:solidFill>
            <a:srgbClr val="1C6091">
              <a:alpha val="30000"/>
            </a:srgbClr>
          </a:solidFill>
          <a:ln>
            <a:noFill/>
          </a:ln>
          <a:effectLst/>
        </p:spPr>
        <p:txBody>
          <a:bodyPr rtlCol="0" anchor="ctr"/>
          <a:lstStyle/>
          <a:p>
            <a:pPr algn="ctr"/>
          </a:p>
        </p:txBody>
      </p:sp>
      <p:sp>
        <p:nvSpPr>
          <p:cNvPr id="16" name="Rectangle 15"/>
          <p:cNvSpPr/>
          <p:nvPr/>
        </p:nvSpPr>
        <p:spPr>
          <a:xfrm>
            <a:off x="8147248" y="2369741"/>
            <a:ext cx="3231952" cy="12700"/>
          </a:xfrm>
          <a:prstGeom prst="rect">
            <a:avLst/>
          </a:prstGeom>
          <a:solidFill>
            <a:srgbClr val="6B4A52">
              <a:alpha val="13500"/>
            </a:srgbClr>
          </a:solidFill>
          <a:ln>
            <a:noFill/>
          </a:ln>
          <a:effectLst/>
        </p:spPr>
        <p:txBody>
          <a:bodyPr rtlCol="0" anchor="ctr"/>
          <a:lstStyle/>
          <a:p>
            <a:pPr algn="ctr"/>
          </a:p>
        </p:txBody>
      </p:sp>
      <p:sp>
        <p:nvSpPr>
          <p:cNvPr id="17" name="TextBox 16"/>
          <p:cNvSpPr txBox="1"/>
          <p:nvPr/>
        </p:nvSpPr>
        <p:spPr>
          <a:xfrm>
            <a:off x="8299648" y="1676400"/>
            <a:ext cx="2927152" cy="274320"/>
          </a:xfrm>
          <a:prstGeom prst="rect">
            <a:avLst/>
          </a:prstGeom>
          <a:noFill/>
        </p:spPr>
        <p:txBody>
          <a:bodyPr wrap="none" lIns="0" rIns="0" tIns="0" bIns="0" anchor="ctr">
            <a:noAutofit/>
          </a:bodyPr>
          <a:lstStyle/>
          <a:p>
            <a:pPr algn="l">
              <a:lnSpc>
                <a:spcPts val="2610"/>
              </a:lnSpc>
            </a:pPr>
            <a:r>
              <a:rPr sz="1800" b="0" i="0">
                <a:solidFill>
                  <a:srgbClr val="1C6091">
                    <a:alpha val="30000"/>
                  </a:srgbClr>
                </a:solidFill>
                <a:latin typeface="Roboto Mono"/>
              </a:rPr>
              <a:t>P3</a:t>
            </a:r>
          </a:p>
        </p:txBody>
      </p:sp>
      <p:sp>
        <p:nvSpPr>
          <p:cNvPr id="18" name="Rectangle 17"/>
          <p:cNvSpPr/>
          <p:nvPr/>
        </p:nvSpPr>
        <p:spPr>
          <a:xfrm>
            <a:off x="812800" y="2382441"/>
            <a:ext cx="1562695" cy="633809"/>
          </a:xfrm>
          <a:prstGeom prst="rect">
            <a:avLst/>
          </a:prstGeom>
          <a:noFill/>
          <a:ln>
            <a:noFill/>
          </a:ln>
          <a:effectLst/>
        </p:spPr>
        <p:txBody>
          <a:bodyPr rtlCol="0" anchor="ctr"/>
          <a:lstStyle/>
          <a:p>
            <a:pPr algn="ctr"/>
          </a:p>
        </p:txBody>
      </p:sp>
      <p:sp>
        <p:nvSpPr>
          <p:cNvPr id="19" name="Rectangle 18"/>
          <p:cNvSpPr/>
          <p:nvPr/>
        </p:nvSpPr>
        <p:spPr>
          <a:xfrm>
            <a:off x="812800" y="3003550"/>
            <a:ext cx="1562695" cy="12700"/>
          </a:xfrm>
          <a:prstGeom prst="rect">
            <a:avLst/>
          </a:prstGeom>
          <a:solidFill>
            <a:srgbClr val="6B4A52">
              <a:alpha val="45000"/>
            </a:srgbClr>
          </a:solidFill>
          <a:ln>
            <a:noFill/>
          </a:ln>
          <a:effectLst/>
        </p:spPr>
        <p:txBody>
          <a:bodyPr rtlCol="0" anchor="ctr"/>
          <a:lstStyle/>
          <a:p>
            <a:pPr algn="ctr"/>
          </a:p>
        </p:txBody>
      </p:sp>
      <p:sp>
        <p:nvSpPr>
          <p:cNvPr id="20" name="TextBox 19"/>
          <p:cNvSpPr txBox="1"/>
          <p:nvPr/>
        </p:nvSpPr>
        <p:spPr>
          <a:xfrm>
            <a:off x="965200" y="2490391"/>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Core</a:t>
            </a:r>
          </a:p>
        </p:txBody>
      </p:sp>
      <p:sp>
        <p:nvSpPr>
          <p:cNvPr id="21" name="Rectangle 20"/>
          <p:cNvSpPr/>
          <p:nvPr/>
        </p:nvSpPr>
        <p:spPr>
          <a:xfrm>
            <a:off x="2375495" y="2382441"/>
            <a:ext cx="2532559" cy="633809"/>
          </a:xfrm>
          <a:prstGeom prst="rect">
            <a:avLst/>
          </a:prstGeom>
          <a:noFill/>
          <a:ln>
            <a:noFill/>
          </a:ln>
          <a:effectLst/>
        </p:spPr>
        <p:txBody>
          <a:bodyPr rtlCol="0" anchor="ctr"/>
          <a:lstStyle/>
          <a:p>
            <a:pPr algn="ctr"/>
          </a:p>
        </p:txBody>
      </p:sp>
      <p:sp>
        <p:nvSpPr>
          <p:cNvPr id="22" name="Rectangle 21"/>
          <p:cNvSpPr/>
          <p:nvPr/>
        </p:nvSpPr>
        <p:spPr>
          <a:xfrm>
            <a:off x="2375495" y="3003550"/>
            <a:ext cx="2532559" cy="12700"/>
          </a:xfrm>
          <a:prstGeom prst="rect">
            <a:avLst/>
          </a:prstGeom>
          <a:solidFill>
            <a:srgbClr val="6B4A52">
              <a:alpha val="45000"/>
            </a:srgbClr>
          </a:solidFill>
          <a:ln>
            <a:noFill/>
          </a:ln>
          <a:effectLst/>
        </p:spPr>
        <p:txBody>
          <a:bodyPr rtlCol="0" anchor="ctr"/>
          <a:lstStyle/>
          <a:p>
            <a:pPr algn="ctr"/>
          </a:p>
        </p:txBody>
      </p:sp>
      <p:sp>
        <p:nvSpPr>
          <p:cNvPr id="23" name="TextBox 22"/>
          <p:cNvSpPr txBox="1"/>
          <p:nvPr/>
        </p:nvSpPr>
        <p:spPr>
          <a:xfrm>
            <a:off x="2527895" y="2490391"/>
            <a:ext cx="2227759"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Java + Exceptions</a:t>
            </a:r>
          </a:p>
        </p:txBody>
      </p:sp>
      <p:sp>
        <p:nvSpPr>
          <p:cNvPr id="24" name="Rectangle 23"/>
          <p:cNvSpPr/>
          <p:nvPr/>
        </p:nvSpPr>
        <p:spPr>
          <a:xfrm>
            <a:off x="4908054" y="2382441"/>
            <a:ext cx="3239195" cy="633809"/>
          </a:xfrm>
          <a:prstGeom prst="rect">
            <a:avLst/>
          </a:prstGeom>
          <a:noFill/>
          <a:ln>
            <a:noFill/>
          </a:ln>
          <a:effectLst/>
        </p:spPr>
        <p:txBody>
          <a:bodyPr rtlCol="0" anchor="ctr"/>
          <a:lstStyle/>
          <a:p>
            <a:pPr algn="ctr"/>
          </a:p>
        </p:txBody>
      </p:sp>
      <p:sp>
        <p:nvSpPr>
          <p:cNvPr id="25" name="Rectangle 24"/>
          <p:cNvSpPr/>
          <p:nvPr/>
        </p:nvSpPr>
        <p:spPr>
          <a:xfrm>
            <a:off x="4908054" y="3003550"/>
            <a:ext cx="3239195" cy="12700"/>
          </a:xfrm>
          <a:prstGeom prst="rect">
            <a:avLst/>
          </a:prstGeom>
          <a:solidFill>
            <a:srgbClr val="6B4A52">
              <a:alpha val="45000"/>
            </a:srgbClr>
          </a:solidFill>
          <a:ln>
            <a:noFill/>
          </a:ln>
          <a:effectLst/>
        </p:spPr>
        <p:txBody>
          <a:bodyPr rtlCol="0" anchor="ctr"/>
          <a:lstStyle/>
          <a:p>
            <a:pPr algn="ctr"/>
          </a:p>
        </p:txBody>
      </p:sp>
      <p:sp>
        <p:nvSpPr>
          <p:cNvPr id="26" name="TextBox 25"/>
          <p:cNvSpPr txBox="1"/>
          <p:nvPr/>
        </p:nvSpPr>
        <p:spPr>
          <a:xfrm>
            <a:off x="5060454" y="2490391"/>
            <a:ext cx="2934395"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Generic Bag&lt;T&gt;</a:t>
            </a:r>
          </a:p>
        </p:txBody>
      </p:sp>
      <p:sp>
        <p:nvSpPr>
          <p:cNvPr id="27" name="Rectangle 26"/>
          <p:cNvSpPr/>
          <p:nvPr/>
        </p:nvSpPr>
        <p:spPr>
          <a:xfrm>
            <a:off x="8147248" y="2382441"/>
            <a:ext cx="3231952" cy="633809"/>
          </a:xfrm>
          <a:prstGeom prst="rect">
            <a:avLst/>
          </a:prstGeom>
          <a:noFill/>
          <a:ln>
            <a:noFill/>
          </a:ln>
          <a:effectLst/>
        </p:spPr>
        <p:txBody>
          <a:bodyPr rtlCol="0" anchor="ctr"/>
          <a:lstStyle/>
          <a:p>
            <a:pPr algn="ctr"/>
          </a:p>
        </p:txBody>
      </p:sp>
      <p:sp>
        <p:nvSpPr>
          <p:cNvPr id="28" name="Rectangle 27"/>
          <p:cNvSpPr/>
          <p:nvPr/>
        </p:nvSpPr>
        <p:spPr>
          <a:xfrm>
            <a:off x="8147248" y="3003550"/>
            <a:ext cx="3231952" cy="12700"/>
          </a:xfrm>
          <a:prstGeom prst="rect">
            <a:avLst/>
          </a:prstGeom>
          <a:solidFill>
            <a:srgbClr val="6B4A52">
              <a:alpha val="13500"/>
            </a:srgbClr>
          </a:solidFill>
          <a:ln>
            <a:noFill/>
          </a:ln>
          <a:effectLst/>
        </p:spPr>
        <p:txBody>
          <a:bodyPr rtlCol="0" anchor="ctr"/>
          <a:lstStyle/>
          <a:p>
            <a:pPr algn="ctr"/>
          </a:p>
        </p:txBody>
      </p:sp>
      <p:sp>
        <p:nvSpPr>
          <p:cNvPr id="29" name="TextBox 28"/>
          <p:cNvSpPr txBox="1"/>
          <p:nvPr/>
        </p:nvSpPr>
        <p:spPr>
          <a:xfrm>
            <a:off x="8299648" y="2490391"/>
            <a:ext cx="2927152"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Queue + MVC</a:t>
            </a:r>
          </a:p>
        </p:txBody>
      </p:sp>
      <p:sp>
        <p:nvSpPr>
          <p:cNvPr id="30" name="Rectangle 29"/>
          <p:cNvSpPr/>
          <p:nvPr/>
        </p:nvSpPr>
        <p:spPr>
          <a:xfrm>
            <a:off x="812800" y="3016250"/>
            <a:ext cx="1562695" cy="633809"/>
          </a:xfrm>
          <a:prstGeom prst="rect">
            <a:avLst/>
          </a:prstGeom>
          <a:noFill/>
          <a:ln>
            <a:noFill/>
          </a:ln>
          <a:effectLst/>
        </p:spPr>
        <p:txBody>
          <a:bodyPr rtlCol="0" anchor="ctr"/>
          <a:lstStyle/>
          <a:p>
            <a:pPr algn="ctr"/>
          </a:p>
        </p:txBody>
      </p:sp>
      <p:sp>
        <p:nvSpPr>
          <p:cNvPr id="31" name="Rectangle 30"/>
          <p:cNvSpPr/>
          <p:nvPr/>
        </p:nvSpPr>
        <p:spPr>
          <a:xfrm>
            <a:off x="812800" y="3637359"/>
            <a:ext cx="1562695" cy="12700"/>
          </a:xfrm>
          <a:prstGeom prst="rect">
            <a:avLst/>
          </a:prstGeom>
          <a:solidFill>
            <a:srgbClr val="6B4A52">
              <a:alpha val="45000"/>
            </a:srgbClr>
          </a:solidFill>
          <a:ln>
            <a:noFill/>
          </a:ln>
          <a:effectLst/>
        </p:spPr>
        <p:txBody>
          <a:bodyPr rtlCol="0" anchor="ctr"/>
          <a:lstStyle/>
          <a:p>
            <a:pPr algn="ctr"/>
          </a:p>
        </p:txBody>
      </p:sp>
      <p:sp>
        <p:nvSpPr>
          <p:cNvPr id="32" name="TextBox 31"/>
          <p:cNvSpPr txBox="1"/>
          <p:nvPr/>
        </p:nvSpPr>
        <p:spPr>
          <a:xfrm>
            <a:off x="965200" y="3124200"/>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Weeks</a:t>
            </a:r>
          </a:p>
        </p:txBody>
      </p:sp>
      <p:sp>
        <p:nvSpPr>
          <p:cNvPr id="33" name="Rectangle 32"/>
          <p:cNvSpPr/>
          <p:nvPr/>
        </p:nvSpPr>
        <p:spPr>
          <a:xfrm>
            <a:off x="2375495" y="3016250"/>
            <a:ext cx="2532559" cy="633809"/>
          </a:xfrm>
          <a:prstGeom prst="rect">
            <a:avLst/>
          </a:prstGeom>
          <a:noFill/>
          <a:ln>
            <a:noFill/>
          </a:ln>
          <a:effectLst/>
        </p:spPr>
        <p:txBody>
          <a:bodyPr rtlCol="0" anchor="ctr"/>
          <a:lstStyle/>
          <a:p>
            <a:pPr algn="ctr"/>
          </a:p>
        </p:txBody>
      </p:sp>
      <p:sp>
        <p:nvSpPr>
          <p:cNvPr id="34" name="Rectangle 33"/>
          <p:cNvSpPr/>
          <p:nvPr/>
        </p:nvSpPr>
        <p:spPr>
          <a:xfrm>
            <a:off x="2375495" y="3637359"/>
            <a:ext cx="2532559" cy="12700"/>
          </a:xfrm>
          <a:prstGeom prst="rect">
            <a:avLst/>
          </a:prstGeom>
          <a:solidFill>
            <a:srgbClr val="6B4A52">
              <a:alpha val="45000"/>
            </a:srgbClr>
          </a:solidFill>
          <a:ln>
            <a:noFill/>
          </a:ln>
          <a:effectLst/>
        </p:spPr>
        <p:txBody>
          <a:bodyPr rtlCol="0" anchor="ctr"/>
          <a:lstStyle/>
          <a:p>
            <a:pPr algn="ctr"/>
          </a:p>
        </p:txBody>
      </p:sp>
      <p:sp>
        <p:nvSpPr>
          <p:cNvPr id="35" name="TextBox 34"/>
          <p:cNvSpPr txBox="1"/>
          <p:nvPr/>
        </p:nvSpPr>
        <p:spPr>
          <a:xfrm>
            <a:off x="2527895" y="3124200"/>
            <a:ext cx="2227759"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3–5</a:t>
            </a:r>
          </a:p>
        </p:txBody>
      </p:sp>
      <p:sp>
        <p:nvSpPr>
          <p:cNvPr id="36" name="Rectangle 35"/>
          <p:cNvSpPr/>
          <p:nvPr/>
        </p:nvSpPr>
        <p:spPr>
          <a:xfrm>
            <a:off x="4908054" y="3016250"/>
            <a:ext cx="3239195" cy="633809"/>
          </a:xfrm>
          <a:prstGeom prst="rect">
            <a:avLst/>
          </a:prstGeom>
          <a:noFill/>
          <a:ln>
            <a:noFill/>
          </a:ln>
          <a:effectLst/>
        </p:spPr>
        <p:txBody>
          <a:bodyPr rtlCol="0" anchor="ctr"/>
          <a:lstStyle/>
          <a:p>
            <a:pPr algn="ctr"/>
          </a:p>
        </p:txBody>
      </p:sp>
      <p:sp>
        <p:nvSpPr>
          <p:cNvPr id="37" name="Rectangle 36"/>
          <p:cNvSpPr/>
          <p:nvPr/>
        </p:nvSpPr>
        <p:spPr>
          <a:xfrm>
            <a:off x="4908054" y="3637359"/>
            <a:ext cx="3239195" cy="12700"/>
          </a:xfrm>
          <a:prstGeom prst="rect">
            <a:avLst/>
          </a:prstGeom>
          <a:solidFill>
            <a:srgbClr val="6B4A52">
              <a:alpha val="45000"/>
            </a:srgbClr>
          </a:solidFill>
          <a:ln>
            <a:noFill/>
          </a:ln>
          <a:effectLst/>
        </p:spPr>
        <p:txBody>
          <a:bodyPr rtlCol="0" anchor="ctr"/>
          <a:lstStyle/>
          <a:p>
            <a:pPr algn="ctr"/>
          </a:p>
        </p:txBody>
      </p:sp>
      <p:sp>
        <p:nvSpPr>
          <p:cNvPr id="38" name="TextBox 37"/>
          <p:cNvSpPr txBox="1"/>
          <p:nvPr/>
        </p:nvSpPr>
        <p:spPr>
          <a:xfrm>
            <a:off x="5060454" y="3124200"/>
            <a:ext cx="2934395"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6–9</a:t>
            </a:r>
          </a:p>
        </p:txBody>
      </p:sp>
      <p:sp>
        <p:nvSpPr>
          <p:cNvPr id="39" name="Rectangle 38"/>
          <p:cNvSpPr/>
          <p:nvPr/>
        </p:nvSpPr>
        <p:spPr>
          <a:xfrm>
            <a:off x="8147248" y="3016250"/>
            <a:ext cx="3231952" cy="633809"/>
          </a:xfrm>
          <a:prstGeom prst="rect">
            <a:avLst/>
          </a:prstGeom>
          <a:noFill/>
          <a:ln>
            <a:noFill/>
          </a:ln>
          <a:effectLst/>
        </p:spPr>
        <p:txBody>
          <a:bodyPr rtlCol="0" anchor="ctr"/>
          <a:lstStyle/>
          <a:p>
            <a:pPr algn="ctr"/>
          </a:p>
        </p:txBody>
      </p:sp>
      <p:sp>
        <p:nvSpPr>
          <p:cNvPr id="40" name="Rectangle 39"/>
          <p:cNvSpPr/>
          <p:nvPr/>
        </p:nvSpPr>
        <p:spPr>
          <a:xfrm>
            <a:off x="8147248" y="3637359"/>
            <a:ext cx="3231952" cy="12700"/>
          </a:xfrm>
          <a:prstGeom prst="rect">
            <a:avLst/>
          </a:prstGeom>
          <a:solidFill>
            <a:srgbClr val="6B4A52">
              <a:alpha val="13500"/>
            </a:srgbClr>
          </a:solidFill>
          <a:ln>
            <a:noFill/>
          </a:ln>
          <a:effectLst/>
        </p:spPr>
        <p:txBody>
          <a:bodyPr rtlCol="0" anchor="ctr"/>
          <a:lstStyle/>
          <a:p>
            <a:pPr algn="ctr"/>
          </a:p>
        </p:txBody>
      </p:sp>
      <p:sp>
        <p:nvSpPr>
          <p:cNvPr id="41" name="TextBox 40"/>
          <p:cNvSpPr txBox="1"/>
          <p:nvPr/>
        </p:nvSpPr>
        <p:spPr>
          <a:xfrm>
            <a:off x="8299648" y="3124200"/>
            <a:ext cx="2927152"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10–15</a:t>
            </a:r>
          </a:p>
        </p:txBody>
      </p:sp>
      <p:sp>
        <p:nvSpPr>
          <p:cNvPr id="42" name="Rectangle 41"/>
          <p:cNvSpPr/>
          <p:nvPr/>
        </p:nvSpPr>
        <p:spPr>
          <a:xfrm>
            <a:off x="812800" y="3650059"/>
            <a:ext cx="1562695" cy="633809"/>
          </a:xfrm>
          <a:prstGeom prst="rect">
            <a:avLst/>
          </a:prstGeom>
          <a:noFill/>
          <a:ln>
            <a:noFill/>
          </a:ln>
          <a:effectLst/>
        </p:spPr>
        <p:txBody>
          <a:bodyPr rtlCol="0" anchor="ctr"/>
          <a:lstStyle/>
          <a:p>
            <a:pPr algn="ctr"/>
          </a:p>
        </p:txBody>
      </p:sp>
      <p:sp>
        <p:nvSpPr>
          <p:cNvPr id="43" name="Rectangle 42"/>
          <p:cNvSpPr/>
          <p:nvPr/>
        </p:nvSpPr>
        <p:spPr>
          <a:xfrm>
            <a:off x="812800" y="4271169"/>
            <a:ext cx="1562695" cy="12700"/>
          </a:xfrm>
          <a:prstGeom prst="rect">
            <a:avLst/>
          </a:prstGeom>
          <a:solidFill>
            <a:srgbClr val="6B4A52">
              <a:alpha val="45000"/>
            </a:srgbClr>
          </a:solidFill>
          <a:ln>
            <a:noFill/>
          </a:ln>
          <a:effectLst/>
        </p:spPr>
        <p:txBody>
          <a:bodyPr rtlCol="0" anchor="ctr"/>
          <a:lstStyle/>
          <a:p>
            <a:pPr algn="ctr"/>
          </a:p>
        </p:txBody>
      </p:sp>
      <p:sp>
        <p:nvSpPr>
          <p:cNvPr id="44" name="TextBox 43"/>
          <p:cNvSpPr txBox="1"/>
          <p:nvPr/>
        </p:nvSpPr>
        <p:spPr>
          <a:xfrm>
            <a:off x="965200" y="3758009"/>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Teams</a:t>
            </a:r>
          </a:p>
        </p:txBody>
      </p:sp>
      <p:sp>
        <p:nvSpPr>
          <p:cNvPr id="45" name="Rectangle 44"/>
          <p:cNvSpPr/>
          <p:nvPr/>
        </p:nvSpPr>
        <p:spPr>
          <a:xfrm>
            <a:off x="2375495" y="3650059"/>
            <a:ext cx="2532559" cy="633809"/>
          </a:xfrm>
          <a:prstGeom prst="rect">
            <a:avLst/>
          </a:prstGeom>
          <a:noFill/>
          <a:ln>
            <a:noFill/>
          </a:ln>
          <a:effectLst/>
        </p:spPr>
        <p:txBody>
          <a:bodyPr rtlCol="0" anchor="ctr"/>
          <a:lstStyle/>
          <a:p>
            <a:pPr algn="ctr"/>
          </a:p>
        </p:txBody>
      </p:sp>
      <p:sp>
        <p:nvSpPr>
          <p:cNvPr id="46" name="Rectangle 45"/>
          <p:cNvSpPr/>
          <p:nvPr/>
        </p:nvSpPr>
        <p:spPr>
          <a:xfrm>
            <a:off x="2375495" y="4271169"/>
            <a:ext cx="2532559" cy="12700"/>
          </a:xfrm>
          <a:prstGeom prst="rect">
            <a:avLst/>
          </a:prstGeom>
          <a:solidFill>
            <a:srgbClr val="6B4A52">
              <a:alpha val="45000"/>
            </a:srgbClr>
          </a:solidFill>
          <a:ln>
            <a:noFill/>
          </a:ln>
          <a:effectLst/>
        </p:spPr>
        <p:txBody>
          <a:bodyPr rtlCol="0" anchor="ctr"/>
          <a:lstStyle/>
          <a:p>
            <a:pPr algn="ctr"/>
          </a:p>
        </p:txBody>
      </p:sp>
      <p:sp>
        <p:nvSpPr>
          <p:cNvPr id="47" name="TextBox 46"/>
          <p:cNvSpPr txBox="1"/>
          <p:nvPr/>
        </p:nvSpPr>
        <p:spPr>
          <a:xfrm>
            <a:off x="2527895" y="3758009"/>
            <a:ext cx="2227759"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Assigned, 3–4</a:t>
            </a:r>
          </a:p>
        </p:txBody>
      </p:sp>
      <p:sp>
        <p:nvSpPr>
          <p:cNvPr id="48" name="Rectangle 47"/>
          <p:cNvSpPr/>
          <p:nvPr/>
        </p:nvSpPr>
        <p:spPr>
          <a:xfrm>
            <a:off x="4908054" y="3650059"/>
            <a:ext cx="3239195" cy="633809"/>
          </a:xfrm>
          <a:prstGeom prst="rect">
            <a:avLst/>
          </a:prstGeom>
          <a:noFill/>
          <a:ln>
            <a:noFill/>
          </a:ln>
          <a:effectLst/>
        </p:spPr>
        <p:txBody>
          <a:bodyPr rtlCol="0" anchor="ctr"/>
          <a:lstStyle/>
          <a:p>
            <a:pPr algn="ctr"/>
          </a:p>
        </p:txBody>
      </p:sp>
      <p:sp>
        <p:nvSpPr>
          <p:cNvPr id="49" name="Rectangle 48"/>
          <p:cNvSpPr/>
          <p:nvPr/>
        </p:nvSpPr>
        <p:spPr>
          <a:xfrm>
            <a:off x="4908054" y="4271169"/>
            <a:ext cx="3239195" cy="12700"/>
          </a:xfrm>
          <a:prstGeom prst="rect">
            <a:avLst/>
          </a:prstGeom>
          <a:solidFill>
            <a:srgbClr val="6B4A52">
              <a:alpha val="45000"/>
            </a:srgbClr>
          </a:solidFill>
          <a:ln>
            <a:noFill/>
          </a:ln>
          <a:effectLst/>
        </p:spPr>
        <p:txBody>
          <a:bodyPr rtlCol="0" anchor="ctr"/>
          <a:lstStyle/>
          <a:p>
            <a:pPr algn="ctr"/>
          </a:p>
        </p:txBody>
      </p:sp>
      <p:sp>
        <p:nvSpPr>
          <p:cNvPr id="50" name="TextBox 49"/>
          <p:cNvSpPr txBox="1"/>
          <p:nvPr/>
        </p:nvSpPr>
        <p:spPr>
          <a:xfrm>
            <a:off x="5060454" y="3758009"/>
            <a:ext cx="2934395"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Re-form, 3–4</a:t>
            </a:r>
          </a:p>
        </p:txBody>
      </p:sp>
      <p:sp>
        <p:nvSpPr>
          <p:cNvPr id="51" name="Rectangle 50"/>
          <p:cNvSpPr/>
          <p:nvPr/>
        </p:nvSpPr>
        <p:spPr>
          <a:xfrm>
            <a:off x="8147248" y="3650059"/>
            <a:ext cx="3231952" cy="633809"/>
          </a:xfrm>
          <a:prstGeom prst="rect">
            <a:avLst/>
          </a:prstGeom>
          <a:noFill/>
          <a:ln>
            <a:noFill/>
          </a:ln>
          <a:effectLst/>
        </p:spPr>
        <p:txBody>
          <a:bodyPr rtlCol="0" anchor="ctr"/>
          <a:lstStyle/>
          <a:p>
            <a:pPr algn="ctr"/>
          </a:p>
        </p:txBody>
      </p:sp>
      <p:sp>
        <p:nvSpPr>
          <p:cNvPr id="52" name="Rectangle 51"/>
          <p:cNvSpPr/>
          <p:nvPr/>
        </p:nvSpPr>
        <p:spPr>
          <a:xfrm>
            <a:off x="8147248" y="4271169"/>
            <a:ext cx="3231952" cy="12700"/>
          </a:xfrm>
          <a:prstGeom prst="rect">
            <a:avLst/>
          </a:prstGeom>
          <a:solidFill>
            <a:srgbClr val="6B4A52">
              <a:alpha val="13500"/>
            </a:srgbClr>
          </a:solidFill>
          <a:ln>
            <a:noFill/>
          </a:ln>
          <a:effectLst/>
        </p:spPr>
        <p:txBody>
          <a:bodyPr rtlCol="0" anchor="ctr"/>
          <a:lstStyle/>
          <a:p>
            <a:pPr algn="ctr"/>
          </a:p>
        </p:txBody>
      </p:sp>
      <p:sp>
        <p:nvSpPr>
          <p:cNvPr id="53" name="TextBox 52"/>
          <p:cNvSpPr txBox="1"/>
          <p:nvPr/>
        </p:nvSpPr>
        <p:spPr>
          <a:xfrm>
            <a:off x="8299648" y="3758009"/>
            <a:ext cx="2927152"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Re-form, 3–4</a:t>
            </a:r>
          </a:p>
        </p:txBody>
      </p:sp>
      <p:sp>
        <p:nvSpPr>
          <p:cNvPr id="54" name="Rectangle 53"/>
          <p:cNvSpPr/>
          <p:nvPr/>
        </p:nvSpPr>
        <p:spPr>
          <a:xfrm>
            <a:off x="812800" y="4283869"/>
            <a:ext cx="1562695" cy="633809"/>
          </a:xfrm>
          <a:prstGeom prst="rect">
            <a:avLst/>
          </a:prstGeom>
          <a:noFill/>
          <a:ln>
            <a:noFill/>
          </a:ln>
          <a:effectLst/>
        </p:spPr>
        <p:txBody>
          <a:bodyPr rtlCol="0" anchor="ctr"/>
          <a:lstStyle/>
          <a:p>
            <a:pPr algn="ctr"/>
          </a:p>
        </p:txBody>
      </p:sp>
      <p:sp>
        <p:nvSpPr>
          <p:cNvPr id="55" name="Rectangle 54"/>
          <p:cNvSpPr/>
          <p:nvPr/>
        </p:nvSpPr>
        <p:spPr>
          <a:xfrm>
            <a:off x="812800" y="4904978"/>
            <a:ext cx="1562695" cy="12700"/>
          </a:xfrm>
          <a:prstGeom prst="rect">
            <a:avLst/>
          </a:prstGeom>
          <a:solidFill>
            <a:srgbClr val="6B4A52">
              <a:alpha val="45000"/>
            </a:srgbClr>
          </a:solidFill>
          <a:ln>
            <a:noFill/>
          </a:ln>
          <a:effectLst/>
        </p:spPr>
        <p:txBody>
          <a:bodyPr rtlCol="0" anchor="ctr"/>
          <a:lstStyle/>
          <a:p>
            <a:pPr algn="ctr"/>
          </a:p>
        </p:txBody>
      </p:sp>
      <p:sp>
        <p:nvSpPr>
          <p:cNvPr id="56" name="TextBox 55"/>
          <p:cNvSpPr txBox="1"/>
          <p:nvPr/>
        </p:nvSpPr>
        <p:spPr>
          <a:xfrm>
            <a:off x="965200" y="4391819"/>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Deliverables</a:t>
            </a:r>
          </a:p>
        </p:txBody>
      </p:sp>
      <p:sp>
        <p:nvSpPr>
          <p:cNvPr id="57" name="Rectangle 56"/>
          <p:cNvSpPr/>
          <p:nvPr/>
        </p:nvSpPr>
        <p:spPr>
          <a:xfrm>
            <a:off x="2375495" y="4283869"/>
            <a:ext cx="2532559" cy="633809"/>
          </a:xfrm>
          <a:prstGeom prst="rect">
            <a:avLst/>
          </a:prstGeom>
          <a:noFill/>
          <a:ln>
            <a:noFill/>
          </a:ln>
          <a:effectLst/>
        </p:spPr>
        <p:txBody>
          <a:bodyPr rtlCol="0" anchor="ctr"/>
          <a:lstStyle/>
          <a:p>
            <a:pPr algn="ctr"/>
          </a:p>
        </p:txBody>
      </p:sp>
      <p:sp>
        <p:nvSpPr>
          <p:cNvPr id="58" name="Rectangle 57"/>
          <p:cNvSpPr/>
          <p:nvPr/>
        </p:nvSpPr>
        <p:spPr>
          <a:xfrm>
            <a:off x="2375495" y="4904978"/>
            <a:ext cx="2532559" cy="12700"/>
          </a:xfrm>
          <a:prstGeom prst="rect">
            <a:avLst/>
          </a:prstGeom>
          <a:solidFill>
            <a:srgbClr val="6B4A52">
              <a:alpha val="45000"/>
            </a:srgbClr>
          </a:solidFill>
          <a:ln>
            <a:noFill/>
          </a:ln>
          <a:effectLst/>
        </p:spPr>
        <p:txBody>
          <a:bodyPr rtlCol="0" anchor="ctr"/>
          <a:lstStyle/>
          <a:p>
            <a:pPr algn="ctr"/>
          </a:p>
        </p:txBody>
      </p:sp>
      <p:sp>
        <p:nvSpPr>
          <p:cNvPr id="59" name="TextBox 58"/>
          <p:cNvSpPr txBox="1"/>
          <p:nvPr/>
        </p:nvSpPr>
        <p:spPr>
          <a:xfrm>
            <a:off x="2527895" y="4391819"/>
            <a:ext cx="2227759"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Scope · Spec · Final</a:t>
            </a:r>
          </a:p>
        </p:txBody>
      </p:sp>
      <p:sp>
        <p:nvSpPr>
          <p:cNvPr id="60" name="Rectangle 59"/>
          <p:cNvSpPr/>
          <p:nvPr/>
        </p:nvSpPr>
        <p:spPr>
          <a:xfrm>
            <a:off x="4908054" y="4283869"/>
            <a:ext cx="3239195" cy="633809"/>
          </a:xfrm>
          <a:prstGeom prst="rect">
            <a:avLst/>
          </a:prstGeom>
          <a:noFill/>
          <a:ln>
            <a:noFill/>
          </a:ln>
          <a:effectLst/>
        </p:spPr>
        <p:txBody>
          <a:bodyPr rtlCol="0" anchor="ctr"/>
          <a:lstStyle/>
          <a:p>
            <a:pPr algn="ctr"/>
          </a:p>
        </p:txBody>
      </p:sp>
      <p:sp>
        <p:nvSpPr>
          <p:cNvPr id="61" name="Rectangle 60"/>
          <p:cNvSpPr/>
          <p:nvPr/>
        </p:nvSpPr>
        <p:spPr>
          <a:xfrm>
            <a:off x="4908054" y="4904978"/>
            <a:ext cx="3239195" cy="12700"/>
          </a:xfrm>
          <a:prstGeom prst="rect">
            <a:avLst/>
          </a:prstGeom>
          <a:solidFill>
            <a:srgbClr val="6B4A52">
              <a:alpha val="45000"/>
            </a:srgbClr>
          </a:solidFill>
          <a:ln>
            <a:noFill/>
          </a:ln>
          <a:effectLst/>
        </p:spPr>
        <p:txBody>
          <a:bodyPr rtlCol="0" anchor="ctr"/>
          <a:lstStyle/>
          <a:p>
            <a:pPr algn="ctr"/>
          </a:p>
        </p:txBody>
      </p:sp>
      <p:sp>
        <p:nvSpPr>
          <p:cNvPr id="62" name="TextBox 61"/>
          <p:cNvSpPr txBox="1"/>
          <p:nvPr/>
        </p:nvSpPr>
        <p:spPr>
          <a:xfrm>
            <a:off x="5060454" y="4391819"/>
            <a:ext cx="2934395"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 Prototype + Tests</a:t>
            </a:r>
          </a:p>
        </p:txBody>
      </p:sp>
      <p:sp>
        <p:nvSpPr>
          <p:cNvPr id="63" name="Rectangle 62"/>
          <p:cNvSpPr/>
          <p:nvPr/>
        </p:nvSpPr>
        <p:spPr>
          <a:xfrm>
            <a:off x="8147248" y="4283869"/>
            <a:ext cx="3231952" cy="633809"/>
          </a:xfrm>
          <a:prstGeom prst="rect">
            <a:avLst/>
          </a:prstGeom>
          <a:noFill/>
          <a:ln>
            <a:noFill/>
          </a:ln>
          <a:effectLst/>
        </p:spPr>
        <p:txBody>
          <a:bodyPr rtlCol="0" anchor="ctr"/>
          <a:lstStyle/>
          <a:p>
            <a:pPr algn="ctr"/>
          </a:p>
        </p:txBody>
      </p:sp>
      <p:sp>
        <p:nvSpPr>
          <p:cNvPr id="64" name="Rectangle 63"/>
          <p:cNvSpPr/>
          <p:nvPr/>
        </p:nvSpPr>
        <p:spPr>
          <a:xfrm>
            <a:off x="8147248" y="4904978"/>
            <a:ext cx="3231952" cy="12700"/>
          </a:xfrm>
          <a:prstGeom prst="rect">
            <a:avLst/>
          </a:prstGeom>
          <a:solidFill>
            <a:srgbClr val="6B4A52">
              <a:alpha val="13500"/>
            </a:srgbClr>
          </a:solidFill>
          <a:ln>
            <a:noFill/>
          </a:ln>
          <a:effectLst/>
        </p:spPr>
        <p:txBody>
          <a:bodyPr rtlCol="0" anchor="ctr"/>
          <a:lstStyle/>
          <a:p>
            <a:pPr algn="ctr"/>
          </a:p>
        </p:txBody>
      </p:sp>
      <p:sp>
        <p:nvSpPr>
          <p:cNvPr id="65" name="TextBox 64"/>
          <p:cNvSpPr txBox="1"/>
          <p:nvPr/>
        </p:nvSpPr>
        <p:spPr>
          <a:xfrm>
            <a:off x="8299648" y="4391819"/>
            <a:ext cx="2927152" cy="274320"/>
          </a:xfrm>
          <a:prstGeom prst="rect">
            <a:avLst/>
          </a:prstGeom>
          <a:noFill/>
        </p:spPr>
        <p:txBody>
          <a:bodyPr wrap="none" lIns="0" rIns="0" tIns="0" bIns="0" anchor="ctr">
            <a:noAutofit/>
          </a:bodyPr>
          <a:lstStyle/>
          <a:p>
            <a:pPr algn="l">
              <a:lnSpc>
                <a:spcPts val="2160"/>
              </a:lnSpc>
            </a:pPr>
            <a:r>
              <a:rPr sz="1800" b="0" i="0">
                <a:solidFill>
                  <a:srgbClr val="2C1A1F">
                    <a:alpha val="30000"/>
                  </a:srgbClr>
                </a:solidFill>
                <a:latin typeface="Verdana"/>
              </a:rPr>
              <a:t>+ Second prototype</a:t>
            </a:r>
          </a:p>
        </p:txBody>
      </p:sp>
      <p:sp>
        <p:nvSpPr>
          <p:cNvPr id="66" name="Rectangle 65"/>
          <p:cNvSpPr/>
          <p:nvPr/>
        </p:nvSpPr>
        <p:spPr>
          <a:xfrm>
            <a:off x="812800" y="4917678"/>
            <a:ext cx="1562695" cy="1324372"/>
          </a:xfrm>
          <a:prstGeom prst="rect">
            <a:avLst/>
          </a:prstGeom>
          <a:noFill/>
          <a:ln>
            <a:noFill/>
          </a:ln>
          <a:effectLst/>
        </p:spPr>
        <p:txBody>
          <a:bodyPr rtlCol="0" anchor="ctr"/>
          <a:lstStyle/>
          <a:p>
            <a:pPr algn="ctr"/>
          </a:p>
        </p:txBody>
      </p:sp>
      <p:sp>
        <p:nvSpPr>
          <p:cNvPr id="67" name="Rectangle 66"/>
          <p:cNvSpPr/>
          <p:nvPr/>
        </p:nvSpPr>
        <p:spPr>
          <a:xfrm>
            <a:off x="812800" y="6229350"/>
            <a:ext cx="1562695" cy="12700"/>
          </a:xfrm>
          <a:prstGeom prst="rect">
            <a:avLst/>
          </a:prstGeom>
          <a:solidFill>
            <a:srgbClr val="6B4A52">
              <a:alpha val="45000"/>
            </a:srgbClr>
          </a:solidFill>
          <a:ln>
            <a:noFill/>
          </a:ln>
          <a:effectLst/>
        </p:spPr>
        <p:txBody>
          <a:bodyPr rtlCol="0" anchor="ctr"/>
          <a:lstStyle/>
          <a:p>
            <a:pPr algn="ctr"/>
          </a:p>
        </p:txBody>
      </p:sp>
      <p:sp>
        <p:nvSpPr>
          <p:cNvPr id="68" name="TextBox 67"/>
          <p:cNvSpPr txBox="1"/>
          <p:nvPr/>
        </p:nvSpPr>
        <p:spPr>
          <a:xfrm>
            <a:off x="965200" y="5025628"/>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Lesson</a:t>
            </a:r>
          </a:p>
        </p:txBody>
      </p:sp>
      <p:sp>
        <p:nvSpPr>
          <p:cNvPr id="69" name="Rectangle 68"/>
          <p:cNvSpPr/>
          <p:nvPr/>
        </p:nvSpPr>
        <p:spPr>
          <a:xfrm>
            <a:off x="2375495" y="4917678"/>
            <a:ext cx="2532559" cy="1324372"/>
          </a:xfrm>
          <a:prstGeom prst="rect">
            <a:avLst/>
          </a:prstGeom>
          <a:noFill/>
          <a:ln>
            <a:noFill/>
          </a:ln>
          <a:effectLst/>
        </p:spPr>
        <p:txBody>
          <a:bodyPr rtlCol="0" anchor="ctr"/>
          <a:lstStyle/>
          <a:p>
            <a:pPr algn="ctr"/>
          </a:p>
        </p:txBody>
      </p:sp>
      <p:sp>
        <p:nvSpPr>
          <p:cNvPr id="70" name="Rectangle 69"/>
          <p:cNvSpPr/>
          <p:nvPr/>
        </p:nvSpPr>
        <p:spPr>
          <a:xfrm>
            <a:off x="2375495" y="6229350"/>
            <a:ext cx="2532559" cy="12700"/>
          </a:xfrm>
          <a:prstGeom prst="rect">
            <a:avLst/>
          </a:prstGeom>
          <a:solidFill>
            <a:srgbClr val="6B4A52">
              <a:alpha val="45000"/>
            </a:srgbClr>
          </a:solidFill>
          <a:ln>
            <a:noFill/>
          </a:ln>
          <a:effectLst/>
        </p:spPr>
        <p:txBody>
          <a:bodyPr rtlCol="0" anchor="ctr"/>
          <a:lstStyle/>
          <a:p>
            <a:pPr algn="ctr"/>
          </a:p>
        </p:txBody>
      </p:sp>
      <p:sp>
        <p:nvSpPr>
          <p:cNvPr id="71" name="TextBox 70"/>
          <p:cNvSpPr txBox="1"/>
          <p:nvPr/>
        </p:nvSpPr>
        <p:spPr>
          <a:xfrm>
            <a:off x="2527895" y="5051028"/>
            <a:ext cx="2253159" cy="732730"/>
          </a:xfrm>
          <a:prstGeom prst="rect">
            <a:avLst/>
          </a:prstGeom>
          <a:noFill/>
        </p:spPr>
        <p:txBody>
          <a:bodyPr wrap="square" lIns="0" rIns="0" tIns="0" bIns="0" anchor="ctr">
            <a:noAutofit/>
          </a:bodyPr>
          <a:lstStyle/>
          <a:p>
            <a:pPr algn="l">
              <a:lnSpc>
                <a:spcPts val="3120"/>
              </a:lnSpc>
            </a:pPr>
            <a:r>
              <a:rPr sz="2400" b="0" i="0">
                <a:solidFill>
                  <a:srgbClr val="861F41"/>
                </a:solidFill>
                <a:latin typeface="Georgia"/>
              </a:rPr>
              <a:t>Define before you build</a:t>
            </a:r>
          </a:p>
        </p:txBody>
      </p:sp>
      <p:sp>
        <p:nvSpPr>
          <p:cNvPr id="72" name="Rectangle 71"/>
          <p:cNvSpPr/>
          <p:nvPr/>
        </p:nvSpPr>
        <p:spPr>
          <a:xfrm>
            <a:off x="4908054" y="4917678"/>
            <a:ext cx="3239195" cy="1324372"/>
          </a:xfrm>
          <a:prstGeom prst="rect">
            <a:avLst/>
          </a:prstGeom>
          <a:noFill/>
          <a:ln>
            <a:noFill/>
          </a:ln>
          <a:effectLst/>
        </p:spPr>
        <p:txBody>
          <a:bodyPr rtlCol="0" anchor="ctr"/>
          <a:lstStyle/>
          <a:p>
            <a:pPr algn="ctr"/>
          </a:p>
        </p:txBody>
      </p:sp>
      <p:sp>
        <p:nvSpPr>
          <p:cNvPr id="73" name="Rectangle 72"/>
          <p:cNvSpPr/>
          <p:nvPr/>
        </p:nvSpPr>
        <p:spPr>
          <a:xfrm>
            <a:off x="4908054" y="6229350"/>
            <a:ext cx="3239195" cy="12700"/>
          </a:xfrm>
          <a:prstGeom prst="rect">
            <a:avLst/>
          </a:prstGeom>
          <a:solidFill>
            <a:srgbClr val="6B4A52">
              <a:alpha val="45000"/>
            </a:srgbClr>
          </a:solidFill>
          <a:ln>
            <a:noFill/>
          </a:ln>
          <a:effectLst/>
        </p:spPr>
        <p:txBody>
          <a:bodyPr rtlCol="0" anchor="ctr"/>
          <a:lstStyle/>
          <a:p>
            <a:pPr algn="ctr"/>
          </a:p>
        </p:txBody>
      </p:sp>
      <p:sp>
        <p:nvSpPr>
          <p:cNvPr id="74" name="TextBox 73"/>
          <p:cNvSpPr txBox="1"/>
          <p:nvPr/>
        </p:nvSpPr>
        <p:spPr>
          <a:xfrm>
            <a:off x="5060454" y="5051028"/>
            <a:ext cx="2959795" cy="732730"/>
          </a:xfrm>
          <a:prstGeom prst="rect">
            <a:avLst/>
          </a:prstGeom>
          <a:noFill/>
        </p:spPr>
        <p:txBody>
          <a:bodyPr wrap="square" lIns="0" rIns="0" tIns="0" bIns="0" anchor="ctr">
            <a:noAutofit/>
          </a:bodyPr>
          <a:lstStyle/>
          <a:p>
            <a:pPr algn="l">
              <a:lnSpc>
                <a:spcPts val="3120"/>
              </a:lnSpc>
            </a:pPr>
            <a:r>
              <a:rPr sz="2400" b="0" i="0">
                <a:solidFill>
                  <a:srgbClr val="861F41"/>
                </a:solidFill>
                <a:latin typeface="Georgia"/>
              </a:rPr>
              <a:t>Clear contracts make reuse cheap</a:t>
            </a:r>
          </a:p>
        </p:txBody>
      </p:sp>
      <p:sp>
        <p:nvSpPr>
          <p:cNvPr id="75" name="Rectangle 74"/>
          <p:cNvSpPr/>
          <p:nvPr/>
        </p:nvSpPr>
        <p:spPr>
          <a:xfrm>
            <a:off x="8147248" y="4917678"/>
            <a:ext cx="3231952" cy="1324372"/>
          </a:xfrm>
          <a:prstGeom prst="rect">
            <a:avLst/>
          </a:prstGeom>
          <a:noFill/>
          <a:ln>
            <a:noFill/>
          </a:ln>
          <a:effectLst/>
        </p:spPr>
        <p:txBody>
          <a:bodyPr rtlCol="0" anchor="ctr"/>
          <a:lstStyle/>
          <a:p>
            <a:pPr algn="ctr"/>
          </a:p>
        </p:txBody>
      </p:sp>
      <p:sp>
        <p:nvSpPr>
          <p:cNvPr id="76" name="Rectangle 75"/>
          <p:cNvSpPr/>
          <p:nvPr/>
        </p:nvSpPr>
        <p:spPr>
          <a:xfrm>
            <a:off x="8147248" y="6229350"/>
            <a:ext cx="3231952" cy="12700"/>
          </a:xfrm>
          <a:prstGeom prst="rect">
            <a:avLst/>
          </a:prstGeom>
          <a:solidFill>
            <a:srgbClr val="6B4A52">
              <a:alpha val="13500"/>
            </a:srgbClr>
          </a:solidFill>
          <a:ln>
            <a:noFill/>
          </a:ln>
          <a:effectLst/>
        </p:spPr>
        <p:txBody>
          <a:bodyPr rtlCol="0" anchor="ctr"/>
          <a:lstStyle/>
          <a:p>
            <a:pPr algn="ctr"/>
          </a:p>
        </p:txBody>
      </p:sp>
      <p:sp>
        <p:nvSpPr>
          <p:cNvPr id="77" name="TextBox 76"/>
          <p:cNvSpPr txBox="1"/>
          <p:nvPr/>
        </p:nvSpPr>
        <p:spPr>
          <a:xfrm>
            <a:off x="8299648" y="5051028"/>
            <a:ext cx="2952552" cy="732730"/>
          </a:xfrm>
          <a:prstGeom prst="rect">
            <a:avLst/>
          </a:prstGeom>
          <a:noFill/>
        </p:spPr>
        <p:txBody>
          <a:bodyPr wrap="square" lIns="0" rIns="0" tIns="0" bIns="0" anchor="ctr">
            <a:noAutofit/>
          </a:bodyPr>
          <a:lstStyle/>
          <a:p>
            <a:pPr algn="l">
              <a:lnSpc>
                <a:spcPts val="3120"/>
              </a:lnSpc>
            </a:pPr>
            <a:r>
              <a:rPr sz="2400" b="0" i="0">
                <a:solidFill>
                  <a:srgbClr val="861F41">
                    <a:alpha val="30000"/>
                  </a:srgbClr>
                </a:solidFill>
                <a:latin typeface="Georgia"/>
              </a:rPr>
              <a:t>Good boundaries absorb change</a:t>
            </a:r>
          </a:p>
        </p:txBody>
      </p:sp>
      <p:sp>
        <p:nvSpPr>
          <p:cNvPr id="78" name="Rounded Rectangle 77"/>
          <p:cNvSpPr/>
          <p:nvPr/>
        </p:nvSpPr>
        <p:spPr>
          <a:xfrm>
            <a:off x="10900271" y="6286500"/>
            <a:ext cx="986929" cy="368300"/>
          </a:xfrm>
          <a:prstGeom prst="roundRect">
            <a:avLst>
              <a:gd name="adj" fmla="val 50000"/>
            </a:avLst>
          </a:prstGeom>
          <a:solidFill>
            <a:srgbClr val="E9E3E4"/>
          </a:solidFill>
          <a:ln>
            <a:noFill/>
          </a:ln>
          <a:effectLst/>
        </p:spPr>
        <p:txBody>
          <a:bodyPr rtlCol="0" anchor="ctr"/>
          <a:lstStyle/>
          <a:p>
            <a:pPr algn="ctr"/>
          </a:p>
        </p:txBody>
      </p:sp>
      <p:sp>
        <p:nvSpPr>
          <p:cNvPr id="79" name="TextBox 78"/>
          <p:cNvSpPr txBox="1"/>
          <p:nvPr/>
        </p:nvSpPr>
        <p:spPr>
          <a:xfrm>
            <a:off x="11052671" y="6337300"/>
            <a:ext cx="682129"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11 / 28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The Project Structure</a:t>
            </a:r>
          </a:p>
        </p:txBody>
      </p:sp>
      <p:sp>
        <p:nvSpPr>
          <p:cNvPr id="4" name="Rectangle 3"/>
          <p:cNvSpPr/>
          <p:nvPr/>
        </p:nvSpPr>
        <p:spPr>
          <a:xfrm>
            <a:off x="812800" y="1498600"/>
            <a:ext cx="1562695" cy="883841"/>
          </a:xfrm>
          <a:prstGeom prst="rect">
            <a:avLst/>
          </a:prstGeom>
          <a:noFill/>
          <a:ln>
            <a:noFill/>
          </a:ln>
          <a:effectLst/>
        </p:spPr>
        <p:txBody>
          <a:bodyPr rtlCol="0" anchor="ctr"/>
          <a:lstStyle/>
          <a:p>
            <a:pPr algn="ctr"/>
          </a:p>
        </p:txBody>
      </p:sp>
      <p:sp>
        <p:nvSpPr>
          <p:cNvPr id="5" name="Rectangle 4"/>
          <p:cNvSpPr/>
          <p:nvPr/>
        </p:nvSpPr>
        <p:spPr>
          <a:xfrm>
            <a:off x="812800" y="2369741"/>
            <a:ext cx="1562695" cy="12700"/>
          </a:xfrm>
          <a:prstGeom prst="rect">
            <a:avLst/>
          </a:prstGeom>
          <a:solidFill>
            <a:srgbClr val="6B4A52">
              <a:alpha val="45000"/>
            </a:srgbClr>
          </a:solidFill>
          <a:ln>
            <a:noFill/>
          </a:ln>
          <a:effectLst/>
        </p:spPr>
        <p:txBody>
          <a:bodyPr rtlCol="0" anchor="ctr"/>
          <a:lstStyle/>
          <a:p>
            <a:pPr algn="ctr"/>
          </a:p>
        </p:txBody>
      </p:sp>
      <p:sp>
        <p:nvSpPr>
          <p:cNvPr id="6" name="Rectangle 5"/>
          <p:cNvSpPr/>
          <p:nvPr/>
        </p:nvSpPr>
        <p:spPr>
          <a:xfrm>
            <a:off x="2375495" y="1498600"/>
            <a:ext cx="2532559" cy="883841"/>
          </a:xfrm>
          <a:prstGeom prst="rect">
            <a:avLst/>
          </a:prstGeom>
          <a:noFill/>
          <a:ln>
            <a:noFill/>
          </a:ln>
          <a:effectLst/>
        </p:spPr>
        <p:txBody>
          <a:bodyPr rtlCol="0" anchor="ctr"/>
          <a:lstStyle/>
          <a:p>
            <a:pPr algn="ctr"/>
          </a:p>
        </p:txBody>
      </p:sp>
      <p:sp>
        <p:nvSpPr>
          <p:cNvPr id="7" name="Rectangle 6"/>
          <p:cNvSpPr/>
          <p:nvPr/>
        </p:nvSpPr>
        <p:spPr>
          <a:xfrm>
            <a:off x="2375495" y="1498600"/>
            <a:ext cx="2532559" cy="50800"/>
          </a:xfrm>
          <a:prstGeom prst="rect">
            <a:avLst/>
          </a:prstGeom>
          <a:solidFill>
            <a:srgbClr val="B35510"/>
          </a:solidFill>
          <a:ln>
            <a:noFill/>
          </a:ln>
          <a:effectLst/>
        </p:spPr>
        <p:txBody>
          <a:bodyPr rtlCol="0" anchor="ctr"/>
          <a:lstStyle/>
          <a:p>
            <a:pPr algn="ctr"/>
          </a:p>
        </p:txBody>
      </p:sp>
      <p:sp>
        <p:nvSpPr>
          <p:cNvPr id="8" name="Rectangle 7"/>
          <p:cNvSpPr/>
          <p:nvPr/>
        </p:nvSpPr>
        <p:spPr>
          <a:xfrm>
            <a:off x="2375495" y="2369741"/>
            <a:ext cx="2532559" cy="12700"/>
          </a:xfrm>
          <a:prstGeom prst="rect">
            <a:avLst/>
          </a:prstGeom>
          <a:solidFill>
            <a:srgbClr val="6B4A52">
              <a:alpha val="45000"/>
            </a:srgbClr>
          </a:solidFill>
          <a:ln>
            <a:noFill/>
          </a:ln>
          <a:effectLst/>
        </p:spPr>
        <p:txBody>
          <a:bodyPr rtlCol="0" anchor="ctr"/>
          <a:lstStyle/>
          <a:p>
            <a:pPr algn="ctr"/>
          </a:p>
        </p:txBody>
      </p:sp>
      <p:sp>
        <p:nvSpPr>
          <p:cNvPr id="9" name="TextBox 8"/>
          <p:cNvSpPr txBox="1"/>
          <p:nvPr/>
        </p:nvSpPr>
        <p:spPr>
          <a:xfrm>
            <a:off x="2527895" y="1676400"/>
            <a:ext cx="2227759"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Roboto Mono"/>
              </a:rPr>
              <a:t>P1</a:t>
            </a:r>
          </a:p>
        </p:txBody>
      </p:sp>
      <p:sp>
        <p:nvSpPr>
          <p:cNvPr id="10" name="Rectangle 9"/>
          <p:cNvSpPr/>
          <p:nvPr/>
        </p:nvSpPr>
        <p:spPr>
          <a:xfrm>
            <a:off x="4908054" y="1498600"/>
            <a:ext cx="3239195" cy="883841"/>
          </a:xfrm>
          <a:prstGeom prst="rect">
            <a:avLst/>
          </a:prstGeom>
          <a:noFill/>
          <a:ln>
            <a:noFill/>
          </a:ln>
          <a:effectLst/>
        </p:spPr>
        <p:txBody>
          <a:bodyPr rtlCol="0" anchor="ctr"/>
          <a:lstStyle/>
          <a:p>
            <a:pPr algn="ctr"/>
          </a:p>
        </p:txBody>
      </p:sp>
      <p:sp>
        <p:nvSpPr>
          <p:cNvPr id="11" name="Rectangle 10"/>
          <p:cNvSpPr/>
          <p:nvPr/>
        </p:nvSpPr>
        <p:spPr>
          <a:xfrm>
            <a:off x="4908054" y="1498600"/>
            <a:ext cx="3239195" cy="50800"/>
          </a:xfrm>
          <a:prstGeom prst="rect">
            <a:avLst/>
          </a:prstGeom>
          <a:solidFill>
            <a:srgbClr val="9D3A29"/>
          </a:solidFill>
          <a:ln>
            <a:noFill/>
          </a:ln>
          <a:effectLst/>
        </p:spPr>
        <p:txBody>
          <a:bodyPr rtlCol="0" anchor="ctr"/>
          <a:lstStyle/>
          <a:p>
            <a:pPr algn="ctr"/>
          </a:p>
        </p:txBody>
      </p:sp>
      <p:sp>
        <p:nvSpPr>
          <p:cNvPr id="12" name="Rectangle 11"/>
          <p:cNvSpPr/>
          <p:nvPr/>
        </p:nvSpPr>
        <p:spPr>
          <a:xfrm>
            <a:off x="4908054" y="2369741"/>
            <a:ext cx="3239195" cy="12700"/>
          </a:xfrm>
          <a:prstGeom prst="rect">
            <a:avLst/>
          </a:prstGeom>
          <a:solidFill>
            <a:srgbClr val="6B4A52">
              <a:alpha val="45000"/>
            </a:srgbClr>
          </a:solidFill>
          <a:ln>
            <a:noFill/>
          </a:ln>
          <a:effectLst/>
        </p:spPr>
        <p:txBody>
          <a:bodyPr rtlCol="0" anchor="ctr"/>
          <a:lstStyle/>
          <a:p>
            <a:pPr algn="ctr"/>
          </a:p>
        </p:txBody>
      </p:sp>
      <p:sp>
        <p:nvSpPr>
          <p:cNvPr id="13" name="TextBox 12"/>
          <p:cNvSpPr txBox="1"/>
          <p:nvPr/>
        </p:nvSpPr>
        <p:spPr>
          <a:xfrm>
            <a:off x="5060454" y="1676400"/>
            <a:ext cx="2934395" cy="274320"/>
          </a:xfrm>
          <a:prstGeom prst="rect">
            <a:avLst/>
          </a:prstGeom>
          <a:noFill/>
        </p:spPr>
        <p:txBody>
          <a:bodyPr wrap="none" lIns="0" rIns="0" tIns="0" bIns="0" anchor="ctr">
            <a:noAutofit/>
          </a:bodyPr>
          <a:lstStyle/>
          <a:p>
            <a:pPr algn="l">
              <a:lnSpc>
                <a:spcPts val="2610"/>
              </a:lnSpc>
            </a:pPr>
            <a:r>
              <a:rPr sz="1800" b="0" i="0">
                <a:solidFill>
                  <a:srgbClr val="9D3A29"/>
                </a:solidFill>
                <a:latin typeface="Roboto Mono"/>
              </a:rPr>
              <a:t>P2</a:t>
            </a:r>
          </a:p>
        </p:txBody>
      </p:sp>
      <p:sp>
        <p:nvSpPr>
          <p:cNvPr id="14" name="Rectangle 13"/>
          <p:cNvSpPr/>
          <p:nvPr/>
        </p:nvSpPr>
        <p:spPr>
          <a:xfrm>
            <a:off x="8147248" y="1498600"/>
            <a:ext cx="3231952" cy="883841"/>
          </a:xfrm>
          <a:prstGeom prst="rect">
            <a:avLst/>
          </a:prstGeom>
          <a:noFill/>
          <a:ln>
            <a:noFill/>
          </a:ln>
          <a:effectLst/>
        </p:spPr>
        <p:txBody>
          <a:bodyPr rtlCol="0" anchor="ctr"/>
          <a:lstStyle/>
          <a:p>
            <a:pPr algn="ctr"/>
          </a:p>
        </p:txBody>
      </p:sp>
      <p:sp>
        <p:nvSpPr>
          <p:cNvPr id="15" name="Rectangle 14"/>
          <p:cNvSpPr/>
          <p:nvPr/>
        </p:nvSpPr>
        <p:spPr>
          <a:xfrm>
            <a:off x="8147248" y="1498600"/>
            <a:ext cx="3231952" cy="50800"/>
          </a:xfrm>
          <a:prstGeom prst="rect">
            <a:avLst/>
          </a:prstGeom>
          <a:solidFill>
            <a:srgbClr val="1C6091"/>
          </a:solidFill>
          <a:ln>
            <a:noFill/>
          </a:ln>
          <a:effectLst/>
        </p:spPr>
        <p:txBody>
          <a:bodyPr rtlCol="0" anchor="ctr"/>
          <a:lstStyle/>
          <a:p>
            <a:pPr algn="ctr"/>
          </a:p>
        </p:txBody>
      </p:sp>
      <p:sp>
        <p:nvSpPr>
          <p:cNvPr id="16" name="Rectangle 15"/>
          <p:cNvSpPr/>
          <p:nvPr/>
        </p:nvSpPr>
        <p:spPr>
          <a:xfrm>
            <a:off x="8147248" y="2369741"/>
            <a:ext cx="3231952" cy="12700"/>
          </a:xfrm>
          <a:prstGeom prst="rect">
            <a:avLst/>
          </a:prstGeom>
          <a:solidFill>
            <a:srgbClr val="6B4A52">
              <a:alpha val="45000"/>
            </a:srgbClr>
          </a:solidFill>
          <a:ln>
            <a:noFill/>
          </a:ln>
          <a:effectLst/>
        </p:spPr>
        <p:txBody>
          <a:bodyPr rtlCol="0" anchor="ctr"/>
          <a:lstStyle/>
          <a:p>
            <a:pPr algn="ctr"/>
          </a:p>
        </p:txBody>
      </p:sp>
      <p:sp>
        <p:nvSpPr>
          <p:cNvPr id="17" name="TextBox 16"/>
          <p:cNvSpPr txBox="1"/>
          <p:nvPr/>
        </p:nvSpPr>
        <p:spPr>
          <a:xfrm>
            <a:off x="8299648" y="1676400"/>
            <a:ext cx="2927152" cy="274320"/>
          </a:xfrm>
          <a:prstGeom prst="rect">
            <a:avLst/>
          </a:prstGeom>
          <a:noFill/>
        </p:spPr>
        <p:txBody>
          <a:bodyPr wrap="none" lIns="0" rIns="0" tIns="0" bIns="0" anchor="ctr">
            <a:noAutofit/>
          </a:bodyPr>
          <a:lstStyle/>
          <a:p>
            <a:pPr algn="l">
              <a:lnSpc>
                <a:spcPts val="2610"/>
              </a:lnSpc>
            </a:pPr>
            <a:r>
              <a:rPr sz="1800" b="0" i="0">
                <a:solidFill>
                  <a:srgbClr val="1C6091"/>
                </a:solidFill>
                <a:latin typeface="Roboto Mono"/>
              </a:rPr>
              <a:t>P3</a:t>
            </a:r>
          </a:p>
        </p:txBody>
      </p:sp>
      <p:sp>
        <p:nvSpPr>
          <p:cNvPr id="18" name="Rectangle 17"/>
          <p:cNvSpPr/>
          <p:nvPr/>
        </p:nvSpPr>
        <p:spPr>
          <a:xfrm>
            <a:off x="812800" y="2382441"/>
            <a:ext cx="1562695" cy="633809"/>
          </a:xfrm>
          <a:prstGeom prst="rect">
            <a:avLst/>
          </a:prstGeom>
          <a:noFill/>
          <a:ln>
            <a:noFill/>
          </a:ln>
          <a:effectLst/>
        </p:spPr>
        <p:txBody>
          <a:bodyPr rtlCol="0" anchor="ctr"/>
          <a:lstStyle/>
          <a:p>
            <a:pPr algn="ctr"/>
          </a:p>
        </p:txBody>
      </p:sp>
      <p:sp>
        <p:nvSpPr>
          <p:cNvPr id="19" name="Rectangle 18"/>
          <p:cNvSpPr/>
          <p:nvPr/>
        </p:nvSpPr>
        <p:spPr>
          <a:xfrm>
            <a:off x="812800" y="3003550"/>
            <a:ext cx="1562695" cy="12700"/>
          </a:xfrm>
          <a:prstGeom prst="rect">
            <a:avLst/>
          </a:prstGeom>
          <a:solidFill>
            <a:srgbClr val="6B4A52">
              <a:alpha val="45000"/>
            </a:srgbClr>
          </a:solidFill>
          <a:ln>
            <a:noFill/>
          </a:ln>
          <a:effectLst/>
        </p:spPr>
        <p:txBody>
          <a:bodyPr rtlCol="0" anchor="ctr"/>
          <a:lstStyle/>
          <a:p>
            <a:pPr algn="ctr"/>
          </a:p>
        </p:txBody>
      </p:sp>
      <p:sp>
        <p:nvSpPr>
          <p:cNvPr id="20" name="TextBox 19"/>
          <p:cNvSpPr txBox="1"/>
          <p:nvPr/>
        </p:nvSpPr>
        <p:spPr>
          <a:xfrm>
            <a:off x="965200" y="2490391"/>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Core</a:t>
            </a:r>
          </a:p>
        </p:txBody>
      </p:sp>
      <p:sp>
        <p:nvSpPr>
          <p:cNvPr id="21" name="Rectangle 20"/>
          <p:cNvSpPr/>
          <p:nvPr/>
        </p:nvSpPr>
        <p:spPr>
          <a:xfrm>
            <a:off x="2375495" y="2382441"/>
            <a:ext cx="2532559" cy="633809"/>
          </a:xfrm>
          <a:prstGeom prst="rect">
            <a:avLst/>
          </a:prstGeom>
          <a:noFill/>
          <a:ln>
            <a:noFill/>
          </a:ln>
          <a:effectLst/>
        </p:spPr>
        <p:txBody>
          <a:bodyPr rtlCol="0" anchor="ctr"/>
          <a:lstStyle/>
          <a:p>
            <a:pPr algn="ctr"/>
          </a:p>
        </p:txBody>
      </p:sp>
      <p:sp>
        <p:nvSpPr>
          <p:cNvPr id="22" name="Rectangle 21"/>
          <p:cNvSpPr/>
          <p:nvPr/>
        </p:nvSpPr>
        <p:spPr>
          <a:xfrm>
            <a:off x="2375495" y="3003550"/>
            <a:ext cx="2532559" cy="12700"/>
          </a:xfrm>
          <a:prstGeom prst="rect">
            <a:avLst/>
          </a:prstGeom>
          <a:solidFill>
            <a:srgbClr val="6B4A52">
              <a:alpha val="45000"/>
            </a:srgbClr>
          </a:solidFill>
          <a:ln>
            <a:noFill/>
          </a:ln>
          <a:effectLst/>
        </p:spPr>
        <p:txBody>
          <a:bodyPr rtlCol="0" anchor="ctr"/>
          <a:lstStyle/>
          <a:p>
            <a:pPr algn="ctr"/>
          </a:p>
        </p:txBody>
      </p:sp>
      <p:sp>
        <p:nvSpPr>
          <p:cNvPr id="23" name="TextBox 22"/>
          <p:cNvSpPr txBox="1"/>
          <p:nvPr/>
        </p:nvSpPr>
        <p:spPr>
          <a:xfrm>
            <a:off x="2527895" y="2490391"/>
            <a:ext cx="2227759"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Java + Exceptions</a:t>
            </a:r>
          </a:p>
        </p:txBody>
      </p:sp>
      <p:sp>
        <p:nvSpPr>
          <p:cNvPr id="24" name="Rectangle 23"/>
          <p:cNvSpPr/>
          <p:nvPr/>
        </p:nvSpPr>
        <p:spPr>
          <a:xfrm>
            <a:off x="4908054" y="2382441"/>
            <a:ext cx="3239195" cy="633809"/>
          </a:xfrm>
          <a:prstGeom prst="rect">
            <a:avLst/>
          </a:prstGeom>
          <a:noFill/>
          <a:ln>
            <a:noFill/>
          </a:ln>
          <a:effectLst/>
        </p:spPr>
        <p:txBody>
          <a:bodyPr rtlCol="0" anchor="ctr"/>
          <a:lstStyle/>
          <a:p>
            <a:pPr algn="ctr"/>
          </a:p>
        </p:txBody>
      </p:sp>
      <p:sp>
        <p:nvSpPr>
          <p:cNvPr id="25" name="Rectangle 24"/>
          <p:cNvSpPr/>
          <p:nvPr/>
        </p:nvSpPr>
        <p:spPr>
          <a:xfrm>
            <a:off x="4908054" y="3003550"/>
            <a:ext cx="3239195" cy="12700"/>
          </a:xfrm>
          <a:prstGeom prst="rect">
            <a:avLst/>
          </a:prstGeom>
          <a:solidFill>
            <a:srgbClr val="6B4A52">
              <a:alpha val="45000"/>
            </a:srgbClr>
          </a:solidFill>
          <a:ln>
            <a:noFill/>
          </a:ln>
          <a:effectLst/>
        </p:spPr>
        <p:txBody>
          <a:bodyPr rtlCol="0" anchor="ctr"/>
          <a:lstStyle/>
          <a:p>
            <a:pPr algn="ctr"/>
          </a:p>
        </p:txBody>
      </p:sp>
      <p:sp>
        <p:nvSpPr>
          <p:cNvPr id="26" name="TextBox 25"/>
          <p:cNvSpPr txBox="1"/>
          <p:nvPr/>
        </p:nvSpPr>
        <p:spPr>
          <a:xfrm>
            <a:off x="5060454" y="2490391"/>
            <a:ext cx="2934395"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Generic Bag&lt;T&gt;</a:t>
            </a:r>
          </a:p>
        </p:txBody>
      </p:sp>
      <p:sp>
        <p:nvSpPr>
          <p:cNvPr id="27" name="Rectangle 26"/>
          <p:cNvSpPr/>
          <p:nvPr/>
        </p:nvSpPr>
        <p:spPr>
          <a:xfrm>
            <a:off x="8147248" y="2382441"/>
            <a:ext cx="3231952" cy="633809"/>
          </a:xfrm>
          <a:prstGeom prst="rect">
            <a:avLst/>
          </a:prstGeom>
          <a:noFill/>
          <a:ln>
            <a:noFill/>
          </a:ln>
          <a:effectLst/>
        </p:spPr>
        <p:txBody>
          <a:bodyPr rtlCol="0" anchor="ctr"/>
          <a:lstStyle/>
          <a:p>
            <a:pPr algn="ctr"/>
          </a:p>
        </p:txBody>
      </p:sp>
      <p:sp>
        <p:nvSpPr>
          <p:cNvPr id="28" name="Rectangle 27"/>
          <p:cNvSpPr/>
          <p:nvPr/>
        </p:nvSpPr>
        <p:spPr>
          <a:xfrm>
            <a:off x="8147248" y="3003550"/>
            <a:ext cx="3231952" cy="12700"/>
          </a:xfrm>
          <a:prstGeom prst="rect">
            <a:avLst/>
          </a:prstGeom>
          <a:solidFill>
            <a:srgbClr val="6B4A52">
              <a:alpha val="45000"/>
            </a:srgbClr>
          </a:solidFill>
          <a:ln>
            <a:noFill/>
          </a:ln>
          <a:effectLst/>
        </p:spPr>
        <p:txBody>
          <a:bodyPr rtlCol="0" anchor="ctr"/>
          <a:lstStyle/>
          <a:p>
            <a:pPr algn="ctr"/>
          </a:p>
        </p:txBody>
      </p:sp>
      <p:sp>
        <p:nvSpPr>
          <p:cNvPr id="29" name="TextBox 28"/>
          <p:cNvSpPr txBox="1"/>
          <p:nvPr/>
        </p:nvSpPr>
        <p:spPr>
          <a:xfrm>
            <a:off x="8299648" y="2490391"/>
            <a:ext cx="2927152"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Queue + MVC</a:t>
            </a:r>
          </a:p>
        </p:txBody>
      </p:sp>
      <p:sp>
        <p:nvSpPr>
          <p:cNvPr id="30" name="Rectangle 29"/>
          <p:cNvSpPr/>
          <p:nvPr/>
        </p:nvSpPr>
        <p:spPr>
          <a:xfrm>
            <a:off x="812800" y="3016250"/>
            <a:ext cx="1562695" cy="633809"/>
          </a:xfrm>
          <a:prstGeom prst="rect">
            <a:avLst/>
          </a:prstGeom>
          <a:noFill/>
          <a:ln>
            <a:noFill/>
          </a:ln>
          <a:effectLst/>
        </p:spPr>
        <p:txBody>
          <a:bodyPr rtlCol="0" anchor="ctr"/>
          <a:lstStyle/>
          <a:p>
            <a:pPr algn="ctr"/>
          </a:p>
        </p:txBody>
      </p:sp>
      <p:sp>
        <p:nvSpPr>
          <p:cNvPr id="31" name="Rectangle 30"/>
          <p:cNvSpPr/>
          <p:nvPr/>
        </p:nvSpPr>
        <p:spPr>
          <a:xfrm>
            <a:off x="812800" y="3637359"/>
            <a:ext cx="1562695" cy="12700"/>
          </a:xfrm>
          <a:prstGeom prst="rect">
            <a:avLst/>
          </a:prstGeom>
          <a:solidFill>
            <a:srgbClr val="6B4A52">
              <a:alpha val="45000"/>
            </a:srgbClr>
          </a:solidFill>
          <a:ln>
            <a:noFill/>
          </a:ln>
          <a:effectLst/>
        </p:spPr>
        <p:txBody>
          <a:bodyPr rtlCol="0" anchor="ctr"/>
          <a:lstStyle/>
          <a:p>
            <a:pPr algn="ctr"/>
          </a:p>
        </p:txBody>
      </p:sp>
      <p:sp>
        <p:nvSpPr>
          <p:cNvPr id="32" name="TextBox 31"/>
          <p:cNvSpPr txBox="1"/>
          <p:nvPr/>
        </p:nvSpPr>
        <p:spPr>
          <a:xfrm>
            <a:off x="965200" y="3124200"/>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Weeks</a:t>
            </a:r>
          </a:p>
        </p:txBody>
      </p:sp>
      <p:sp>
        <p:nvSpPr>
          <p:cNvPr id="33" name="Rectangle 32"/>
          <p:cNvSpPr/>
          <p:nvPr/>
        </p:nvSpPr>
        <p:spPr>
          <a:xfrm>
            <a:off x="2375495" y="3016250"/>
            <a:ext cx="2532559" cy="633809"/>
          </a:xfrm>
          <a:prstGeom prst="rect">
            <a:avLst/>
          </a:prstGeom>
          <a:noFill/>
          <a:ln>
            <a:noFill/>
          </a:ln>
          <a:effectLst/>
        </p:spPr>
        <p:txBody>
          <a:bodyPr rtlCol="0" anchor="ctr"/>
          <a:lstStyle/>
          <a:p>
            <a:pPr algn="ctr"/>
          </a:p>
        </p:txBody>
      </p:sp>
      <p:sp>
        <p:nvSpPr>
          <p:cNvPr id="34" name="Rectangle 33"/>
          <p:cNvSpPr/>
          <p:nvPr/>
        </p:nvSpPr>
        <p:spPr>
          <a:xfrm>
            <a:off x="2375495" y="3637359"/>
            <a:ext cx="2532559" cy="12700"/>
          </a:xfrm>
          <a:prstGeom prst="rect">
            <a:avLst/>
          </a:prstGeom>
          <a:solidFill>
            <a:srgbClr val="6B4A52">
              <a:alpha val="45000"/>
            </a:srgbClr>
          </a:solidFill>
          <a:ln>
            <a:noFill/>
          </a:ln>
          <a:effectLst/>
        </p:spPr>
        <p:txBody>
          <a:bodyPr rtlCol="0" anchor="ctr"/>
          <a:lstStyle/>
          <a:p>
            <a:pPr algn="ctr"/>
          </a:p>
        </p:txBody>
      </p:sp>
      <p:sp>
        <p:nvSpPr>
          <p:cNvPr id="35" name="TextBox 34"/>
          <p:cNvSpPr txBox="1"/>
          <p:nvPr/>
        </p:nvSpPr>
        <p:spPr>
          <a:xfrm>
            <a:off x="2527895" y="3124200"/>
            <a:ext cx="2227759"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3–5</a:t>
            </a:r>
          </a:p>
        </p:txBody>
      </p:sp>
      <p:sp>
        <p:nvSpPr>
          <p:cNvPr id="36" name="Rectangle 35"/>
          <p:cNvSpPr/>
          <p:nvPr/>
        </p:nvSpPr>
        <p:spPr>
          <a:xfrm>
            <a:off x="4908054" y="3016250"/>
            <a:ext cx="3239195" cy="633809"/>
          </a:xfrm>
          <a:prstGeom prst="rect">
            <a:avLst/>
          </a:prstGeom>
          <a:noFill/>
          <a:ln>
            <a:noFill/>
          </a:ln>
          <a:effectLst/>
        </p:spPr>
        <p:txBody>
          <a:bodyPr rtlCol="0" anchor="ctr"/>
          <a:lstStyle/>
          <a:p>
            <a:pPr algn="ctr"/>
          </a:p>
        </p:txBody>
      </p:sp>
      <p:sp>
        <p:nvSpPr>
          <p:cNvPr id="37" name="Rectangle 36"/>
          <p:cNvSpPr/>
          <p:nvPr/>
        </p:nvSpPr>
        <p:spPr>
          <a:xfrm>
            <a:off x="4908054" y="3637359"/>
            <a:ext cx="3239195" cy="12700"/>
          </a:xfrm>
          <a:prstGeom prst="rect">
            <a:avLst/>
          </a:prstGeom>
          <a:solidFill>
            <a:srgbClr val="6B4A52">
              <a:alpha val="45000"/>
            </a:srgbClr>
          </a:solidFill>
          <a:ln>
            <a:noFill/>
          </a:ln>
          <a:effectLst/>
        </p:spPr>
        <p:txBody>
          <a:bodyPr rtlCol="0" anchor="ctr"/>
          <a:lstStyle/>
          <a:p>
            <a:pPr algn="ctr"/>
          </a:p>
        </p:txBody>
      </p:sp>
      <p:sp>
        <p:nvSpPr>
          <p:cNvPr id="38" name="TextBox 37"/>
          <p:cNvSpPr txBox="1"/>
          <p:nvPr/>
        </p:nvSpPr>
        <p:spPr>
          <a:xfrm>
            <a:off x="5060454" y="3124200"/>
            <a:ext cx="2934395"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6–9</a:t>
            </a:r>
          </a:p>
        </p:txBody>
      </p:sp>
      <p:sp>
        <p:nvSpPr>
          <p:cNvPr id="39" name="Rectangle 38"/>
          <p:cNvSpPr/>
          <p:nvPr/>
        </p:nvSpPr>
        <p:spPr>
          <a:xfrm>
            <a:off x="8147248" y="3016250"/>
            <a:ext cx="3231952" cy="633809"/>
          </a:xfrm>
          <a:prstGeom prst="rect">
            <a:avLst/>
          </a:prstGeom>
          <a:noFill/>
          <a:ln>
            <a:noFill/>
          </a:ln>
          <a:effectLst/>
        </p:spPr>
        <p:txBody>
          <a:bodyPr rtlCol="0" anchor="ctr"/>
          <a:lstStyle/>
          <a:p>
            <a:pPr algn="ctr"/>
          </a:p>
        </p:txBody>
      </p:sp>
      <p:sp>
        <p:nvSpPr>
          <p:cNvPr id="40" name="Rectangle 39"/>
          <p:cNvSpPr/>
          <p:nvPr/>
        </p:nvSpPr>
        <p:spPr>
          <a:xfrm>
            <a:off x="8147248" y="3637359"/>
            <a:ext cx="3231952" cy="12700"/>
          </a:xfrm>
          <a:prstGeom prst="rect">
            <a:avLst/>
          </a:prstGeom>
          <a:solidFill>
            <a:srgbClr val="6B4A52">
              <a:alpha val="45000"/>
            </a:srgbClr>
          </a:solidFill>
          <a:ln>
            <a:noFill/>
          </a:ln>
          <a:effectLst/>
        </p:spPr>
        <p:txBody>
          <a:bodyPr rtlCol="0" anchor="ctr"/>
          <a:lstStyle/>
          <a:p>
            <a:pPr algn="ctr"/>
          </a:p>
        </p:txBody>
      </p:sp>
      <p:sp>
        <p:nvSpPr>
          <p:cNvPr id="41" name="TextBox 40"/>
          <p:cNvSpPr txBox="1"/>
          <p:nvPr/>
        </p:nvSpPr>
        <p:spPr>
          <a:xfrm>
            <a:off x="8299648" y="3124200"/>
            <a:ext cx="2927152"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10–15</a:t>
            </a:r>
          </a:p>
        </p:txBody>
      </p:sp>
      <p:sp>
        <p:nvSpPr>
          <p:cNvPr id="42" name="Rectangle 41"/>
          <p:cNvSpPr/>
          <p:nvPr/>
        </p:nvSpPr>
        <p:spPr>
          <a:xfrm>
            <a:off x="812800" y="3650059"/>
            <a:ext cx="1562695" cy="633809"/>
          </a:xfrm>
          <a:prstGeom prst="rect">
            <a:avLst/>
          </a:prstGeom>
          <a:noFill/>
          <a:ln>
            <a:noFill/>
          </a:ln>
          <a:effectLst/>
        </p:spPr>
        <p:txBody>
          <a:bodyPr rtlCol="0" anchor="ctr"/>
          <a:lstStyle/>
          <a:p>
            <a:pPr algn="ctr"/>
          </a:p>
        </p:txBody>
      </p:sp>
      <p:sp>
        <p:nvSpPr>
          <p:cNvPr id="43" name="Rectangle 42"/>
          <p:cNvSpPr/>
          <p:nvPr/>
        </p:nvSpPr>
        <p:spPr>
          <a:xfrm>
            <a:off x="812800" y="4271169"/>
            <a:ext cx="1562695" cy="12700"/>
          </a:xfrm>
          <a:prstGeom prst="rect">
            <a:avLst/>
          </a:prstGeom>
          <a:solidFill>
            <a:srgbClr val="6B4A52">
              <a:alpha val="45000"/>
            </a:srgbClr>
          </a:solidFill>
          <a:ln>
            <a:noFill/>
          </a:ln>
          <a:effectLst/>
        </p:spPr>
        <p:txBody>
          <a:bodyPr rtlCol="0" anchor="ctr"/>
          <a:lstStyle/>
          <a:p>
            <a:pPr algn="ctr"/>
          </a:p>
        </p:txBody>
      </p:sp>
      <p:sp>
        <p:nvSpPr>
          <p:cNvPr id="44" name="TextBox 43"/>
          <p:cNvSpPr txBox="1"/>
          <p:nvPr/>
        </p:nvSpPr>
        <p:spPr>
          <a:xfrm>
            <a:off x="965200" y="3758009"/>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Teams</a:t>
            </a:r>
          </a:p>
        </p:txBody>
      </p:sp>
      <p:sp>
        <p:nvSpPr>
          <p:cNvPr id="45" name="Rectangle 44"/>
          <p:cNvSpPr/>
          <p:nvPr/>
        </p:nvSpPr>
        <p:spPr>
          <a:xfrm>
            <a:off x="2375495" y="3650059"/>
            <a:ext cx="2532559" cy="633809"/>
          </a:xfrm>
          <a:prstGeom prst="rect">
            <a:avLst/>
          </a:prstGeom>
          <a:noFill/>
          <a:ln>
            <a:noFill/>
          </a:ln>
          <a:effectLst/>
        </p:spPr>
        <p:txBody>
          <a:bodyPr rtlCol="0" anchor="ctr"/>
          <a:lstStyle/>
          <a:p>
            <a:pPr algn="ctr"/>
          </a:p>
        </p:txBody>
      </p:sp>
      <p:sp>
        <p:nvSpPr>
          <p:cNvPr id="46" name="Rectangle 45"/>
          <p:cNvSpPr/>
          <p:nvPr/>
        </p:nvSpPr>
        <p:spPr>
          <a:xfrm>
            <a:off x="2375495" y="4271169"/>
            <a:ext cx="2532559" cy="12700"/>
          </a:xfrm>
          <a:prstGeom prst="rect">
            <a:avLst/>
          </a:prstGeom>
          <a:solidFill>
            <a:srgbClr val="6B4A52">
              <a:alpha val="45000"/>
            </a:srgbClr>
          </a:solidFill>
          <a:ln>
            <a:noFill/>
          </a:ln>
          <a:effectLst/>
        </p:spPr>
        <p:txBody>
          <a:bodyPr rtlCol="0" anchor="ctr"/>
          <a:lstStyle/>
          <a:p>
            <a:pPr algn="ctr"/>
          </a:p>
        </p:txBody>
      </p:sp>
      <p:sp>
        <p:nvSpPr>
          <p:cNvPr id="47" name="TextBox 46"/>
          <p:cNvSpPr txBox="1"/>
          <p:nvPr/>
        </p:nvSpPr>
        <p:spPr>
          <a:xfrm>
            <a:off x="2527895" y="3758009"/>
            <a:ext cx="2227759"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Assigned, 3–4</a:t>
            </a:r>
          </a:p>
        </p:txBody>
      </p:sp>
      <p:sp>
        <p:nvSpPr>
          <p:cNvPr id="48" name="Rectangle 47"/>
          <p:cNvSpPr/>
          <p:nvPr/>
        </p:nvSpPr>
        <p:spPr>
          <a:xfrm>
            <a:off x="4908054" y="3650059"/>
            <a:ext cx="3239195" cy="633809"/>
          </a:xfrm>
          <a:prstGeom prst="rect">
            <a:avLst/>
          </a:prstGeom>
          <a:noFill/>
          <a:ln>
            <a:noFill/>
          </a:ln>
          <a:effectLst/>
        </p:spPr>
        <p:txBody>
          <a:bodyPr rtlCol="0" anchor="ctr"/>
          <a:lstStyle/>
          <a:p>
            <a:pPr algn="ctr"/>
          </a:p>
        </p:txBody>
      </p:sp>
      <p:sp>
        <p:nvSpPr>
          <p:cNvPr id="49" name="Rectangle 48"/>
          <p:cNvSpPr/>
          <p:nvPr/>
        </p:nvSpPr>
        <p:spPr>
          <a:xfrm>
            <a:off x="4908054" y="4271169"/>
            <a:ext cx="3239195" cy="12700"/>
          </a:xfrm>
          <a:prstGeom prst="rect">
            <a:avLst/>
          </a:prstGeom>
          <a:solidFill>
            <a:srgbClr val="6B4A52">
              <a:alpha val="45000"/>
            </a:srgbClr>
          </a:solidFill>
          <a:ln>
            <a:noFill/>
          </a:ln>
          <a:effectLst/>
        </p:spPr>
        <p:txBody>
          <a:bodyPr rtlCol="0" anchor="ctr"/>
          <a:lstStyle/>
          <a:p>
            <a:pPr algn="ctr"/>
          </a:p>
        </p:txBody>
      </p:sp>
      <p:sp>
        <p:nvSpPr>
          <p:cNvPr id="50" name="TextBox 49"/>
          <p:cNvSpPr txBox="1"/>
          <p:nvPr/>
        </p:nvSpPr>
        <p:spPr>
          <a:xfrm>
            <a:off x="5060454" y="3758009"/>
            <a:ext cx="2934395"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Re-form, 3–4</a:t>
            </a:r>
          </a:p>
        </p:txBody>
      </p:sp>
      <p:sp>
        <p:nvSpPr>
          <p:cNvPr id="51" name="Rectangle 50"/>
          <p:cNvSpPr/>
          <p:nvPr/>
        </p:nvSpPr>
        <p:spPr>
          <a:xfrm>
            <a:off x="8147248" y="3650059"/>
            <a:ext cx="3231952" cy="633809"/>
          </a:xfrm>
          <a:prstGeom prst="rect">
            <a:avLst/>
          </a:prstGeom>
          <a:noFill/>
          <a:ln>
            <a:noFill/>
          </a:ln>
          <a:effectLst/>
        </p:spPr>
        <p:txBody>
          <a:bodyPr rtlCol="0" anchor="ctr"/>
          <a:lstStyle/>
          <a:p>
            <a:pPr algn="ctr"/>
          </a:p>
        </p:txBody>
      </p:sp>
      <p:sp>
        <p:nvSpPr>
          <p:cNvPr id="52" name="Rectangle 51"/>
          <p:cNvSpPr/>
          <p:nvPr/>
        </p:nvSpPr>
        <p:spPr>
          <a:xfrm>
            <a:off x="8147248" y="4271169"/>
            <a:ext cx="3231952" cy="12700"/>
          </a:xfrm>
          <a:prstGeom prst="rect">
            <a:avLst/>
          </a:prstGeom>
          <a:solidFill>
            <a:srgbClr val="6B4A52">
              <a:alpha val="45000"/>
            </a:srgbClr>
          </a:solidFill>
          <a:ln>
            <a:noFill/>
          </a:ln>
          <a:effectLst/>
        </p:spPr>
        <p:txBody>
          <a:bodyPr rtlCol="0" anchor="ctr"/>
          <a:lstStyle/>
          <a:p>
            <a:pPr algn="ctr"/>
          </a:p>
        </p:txBody>
      </p:sp>
      <p:sp>
        <p:nvSpPr>
          <p:cNvPr id="53" name="TextBox 52"/>
          <p:cNvSpPr txBox="1"/>
          <p:nvPr/>
        </p:nvSpPr>
        <p:spPr>
          <a:xfrm>
            <a:off x="8299648" y="3758009"/>
            <a:ext cx="2927152"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Re-form, 3–4</a:t>
            </a:r>
          </a:p>
        </p:txBody>
      </p:sp>
      <p:sp>
        <p:nvSpPr>
          <p:cNvPr id="54" name="Rectangle 53"/>
          <p:cNvSpPr/>
          <p:nvPr/>
        </p:nvSpPr>
        <p:spPr>
          <a:xfrm>
            <a:off x="812800" y="4283869"/>
            <a:ext cx="1562695" cy="633809"/>
          </a:xfrm>
          <a:prstGeom prst="rect">
            <a:avLst/>
          </a:prstGeom>
          <a:noFill/>
          <a:ln>
            <a:noFill/>
          </a:ln>
          <a:effectLst/>
        </p:spPr>
        <p:txBody>
          <a:bodyPr rtlCol="0" anchor="ctr"/>
          <a:lstStyle/>
          <a:p>
            <a:pPr algn="ctr"/>
          </a:p>
        </p:txBody>
      </p:sp>
      <p:sp>
        <p:nvSpPr>
          <p:cNvPr id="55" name="Rectangle 54"/>
          <p:cNvSpPr/>
          <p:nvPr/>
        </p:nvSpPr>
        <p:spPr>
          <a:xfrm>
            <a:off x="812800" y="4904978"/>
            <a:ext cx="1562695" cy="12700"/>
          </a:xfrm>
          <a:prstGeom prst="rect">
            <a:avLst/>
          </a:prstGeom>
          <a:solidFill>
            <a:srgbClr val="6B4A52">
              <a:alpha val="45000"/>
            </a:srgbClr>
          </a:solidFill>
          <a:ln>
            <a:noFill/>
          </a:ln>
          <a:effectLst/>
        </p:spPr>
        <p:txBody>
          <a:bodyPr rtlCol="0" anchor="ctr"/>
          <a:lstStyle/>
          <a:p>
            <a:pPr algn="ctr"/>
          </a:p>
        </p:txBody>
      </p:sp>
      <p:sp>
        <p:nvSpPr>
          <p:cNvPr id="56" name="TextBox 55"/>
          <p:cNvSpPr txBox="1"/>
          <p:nvPr/>
        </p:nvSpPr>
        <p:spPr>
          <a:xfrm>
            <a:off x="965200" y="4391819"/>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Deliverables</a:t>
            </a:r>
          </a:p>
        </p:txBody>
      </p:sp>
      <p:sp>
        <p:nvSpPr>
          <p:cNvPr id="57" name="Rectangle 56"/>
          <p:cNvSpPr/>
          <p:nvPr/>
        </p:nvSpPr>
        <p:spPr>
          <a:xfrm>
            <a:off x="2375495" y="4283869"/>
            <a:ext cx="2532559" cy="633809"/>
          </a:xfrm>
          <a:prstGeom prst="rect">
            <a:avLst/>
          </a:prstGeom>
          <a:noFill/>
          <a:ln>
            <a:noFill/>
          </a:ln>
          <a:effectLst/>
        </p:spPr>
        <p:txBody>
          <a:bodyPr rtlCol="0" anchor="ctr"/>
          <a:lstStyle/>
          <a:p>
            <a:pPr algn="ctr"/>
          </a:p>
        </p:txBody>
      </p:sp>
      <p:sp>
        <p:nvSpPr>
          <p:cNvPr id="58" name="Rectangle 57"/>
          <p:cNvSpPr/>
          <p:nvPr/>
        </p:nvSpPr>
        <p:spPr>
          <a:xfrm>
            <a:off x="2375495" y="4904978"/>
            <a:ext cx="2532559" cy="12700"/>
          </a:xfrm>
          <a:prstGeom prst="rect">
            <a:avLst/>
          </a:prstGeom>
          <a:solidFill>
            <a:srgbClr val="6B4A52">
              <a:alpha val="45000"/>
            </a:srgbClr>
          </a:solidFill>
          <a:ln>
            <a:noFill/>
          </a:ln>
          <a:effectLst/>
        </p:spPr>
        <p:txBody>
          <a:bodyPr rtlCol="0" anchor="ctr"/>
          <a:lstStyle/>
          <a:p>
            <a:pPr algn="ctr"/>
          </a:p>
        </p:txBody>
      </p:sp>
      <p:sp>
        <p:nvSpPr>
          <p:cNvPr id="59" name="TextBox 58"/>
          <p:cNvSpPr txBox="1"/>
          <p:nvPr/>
        </p:nvSpPr>
        <p:spPr>
          <a:xfrm>
            <a:off x="2527895" y="4391819"/>
            <a:ext cx="2227759"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Scope · Spec · Final</a:t>
            </a:r>
          </a:p>
        </p:txBody>
      </p:sp>
      <p:sp>
        <p:nvSpPr>
          <p:cNvPr id="60" name="Rectangle 59"/>
          <p:cNvSpPr/>
          <p:nvPr/>
        </p:nvSpPr>
        <p:spPr>
          <a:xfrm>
            <a:off x="4908054" y="4283869"/>
            <a:ext cx="3239195" cy="633809"/>
          </a:xfrm>
          <a:prstGeom prst="rect">
            <a:avLst/>
          </a:prstGeom>
          <a:noFill/>
          <a:ln>
            <a:noFill/>
          </a:ln>
          <a:effectLst/>
        </p:spPr>
        <p:txBody>
          <a:bodyPr rtlCol="0" anchor="ctr"/>
          <a:lstStyle/>
          <a:p>
            <a:pPr algn="ctr"/>
          </a:p>
        </p:txBody>
      </p:sp>
      <p:sp>
        <p:nvSpPr>
          <p:cNvPr id="61" name="Rectangle 60"/>
          <p:cNvSpPr/>
          <p:nvPr/>
        </p:nvSpPr>
        <p:spPr>
          <a:xfrm>
            <a:off x="4908054" y="4904978"/>
            <a:ext cx="3239195" cy="12700"/>
          </a:xfrm>
          <a:prstGeom prst="rect">
            <a:avLst/>
          </a:prstGeom>
          <a:solidFill>
            <a:srgbClr val="6B4A52">
              <a:alpha val="45000"/>
            </a:srgbClr>
          </a:solidFill>
          <a:ln>
            <a:noFill/>
          </a:ln>
          <a:effectLst/>
        </p:spPr>
        <p:txBody>
          <a:bodyPr rtlCol="0" anchor="ctr"/>
          <a:lstStyle/>
          <a:p>
            <a:pPr algn="ctr"/>
          </a:p>
        </p:txBody>
      </p:sp>
      <p:sp>
        <p:nvSpPr>
          <p:cNvPr id="62" name="TextBox 61"/>
          <p:cNvSpPr txBox="1"/>
          <p:nvPr/>
        </p:nvSpPr>
        <p:spPr>
          <a:xfrm>
            <a:off x="5060454" y="4391819"/>
            <a:ext cx="2934395"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 Prototype + Tests</a:t>
            </a:r>
          </a:p>
        </p:txBody>
      </p:sp>
      <p:sp>
        <p:nvSpPr>
          <p:cNvPr id="63" name="Rectangle 62"/>
          <p:cNvSpPr/>
          <p:nvPr/>
        </p:nvSpPr>
        <p:spPr>
          <a:xfrm>
            <a:off x="8147248" y="4283869"/>
            <a:ext cx="3231952" cy="633809"/>
          </a:xfrm>
          <a:prstGeom prst="rect">
            <a:avLst/>
          </a:prstGeom>
          <a:noFill/>
          <a:ln>
            <a:noFill/>
          </a:ln>
          <a:effectLst/>
        </p:spPr>
        <p:txBody>
          <a:bodyPr rtlCol="0" anchor="ctr"/>
          <a:lstStyle/>
          <a:p>
            <a:pPr algn="ctr"/>
          </a:p>
        </p:txBody>
      </p:sp>
      <p:sp>
        <p:nvSpPr>
          <p:cNvPr id="64" name="Rectangle 63"/>
          <p:cNvSpPr/>
          <p:nvPr/>
        </p:nvSpPr>
        <p:spPr>
          <a:xfrm>
            <a:off x="8147248" y="4904978"/>
            <a:ext cx="3231952" cy="12700"/>
          </a:xfrm>
          <a:prstGeom prst="rect">
            <a:avLst/>
          </a:prstGeom>
          <a:solidFill>
            <a:srgbClr val="6B4A52">
              <a:alpha val="45000"/>
            </a:srgbClr>
          </a:solidFill>
          <a:ln>
            <a:noFill/>
          </a:ln>
          <a:effectLst/>
        </p:spPr>
        <p:txBody>
          <a:bodyPr rtlCol="0" anchor="ctr"/>
          <a:lstStyle/>
          <a:p>
            <a:pPr algn="ctr"/>
          </a:p>
        </p:txBody>
      </p:sp>
      <p:sp>
        <p:nvSpPr>
          <p:cNvPr id="65" name="TextBox 64"/>
          <p:cNvSpPr txBox="1"/>
          <p:nvPr/>
        </p:nvSpPr>
        <p:spPr>
          <a:xfrm>
            <a:off x="8299648" y="4391819"/>
            <a:ext cx="2927152" cy="274320"/>
          </a:xfrm>
          <a:prstGeom prst="rect">
            <a:avLst/>
          </a:prstGeom>
          <a:noFill/>
        </p:spPr>
        <p:txBody>
          <a:bodyPr wrap="none" lIns="0" rIns="0" tIns="0" bIns="0" anchor="ctr">
            <a:noAutofit/>
          </a:bodyPr>
          <a:lstStyle/>
          <a:p>
            <a:pPr algn="l">
              <a:lnSpc>
                <a:spcPts val="2160"/>
              </a:lnSpc>
            </a:pPr>
            <a:r>
              <a:rPr sz="1800" b="0" i="0">
                <a:solidFill>
                  <a:srgbClr val="2C1A1F"/>
                </a:solidFill>
                <a:latin typeface="Verdana"/>
              </a:rPr>
              <a:t>+ Second prototype</a:t>
            </a:r>
          </a:p>
        </p:txBody>
      </p:sp>
      <p:sp>
        <p:nvSpPr>
          <p:cNvPr id="66" name="Rectangle 65"/>
          <p:cNvSpPr/>
          <p:nvPr/>
        </p:nvSpPr>
        <p:spPr>
          <a:xfrm>
            <a:off x="812800" y="4917678"/>
            <a:ext cx="1562695" cy="1324372"/>
          </a:xfrm>
          <a:prstGeom prst="rect">
            <a:avLst/>
          </a:prstGeom>
          <a:noFill/>
          <a:ln>
            <a:noFill/>
          </a:ln>
          <a:effectLst/>
        </p:spPr>
        <p:txBody>
          <a:bodyPr rtlCol="0" anchor="ctr"/>
          <a:lstStyle/>
          <a:p>
            <a:pPr algn="ctr"/>
          </a:p>
        </p:txBody>
      </p:sp>
      <p:sp>
        <p:nvSpPr>
          <p:cNvPr id="67" name="Rectangle 66"/>
          <p:cNvSpPr/>
          <p:nvPr/>
        </p:nvSpPr>
        <p:spPr>
          <a:xfrm>
            <a:off x="812800" y="6229350"/>
            <a:ext cx="1562695" cy="12700"/>
          </a:xfrm>
          <a:prstGeom prst="rect">
            <a:avLst/>
          </a:prstGeom>
          <a:solidFill>
            <a:srgbClr val="6B4A52">
              <a:alpha val="45000"/>
            </a:srgbClr>
          </a:solidFill>
          <a:ln>
            <a:noFill/>
          </a:ln>
          <a:effectLst/>
        </p:spPr>
        <p:txBody>
          <a:bodyPr rtlCol="0" anchor="ctr"/>
          <a:lstStyle/>
          <a:p>
            <a:pPr algn="ctr"/>
          </a:p>
        </p:txBody>
      </p:sp>
      <p:sp>
        <p:nvSpPr>
          <p:cNvPr id="68" name="TextBox 67"/>
          <p:cNvSpPr txBox="1"/>
          <p:nvPr/>
        </p:nvSpPr>
        <p:spPr>
          <a:xfrm>
            <a:off x="965200" y="5025628"/>
            <a:ext cx="12578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Lesson</a:t>
            </a:r>
          </a:p>
        </p:txBody>
      </p:sp>
      <p:sp>
        <p:nvSpPr>
          <p:cNvPr id="69" name="Rectangle 68"/>
          <p:cNvSpPr/>
          <p:nvPr/>
        </p:nvSpPr>
        <p:spPr>
          <a:xfrm>
            <a:off x="2375495" y="4917678"/>
            <a:ext cx="2532559" cy="1324372"/>
          </a:xfrm>
          <a:prstGeom prst="rect">
            <a:avLst/>
          </a:prstGeom>
          <a:noFill/>
          <a:ln>
            <a:noFill/>
          </a:ln>
          <a:effectLst/>
        </p:spPr>
        <p:txBody>
          <a:bodyPr rtlCol="0" anchor="ctr"/>
          <a:lstStyle/>
          <a:p>
            <a:pPr algn="ctr"/>
          </a:p>
        </p:txBody>
      </p:sp>
      <p:sp>
        <p:nvSpPr>
          <p:cNvPr id="70" name="Rectangle 69"/>
          <p:cNvSpPr/>
          <p:nvPr/>
        </p:nvSpPr>
        <p:spPr>
          <a:xfrm>
            <a:off x="2375495" y="6229350"/>
            <a:ext cx="2532559" cy="12700"/>
          </a:xfrm>
          <a:prstGeom prst="rect">
            <a:avLst/>
          </a:prstGeom>
          <a:solidFill>
            <a:srgbClr val="6B4A52">
              <a:alpha val="45000"/>
            </a:srgbClr>
          </a:solidFill>
          <a:ln>
            <a:noFill/>
          </a:ln>
          <a:effectLst/>
        </p:spPr>
        <p:txBody>
          <a:bodyPr rtlCol="0" anchor="ctr"/>
          <a:lstStyle/>
          <a:p>
            <a:pPr algn="ctr"/>
          </a:p>
        </p:txBody>
      </p:sp>
      <p:sp>
        <p:nvSpPr>
          <p:cNvPr id="71" name="TextBox 70"/>
          <p:cNvSpPr txBox="1"/>
          <p:nvPr/>
        </p:nvSpPr>
        <p:spPr>
          <a:xfrm>
            <a:off x="2527895" y="5051028"/>
            <a:ext cx="2253159" cy="732730"/>
          </a:xfrm>
          <a:prstGeom prst="rect">
            <a:avLst/>
          </a:prstGeom>
          <a:noFill/>
        </p:spPr>
        <p:txBody>
          <a:bodyPr wrap="square" lIns="0" rIns="0" tIns="0" bIns="0" anchor="ctr">
            <a:noAutofit/>
          </a:bodyPr>
          <a:lstStyle/>
          <a:p>
            <a:pPr algn="l">
              <a:lnSpc>
                <a:spcPts val="3120"/>
              </a:lnSpc>
            </a:pPr>
            <a:r>
              <a:rPr sz="2400" b="0" i="0">
                <a:solidFill>
                  <a:srgbClr val="861F41"/>
                </a:solidFill>
                <a:latin typeface="Georgia"/>
              </a:rPr>
              <a:t>Define before you build</a:t>
            </a:r>
          </a:p>
        </p:txBody>
      </p:sp>
      <p:sp>
        <p:nvSpPr>
          <p:cNvPr id="72" name="Rectangle 71"/>
          <p:cNvSpPr/>
          <p:nvPr/>
        </p:nvSpPr>
        <p:spPr>
          <a:xfrm>
            <a:off x="4908054" y="4917678"/>
            <a:ext cx="3239195" cy="1324372"/>
          </a:xfrm>
          <a:prstGeom prst="rect">
            <a:avLst/>
          </a:prstGeom>
          <a:noFill/>
          <a:ln>
            <a:noFill/>
          </a:ln>
          <a:effectLst/>
        </p:spPr>
        <p:txBody>
          <a:bodyPr rtlCol="0" anchor="ctr"/>
          <a:lstStyle/>
          <a:p>
            <a:pPr algn="ctr"/>
          </a:p>
        </p:txBody>
      </p:sp>
      <p:sp>
        <p:nvSpPr>
          <p:cNvPr id="73" name="Rectangle 72"/>
          <p:cNvSpPr/>
          <p:nvPr/>
        </p:nvSpPr>
        <p:spPr>
          <a:xfrm>
            <a:off x="4908054" y="6229350"/>
            <a:ext cx="3239195" cy="12700"/>
          </a:xfrm>
          <a:prstGeom prst="rect">
            <a:avLst/>
          </a:prstGeom>
          <a:solidFill>
            <a:srgbClr val="6B4A52">
              <a:alpha val="45000"/>
            </a:srgbClr>
          </a:solidFill>
          <a:ln>
            <a:noFill/>
          </a:ln>
          <a:effectLst/>
        </p:spPr>
        <p:txBody>
          <a:bodyPr rtlCol="0" anchor="ctr"/>
          <a:lstStyle/>
          <a:p>
            <a:pPr algn="ctr"/>
          </a:p>
        </p:txBody>
      </p:sp>
      <p:sp>
        <p:nvSpPr>
          <p:cNvPr id="74" name="TextBox 73"/>
          <p:cNvSpPr txBox="1"/>
          <p:nvPr/>
        </p:nvSpPr>
        <p:spPr>
          <a:xfrm>
            <a:off x="5060454" y="5051028"/>
            <a:ext cx="2959795" cy="732730"/>
          </a:xfrm>
          <a:prstGeom prst="rect">
            <a:avLst/>
          </a:prstGeom>
          <a:noFill/>
        </p:spPr>
        <p:txBody>
          <a:bodyPr wrap="square" lIns="0" rIns="0" tIns="0" bIns="0" anchor="ctr">
            <a:noAutofit/>
          </a:bodyPr>
          <a:lstStyle/>
          <a:p>
            <a:pPr algn="l">
              <a:lnSpc>
                <a:spcPts val="3120"/>
              </a:lnSpc>
            </a:pPr>
            <a:r>
              <a:rPr sz="2400" b="0" i="0">
                <a:solidFill>
                  <a:srgbClr val="861F41"/>
                </a:solidFill>
                <a:latin typeface="Georgia"/>
              </a:rPr>
              <a:t>Clear contracts make reuse cheap</a:t>
            </a:r>
          </a:p>
        </p:txBody>
      </p:sp>
      <p:sp>
        <p:nvSpPr>
          <p:cNvPr id="75" name="Rectangle 74"/>
          <p:cNvSpPr/>
          <p:nvPr/>
        </p:nvSpPr>
        <p:spPr>
          <a:xfrm>
            <a:off x="8147248" y="4917678"/>
            <a:ext cx="3231952" cy="1324372"/>
          </a:xfrm>
          <a:prstGeom prst="rect">
            <a:avLst/>
          </a:prstGeom>
          <a:noFill/>
          <a:ln>
            <a:noFill/>
          </a:ln>
          <a:effectLst/>
        </p:spPr>
        <p:txBody>
          <a:bodyPr rtlCol="0" anchor="ctr"/>
          <a:lstStyle/>
          <a:p>
            <a:pPr algn="ctr"/>
          </a:p>
        </p:txBody>
      </p:sp>
      <p:sp>
        <p:nvSpPr>
          <p:cNvPr id="76" name="Rectangle 75"/>
          <p:cNvSpPr/>
          <p:nvPr/>
        </p:nvSpPr>
        <p:spPr>
          <a:xfrm>
            <a:off x="8147248" y="6229350"/>
            <a:ext cx="3231952" cy="12700"/>
          </a:xfrm>
          <a:prstGeom prst="rect">
            <a:avLst/>
          </a:prstGeom>
          <a:solidFill>
            <a:srgbClr val="6B4A52">
              <a:alpha val="45000"/>
            </a:srgbClr>
          </a:solidFill>
          <a:ln>
            <a:noFill/>
          </a:ln>
          <a:effectLst/>
        </p:spPr>
        <p:txBody>
          <a:bodyPr rtlCol="0" anchor="ctr"/>
          <a:lstStyle/>
          <a:p>
            <a:pPr algn="ctr"/>
          </a:p>
        </p:txBody>
      </p:sp>
      <p:sp>
        <p:nvSpPr>
          <p:cNvPr id="77" name="TextBox 76"/>
          <p:cNvSpPr txBox="1"/>
          <p:nvPr/>
        </p:nvSpPr>
        <p:spPr>
          <a:xfrm>
            <a:off x="8299648" y="5051028"/>
            <a:ext cx="2952552" cy="732730"/>
          </a:xfrm>
          <a:prstGeom prst="rect">
            <a:avLst/>
          </a:prstGeom>
          <a:noFill/>
        </p:spPr>
        <p:txBody>
          <a:bodyPr wrap="square" lIns="0" rIns="0" tIns="0" bIns="0" anchor="ctr">
            <a:noAutofit/>
          </a:bodyPr>
          <a:lstStyle/>
          <a:p>
            <a:pPr algn="l">
              <a:lnSpc>
                <a:spcPts val="3120"/>
              </a:lnSpc>
            </a:pPr>
            <a:r>
              <a:rPr sz="2400" b="0" i="0">
                <a:solidFill>
                  <a:srgbClr val="861F41"/>
                </a:solidFill>
                <a:latin typeface="Georgia"/>
              </a:rPr>
              <a:t>Good boundaries absorb change</a:t>
            </a:r>
          </a:p>
        </p:txBody>
      </p:sp>
      <p:sp>
        <p:nvSpPr>
          <p:cNvPr id="78" name="Rounded Rectangle 77"/>
          <p:cNvSpPr/>
          <p:nvPr/>
        </p:nvSpPr>
        <p:spPr>
          <a:xfrm>
            <a:off x="10900271" y="6286500"/>
            <a:ext cx="986929" cy="368300"/>
          </a:xfrm>
          <a:prstGeom prst="roundRect">
            <a:avLst>
              <a:gd name="adj" fmla="val 50000"/>
            </a:avLst>
          </a:prstGeom>
          <a:solidFill>
            <a:srgbClr val="E9E3E4"/>
          </a:solidFill>
          <a:ln>
            <a:noFill/>
          </a:ln>
          <a:effectLst/>
        </p:spPr>
        <p:txBody>
          <a:bodyPr rtlCol="0" anchor="ctr"/>
          <a:lstStyle/>
          <a:p>
            <a:pPr algn="ctr"/>
          </a:p>
        </p:txBody>
      </p:sp>
      <p:sp>
        <p:nvSpPr>
          <p:cNvPr id="79" name="TextBox 78"/>
          <p:cNvSpPr txBox="1"/>
          <p:nvPr/>
        </p:nvSpPr>
        <p:spPr>
          <a:xfrm>
            <a:off x="11052671" y="6337300"/>
            <a:ext cx="682129"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11 / 28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Grading: Per Deliverable, EMRN Rubric</a:t>
            </a:r>
          </a:p>
        </p:txBody>
      </p:sp>
      <p:sp>
        <p:nvSpPr>
          <p:cNvPr id="4" name="Rounded Rectangle 3"/>
          <p:cNvSpPr/>
          <p:nvPr/>
        </p:nvSpPr>
        <p:spPr>
          <a:xfrm>
            <a:off x="812800" y="1473200"/>
            <a:ext cx="5207000" cy="1746052"/>
          </a:xfrm>
          <a:prstGeom prst="roundRect">
            <a:avLst>
              <a:gd name="adj" fmla="val 3636"/>
            </a:avLst>
          </a:prstGeom>
          <a:solidFill>
            <a:srgbClr val="E9E3E4"/>
          </a:solidFill>
          <a:ln w="19050">
            <a:solidFill>
              <a:srgbClr val="1C6091"/>
            </a:solidFill>
          </a:ln>
          <a:effectLst/>
        </p:spPr>
        <p:txBody>
          <a:bodyPr rtlCol="0" anchor="ctr"/>
          <a:lstStyle/>
          <a:p>
            <a:pPr algn="ctr"/>
          </a:p>
        </p:txBody>
      </p:sp>
      <p:sp>
        <p:nvSpPr>
          <p:cNvPr id="5" name="TextBox 4"/>
          <p:cNvSpPr txBox="1"/>
          <p:nvPr/>
        </p:nvSpPr>
        <p:spPr>
          <a:xfrm>
            <a:off x="1035050" y="1657350"/>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E · Exceeds</a:t>
            </a:r>
          </a:p>
        </p:txBody>
      </p:sp>
      <p:sp>
        <p:nvSpPr>
          <p:cNvPr id="6" name="TextBox 5"/>
          <p:cNvSpPr txBox="1"/>
          <p:nvPr/>
        </p:nvSpPr>
        <p:spPr>
          <a:xfrm>
            <a:off x="4974530" y="1695450"/>
            <a:ext cx="823020" cy="274320"/>
          </a:xfrm>
          <a:prstGeom prst="rect">
            <a:avLst/>
          </a:prstGeom>
          <a:noFill/>
        </p:spPr>
        <p:txBody>
          <a:bodyPr wrap="none" lIns="0" rIns="0" tIns="0" bIns="0" anchor="ctr">
            <a:noAutofit/>
          </a:bodyPr>
          <a:lstStyle/>
          <a:p>
            <a:pPr algn="l">
              <a:lnSpc>
                <a:spcPts val="2610"/>
              </a:lnSpc>
            </a:pPr>
            <a:r>
              <a:rPr sz="1800" b="0" i="0">
                <a:solidFill>
                  <a:srgbClr val="1C6091"/>
                </a:solidFill>
                <a:latin typeface="Roboto Mono"/>
              </a:rPr>
              <a:t>10 pts</a:t>
            </a:r>
          </a:p>
        </p:txBody>
      </p:sp>
      <p:sp>
        <p:nvSpPr>
          <p:cNvPr id="7" name="TextBox 6"/>
          <p:cNvSpPr txBox="1"/>
          <p:nvPr/>
        </p:nvSpPr>
        <p:spPr>
          <a:xfrm>
            <a:off x="1035050" y="2143720"/>
            <a:ext cx="47625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Beyond Meets, notably strong.</a:t>
            </a:r>
          </a:p>
        </p:txBody>
      </p:sp>
      <p:sp>
        <p:nvSpPr>
          <p:cNvPr id="8" name="Rectangle 7"/>
          <p:cNvSpPr/>
          <p:nvPr/>
        </p:nvSpPr>
        <p:spPr>
          <a:xfrm>
            <a:off x="1035050" y="2595761"/>
            <a:ext cx="4762500" cy="19050"/>
          </a:xfrm>
          <a:prstGeom prst="rect">
            <a:avLst/>
          </a:prstGeom>
          <a:solidFill>
            <a:srgbClr val="1C6091"/>
          </a:solidFill>
          <a:ln>
            <a:noFill/>
          </a:ln>
          <a:effectLst/>
        </p:spPr>
        <p:txBody>
          <a:bodyPr rtlCol="0" anchor="ctr"/>
          <a:lstStyle/>
          <a:p>
            <a:pPr algn="ctr"/>
          </a:p>
        </p:txBody>
      </p:sp>
      <p:sp>
        <p:nvSpPr>
          <p:cNvPr id="9" name="TextBox 8"/>
          <p:cNvSpPr txBox="1"/>
          <p:nvPr/>
        </p:nvSpPr>
        <p:spPr>
          <a:xfrm>
            <a:off x="1035050" y="2748161"/>
            <a:ext cx="4762500" cy="274320"/>
          </a:xfrm>
          <a:prstGeom prst="rect">
            <a:avLst/>
          </a:prstGeom>
          <a:noFill/>
        </p:spPr>
        <p:txBody>
          <a:bodyPr wrap="none" lIns="0" rIns="0" tIns="0" bIns="0" anchor="ctr">
            <a:noAutofit/>
          </a:bodyPr>
          <a:lstStyle/>
          <a:p>
            <a:pPr algn="l">
              <a:lnSpc>
                <a:spcPts val="2610"/>
              </a:lnSpc>
            </a:pPr>
            <a:r>
              <a:rPr sz="1800" b="0" i="0">
                <a:solidFill>
                  <a:srgbClr val="6B4A52"/>
                </a:solidFill>
                <a:latin typeface="Verdana"/>
              </a:rPr>
              <a:t>Delete asks first — and offers undo.</a:t>
            </a:r>
          </a:p>
        </p:txBody>
      </p:sp>
      <p:sp>
        <p:nvSpPr>
          <p:cNvPr id="10" name="Rounded Rectangle 9"/>
          <p:cNvSpPr/>
          <p:nvPr/>
        </p:nvSpPr>
        <p:spPr>
          <a:xfrm>
            <a:off x="6172200" y="1473200"/>
            <a:ext cx="5207000" cy="1746052"/>
          </a:xfrm>
          <a:prstGeom prst="roundRect">
            <a:avLst>
              <a:gd name="adj" fmla="val 3636"/>
            </a:avLst>
          </a:prstGeom>
          <a:solidFill>
            <a:srgbClr val="E9E3E4"/>
          </a:solidFill>
          <a:ln w="19050">
            <a:solidFill>
              <a:srgbClr val="1C6091"/>
            </a:solidFill>
          </a:ln>
          <a:effectLst/>
        </p:spPr>
        <p:txBody>
          <a:bodyPr rtlCol="0" anchor="ctr"/>
          <a:lstStyle/>
          <a:p>
            <a:pPr algn="ctr"/>
          </a:p>
        </p:txBody>
      </p:sp>
      <p:sp>
        <p:nvSpPr>
          <p:cNvPr id="11" name="TextBox 10"/>
          <p:cNvSpPr txBox="1"/>
          <p:nvPr/>
        </p:nvSpPr>
        <p:spPr>
          <a:xfrm>
            <a:off x="6394450" y="1657350"/>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M · Meets</a:t>
            </a:r>
          </a:p>
        </p:txBody>
      </p:sp>
      <p:sp>
        <p:nvSpPr>
          <p:cNvPr id="12" name="TextBox 11"/>
          <p:cNvSpPr txBox="1"/>
          <p:nvPr/>
        </p:nvSpPr>
        <p:spPr>
          <a:xfrm>
            <a:off x="10196810" y="1695450"/>
            <a:ext cx="960140" cy="274320"/>
          </a:xfrm>
          <a:prstGeom prst="rect">
            <a:avLst/>
          </a:prstGeom>
          <a:noFill/>
        </p:spPr>
        <p:txBody>
          <a:bodyPr wrap="none" lIns="0" rIns="0" tIns="0" bIns="0" anchor="ctr">
            <a:noAutofit/>
          </a:bodyPr>
          <a:lstStyle/>
          <a:p>
            <a:pPr algn="l">
              <a:lnSpc>
                <a:spcPts val="2610"/>
              </a:lnSpc>
            </a:pPr>
            <a:r>
              <a:rPr sz="1800" b="0" i="0">
                <a:solidFill>
                  <a:srgbClr val="1C6091"/>
                </a:solidFill>
                <a:latin typeface="Roboto Mono"/>
              </a:rPr>
              <a:t>8.5 pts</a:t>
            </a:r>
          </a:p>
        </p:txBody>
      </p:sp>
      <p:sp>
        <p:nvSpPr>
          <p:cNvPr id="13" name="TextBox 12"/>
          <p:cNvSpPr txBox="1"/>
          <p:nvPr/>
        </p:nvSpPr>
        <p:spPr>
          <a:xfrm>
            <a:off x="6394450" y="2143720"/>
            <a:ext cx="47625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Does what’s asked, done well. The target.</a:t>
            </a:r>
          </a:p>
        </p:txBody>
      </p:sp>
      <p:sp>
        <p:nvSpPr>
          <p:cNvPr id="14" name="Rectangle 13"/>
          <p:cNvSpPr/>
          <p:nvPr/>
        </p:nvSpPr>
        <p:spPr>
          <a:xfrm>
            <a:off x="6394450" y="2595761"/>
            <a:ext cx="4762500" cy="19050"/>
          </a:xfrm>
          <a:prstGeom prst="rect">
            <a:avLst/>
          </a:prstGeom>
          <a:solidFill>
            <a:srgbClr val="1C6091"/>
          </a:solidFill>
          <a:ln>
            <a:noFill/>
          </a:ln>
          <a:effectLst/>
        </p:spPr>
        <p:txBody>
          <a:bodyPr rtlCol="0" anchor="ctr"/>
          <a:lstStyle/>
          <a:p>
            <a:pPr algn="ctr"/>
          </a:p>
        </p:txBody>
      </p:sp>
      <p:sp>
        <p:nvSpPr>
          <p:cNvPr id="15" name="TextBox 14"/>
          <p:cNvSpPr txBox="1"/>
          <p:nvPr/>
        </p:nvSpPr>
        <p:spPr>
          <a:xfrm>
            <a:off x="6394450" y="2748161"/>
            <a:ext cx="4762500" cy="274320"/>
          </a:xfrm>
          <a:prstGeom prst="rect">
            <a:avLst/>
          </a:prstGeom>
          <a:noFill/>
        </p:spPr>
        <p:txBody>
          <a:bodyPr wrap="none" lIns="0" rIns="0" tIns="0" bIns="0" anchor="ctr">
            <a:noAutofit/>
          </a:bodyPr>
          <a:lstStyle/>
          <a:p>
            <a:pPr algn="l">
              <a:lnSpc>
                <a:spcPts val="2610"/>
              </a:lnSpc>
            </a:pPr>
            <a:r>
              <a:rPr sz="1800" b="0" i="0">
                <a:solidFill>
                  <a:srgbClr val="6B4A52"/>
                </a:solidFill>
                <a:latin typeface="Verdana"/>
              </a:rPr>
              <a:t>Tap delete — the task is gone.</a:t>
            </a:r>
          </a:p>
        </p:txBody>
      </p:sp>
      <p:sp>
        <p:nvSpPr>
          <p:cNvPr id="16" name="Rounded Rectangle 15"/>
          <p:cNvSpPr/>
          <p:nvPr/>
        </p:nvSpPr>
        <p:spPr>
          <a:xfrm>
            <a:off x="812800" y="3371652"/>
            <a:ext cx="5207000" cy="1746052"/>
          </a:xfrm>
          <a:prstGeom prst="roundRect">
            <a:avLst>
              <a:gd name="adj" fmla="val 3636"/>
            </a:avLst>
          </a:prstGeom>
          <a:solidFill>
            <a:srgbClr val="E9E3E4"/>
          </a:solidFill>
          <a:ln w="19050">
            <a:solidFill>
              <a:srgbClr val="B35510"/>
            </a:solidFill>
          </a:ln>
          <a:effectLst/>
        </p:spPr>
        <p:txBody>
          <a:bodyPr rtlCol="0" anchor="ctr"/>
          <a:lstStyle/>
          <a:p>
            <a:pPr algn="ctr"/>
          </a:p>
        </p:txBody>
      </p:sp>
      <p:sp>
        <p:nvSpPr>
          <p:cNvPr id="17" name="TextBox 16"/>
          <p:cNvSpPr txBox="1"/>
          <p:nvPr/>
        </p:nvSpPr>
        <p:spPr>
          <a:xfrm>
            <a:off x="1035050" y="3555802"/>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R · Revisable</a:t>
            </a:r>
          </a:p>
        </p:txBody>
      </p:sp>
      <p:sp>
        <p:nvSpPr>
          <p:cNvPr id="18" name="TextBox 17"/>
          <p:cNvSpPr txBox="1"/>
          <p:nvPr/>
        </p:nvSpPr>
        <p:spPr>
          <a:xfrm>
            <a:off x="4974530" y="3593902"/>
            <a:ext cx="823020"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Roboto Mono"/>
              </a:rPr>
              <a:t>7.5 pt</a:t>
            </a:r>
          </a:p>
        </p:txBody>
      </p:sp>
      <p:sp>
        <p:nvSpPr>
          <p:cNvPr id="19" name="TextBox 18"/>
          <p:cNvSpPr txBox="1"/>
          <p:nvPr/>
        </p:nvSpPr>
        <p:spPr>
          <a:xfrm>
            <a:off x="1035050" y="4042172"/>
            <a:ext cx="47625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Close — fix it in the revision window.</a:t>
            </a:r>
          </a:p>
        </p:txBody>
      </p:sp>
      <p:sp>
        <p:nvSpPr>
          <p:cNvPr id="20" name="Rectangle 19"/>
          <p:cNvSpPr/>
          <p:nvPr/>
        </p:nvSpPr>
        <p:spPr>
          <a:xfrm>
            <a:off x="1035050" y="4494212"/>
            <a:ext cx="4762500" cy="19050"/>
          </a:xfrm>
          <a:prstGeom prst="rect">
            <a:avLst/>
          </a:prstGeom>
          <a:solidFill>
            <a:srgbClr val="B35510"/>
          </a:solidFill>
          <a:ln>
            <a:noFill/>
          </a:ln>
          <a:effectLst/>
        </p:spPr>
        <p:txBody>
          <a:bodyPr rtlCol="0" anchor="ctr"/>
          <a:lstStyle/>
          <a:p>
            <a:pPr algn="ctr"/>
          </a:p>
        </p:txBody>
      </p:sp>
      <p:sp>
        <p:nvSpPr>
          <p:cNvPr id="21" name="TextBox 20"/>
          <p:cNvSpPr txBox="1"/>
          <p:nvPr/>
        </p:nvSpPr>
        <p:spPr>
          <a:xfrm>
            <a:off x="1035050" y="4646612"/>
            <a:ext cx="4762500" cy="274320"/>
          </a:xfrm>
          <a:prstGeom prst="rect">
            <a:avLst/>
          </a:prstGeom>
          <a:noFill/>
        </p:spPr>
        <p:txBody>
          <a:bodyPr wrap="none" lIns="0" rIns="0" tIns="0" bIns="0" anchor="ctr">
            <a:noAutofit/>
          </a:bodyPr>
          <a:lstStyle/>
          <a:p>
            <a:pPr algn="l">
              <a:lnSpc>
                <a:spcPts val="2610"/>
              </a:lnSpc>
            </a:pPr>
            <a:r>
              <a:rPr sz="1800" b="0" i="0">
                <a:solidFill>
                  <a:srgbClr val="6B4A52"/>
                </a:solidFill>
                <a:latin typeface="Verdana"/>
              </a:rPr>
              <a:t>Deletes, but the count goes stale.</a:t>
            </a:r>
          </a:p>
        </p:txBody>
      </p:sp>
      <p:sp>
        <p:nvSpPr>
          <p:cNvPr id="22" name="Rounded Rectangle 21"/>
          <p:cNvSpPr/>
          <p:nvPr/>
        </p:nvSpPr>
        <p:spPr>
          <a:xfrm>
            <a:off x="6172200" y="3371652"/>
            <a:ext cx="5207000" cy="1746052"/>
          </a:xfrm>
          <a:prstGeom prst="roundRect">
            <a:avLst>
              <a:gd name="adj" fmla="val 3636"/>
            </a:avLst>
          </a:prstGeom>
          <a:solidFill>
            <a:srgbClr val="E9E3E4"/>
          </a:solidFill>
          <a:ln w="19050">
            <a:solidFill>
              <a:srgbClr val="9D3A29"/>
            </a:solidFill>
          </a:ln>
          <a:effectLst/>
        </p:spPr>
        <p:txBody>
          <a:bodyPr rtlCol="0" anchor="ctr"/>
          <a:lstStyle/>
          <a:p>
            <a:pPr algn="ctr"/>
          </a:p>
        </p:txBody>
      </p:sp>
      <p:sp>
        <p:nvSpPr>
          <p:cNvPr id="23" name="TextBox 22"/>
          <p:cNvSpPr txBox="1"/>
          <p:nvPr/>
        </p:nvSpPr>
        <p:spPr>
          <a:xfrm>
            <a:off x="6394450" y="3555802"/>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N · Not Yet</a:t>
            </a:r>
          </a:p>
        </p:txBody>
      </p:sp>
      <p:sp>
        <p:nvSpPr>
          <p:cNvPr id="24" name="TextBox 23"/>
          <p:cNvSpPr txBox="1"/>
          <p:nvPr/>
        </p:nvSpPr>
        <p:spPr>
          <a:xfrm>
            <a:off x="10471051" y="3593902"/>
            <a:ext cx="685899" cy="274320"/>
          </a:xfrm>
          <a:prstGeom prst="rect">
            <a:avLst/>
          </a:prstGeom>
          <a:noFill/>
        </p:spPr>
        <p:txBody>
          <a:bodyPr wrap="none" lIns="0" rIns="0" tIns="0" bIns="0" anchor="ctr">
            <a:noAutofit/>
          </a:bodyPr>
          <a:lstStyle/>
          <a:p>
            <a:pPr algn="l">
              <a:lnSpc>
                <a:spcPts val="2610"/>
              </a:lnSpc>
            </a:pPr>
            <a:r>
              <a:rPr sz="1800" b="0" i="0">
                <a:solidFill>
                  <a:srgbClr val="9D3A29"/>
                </a:solidFill>
                <a:latin typeface="Roboto Mono"/>
              </a:rPr>
              <a:t>5 pts</a:t>
            </a:r>
          </a:p>
        </p:txBody>
      </p:sp>
      <p:sp>
        <p:nvSpPr>
          <p:cNvPr id="25" name="TextBox 24"/>
          <p:cNvSpPr txBox="1"/>
          <p:nvPr/>
        </p:nvSpPr>
        <p:spPr>
          <a:xfrm>
            <a:off x="6394450" y="4042172"/>
            <a:ext cx="47625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Not enough to assess yet.</a:t>
            </a:r>
          </a:p>
        </p:txBody>
      </p:sp>
      <p:sp>
        <p:nvSpPr>
          <p:cNvPr id="26" name="Rectangle 25"/>
          <p:cNvSpPr/>
          <p:nvPr/>
        </p:nvSpPr>
        <p:spPr>
          <a:xfrm>
            <a:off x="6394450" y="4494212"/>
            <a:ext cx="4762500" cy="19050"/>
          </a:xfrm>
          <a:prstGeom prst="rect">
            <a:avLst/>
          </a:prstGeom>
          <a:solidFill>
            <a:srgbClr val="9D3A29"/>
          </a:solidFill>
          <a:ln>
            <a:noFill/>
          </a:ln>
          <a:effectLst/>
        </p:spPr>
        <p:txBody>
          <a:bodyPr rtlCol="0" anchor="ctr"/>
          <a:lstStyle/>
          <a:p>
            <a:pPr algn="ctr"/>
          </a:p>
        </p:txBody>
      </p:sp>
      <p:sp>
        <p:nvSpPr>
          <p:cNvPr id="27" name="TextBox 26"/>
          <p:cNvSpPr txBox="1"/>
          <p:nvPr/>
        </p:nvSpPr>
        <p:spPr>
          <a:xfrm>
            <a:off x="6394450" y="4646612"/>
            <a:ext cx="4762500" cy="274320"/>
          </a:xfrm>
          <a:prstGeom prst="rect">
            <a:avLst/>
          </a:prstGeom>
          <a:noFill/>
        </p:spPr>
        <p:txBody>
          <a:bodyPr wrap="none" lIns="0" rIns="0" tIns="0" bIns="0" anchor="ctr">
            <a:noAutofit/>
          </a:bodyPr>
          <a:lstStyle/>
          <a:p>
            <a:pPr algn="l">
              <a:lnSpc>
                <a:spcPts val="2610"/>
              </a:lnSpc>
            </a:pPr>
            <a:r>
              <a:rPr sz="1800" b="0" i="0">
                <a:solidFill>
                  <a:srgbClr val="6B4A52"/>
                </a:solidFill>
                <a:latin typeface="Verdana"/>
              </a:rPr>
              <a:t>Tap delete… </a:t>
            </a:r>
            <a:r>
              <a:rPr sz="1800" b="0" i="1">
                <a:solidFill>
                  <a:srgbClr val="6B4A52"/>
                </a:solidFill>
                <a:latin typeface="Verdana"/>
              </a:rPr>
              <a:t>chirp… chirp…</a:t>
            </a:r>
          </a:p>
        </p:txBody>
      </p:sp>
      <p:sp>
        <p:nvSpPr>
          <p:cNvPr id="28" name="Rounded Rectangle 27"/>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29" name="TextBox 28"/>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12 / 28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Grading: Per Deliverable, EMRN Rubric</a:t>
            </a:r>
          </a:p>
        </p:txBody>
      </p:sp>
      <p:sp>
        <p:nvSpPr>
          <p:cNvPr id="4" name="Rounded Rectangle 3"/>
          <p:cNvSpPr/>
          <p:nvPr/>
        </p:nvSpPr>
        <p:spPr>
          <a:xfrm>
            <a:off x="812800" y="1473200"/>
            <a:ext cx="5207000" cy="1746052"/>
          </a:xfrm>
          <a:prstGeom prst="roundRect">
            <a:avLst>
              <a:gd name="adj" fmla="val 3636"/>
            </a:avLst>
          </a:prstGeom>
          <a:solidFill>
            <a:srgbClr val="E9E3E4"/>
          </a:solidFill>
          <a:ln w="19050">
            <a:solidFill>
              <a:srgbClr val="1C6091"/>
            </a:solidFill>
          </a:ln>
          <a:effectLst/>
        </p:spPr>
        <p:txBody>
          <a:bodyPr rtlCol="0" anchor="ctr"/>
          <a:lstStyle/>
          <a:p>
            <a:pPr algn="ctr"/>
          </a:p>
        </p:txBody>
      </p:sp>
      <p:sp>
        <p:nvSpPr>
          <p:cNvPr id="5" name="TextBox 4"/>
          <p:cNvSpPr txBox="1"/>
          <p:nvPr/>
        </p:nvSpPr>
        <p:spPr>
          <a:xfrm>
            <a:off x="1035050" y="1657350"/>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E · Exceeds</a:t>
            </a:r>
          </a:p>
        </p:txBody>
      </p:sp>
      <p:sp>
        <p:nvSpPr>
          <p:cNvPr id="6" name="TextBox 5"/>
          <p:cNvSpPr txBox="1"/>
          <p:nvPr/>
        </p:nvSpPr>
        <p:spPr>
          <a:xfrm>
            <a:off x="4974530" y="1695450"/>
            <a:ext cx="823020" cy="274320"/>
          </a:xfrm>
          <a:prstGeom prst="rect">
            <a:avLst/>
          </a:prstGeom>
          <a:noFill/>
        </p:spPr>
        <p:txBody>
          <a:bodyPr wrap="none" lIns="0" rIns="0" tIns="0" bIns="0" anchor="ctr">
            <a:noAutofit/>
          </a:bodyPr>
          <a:lstStyle/>
          <a:p>
            <a:pPr algn="l">
              <a:lnSpc>
                <a:spcPts val="2610"/>
              </a:lnSpc>
            </a:pPr>
            <a:r>
              <a:rPr sz="1800" b="0" i="0">
                <a:solidFill>
                  <a:srgbClr val="1C6091"/>
                </a:solidFill>
                <a:latin typeface="Roboto Mono"/>
              </a:rPr>
              <a:t>10 pts</a:t>
            </a:r>
          </a:p>
        </p:txBody>
      </p:sp>
      <p:sp>
        <p:nvSpPr>
          <p:cNvPr id="7" name="TextBox 6"/>
          <p:cNvSpPr txBox="1"/>
          <p:nvPr/>
        </p:nvSpPr>
        <p:spPr>
          <a:xfrm>
            <a:off x="1035050" y="2143720"/>
            <a:ext cx="47625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Beyond Meets, notably strong.</a:t>
            </a:r>
          </a:p>
        </p:txBody>
      </p:sp>
      <p:sp>
        <p:nvSpPr>
          <p:cNvPr id="8" name="Rectangle 7"/>
          <p:cNvSpPr/>
          <p:nvPr/>
        </p:nvSpPr>
        <p:spPr>
          <a:xfrm>
            <a:off x="1035050" y="2595761"/>
            <a:ext cx="4762500" cy="19050"/>
          </a:xfrm>
          <a:prstGeom prst="rect">
            <a:avLst/>
          </a:prstGeom>
          <a:solidFill>
            <a:srgbClr val="1C6091"/>
          </a:solidFill>
          <a:ln>
            <a:noFill/>
          </a:ln>
          <a:effectLst/>
        </p:spPr>
        <p:txBody>
          <a:bodyPr rtlCol="0" anchor="ctr"/>
          <a:lstStyle/>
          <a:p>
            <a:pPr algn="ctr"/>
          </a:p>
        </p:txBody>
      </p:sp>
      <p:sp>
        <p:nvSpPr>
          <p:cNvPr id="9" name="TextBox 8"/>
          <p:cNvSpPr txBox="1"/>
          <p:nvPr/>
        </p:nvSpPr>
        <p:spPr>
          <a:xfrm>
            <a:off x="1035050" y="2748161"/>
            <a:ext cx="4762500" cy="274320"/>
          </a:xfrm>
          <a:prstGeom prst="rect">
            <a:avLst/>
          </a:prstGeom>
          <a:noFill/>
        </p:spPr>
        <p:txBody>
          <a:bodyPr wrap="none" lIns="0" rIns="0" tIns="0" bIns="0" anchor="ctr">
            <a:noAutofit/>
          </a:bodyPr>
          <a:lstStyle/>
          <a:p>
            <a:pPr algn="l">
              <a:lnSpc>
                <a:spcPts val="2610"/>
              </a:lnSpc>
            </a:pPr>
            <a:r>
              <a:rPr sz="1800" b="0" i="0">
                <a:solidFill>
                  <a:srgbClr val="6B4A52"/>
                </a:solidFill>
                <a:latin typeface="Verdana"/>
              </a:rPr>
              <a:t>Delete asks first — and offers undo.</a:t>
            </a:r>
          </a:p>
        </p:txBody>
      </p:sp>
      <p:sp>
        <p:nvSpPr>
          <p:cNvPr id="10" name="Rounded Rectangle 9"/>
          <p:cNvSpPr/>
          <p:nvPr/>
        </p:nvSpPr>
        <p:spPr>
          <a:xfrm>
            <a:off x="6172200" y="1473200"/>
            <a:ext cx="5207000" cy="1746052"/>
          </a:xfrm>
          <a:prstGeom prst="roundRect">
            <a:avLst>
              <a:gd name="adj" fmla="val 3636"/>
            </a:avLst>
          </a:prstGeom>
          <a:solidFill>
            <a:srgbClr val="E9E3E4"/>
          </a:solidFill>
          <a:ln w="19050">
            <a:solidFill>
              <a:srgbClr val="1C6091"/>
            </a:solidFill>
          </a:ln>
          <a:effectLst/>
        </p:spPr>
        <p:txBody>
          <a:bodyPr rtlCol="0" anchor="ctr"/>
          <a:lstStyle/>
          <a:p>
            <a:pPr algn="ctr"/>
          </a:p>
        </p:txBody>
      </p:sp>
      <p:sp>
        <p:nvSpPr>
          <p:cNvPr id="11" name="TextBox 10"/>
          <p:cNvSpPr txBox="1"/>
          <p:nvPr/>
        </p:nvSpPr>
        <p:spPr>
          <a:xfrm>
            <a:off x="6394450" y="1657350"/>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M · Meets</a:t>
            </a:r>
          </a:p>
        </p:txBody>
      </p:sp>
      <p:sp>
        <p:nvSpPr>
          <p:cNvPr id="12" name="TextBox 11"/>
          <p:cNvSpPr txBox="1"/>
          <p:nvPr/>
        </p:nvSpPr>
        <p:spPr>
          <a:xfrm>
            <a:off x="10196810" y="1695450"/>
            <a:ext cx="960140" cy="274320"/>
          </a:xfrm>
          <a:prstGeom prst="rect">
            <a:avLst/>
          </a:prstGeom>
          <a:noFill/>
        </p:spPr>
        <p:txBody>
          <a:bodyPr wrap="none" lIns="0" rIns="0" tIns="0" bIns="0" anchor="ctr">
            <a:noAutofit/>
          </a:bodyPr>
          <a:lstStyle/>
          <a:p>
            <a:pPr algn="l">
              <a:lnSpc>
                <a:spcPts val="2610"/>
              </a:lnSpc>
            </a:pPr>
            <a:r>
              <a:rPr sz="1800" b="0" i="0">
                <a:solidFill>
                  <a:srgbClr val="1C6091"/>
                </a:solidFill>
                <a:latin typeface="Roboto Mono"/>
              </a:rPr>
              <a:t>8.5 pts</a:t>
            </a:r>
          </a:p>
        </p:txBody>
      </p:sp>
      <p:sp>
        <p:nvSpPr>
          <p:cNvPr id="13" name="TextBox 12"/>
          <p:cNvSpPr txBox="1"/>
          <p:nvPr/>
        </p:nvSpPr>
        <p:spPr>
          <a:xfrm>
            <a:off x="6394450" y="2143720"/>
            <a:ext cx="47625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Does what’s asked, done well. The target.</a:t>
            </a:r>
          </a:p>
        </p:txBody>
      </p:sp>
      <p:sp>
        <p:nvSpPr>
          <p:cNvPr id="14" name="Rectangle 13"/>
          <p:cNvSpPr/>
          <p:nvPr/>
        </p:nvSpPr>
        <p:spPr>
          <a:xfrm>
            <a:off x="6394450" y="2595761"/>
            <a:ext cx="4762500" cy="19050"/>
          </a:xfrm>
          <a:prstGeom prst="rect">
            <a:avLst/>
          </a:prstGeom>
          <a:solidFill>
            <a:srgbClr val="1C6091"/>
          </a:solidFill>
          <a:ln>
            <a:noFill/>
          </a:ln>
          <a:effectLst/>
        </p:spPr>
        <p:txBody>
          <a:bodyPr rtlCol="0" anchor="ctr"/>
          <a:lstStyle/>
          <a:p>
            <a:pPr algn="ctr"/>
          </a:p>
        </p:txBody>
      </p:sp>
      <p:sp>
        <p:nvSpPr>
          <p:cNvPr id="15" name="TextBox 14"/>
          <p:cNvSpPr txBox="1"/>
          <p:nvPr/>
        </p:nvSpPr>
        <p:spPr>
          <a:xfrm>
            <a:off x="6394450" y="2748161"/>
            <a:ext cx="4762500" cy="274320"/>
          </a:xfrm>
          <a:prstGeom prst="rect">
            <a:avLst/>
          </a:prstGeom>
          <a:noFill/>
        </p:spPr>
        <p:txBody>
          <a:bodyPr wrap="none" lIns="0" rIns="0" tIns="0" bIns="0" anchor="ctr">
            <a:noAutofit/>
          </a:bodyPr>
          <a:lstStyle/>
          <a:p>
            <a:pPr algn="l">
              <a:lnSpc>
                <a:spcPts val="2610"/>
              </a:lnSpc>
            </a:pPr>
            <a:r>
              <a:rPr sz="1800" b="0" i="0">
                <a:solidFill>
                  <a:srgbClr val="6B4A52"/>
                </a:solidFill>
                <a:latin typeface="Verdana"/>
              </a:rPr>
              <a:t>Tap delete — the task is gone.</a:t>
            </a:r>
          </a:p>
        </p:txBody>
      </p:sp>
      <p:sp>
        <p:nvSpPr>
          <p:cNvPr id="16" name="Rounded Rectangle 15"/>
          <p:cNvSpPr/>
          <p:nvPr/>
        </p:nvSpPr>
        <p:spPr>
          <a:xfrm>
            <a:off x="812800" y="3371652"/>
            <a:ext cx="5207000" cy="1746052"/>
          </a:xfrm>
          <a:prstGeom prst="roundRect">
            <a:avLst>
              <a:gd name="adj" fmla="val 3636"/>
            </a:avLst>
          </a:prstGeom>
          <a:solidFill>
            <a:srgbClr val="E9E3E4"/>
          </a:solidFill>
          <a:ln w="19050">
            <a:solidFill>
              <a:srgbClr val="B35510"/>
            </a:solidFill>
          </a:ln>
          <a:effectLst/>
        </p:spPr>
        <p:txBody>
          <a:bodyPr rtlCol="0" anchor="ctr"/>
          <a:lstStyle/>
          <a:p>
            <a:pPr algn="ctr"/>
          </a:p>
        </p:txBody>
      </p:sp>
      <p:sp>
        <p:nvSpPr>
          <p:cNvPr id="17" name="TextBox 16"/>
          <p:cNvSpPr txBox="1"/>
          <p:nvPr/>
        </p:nvSpPr>
        <p:spPr>
          <a:xfrm>
            <a:off x="1035050" y="3555802"/>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R · Revisable</a:t>
            </a:r>
          </a:p>
        </p:txBody>
      </p:sp>
      <p:sp>
        <p:nvSpPr>
          <p:cNvPr id="18" name="TextBox 17"/>
          <p:cNvSpPr txBox="1"/>
          <p:nvPr/>
        </p:nvSpPr>
        <p:spPr>
          <a:xfrm>
            <a:off x="4974530" y="3593902"/>
            <a:ext cx="823020"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Roboto Mono"/>
              </a:rPr>
              <a:t>7.5 pt</a:t>
            </a:r>
          </a:p>
        </p:txBody>
      </p:sp>
      <p:sp>
        <p:nvSpPr>
          <p:cNvPr id="19" name="TextBox 18"/>
          <p:cNvSpPr txBox="1"/>
          <p:nvPr/>
        </p:nvSpPr>
        <p:spPr>
          <a:xfrm>
            <a:off x="1035050" y="4042172"/>
            <a:ext cx="47625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Close — fix it in the revision window.</a:t>
            </a:r>
          </a:p>
        </p:txBody>
      </p:sp>
      <p:sp>
        <p:nvSpPr>
          <p:cNvPr id="20" name="Rectangle 19"/>
          <p:cNvSpPr/>
          <p:nvPr/>
        </p:nvSpPr>
        <p:spPr>
          <a:xfrm>
            <a:off x="1035050" y="4494212"/>
            <a:ext cx="4762500" cy="19050"/>
          </a:xfrm>
          <a:prstGeom prst="rect">
            <a:avLst/>
          </a:prstGeom>
          <a:solidFill>
            <a:srgbClr val="B35510"/>
          </a:solidFill>
          <a:ln>
            <a:noFill/>
          </a:ln>
          <a:effectLst/>
        </p:spPr>
        <p:txBody>
          <a:bodyPr rtlCol="0" anchor="ctr"/>
          <a:lstStyle/>
          <a:p>
            <a:pPr algn="ctr"/>
          </a:p>
        </p:txBody>
      </p:sp>
      <p:sp>
        <p:nvSpPr>
          <p:cNvPr id="21" name="TextBox 20"/>
          <p:cNvSpPr txBox="1"/>
          <p:nvPr/>
        </p:nvSpPr>
        <p:spPr>
          <a:xfrm>
            <a:off x="1035050" y="4646612"/>
            <a:ext cx="4762500" cy="274320"/>
          </a:xfrm>
          <a:prstGeom prst="rect">
            <a:avLst/>
          </a:prstGeom>
          <a:noFill/>
        </p:spPr>
        <p:txBody>
          <a:bodyPr wrap="none" lIns="0" rIns="0" tIns="0" bIns="0" anchor="ctr">
            <a:noAutofit/>
          </a:bodyPr>
          <a:lstStyle/>
          <a:p>
            <a:pPr algn="l">
              <a:lnSpc>
                <a:spcPts val="2610"/>
              </a:lnSpc>
            </a:pPr>
            <a:r>
              <a:rPr sz="1800" b="0" i="0">
                <a:solidFill>
                  <a:srgbClr val="6B4A52"/>
                </a:solidFill>
                <a:latin typeface="Verdana"/>
              </a:rPr>
              <a:t>Deletes, but the count goes stale.</a:t>
            </a:r>
          </a:p>
        </p:txBody>
      </p:sp>
      <p:sp>
        <p:nvSpPr>
          <p:cNvPr id="22" name="Rounded Rectangle 21"/>
          <p:cNvSpPr/>
          <p:nvPr/>
        </p:nvSpPr>
        <p:spPr>
          <a:xfrm>
            <a:off x="6172200" y="3371652"/>
            <a:ext cx="5207000" cy="1746052"/>
          </a:xfrm>
          <a:prstGeom prst="roundRect">
            <a:avLst>
              <a:gd name="adj" fmla="val 3636"/>
            </a:avLst>
          </a:prstGeom>
          <a:solidFill>
            <a:srgbClr val="E9E3E4"/>
          </a:solidFill>
          <a:ln w="19050">
            <a:solidFill>
              <a:srgbClr val="9D3A29"/>
            </a:solidFill>
          </a:ln>
          <a:effectLst/>
        </p:spPr>
        <p:txBody>
          <a:bodyPr rtlCol="0" anchor="ctr"/>
          <a:lstStyle/>
          <a:p>
            <a:pPr algn="ctr"/>
          </a:p>
        </p:txBody>
      </p:sp>
      <p:sp>
        <p:nvSpPr>
          <p:cNvPr id="23" name="TextBox 22"/>
          <p:cNvSpPr txBox="1"/>
          <p:nvPr/>
        </p:nvSpPr>
        <p:spPr>
          <a:xfrm>
            <a:off x="6394450" y="3555802"/>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N · Not Yet</a:t>
            </a:r>
          </a:p>
        </p:txBody>
      </p:sp>
      <p:sp>
        <p:nvSpPr>
          <p:cNvPr id="24" name="TextBox 23"/>
          <p:cNvSpPr txBox="1"/>
          <p:nvPr/>
        </p:nvSpPr>
        <p:spPr>
          <a:xfrm>
            <a:off x="10471051" y="3593902"/>
            <a:ext cx="685899" cy="274320"/>
          </a:xfrm>
          <a:prstGeom prst="rect">
            <a:avLst/>
          </a:prstGeom>
          <a:noFill/>
        </p:spPr>
        <p:txBody>
          <a:bodyPr wrap="none" lIns="0" rIns="0" tIns="0" bIns="0" anchor="ctr">
            <a:noAutofit/>
          </a:bodyPr>
          <a:lstStyle/>
          <a:p>
            <a:pPr algn="l">
              <a:lnSpc>
                <a:spcPts val="2610"/>
              </a:lnSpc>
            </a:pPr>
            <a:r>
              <a:rPr sz="1800" b="0" i="0">
                <a:solidFill>
                  <a:srgbClr val="9D3A29"/>
                </a:solidFill>
                <a:latin typeface="Roboto Mono"/>
              </a:rPr>
              <a:t>5 pts</a:t>
            </a:r>
          </a:p>
        </p:txBody>
      </p:sp>
      <p:sp>
        <p:nvSpPr>
          <p:cNvPr id="25" name="TextBox 24"/>
          <p:cNvSpPr txBox="1"/>
          <p:nvPr/>
        </p:nvSpPr>
        <p:spPr>
          <a:xfrm>
            <a:off x="6394450" y="4042172"/>
            <a:ext cx="47625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Not enough to assess yet.</a:t>
            </a:r>
          </a:p>
        </p:txBody>
      </p:sp>
      <p:sp>
        <p:nvSpPr>
          <p:cNvPr id="26" name="Rectangle 25"/>
          <p:cNvSpPr/>
          <p:nvPr/>
        </p:nvSpPr>
        <p:spPr>
          <a:xfrm>
            <a:off x="6394450" y="4494212"/>
            <a:ext cx="4762500" cy="19050"/>
          </a:xfrm>
          <a:prstGeom prst="rect">
            <a:avLst/>
          </a:prstGeom>
          <a:solidFill>
            <a:srgbClr val="9D3A29"/>
          </a:solidFill>
          <a:ln>
            <a:noFill/>
          </a:ln>
          <a:effectLst/>
        </p:spPr>
        <p:txBody>
          <a:bodyPr rtlCol="0" anchor="ctr"/>
          <a:lstStyle/>
          <a:p>
            <a:pPr algn="ctr"/>
          </a:p>
        </p:txBody>
      </p:sp>
      <p:sp>
        <p:nvSpPr>
          <p:cNvPr id="27" name="TextBox 26"/>
          <p:cNvSpPr txBox="1"/>
          <p:nvPr/>
        </p:nvSpPr>
        <p:spPr>
          <a:xfrm>
            <a:off x="6394450" y="4646612"/>
            <a:ext cx="4762500" cy="274320"/>
          </a:xfrm>
          <a:prstGeom prst="rect">
            <a:avLst/>
          </a:prstGeom>
          <a:noFill/>
        </p:spPr>
        <p:txBody>
          <a:bodyPr wrap="none" lIns="0" rIns="0" tIns="0" bIns="0" anchor="ctr">
            <a:noAutofit/>
          </a:bodyPr>
          <a:lstStyle/>
          <a:p>
            <a:pPr algn="l">
              <a:lnSpc>
                <a:spcPts val="2610"/>
              </a:lnSpc>
            </a:pPr>
            <a:r>
              <a:rPr sz="1800" b="0" i="0">
                <a:solidFill>
                  <a:srgbClr val="6B4A52"/>
                </a:solidFill>
                <a:latin typeface="Verdana"/>
              </a:rPr>
              <a:t>Tap delete… </a:t>
            </a:r>
            <a:r>
              <a:rPr sz="1800" b="0" i="1">
                <a:solidFill>
                  <a:srgbClr val="6B4A52"/>
                </a:solidFill>
                <a:latin typeface="Verdana"/>
              </a:rPr>
              <a:t>chirp… chirp…</a:t>
            </a:r>
          </a:p>
        </p:txBody>
      </p:sp>
      <p:sp>
        <p:nvSpPr>
          <p:cNvPr id="28" name="TextBox 27"/>
          <p:cNvSpPr txBox="1"/>
          <p:nvPr/>
        </p:nvSpPr>
        <p:spPr>
          <a:xfrm>
            <a:off x="812800" y="5262959"/>
            <a:ext cx="10591800" cy="778470"/>
          </a:xfrm>
          <a:prstGeom prst="rect">
            <a:avLst/>
          </a:prstGeom>
          <a:noFill/>
        </p:spPr>
        <p:txBody>
          <a:bodyPr wrap="square" lIns="0" rIns="0" tIns="0" bIns="0" anchor="ctr">
            <a:noAutofit/>
          </a:bodyPr>
          <a:lstStyle/>
          <a:p>
            <a:pPr algn="l">
              <a:lnSpc>
                <a:spcPts val="3479"/>
              </a:lnSpc>
            </a:pPr>
            <a:r>
              <a:rPr sz="2400" b="0" i="0">
                <a:solidFill>
                  <a:srgbClr val="6B4A52"/>
                </a:solidFill>
                <a:latin typeface="Verdana"/>
              </a:rPr>
              <a:t>Note: If you get R and N on a rubric item your team may address it in the next deliverable and get it raised to a "Meets".</a:t>
            </a:r>
          </a:p>
        </p:txBody>
      </p:sp>
      <p:sp>
        <p:nvSpPr>
          <p:cNvPr id="29" name="Rounded Rectangle 28"/>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30" name="TextBox 29"/>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12 / 28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Tools</a:t>
            </a:r>
          </a:p>
        </p:txBody>
      </p:sp>
      <p:sp>
        <p:nvSpPr>
          <p:cNvPr id="4" name="Rounded Rectangle 3"/>
          <p:cNvSpPr/>
          <p:nvPr/>
        </p:nvSpPr>
        <p:spPr>
          <a:xfrm>
            <a:off x="812800" y="1473200"/>
            <a:ext cx="3420467" cy="2311400"/>
          </a:xfrm>
          <a:prstGeom prst="roundRect">
            <a:avLst>
              <a:gd name="adj" fmla="val 2747"/>
            </a:avLst>
          </a:prstGeom>
          <a:solidFill>
            <a:srgbClr val="E9E3E4"/>
          </a:solidFill>
          <a:ln w="19050">
            <a:solidFill>
              <a:srgbClr val="861F41"/>
            </a:solidFill>
          </a:ln>
          <a:effectLst/>
        </p:spPr>
        <p:txBody>
          <a:bodyPr rtlCol="0" anchor="ctr"/>
          <a:lstStyle/>
          <a:p>
            <a:pPr algn="ctr"/>
          </a:p>
        </p:txBody>
      </p:sp>
      <p:sp>
        <p:nvSpPr>
          <p:cNvPr id="5" name="TextBox 4"/>
          <p:cNvSpPr txBox="1"/>
          <p:nvPr/>
        </p:nvSpPr>
        <p:spPr>
          <a:xfrm>
            <a:off x="1035050" y="1682750"/>
            <a:ext cx="2975967"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PrairieLearn</a:t>
            </a:r>
          </a:p>
        </p:txBody>
      </p:sp>
      <p:pic>
        <p:nvPicPr>
          <p:cNvPr id="6" name="Picture 5" descr="3ba1c7a69b7ddc7a.png"/>
          <p:cNvPicPr>
            <a:picLocks noChangeAspect="1"/>
          </p:cNvPicPr>
          <p:nvPr/>
        </p:nvPicPr>
        <p:blipFill>
          <a:blip r:embed="rId3"/>
          <a:stretch>
            <a:fillRect/>
          </a:stretch>
        </p:blipFill>
        <p:spPr>
          <a:xfrm>
            <a:off x="1035050" y="1644650"/>
            <a:ext cx="381000" cy="381000"/>
          </a:xfrm>
          <a:prstGeom prst="rect">
            <a:avLst/>
          </a:prstGeom>
        </p:spPr>
      </p:pic>
      <p:sp>
        <p:nvSpPr>
          <p:cNvPr id="7" name="TextBox 6"/>
          <p:cNvSpPr txBox="1"/>
          <p:nvPr/>
        </p:nvSpPr>
        <p:spPr>
          <a:xfrm>
            <a:off x="1035050" y="2169120"/>
            <a:ext cx="3001367"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Content modules, homework, challenge exercises</a:t>
            </a:r>
          </a:p>
        </p:txBody>
      </p:sp>
      <p:sp>
        <p:nvSpPr>
          <p:cNvPr id="8" name="Rounded Rectangle 7"/>
          <p:cNvSpPr/>
          <p:nvPr/>
        </p:nvSpPr>
        <p:spPr>
          <a:xfrm>
            <a:off x="4385667" y="1473200"/>
            <a:ext cx="3420566" cy="2311400"/>
          </a:xfrm>
          <a:prstGeom prst="roundRect">
            <a:avLst>
              <a:gd name="adj" fmla="val 2747"/>
            </a:avLst>
          </a:prstGeom>
          <a:solidFill>
            <a:srgbClr val="E9E3E4"/>
          </a:solidFill>
          <a:ln w="19050">
            <a:solidFill>
              <a:srgbClr val="B35510"/>
            </a:solidFill>
          </a:ln>
          <a:effectLst/>
        </p:spPr>
        <p:txBody>
          <a:bodyPr rtlCol="0" anchor="ctr"/>
          <a:lstStyle/>
          <a:p>
            <a:pPr algn="ctr"/>
          </a:p>
        </p:txBody>
      </p:sp>
      <p:sp>
        <p:nvSpPr>
          <p:cNvPr id="9" name="TextBox 8"/>
          <p:cNvSpPr txBox="1"/>
          <p:nvPr/>
        </p:nvSpPr>
        <p:spPr>
          <a:xfrm>
            <a:off x="4607917" y="1682750"/>
            <a:ext cx="2976066"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Canvas</a:t>
            </a:r>
          </a:p>
        </p:txBody>
      </p:sp>
      <p:pic>
        <p:nvPicPr>
          <p:cNvPr id="10" name="Picture 9" descr="5e9b986dc82dede4.png"/>
          <p:cNvPicPr>
            <a:picLocks noChangeAspect="1"/>
          </p:cNvPicPr>
          <p:nvPr/>
        </p:nvPicPr>
        <p:blipFill>
          <a:blip r:embed="rId4"/>
          <a:stretch>
            <a:fillRect/>
          </a:stretch>
        </p:blipFill>
        <p:spPr>
          <a:xfrm>
            <a:off x="4603750" y="1644650"/>
            <a:ext cx="381000" cy="381000"/>
          </a:xfrm>
          <a:prstGeom prst="rect">
            <a:avLst/>
          </a:prstGeom>
        </p:spPr>
      </p:pic>
      <p:sp>
        <p:nvSpPr>
          <p:cNvPr id="11" name="TextBox 10"/>
          <p:cNvSpPr txBox="1"/>
          <p:nvPr/>
        </p:nvSpPr>
        <p:spPr>
          <a:xfrm>
            <a:off x="4607917" y="2169120"/>
            <a:ext cx="3001466"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Schedule, deadlines, project submissions</a:t>
            </a:r>
          </a:p>
        </p:txBody>
      </p:sp>
      <p:sp>
        <p:nvSpPr>
          <p:cNvPr id="12" name="Rounded Rectangle 11"/>
          <p:cNvSpPr/>
          <p:nvPr/>
        </p:nvSpPr>
        <p:spPr>
          <a:xfrm>
            <a:off x="7958634" y="1473200"/>
            <a:ext cx="3420566" cy="2311400"/>
          </a:xfrm>
          <a:prstGeom prst="roundRect">
            <a:avLst>
              <a:gd name="adj" fmla="val 2747"/>
            </a:avLst>
          </a:prstGeom>
          <a:solidFill>
            <a:srgbClr val="E9E3E4"/>
          </a:solidFill>
          <a:ln w="19050">
            <a:solidFill>
              <a:srgbClr val="1C6091"/>
            </a:solidFill>
          </a:ln>
          <a:effectLst/>
        </p:spPr>
        <p:txBody>
          <a:bodyPr rtlCol="0" anchor="ctr"/>
          <a:lstStyle/>
          <a:p>
            <a:pPr algn="ctr"/>
          </a:p>
        </p:txBody>
      </p:sp>
      <p:sp>
        <p:nvSpPr>
          <p:cNvPr id="13" name="TextBox 12"/>
          <p:cNvSpPr txBox="1"/>
          <p:nvPr/>
        </p:nvSpPr>
        <p:spPr>
          <a:xfrm>
            <a:off x="8180884" y="1682750"/>
            <a:ext cx="2976066"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Piazza</a:t>
            </a:r>
          </a:p>
        </p:txBody>
      </p:sp>
      <p:pic>
        <p:nvPicPr>
          <p:cNvPr id="14" name="Picture 13" descr="2e9f0fa596f8f583.png"/>
          <p:cNvPicPr>
            <a:picLocks noChangeAspect="1"/>
          </p:cNvPicPr>
          <p:nvPr/>
        </p:nvPicPr>
        <p:blipFill>
          <a:blip r:embed="rId5"/>
          <a:stretch>
            <a:fillRect/>
          </a:stretch>
        </p:blipFill>
        <p:spPr>
          <a:xfrm>
            <a:off x="8178800" y="1644650"/>
            <a:ext cx="381000" cy="381000"/>
          </a:xfrm>
          <a:prstGeom prst="rect">
            <a:avLst/>
          </a:prstGeom>
        </p:spPr>
      </p:pic>
      <p:sp>
        <p:nvSpPr>
          <p:cNvPr id="15" name="TextBox 14"/>
          <p:cNvSpPr txBox="1"/>
          <p:nvPr/>
        </p:nvSpPr>
        <p:spPr>
          <a:xfrm>
            <a:off x="8180884" y="2169120"/>
            <a:ext cx="3001466"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Q&amp;A — turn on Instructor-post notifications</a:t>
            </a:r>
          </a:p>
        </p:txBody>
      </p:sp>
      <p:sp>
        <p:nvSpPr>
          <p:cNvPr id="16" name="Rounded Rectangle 15"/>
          <p:cNvSpPr/>
          <p:nvPr/>
        </p:nvSpPr>
        <p:spPr>
          <a:xfrm>
            <a:off x="812800" y="3937000"/>
            <a:ext cx="3420467" cy="2311400"/>
          </a:xfrm>
          <a:prstGeom prst="roundRect">
            <a:avLst>
              <a:gd name="adj" fmla="val 2747"/>
            </a:avLst>
          </a:prstGeom>
          <a:solidFill>
            <a:srgbClr val="E9E3E4"/>
          </a:solidFill>
          <a:ln w="19050">
            <a:solidFill>
              <a:srgbClr val="9D3A29"/>
            </a:solidFill>
          </a:ln>
          <a:effectLst/>
        </p:spPr>
        <p:txBody>
          <a:bodyPr rtlCol="0" anchor="ctr"/>
          <a:lstStyle/>
          <a:p>
            <a:pPr algn="ctr"/>
          </a:p>
        </p:txBody>
      </p:sp>
      <p:sp>
        <p:nvSpPr>
          <p:cNvPr id="17" name="TextBox 16"/>
          <p:cNvSpPr txBox="1"/>
          <p:nvPr/>
        </p:nvSpPr>
        <p:spPr>
          <a:xfrm>
            <a:off x="1035050" y="4146550"/>
            <a:ext cx="2975967"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GitHub</a:t>
            </a:r>
          </a:p>
        </p:txBody>
      </p:sp>
      <p:pic>
        <p:nvPicPr>
          <p:cNvPr id="18" name="Picture 17" descr="a1611e0e072839c6.png"/>
          <p:cNvPicPr>
            <a:picLocks noChangeAspect="1"/>
          </p:cNvPicPr>
          <p:nvPr/>
        </p:nvPicPr>
        <p:blipFill>
          <a:blip r:embed="rId6"/>
          <a:stretch>
            <a:fillRect/>
          </a:stretch>
        </p:blipFill>
        <p:spPr>
          <a:xfrm>
            <a:off x="1035050" y="4108450"/>
            <a:ext cx="381000" cy="381000"/>
          </a:xfrm>
          <a:prstGeom prst="rect">
            <a:avLst/>
          </a:prstGeom>
        </p:spPr>
      </p:pic>
      <p:sp>
        <p:nvSpPr>
          <p:cNvPr id="19" name="TextBox 18"/>
          <p:cNvSpPr txBox="1"/>
          <p:nvPr/>
        </p:nvSpPr>
        <p:spPr>
          <a:xfrm>
            <a:off x="1035050" y="4632920"/>
            <a:ext cx="3001367"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Team collaboration, version control, project code</a:t>
            </a:r>
          </a:p>
        </p:txBody>
      </p:sp>
      <p:sp>
        <p:nvSpPr>
          <p:cNvPr id="20" name="Rounded Rectangle 19"/>
          <p:cNvSpPr/>
          <p:nvPr/>
        </p:nvSpPr>
        <p:spPr>
          <a:xfrm>
            <a:off x="4385667" y="3937000"/>
            <a:ext cx="3420566" cy="2311400"/>
          </a:xfrm>
          <a:prstGeom prst="roundRect">
            <a:avLst>
              <a:gd name="adj" fmla="val 2747"/>
            </a:avLst>
          </a:prstGeom>
          <a:solidFill>
            <a:srgbClr val="E9E3E4"/>
          </a:solidFill>
          <a:ln w="19050">
            <a:solidFill>
              <a:srgbClr val="861F41"/>
            </a:solidFill>
          </a:ln>
          <a:effectLst/>
        </p:spPr>
        <p:txBody>
          <a:bodyPr rtlCol="0" anchor="ctr"/>
          <a:lstStyle/>
          <a:p>
            <a:pPr algn="ctr"/>
          </a:p>
        </p:txBody>
      </p:sp>
      <p:sp>
        <p:nvSpPr>
          <p:cNvPr id="21" name="TextBox 20"/>
          <p:cNvSpPr txBox="1"/>
          <p:nvPr/>
        </p:nvSpPr>
        <p:spPr>
          <a:xfrm>
            <a:off x="4607917" y="4146550"/>
            <a:ext cx="2976066"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Eclipse</a:t>
            </a:r>
          </a:p>
        </p:txBody>
      </p:sp>
      <p:pic>
        <p:nvPicPr>
          <p:cNvPr id="22" name="Picture 21" descr="2972dce8f06e3d9b.png"/>
          <p:cNvPicPr>
            <a:picLocks noChangeAspect="1"/>
          </p:cNvPicPr>
          <p:nvPr/>
        </p:nvPicPr>
        <p:blipFill>
          <a:blip r:embed="rId7"/>
          <a:stretch>
            <a:fillRect/>
          </a:stretch>
        </p:blipFill>
        <p:spPr>
          <a:xfrm>
            <a:off x="4603750" y="4108450"/>
            <a:ext cx="381000" cy="381000"/>
          </a:xfrm>
          <a:prstGeom prst="rect">
            <a:avLst/>
          </a:prstGeom>
        </p:spPr>
      </p:pic>
      <p:sp>
        <p:nvSpPr>
          <p:cNvPr id="23" name="TextBox 22"/>
          <p:cNvSpPr txBox="1"/>
          <p:nvPr/>
        </p:nvSpPr>
        <p:spPr>
          <a:xfrm>
            <a:off x="4607917" y="4632920"/>
            <a:ext cx="3001466"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Java IDE — setup is Challenge Exercise 01</a:t>
            </a:r>
          </a:p>
        </p:txBody>
      </p:sp>
      <p:sp>
        <p:nvSpPr>
          <p:cNvPr id="24" name="Rounded Rectangle 23"/>
          <p:cNvSpPr/>
          <p:nvPr/>
        </p:nvSpPr>
        <p:spPr>
          <a:xfrm>
            <a:off x="7958634" y="3937000"/>
            <a:ext cx="3420566" cy="2311400"/>
          </a:xfrm>
          <a:prstGeom prst="roundRect">
            <a:avLst>
              <a:gd name="adj" fmla="val 2747"/>
            </a:avLst>
          </a:prstGeom>
          <a:solidFill>
            <a:srgbClr val="E9E3E4"/>
          </a:solidFill>
          <a:ln w="19050">
            <a:solidFill>
              <a:srgbClr val="1C6091"/>
            </a:solidFill>
          </a:ln>
          <a:effectLst/>
        </p:spPr>
        <p:txBody>
          <a:bodyPr rtlCol="0" anchor="ctr"/>
          <a:lstStyle/>
          <a:p>
            <a:pPr algn="ctr"/>
          </a:p>
        </p:txBody>
      </p:sp>
      <p:sp>
        <p:nvSpPr>
          <p:cNvPr id="25" name="TextBox 24"/>
          <p:cNvSpPr txBox="1"/>
          <p:nvPr/>
        </p:nvSpPr>
        <p:spPr>
          <a:xfrm>
            <a:off x="8180884" y="4146550"/>
            <a:ext cx="2976066"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Web-CAT</a:t>
            </a:r>
          </a:p>
        </p:txBody>
      </p:sp>
      <p:pic>
        <p:nvPicPr>
          <p:cNvPr id="26" name="Picture 25" descr="ac0807d24acb1364.jpg"/>
          <p:cNvPicPr>
            <a:picLocks noChangeAspect="1"/>
          </p:cNvPicPr>
          <p:nvPr/>
        </p:nvPicPr>
        <p:blipFill>
          <a:blip r:embed="rId8"/>
          <a:stretch>
            <a:fillRect/>
          </a:stretch>
        </p:blipFill>
        <p:spPr>
          <a:xfrm>
            <a:off x="8178800" y="4108450"/>
            <a:ext cx="381000" cy="381000"/>
          </a:xfrm>
          <a:prstGeom prst="rect">
            <a:avLst/>
          </a:prstGeom>
        </p:spPr>
      </p:pic>
      <p:sp>
        <p:nvSpPr>
          <p:cNvPr id="27" name="TextBox 26"/>
          <p:cNvSpPr txBox="1"/>
          <p:nvPr/>
        </p:nvSpPr>
        <p:spPr>
          <a:xfrm>
            <a:off x="8180884" y="4632920"/>
            <a:ext cx="3001466"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Automated grading for projects</a:t>
            </a:r>
          </a:p>
        </p:txBody>
      </p:sp>
      <p:sp>
        <p:nvSpPr>
          <p:cNvPr id="28" name="Rounded Rectangle 27"/>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29" name="TextBox 28"/>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13 / 28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GenAI: use it and use it well</a:t>
            </a:r>
          </a:p>
        </p:txBody>
      </p:sp>
      <p:sp>
        <p:nvSpPr>
          <p:cNvPr id="4" name="Rounded Rectangle 3"/>
          <p:cNvSpPr/>
          <p:nvPr/>
        </p:nvSpPr>
        <p:spPr>
          <a:xfrm>
            <a:off x="812800" y="2071588"/>
            <a:ext cx="5207000" cy="2542183"/>
          </a:xfrm>
          <a:prstGeom prst="roundRect">
            <a:avLst>
              <a:gd name="adj" fmla="val 2497"/>
            </a:avLst>
          </a:prstGeom>
          <a:solidFill>
            <a:srgbClr val="E9E3E4"/>
          </a:solidFill>
          <a:ln w="19050">
            <a:solidFill>
              <a:srgbClr val="1C6091"/>
            </a:solidFill>
          </a:ln>
          <a:effectLst/>
        </p:spPr>
        <p:txBody>
          <a:bodyPr rtlCol="0" anchor="ctr"/>
          <a:lstStyle/>
          <a:p>
            <a:pPr algn="ctr"/>
          </a:p>
        </p:txBody>
      </p:sp>
      <p:sp>
        <p:nvSpPr>
          <p:cNvPr id="5" name="TextBox 4"/>
          <p:cNvSpPr txBox="1"/>
          <p:nvPr/>
        </p:nvSpPr>
        <p:spPr>
          <a:xfrm>
            <a:off x="1035050" y="2255738"/>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Encouraged</a:t>
            </a:r>
          </a:p>
        </p:txBody>
      </p:sp>
      <p:sp>
        <p:nvSpPr>
          <p:cNvPr id="6" name="TextBox 5"/>
          <p:cNvSpPr txBox="1"/>
          <p:nvPr/>
        </p:nvSpPr>
        <p:spPr>
          <a:xfrm>
            <a:off x="1286470" y="2742109"/>
            <a:ext cx="4511080" cy="274320"/>
          </a:xfrm>
          <a:prstGeom prst="rect">
            <a:avLst/>
          </a:prstGeom>
          <a:noFill/>
        </p:spPr>
        <p:txBody>
          <a:bodyPr wrap="none" lIns="0" rIns="0" tIns="0" bIns="0" anchor="ctr">
            <a:noAutofit/>
          </a:bodyPr>
          <a:lstStyle/>
          <a:p>
            <a:pPr algn="l">
              <a:lnSpc>
                <a:spcPts val="2610"/>
              </a:lnSpc>
            </a:pPr>
            <a:r>
              <a:rPr sz="1800" b="0" i="0">
                <a:solidFill>
                  <a:srgbClr val="2C1A1F">
                    <a:alpha val="30000"/>
                  </a:srgbClr>
                </a:solidFill>
                <a:latin typeface="Verdana"/>
              </a:rPr>
              <a:t>Explaining concepts and errors</a:t>
            </a:r>
          </a:p>
        </p:txBody>
      </p:sp>
      <p:sp>
        <p:nvSpPr>
          <p:cNvPr id="7" name="TextBox 6"/>
          <p:cNvSpPr txBox="1"/>
          <p:nvPr/>
        </p:nvSpPr>
        <p:spPr>
          <a:xfrm>
            <a:off x="1286470" y="3175099"/>
            <a:ext cx="4511080" cy="274320"/>
          </a:xfrm>
          <a:prstGeom prst="rect">
            <a:avLst/>
          </a:prstGeom>
          <a:noFill/>
        </p:spPr>
        <p:txBody>
          <a:bodyPr wrap="none" lIns="0" rIns="0" tIns="0" bIns="0" anchor="ctr">
            <a:noAutofit/>
          </a:bodyPr>
          <a:lstStyle/>
          <a:p>
            <a:pPr algn="l">
              <a:lnSpc>
                <a:spcPts val="2610"/>
              </a:lnSpc>
            </a:pPr>
            <a:r>
              <a:rPr sz="1800" b="0" i="0">
                <a:solidFill>
                  <a:srgbClr val="2C1A1F">
                    <a:alpha val="30000"/>
                  </a:srgbClr>
                </a:solidFill>
                <a:latin typeface="Verdana"/>
              </a:rPr>
              <a:t>Debugging hints</a:t>
            </a:r>
          </a:p>
        </p:txBody>
      </p:sp>
      <p:sp>
        <p:nvSpPr>
          <p:cNvPr id="8" name="TextBox 7"/>
          <p:cNvSpPr txBox="1"/>
          <p:nvPr/>
        </p:nvSpPr>
        <p:spPr>
          <a:xfrm>
            <a:off x="1286470" y="3608090"/>
            <a:ext cx="4511080" cy="274320"/>
          </a:xfrm>
          <a:prstGeom prst="rect">
            <a:avLst/>
          </a:prstGeom>
          <a:noFill/>
        </p:spPr>
        <p:txBody>
          <a:bodyPr wrap="none" lIns="0" rIns="0" tIns="0" bIns="0" anchor="ctr">
            <a:noAutofit/>
          </a:bodyPr>
          <a:lstStyle/>
          <a:p>
            <a:pPr algn="l">
              <a:lnSpc>
                <a:spcPts val="2610"/>
              </a:lnSpc>
            </a:pPr>
            <a:r>
              <a:rPr sz="1800" b="0" i="0">
                <a:solidFill>
                  <a:srgbClr val="2C1A1F">
                    <a:alpha val="30000"/>
                  </a:srgbClr>
                </a:solidFill>
                <a:latin typeface="Verdana"/>
              </a:rPr>
              <a:t>Boilerplate and syntax recall</a:t>
            </a:r>
          </a:p>
        </p:txBody>
      </p:sp>
      <p:sp>
        <p:nvSpPr>
          <p:cNvPr id="9" name="TextBox 8"/>
          <p:cNvSpPr txBox="1"/>
          <p:nvPr/>
        </p:nvSpPr>
        <p:spPr>
          <a:xfrm>
            <a:off x="1286470" y="4041080"/>
            <a:ext cx="4511080" cy="274320"/>
          </a:xfrm>
          <a:prstGeom prst="rect">
            <a:avLst/>
          </a:prstGeom>
          <a:noFill/>
        </p:spPr>
        <p:txBody>
          <a:bodyPr wrap="none" lIns="0" rIns="0" tIns="0" bIns="0" anchor="ctr">
            <a:noAutofit/>
          </a:bodyPr>
          <a:lstStyle/>
          <a:p>
            <a:pPr algn="l">
              <a:lnSpc>
                <a:spcPts val="2610"/>
              </a:lnSpc>
            </a:pPr>
            <a:r>
              <a:rPr sz="1800" b="0" i="0">
                <a:solidFill>
                  <a:srgbClr val="2C1A1F">
                    <a:alpha val="30000"/>
                  </a:srgbClr>
                </a:solidFill>
                <a:latin typeface="Verdana"/>
              </a:rPr>
              <a:t>Brainstorming</a:t>
            </a:r>
          </a:p>
        </p:txBody>
      </p:sp>
      <p:sp>
        <p:nvSpPr>
          <p:cNvPr id="10" name="Rounded Rectangle 9"/>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1" name="TextBox 10"/>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14 / 28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GenAI: use it and use it well</a:t>
            </a:r>
          </a:p>
        </p:txBody>
      </p:sp>
      <p:sp>
        <p:nvSpPr>
          <p:cNvPr id="4" name="Rounded Rectangle 3"/>
          <p:cNvSpPr/>
          <p:nvPr/>
        </p:nvSpPr>
        <p:spPr>
          <a:xfrm>
            <a:off x="812800" y="2071588"/>
            <a:ext cx="5207000" cy="2542183"/>
          </a:xfrm>
          <a:prstGeom prst="roundRect">
            <a:avLst>
              <a:gd name="adj" fmla="val 2497"/>
            </a:avLst>
          </a:prstGeom>
          <a:solidFill>
            <a:srgbClr val="E9E3E4"/>
          </a:solidFill>
          <a:ln w="19050">
            <a:solidFill>
              <a:srgbClr val="1C6091"/>
            </a:solidFill>
          </a:ln>
          <a:effectLst/>
        </p:spPr>
        <p:txBody>
          <a:bodyPr rtlCol="0" anchor="ctr"/>
          <a:lstStyle/>
          <a:p>
            <a:pPr algn="ctr"/>
          </a:p>
        </p:txBody>
      </p:sp>
      <p:sp>
        <p:nvSpPr>
          <p:cNvPr id="5" name="TextBox 4"/>
          <p:cNvSpPr txBox="1"/>
          <p:nvPr/>
        </p:nvSpPr>
        <p:spPr>
          <a:xfrm>
            <a:off x="1035050" y="2255738"/>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Encouraged</a:t>
            </a:r>
          </a:p>
        </p:txBody>
      </p:sp>
      <p:sp>
        <p:nvSpPr>
          <p:cNvPr id="6" name="TextBox 5"/>
          <p:cNvSpPr txBox="1"/>
          <p:nvPr/>
        </p:nvSpPr>
        <p:spPr>
          <a:xfrm>
            <a:off x="1286470" y="2742109"/>
            <a:ext cx="45110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Explaining concepts and errors</a:t>
            </a:r>
          </a:p>
        </p:txBody>
      </p:sp>
      <p:sp>
        <p:nvSpPr>
          <p:cNvPr id="7" name="TextBox 6"/>
          <p:cNvSpPr txBox="1"/>
          <p:nvPr/>
        </p:nvSpPr>
        <p:spPr>
          <a:xfrm>
            <a:off x="1286470" y="3175099"/>
            <a:ext cx="4511080" cy="274320"/>
          </a:xfrm>
          <a:prstGeom prst="rect">
            <a:avLst/>
          </a:prstGeom>
          <a:noFill/>
        </p:spPr>
        <p:txBody>
          <a:bodyPr wrap="none" lIns="0" rIns="0" tIns="0" bIns="0" anchor="ctr">
            <a:noAutofit/>
          </a:bodyPr>
          <a:lstStyle/>
          <a:p>
            <a:pPr algn="l">
              <a:lnSpc>
                <a:spcPts val="2610"/>
              </a:lnSpc>
            </a:pPr>
            <a:r>
              <a:rPr sz="1800" b="0" i="0">
                <a:solidFill>
                  <a:srgbClr val="2C1A1F">
                    <a:alpha val="30000"/>
                  </a:srgbClr>
                </a:solidFill>
                <a:latin typeface="Verdana"/>
              </a:rPr>
              <a:t>Debugging hints</a:t>
            </a:r>
          </a:p>
        </p:txBody>
      </p:sp>
      <p:sp>
        <p:nvSpPr>
          <p:cNvPr id="8" name="TextBox 7"/>
          <p:cNvSpPr txBox="1"/>
          <p:nvPr/>
        </p:nvSpPr>
        <p:spPr>
          <a:xfrm>
            <a:off x="1286470" y="3608090"/>
            <a:ext cx="4511080" cy="274320"/>
          </a:xfrm>
          <a:prstGeom prst="rect">
            <a:avLst/>
          </a:prstGeom>
          <a:noFill/>
        </p:spPr>
        <p:txBody>
          <a:bodyPr wrap="none" lIns="0" rIns="0" tIns="0" bIns="0" anchor="ctr">
            <a:noAutofit/>
          </a:bodyPr>
          <a:lstStyle/>
          <a:p>
            <a:pPr algn="l">
              <a:lnSpc>
                <a:spcPts val="2610"/>
              </a:lnSpc>
            </a:pPr>
            <a:r>
              <a:rPr sz="1800" b="0" i="0">
                <a:solidFill>
                  <a:srgbClr val="2C1A1F">
                    <a:alpha val="30000"/>
                  </a:srgbClr>
                </a:solidFill>
                <a:latin typeface="Verdana"/>
              </a:rPr>
              <a:t>Boilerplate and syntax recall</a:t>
            </a:r>
          </a:p>
        </p:txBody>
      </p:sp>
      <p:sp>
        <p:nvSpPr>
          <p:cNvPr id="9" name="TextBox 8"/>
          <p:cNvSpPr txBox="1"/>
          <p:nvPr/>
        </p:nvSpPr>
        <p:spPr>
          <a:xfrm>
            <a:off x="1286470" y="4041080"/>
            <a:ext cx="4511080" cy="274320"/>
          </a:xfrm>
          <a:prstGeom prst="rect">
            <a:avLst/>
          </a:prstGeom>
          <a:noFill/>
        </p:spPr>
        <p:txBody>
          <a:bodyPr wrap="none" lIns="0" rIns="0" tIns="0" bIns="0" anchor="ctr">
            <a:noAutofit/>
          </a:bodyPr>
          <a:lstStyle/>
          <a:p>
            <a:pPr algn="l">
              <a:lnSpc>
                <a:spcPts val="2610"/>
              </a:lnSpc>
            </a:pPr>
            <a:r>
              <a:rPr sz="1800" b="0" i="0">
                <a:solidFill>
                  <a:srgbClr val="2C1A1F">
                    <a:alpha val="30000"/>
                  </a:srgbClr>
                </a:solidFill>
                <a:latin typeface="Verdana"/>
              </a:rPr>
              <a:t>Brainstorming</a:t>
            </a:r>
          </a:p>
        </p:txBody>
      </p:sp>
      <p:sp>
        <p:nvSpPr>
          <p:cNvPr id="10" name="Rounded Rectangle 9"/>
          <p:cNvSpPr/>
          <p:nvPr/>
        </p:nvSpPr>
        <p:spPr>
          <a:xfrm>
            <a:off x="6172200" y="2071588"/>
            <a:ext cx="5207000" cy="2542183"/>
          </a:xfrm>
          <a:prstGeom prst="roundRect">
            <a:avLst>
              <a:gd name="adj" fmla="val 4496"/>
            </a:avLst>
          </a:prstGeom>
          <a:solidFill>
            <a:srgbClr val="F2F1ED"/>
          </a:solidFill>
          <a:ln w="12700">
            <a:solidFill>
              <a:srgbClr val="6B4A52">
                <a:alpha val="30000"/>
              </a:srgbClr>
            </a:solidFill>
          </a:ln>
          <a:effectLst/>
        </p:spPr>
        <p:txBody>
          <a:bodyPr rtlCol="0" anchor="ctr"/>
          <a:lstStyle/>
          <a:p>
            <a:pPr algn="ctr"/>
          </a:p>
        </p:txBody>
      </p:sp>
      <p:sp>
        <p:nvSpPr>
          <p:cNvPr id="11" name="Rounded Rectangle 10"/>
          <p:cNvSpPr/>
          <p:nvPr/>
        </p:nvSpPr>
        <p:spPr>
          <a:xfrm>
            <a:off x="6617791" y="2236688"/>
            <a:ext cx="4596309" cy="820341"/>
          </a:xfrm>
          <a:prstGeom prst="roundRect">
            <a:avLst>
              <a:gd name="adj" fmla="val 13933"/>
            </a:avLst>
          </a:prstGeom>
          <a:solidFill>
            <a:srgbClr val="E9E3E4"/>
          </a:solidFill>
          <a:ln>
            <a:noFill/>
          </a:ln>
          <a:effectLst/>
        </p:spPr>
        <p:txBody>
          <a:bodyPr rtlCol="0" anchor="ctr"/>
          <a:lstStyle/>
          <a:p>
            <a:pPr algn="ctr"/>
          </a:p>
        </p:txBody>
      </p:sp>
      <p:sp>
        <p:nvSpPr>
          <p:cNvPr id="12" name="TextBox 11"/>
          <p:cNvSpPr txBox="1"/>
          <p:nvPr/>
        </p:nvSpPr>
        <p:spPr>
          <a:xfrm>
            <a:off x="6770191" y="2357338"/>
            <a:ext cx="4316909" cy="56892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What does “NullPointerException at Node.getNext()” mean?</a:t>
            </a:r>
          </a:p>
        </p:txBody>
      </p:sp>
      <p:sp>
        <p:nvSpPr>
          <p:cNvPr id="13" name="TextBox 12"/>
          <p:cNvSpPr txBox="1"/>
          <p:nvPr/>
        </p:nvSpPr>
        <p:spPr>
          <a:xfrm>
            <a:off x="6337300" y="3209429"/>
            <a:ext cx="228600" cy="308571"/>
          </a:xfrm>
          <a:prstGeom prst="rect">
            <a:avLst/>
          </a:prstGeom>
          <a:noFill/>
        </p:spPr>
        <p:txBody>
          <a:bodyPr wrap="none" lIns="0" rIns="0" tIns="0" bIns="0" anchor="ctr">
            <a:noAutofit/>
          </a:bodyPr>
          <a:lstStyle/>
          <a:p>
            <a:pPr algn="l">
              <a:lnSpc>
                <a:spcPts val="2430"/>
              </a:lnSpc>
            </a:pPr>
            <a:r>
              <a:rPr sz="1800" b="0" i="0">
                <a:solidFill>
                  <a:srgbClr val="B35510"/>
                </a:solidFill>
                <a:latin typeface="Verdana"/>
              </a:rPr>
              <a:t>✻</a:t>
            </a:r>
          </a:p>
        </p:txBody>
      </p:sp>
      <p:sp>
        <p:nvSpPr>
          <p:cNvPr id="14" name="TextBox 13"/>
          <p:cNvSpPr txBox="1"/>
          <p:nvPr/>
        </p:nvSpPr>
        <p:spPr>
          <a:xfrm>
            <a:off x="6642100" y="3228479"/>
            <a:ext cx="4597400" cy="1036241"/>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You called </a:t>
            </a:r>
            <a:r>
              <a:rPr sz="1800" b="0" i="0">
                <a:solidFill>
                  <a:srgbClr val="2C1A1F"/>
                </a:solidFill>
                <a:latin typeface="Roboto Mono"/>
              </a:rPr>
              <a:t>getNext()</a:t>
            </a:r>
            <a:r>
              <a:rPr sz="1800" b="0" i="0">
                <a:solidFill>
                  <a:srgbClr val="2C1A1F"/>
                </a:solidFill>
                <a:latin typeface="Verdana"/>
              </a:rPr>
              <a:t> on a variable that never got a </a:t>
            </a:r>
            <a:r>
              <a:rPr sz="1800" b="0" i="0">
                <a:solidFill>
                  <a:srgbClr val="2C1A1F"/>
                </a:solidFill>
                <a:latin typeface="Roboto Mono"/>
              </a:rPr>
              <a:t>Node</a:t>
            </a:r>
            <a:r>
              <a:rPr sz="1800" b="0" i="0">
                <a:solidFill>
                  <a:srgbClr val="2C1A1F"/>
                </a:solidFill>
                <a:latin typeface="Verdana"/>
              </a:rPr>
              <a:t> — check where </a:t>
            </a:r>
            <a:r>
              <a:rPr sz="1800" b="0" i="0">
                <a:solidFill>
                  <a:srgbClr val="2C1A1F"/>
                </a:solidFill>
                <a:latin typeface="Roboto Mono"/>
              </a:rPr>
              <a:t>firstNode</a:t>
            </a:r>
            <a:r>
              <a:rPr sz="1800" b="0" i="0">
                <a:solidFill>
                  <a:srgbClr val="2C1A1F"/>
                </a:solidFill>
                <a:latin typeface="Verdana"/>
              </a:rPr>
              <a:t> is assigned.</a:t>
            </a:r>
          </a:p>
        </p:txBody>
      </p:sp>
      <p:sp>
        <p:nvSpPr>
          <p:cNvPr id="15" name="Rounded Rectangle 14"/>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6" name="TextBox 15"/>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14 / 28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GenAI: use it and use it well</a:t>
            </a:r>
          </a:p>
        </p:txBody>
      </p:sp>
      <p:sp>
        <p:nvSpPr>
          <p:cNvPr id="4" name="Rounded Rectangle 3"/>
          <p:cNvSpPr/>
          <p:nvPr/>
        </p:nvSpPr>
        <p:spPr>
          <a:xfrm>
            <a:off x="812800" y="2071588"/>
            <a:ext cx="5207000" cy="2542183"/>
          </a:xfrm>
          <a:prstGeom prst="roundRect">
            <a:avLst>
              <a:gd name="adj" fmla="val 2497"/>
            </a:avLst>
          </a:prstGeom>
          <a:solidFill>
            <a:srgbClr val="E9E3E4"/>
          </a:solidFill>
          <a:ln w="19050">
            <a:solidFill>
              <a:srgbClr val="1C6091"/>
            </a:solidFill>
          </a:ln>
          <a:effectLst/>
        </p:spPr>
        <p:txBody>
          <a:bodyPr rtlCol="0" anchor="ctr"/>
          <a:lstStyle/>
          <a:p>
            <a:pPr algn="ctr"/>
          </a:p>
        </p:txBody>
      </p:sp>
      <p:sp>
        <p:nvSpPr>
          <p:cNvPr id="5" name="TextBox 4"/>
          <p:cNvSpPr txBox="1"/>
          <p:nvPr/>
        </p:nvSpPr>
        <p:spPr>
          <a:xfrm>
            <a:off x="1035050" y="2255738"/>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Encouraged</a:t>
            </a:r>
          </a:p>
        </p:txBody>
      </p:sp>
      <p:sp>
        <p:nvSpPr>
          <p:cNvPr id="6" name="TextBox 5"/>
          <p:cNvSpPr txBox="1"/>
          <p:nvPr/>
        </p:nvSpPr>
        <p:spPr>
          <a:xfrm>
            <a:off x="1286470" y="2742109"/>
            <a:ext cx="45110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Explaining concepts and errors</a:t>
            </a:r>
          </a:p>
        </p:txBody>
      </p:sp>
      <p:sp>
        <p:nvSpPr>
          <p:cNvPr id="7" name="TextBox 6"/>
          <p:cNvSpPr txBox="1"/>
          <p:nvPr/>
        </p:nvSpPr>
        <p:spPr>
          <a:xfrm>
            <a:off x="1286470" y="3175099"/>
            <a:ext cx="45110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Debugging hints</a:t>
            </a:r>
          </a:p>
        </p:txBody>
      </p:sp>
      <p:sp>
        <p:nvSpPr>
          <p:cNvPr id="8" name="TextBox 7"/>
          <p:cNvSpPr txBox="1"/>
          <p:nvPr/>
        </p:nvSpPr>
        <p:spPr>
          <a:xfrm>
            <a:off x="1286470" y="3608090"/>
            <a:ext cx="4511080" cy="274320"/>
          </a:xfrm>
          <a:prstGeom prst="rect">
            <a:avLst/>
          </a:prstGeom>
          <a:noFill/>
        </p:spPr>
        <p:txBody>
          <a:bodyPr wrap="none" lIns="0" rIns="0" tIns="0" bIns="0" anchor="ctr">
            <a:noAutofit/>
          </a:bodyPr>
          <a:lstStyle/>
          <a:p>
            <a:pPr algn="l">
              <a:lnSpc>
                <a:spcPts val="2610"/>
              </a:lnSpc>
            </a:pPr>
            <a:r>
              <a:rPr sz="1800" b="0" i="0">
                <a:solidFill>
                  <a:srgbClr val="2C1A1F">
                    <a:alpha val="30000"/>
                  </a:srgbClr>
                </a:solidFill>
                <a:latin typeface="Verdana"/>
              </a:rPr>
              <a:t>Boilerplate and syntax recall</a:t>
            </a:r>
          </a:p>
        </p:txBody>
      </p:sp>
      <p:sp>
        <p:nvSpPr>
          <p:cNvPr id="9" name="TextBox 8"/>
          <p:cNvSpPr txBox="1"/>
          <p:nvPr/>
        </p:nvSpPr>
        <p:spPr>
          <a:xfrm>
            <a:off x="1286470" y="4041080"/>
            <a:ext cx="4511080" cy="274320"/>
          </a:xfrm>
          <a:prstGeom prst="rect">
            <a:avLst/>
          </a:prstGeom>
          <a:noFill/>
        </p:spPr>
        <p:txBody>
          <a:bodyPr wrap="none" lIns="0" rIns="0" tIns="0" bIns="0" anchor="ctr">
            <a:noAutofit/>
          </a:bodyPr>
          <a:lstStyle/>
          <a:p>
            <a:pPr algn="l">
              <a:lnSpc>
                <a:spcPts val="2610"/>
              </a:lnSpc>
            </a:pPr>
            <a:r>
              <a:rPr sz="1800" b="0" i="0">
                <a:solidFill>
                  <a:srgbClr val="2C1A1F">
                    <a:alpha val="30000"/>
                  </a:srgbClr>
                </a:solidFill>
                <a:latin typeface="Verdana"/>
              </a:rPr>
              <a:t>Brainstorming</a:t>
            </a:r>
          </a:p>
        </p:txBody>
      </p:sp>
      <p:sp>
        <p:nvSpPr>
          <p:cNvPr id="10" name="Rounded Rectangle 9"/>
          <p:cNvSpPr/>
          <p:nvPr/>
        </p:nvSpPr>
        <p:spPr>
          <a:xfrm>
            <a:off x="6172200" y="2071588"/>
            <a:ext cx="5207000" cy="2542183"/>
          </a:xfrm>
          <a:prstGeom prst="roundRect">
            <a:avLst>
              <a:gd name="adj" fmla="val 4496"/>
            </a:avLst>
          </a:prstGeom>
          <a:solidFill>
            <a:srgbClr val="F2F1ED"/>
          </a:solidFill>
          <a:ln w="12700">
            <a:solidFill>
              <a:srgbClr val="6B4A52">
                <a:alpha val="30000"/>
              </a:srgbClr>
            </a:solidFill>
          </a:ln>
          <a:effectLst/>
        </p:spPr>
        <p:txBody>
          <a:bodyPr rtlCol="0" anchor="ctr"/>
          <a:lstStyle/>
          <a:p>
            <a:pPr algn="ctr"/>
          </a:p>
        </p:txBody>
      </p:sp>
      <p:sp>
        <p:nvSpPr>
          <p:cNvPr id="11" name="Rounded Rectangle 10"/>
          <p:cNvSpPr/>
          <p:nvPr/>
        </p:nvSpPr>
        <p:spPr>
          <a:xfrm>
            <a:off x="6617791" y="2236688"/>
            <a:ext cx="4596309" cy="820341"/>
          </a:xfrm>
          <a:prstGeom prst="roundRect">
            <a:avLst>
              <a:gd name="adj" fmla="val 13933"/>
            </a:avLst>
          </a:prstGeom>
          <a:solidFill>
            <a:srgbClr val="E9E3E4"/>
          </a:solidFill>
          <a:ln>
            <a:noFill/>
          </a:ln>
          <a:effectLst/>
        </p:spPr>
        <p:txBody>
          <a:bodyPr rtlCol="0" anchor="ctr"/>
          <a:lstStyle/>
          <a:p>
            <a:pPr algn="ctr"/>
          </a:p>
        </p:txBody>
      </p:sp>
      <p:sp>
        <p:nvSpPr>
          <p:cNvPr id="12" name="TextBox 11"/>
          <p:cNvSpPr txBox="1"/>
          <p:nvPr/>
        </p:nvSpPr>
        <p:spPr>
          <a:xfrm>
            <a:off x="6770191" y="2357338"/>
            <a:ext cx="4316909" cy="56892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What does “NullPointerException at Node.getNext()” mean?</a:t>
            </a:r>
          </a:p>
        </p:txBody>
      </p:sp>
      <p:sp>
        <p:nvSpPr>
          <p:cNvPr id="13" name="TextBox 12"/>
          <p:cNvSpPr txBox="1"/>
          <p:nvPr/>
        </p:nvSpPr>
        <p:spPr>
          <a:xfrm>
            <a:off x="6337300" y="3209429"/>
            <a:ext cx="228600" cy="308571"/>
          </a:xfrm>
          <a:prstGeom prst="rect">
            <a:avLst/>
          </a:prstGeom>
          <a:noFill/>
        </p:spPr>
        <p:txBody>
          <a:bodyPr wrap="none" lIns="0" rIns="0" tIns="0" bIns="0" anchor="ctr">
            <a:noAutofit/>
          </a:bodyPr>
          <a:lstStyle/>
          <a:p>
            <a:pPr algn="l">
              <a:lnSpc>
                <a:spcPts val="2430"/>
              </a:lnSpc>
            </a:pPr>
            <a:r>
              <a:rPr sz="1800" b="0" i="0">
                <a:solidFill>
                  <a:srgbClr val="B35510"/>
                </a:solidFill>
                <a:latin typeface="Verdana"/>
              </a:rPr>
              <a:t>✻</a:t>
            </a:r>
          </a:p>
        </p:txBody>
      </p:sp>
      <p:sp>
        <p:nvSpPr>
          <p:cNvPr id="14" name="TextBox 13"/>
          <p:cNvSpPr txBox="1"/>
          <p:nvPr/>
        </p:nvSpPr>
        <p:spPr>
          <a:xfrm>
            <a:off x="6642100" y="3228479"/>
            <a:ext cx="4597400" cy="1036241"/>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You called </a:t>
            </a:r>
            <a:r>
              <a:rPr sz="1800" b="0" i="0">
                <a:solidFill>
                  <a:srgbClr val="2C1A1F"/>
                </a:solidFill>
                <a:latin typeface="Roboto Mono"/>
              </a:rPr>
              <a:t>getNext()</a:t>
            </a:r>
            <a:r>
              <a:rPr sz="1800" b="0" i="0">
                <a:solidFill>
                  <a:srgbClr val="2C1A1F"/>
                </a:solidFill>
                <a:latin typeface="Verdana"/>
              </a:rPr>
              <a:t> on a variable that never got a </a:t>
            </a:r>
            <a:r>
              <a:rPr sz="1800" b="0" i="0">
                <a:solidFill>
                  <a:srgbClr val="2C1A1F"/>
                </a:solidFill>
                <a:latin typeface="Roboto Mono"/>
              </a:rPr>
              <a:t>Node</a:t>
            </a:r>
            <a:r>
              <a:rPr sz="1800" b="0" i="0">
                <a:solidFill>
                  <a:srgbClr val="2C1A1F"/>
                </a:solidFill>
                <a:latin typeface="Verdana"/>
              </a:rPr>
              <a:t> — check where </a:t>
            </a:r>
            <a:r>
              <a:rPr sz="1800" b="0" i="0">
                <a:solidFill>
                  <a:srgbClr val="2C1A1F"/>
                </a:solidFill>
                <a:latin typeface="Roboto Mono"/>
              </a:rPr>
              <a:t>firstNode</a:t>
            </a:r>
            <a:r>
              <a:rPr sz="1800" b="0" i="0">
                <a:solidFill>
                  <a:srgbClr val="2C1A1F"/>
                </a:solidFill>
                <a:latin typeface="Verdana"/>
              </a:rPr>
              <a:t> is assigned.</a:t>
            </a:r>
          </a:p>
        </p:txBody>
      </p:sp>
      <p:sp>
        <p:nvSpPr>
          <p:cNvPr id="15" name="Rounded Rectangle 14"/>
          <p:cNvSpPr/>
          <p:nvPr/>
        </p:nvSpPr>
        <p:spPr>
          <a:xfrm>
            <a:off x="6172200" y="2071588"/>
            <a:ext cx="5207000" cy="2542183"/>
          </a:xfrm>
          <a:prstGeom prst="roundRect">
            <a:avLst>
              <a:gd name="adj" fmla="val 4496"/>
            </a:avLst>
          </a:prstGeom>
          <a:solidFill>
            <a:srgbClr val="F2F1ED"/>
          </a:solidFill>
          <a:ln w="12700">
            <a:solidFill>
              <a:srgbClr val="6B4A52">
                <a:alpha val="30000"/>
              </a:srgbClr>
            </a:solidFill>
          </a:ln>
          <a:effectLst/>
        </p:spPr>
        <p:txBody>
          <a:bodyPr rtlCol="0" anchor="ctr"/>
          <a:lstStyle/>
          <a:p>
            <a:pPr algn="ctr"/>
          </a:p>
        </p:txBody>
      </p:sp>
      <p:sp>
        <p:nvSpPr>
          <p:cNvPr id="16" name="Rounded Rectangle 15"/>
          <p:cNvSpPr/>
          <p:nvPr/>
        </p:nvSpPr>
        <p:spPr>
          <a:xfrm>
            <a:off x="6617791" y="2236688"/>
            <a:ext cx="4596309" cy="820341"/>
          </a:xfrm>
          <a:prstGeom prst="roundRect">
            <a:avLst>
              <a:gd name="adj" fmla="val 13933"/>
            </a:avLst>
          </a:prstGeom>
          <a:solidFill>
            <a:srgbClr val="E9E3E4"/>
          </a:solidFill>
          <a:ln>
            <a:noFill/>
          </a:ln>
          <a:effectLst/>
        </p:spPr>
        <p:txBody>
          <a:bodyPr rtlCol="0" anchor="ctr"/>
          <a:lstStyle/>
          <a:p>
            <a:pPr algn="ctr"/>
          </a:p>
        </p:txBody>
      </p:sp>
      <p:sp>
        <p:nvSpPr>
          <p:cNvPr id="17" name="TextBox 16"/>
          <p:cNvSpPr txBox="1"/>
          <p:nvPr/>
        </p:nvSpPr>
        <p:spPr>
          <a:xfrm>
            <a:off x="6770191" y="2357338"/>
            <a:ext cx="4316909" cy="56892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My loop prints the last name five times. Hint only — no fix!</a:t>
            </a:r>
          </a:p>
        </p:txBody>
      </p:sp>
      <p:sp>
        <p:nvSpPr>
          <p:cNvPr id="18" name="TextBox 17"/>
          <p:cNvSpPr txBox="1"/>
          <p:nvPr/>
        </p:nvSpPr>
        <p:spPr>
          <a:xfrm>
            <a:off x="6337300" y="3209429"/>
            <a:ext cx="228600" cy="308571"/>
          </a:xfrm>
          <a:prstGeom prst="rect">
            <a:avLst/>
          </a:prstGeom>
          <a:noFill/>
        </p:spPr>
        <p:txBody>
          <a:bodyPr wrap="none" lIns="0" rIns="0" tIns="0" bIns="0" anchor="ctr">
            <a:noAutofit/>
          </a:bodyPr>
          <a:lstStyle/>
          <a:p>
            <a:pPr algn="l">
              <a:lnSpc>
                <a:spcPts val="2430"/>
              </a:lnSpc>
            </a:pPr>
            <a:r>
              <a:rPr sz="1800" b="0" i="0">
                <a:solidFill>
                  <a:srgbClr val="B35510"/>
                </a:solidFill>
                <a:latin typeface="Verdana"/>
              </a:rPr>
              <a:t>✻</a:t>
            </a:r>
          </a:p>
        </p:txBody>
      </p:sp>
      <p:sp>
        <p:nvSpPr>
          <p:cNvPr id="19" name="TextBox 18"/>
          <p:cNvSpPr txBox="1"/>
          <p:nvPr/>
        </p:nvSpPr>
        <p:spPr>
          <a:xfrm>
            <a:off x="6642100" y="3228479"/>
            <a:ext cx="4597400" cy="62607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Print </a:t>
            </a:r>
            <a:r>
              <a:rPr sz="1800" b="0" i="0">
                <a:solidFill>
                  <a:srgbClr val="2C1A1F"/>
                </a:solidFill>
                <a:latin typeface="Roboto Mono"/>
              </a:rPr>
              <a:t>i</a:t>
            </a:r>
            <a:r>
              <a:rPr sz="1800" b="0" i="0">
                <a:solidFill>
                  <a:srgbClr val="2C1A1F"/>
                </a:solidFill>
                <a:latin typeface="Verdana"/>
              </a:rPr>
              <a:t> and </a:t>
            </a:r>
            <a:r>
              <a:rPr sz="1800" b="0" i="0">
                <a:solidFill>
                  <a:srgbClr val="2C1A1F"/>
                </a:solidFill>
                <a:latin typeface="Roboto Mono"/>
              </a:rPr>
              <a:t>names[i]</a:t>
            </a:r>
            <a:r>
              <a:rPr sz="1800" b="0" i="0">
                <a:solidFill>
                  <a:srgbClr val="2C1A1F"/>
                </a:solidFill>
                <a:latin typeface="Verdana"/>
              </a:rPr>
              <a:t> each pass — watch what the inner loop actually changes.</a:t>
            </a:r>
          </a:p>
        </p:txBody>
      </p:sp>
      <p:sp>
        <p:nvSpPr>
          <p:cNvPr id="20" name="Rounded Rectangle 19"/>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21" name="TextBox 20"/>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14 / 28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GenAI: use it and use it well</a:t>
            </a:r>
          </a:p>
        </p:txBody>
      </p:sp>
      <p:sp>
        <p:nvSpPr>
          <p:cNvPr id="4" name="Rounded Rectangle 3"/>
          <p:cNvSpPr/>
          <p:nvPr/>
        </p:nvSpPr>
        <p:spPr>
          <a:xfrm>
            <a:off x="812800" y="2071588"/>
            <a:ext cx="5207000" cy="2542183"/>
          </a:xfrm>
          <a:prstGeom prst="roundRect">
            <a:avLst>
              <a:gd name="adj" fmla="val 2497"/>
            </a:avLst>
          </a:prstGeom>
          <a:solidFill>
            <a:srgbClr val="E9E3E4"/>
          </a:solidFill>
          <a:ln w="19050">
            <a:solidFill>
              <a:srgbClr val="1C6091"/>
            </a:solidFill>
          </a:ln>
          <a:effectLst/>
        </p:spPr>
        <p:txBody>
          <a:bodyPr rtlCol="0" anchor="ctr"/>
          <a:lstStyle/>
          <a:p>
            <a:pPr algn="ctr"/>
          </a:p>
        </p:txBody>
      </p:sp>
      <p:sp>
        <p:nvSpPr>
          <p:cNvPr id="5" name="TextBox 4"/>
          <p:cNvSpPr txBox="1"/>
          <p:nvPr/>
        </p:nvSpPr>
        <p:spPr>
          <a:xfrm>
            <a:off x="1035050" y="2255738"/>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Encouraged</a:t>
            </a:r>
          </a:p>
        </p:txBody>
      </p:sp>
      <p:sp>
        <p:nvSpPr>
          <p:cNvPr id="6" name="TextBox 5"/>
          <p:cNvSpPr txBox="1"/>
          <p:nvPr/>
        </p:nvSpPr>
        <p:spPr>
          <a:xfrm>
            <a:off x="1286470" y="2742109"/>
            <a:ext cx="45110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Explaining concepts and errors</a:t>
            </a:r>
          </a:p>
        </p:txBody>
      </p:sp>
      <p:sp>
        <p:nvSpPr>
          <p:cNvPr id="7" name="TextBox 6"/>
          <p:cNvSpPr txBox="1"/>
          <p:nvPr/>
        </p:nvSpPr>
        <p:spPr>
          <a:xfrm>
            <a:off x="1286470" y="3175099"/>
            <a:ext cx="45110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Debugging hints</a:t>
            </a:r>
          </a:p>
        </p:txBody>
      </p:sp>
      <p:sp>
        <p:nvSpPr>
          <p:cNvPr id="8" name="TextBox 7"/>
          <p:cNvSpPr txBox="1"/>
          <p:nvPr/>
        </p:nvSpPr>
        <p:spPr>
          <a:xfrm>
            <a:off x="1286470" y="3608090"/>
            <a:ext cx="45110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Boilerplate and syntax recall</a:t>
            </a:r>
          </a:p>
        </p:txBody>
      </p:sp>
      <p:sp>
        <p:nvSpPr>
          <p:cNvPr id="9" name="TextBox 8"/>
          <p:cNvSpPr txBox="1"/>
          <p:nvPr/>
        </p:nvSpPr>
        <p:spPr>
          <a:xfrm>
            <a:off x="1286470" y="4041080"/>
            <a:ext cx="4511080" cy="274320"/>
          </a:xfrm>
          <a:prstGeom prst="rect">
            <a:avLst/>
          </a:prstGeom>
          <a:noFill/>
        </p:spPr>
        <p:txBody>
          <a:bodyPr wrap="none" lIns="0" rIns="0" tIns="0" bIns="0" anchor="ctr">
            <a:noAutofit/>
          </a:bodyPr>
          <a:lstStyle/>
          <a:p>
            <a:pPr algn="l">
              <a:lnSpc>
                <a:spcPts val="2610"/>
              </a:lnSpc>
            </a:pPr>
            <a:r>
              <a:rPr sz="1800" b="0" i="0">
                <a:solidFill>
                  <a:srgbClr val="2C1A1F">
                    <a:alpha val="30000"/>
                  </a:srgbClr>
                </a:solidFill>
                <a:latin typeface="Verdana"/>
              </a:rPr>
              <a:t>Brainstorming</a:t>
            </a:r>
          </a:p>
        </p:txBody>
      </p:sp>
      <p:sp>
        <p:nvSpPr>
          <p:cNvPr id="10" name="Rounded Rectangle 9"/>
          <p:cNvSpPr/>
          <p:nvPr/>
        </p:nvSpPr>
        <p:spPr>
          <a:xfrm>
            <a:off x="6172200" y="2071588"/>
            <a:ext cx="5207000" cy="2542183"/>
          </a:xfrm>
          <a:prstGeom prst="roundRect">
            <a:avLst>
              <a:gd name="adj" fmla="val 4496"/>
            </a:avLst>
          </a:prstGeom>
          <a:solidFill>
            <a:srgbClr val="F2F1ED"/>
          </a:solidFill>
          <a:ln w="12700">
            <a:solidFill>
              <a:srgbClr val="6B4A52">
                <a:alpha val="30000"/>
              </a:srgbClr>
            </a:solidFill>
          </a:ln>
          <a:effectLst/>
        </p:spPr>
        <p:txBody>
          <a:bodyPr rtlCol="0" anchor="ctr"/>
          <a:lstStyle/>
          <a:p>
            <a:pPr algn="ctr"/>
          </a:p>
        </p:txBody>
      </p:sp>
      <p:sp>
        <p:nvSpPr>
          <p:cNvPr id="11" name="Rounded Rectangle 10"/>
          <p:cNvSpPr/>
          <p:nvPr/>
        </p:nvSpPr>
        <p:spPr>
          <a:xfrm>
            <a:off x="6617791" y="2236688"/>
            <a:ext cx="4596309" cy="820341"/>
          </a:xfrm>
          <a:prstGeom prst="roundRect">
            <a:avLst>
              <a:gd name="adj" fmla="val 13933"/>
            </a:avLst>
          </a:prstGeom>
          <a:solidFill>
            <a:srgbClr val="E9E3E4"/>
          </a:solidFill>
          <a:ln>
            <a:noFill/>
          </a:ln>
          <a:effectLst/>
        </p:spPr>
        <p:txBody>
          <a:bodyPr rtlCol="0" anchor="ctr"/>
          <a:lstStyle/>
          <a:p>
            <a:pPr algn="ctr"/>
          </a:p>
        </p:txBody>
      </p:sp>
      <p:sp>
        <p:nvSpPr>
          <p:cNvPr id="12" name="TextBox 11"/>
          <p:cNvSpPr txBox="1"/>
          <p:nvPr/>
        </p:nvSpPr>
        <p:spPr>
          <a:xfrm>
            <a:off x="6770191" y="2357338"/>
            <a:ext cx="4316909" cy="56892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What does “NullPointerException at Node.getNext()” mean?</a:t>
            </a:r>
          </a:p>
        </p:txBody>
      </p:sp>
      <p:sp>
        <p:nvSpPr>
          <p:cNvPr id="13" name="TextBox 12"/>
          <p:cNvSpPr txBox="1"/>
          <p:nvPr/>
        </p:nvSpPr>
        <p:spPr>
          <a:xfrm>
            <a:off x="6337300" y="3209429"/>
            <a:ext cx="228600" cy="308571"/>
          </a:xfrm>
          <a:prstGeom prst="rect">
            <a:avLst/>
          </a:prstGeom>
          <a:noFill/>
        </p:spPr>
        <p:txBody>
          <a:bodyPr wrap="none" lIns="0" rIns="0" tIns="0" bIns="0" anchor="ctr">
            <a:noAutofit/>
          </a:bodyPr>
          <a:lstStyle/>
          <a:p>
            <a:pPr algn="l">
              <a:lnSpc>
                <a:spcPts val="2430"/>
              </a:lnSpc>
            </a:pPr>
            <a:r>
              <a:rPr sz="1800" b="0" i="0">
                <a:solidFill>
                  <a:srgbClr val="B35510"/>
                </a:solidFill>
                <a:latin typeface="Verdana"/>
              </a:rPr>
              <a:t>✻</a:t>
            </a:r>
          </a:p>
        </p:txBody>
      </p:sp>
      <p:sp>
        <p:nvSpPr>
          <p:cNvPr id="14" name="TextBox 13"/>
          <p:cNvSpPr txBox="1"/>
          <p:nvPr/>
        </p:nvSpPr>
        <p:spPr>
          <a:xfrm>
            <a:off x="6642100" y="3228479"/>
            <a:ext cx="4597400" cy="1036241"/>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You called </a:t>
            </a:r>
            <a:r>
              <a:rPr sz="1800" b="0" i="0">
                <a:solidFill>
                  <a:srgbClr val="2C1A1F"/>
                </a:solidFill>
                <a:latin typeface="Roboto Mono"/>
              </a:rPr>
              <a:t>getNext()</a:t>
            </a:r>
            <a:r>
              <a:rPr sz="1800" b="0" i="0">
                <a:solidFill>
                  <a:srgbClr val="2C1A1F"/>
                </a:solidFill>
                <a:latin typeface="Verdana"/>
              </a:rPr>
              <a:t> on a variable that never got a </a:t>
            </a:r>
            <a:r>
              <a:rPr sz="1800" b="0" i="0">
                <a:solidFill>
                  <a:srgbClr val="2C1A1F"/>
                </a:solidFill>
                <a:latin typeface="Roboto Mono"/>
              </a:rPr>
              <a:t>Node</a:t>
            </a:r>
            <a:r>
              <a:rPr sz="1800" b="0" i="0">
                <a:solidFill>
                  <a:srgbClr val="2C1A1F"/>
                </a:solidFill>
                <a:latin typeface="Verdana"/>
              </a:rPr>
              <a:t> — check where </a:t>
            </a:r>
            <a:r>
              <a:rPr sz="1800" b="0" i="0">
                <a:solidFill>
                  <a:srgbClr val="2C1A1F"/>
                </a:solidFill>
                <a:latin typeface="Roboto Mono"/>
              </a:rPr>
              <a:t>firstNode</a:t>
            </a:r>
            <a:r>
              <a:rPr sz="1800" b="0" i="0">
                <a:solidFill>
                  <a:srgbClr val="2C1A1F"/>
                </a:solidFill>
                <a:latin typeface="Verdana"/>
              </a:rPr>
              <a:t> is assigned.</a:t>
            </a:r>
          </a:p>
        </p:txBody>
      </p:sp>
      <p:sp>
        <p:nvSpPr>
          <p:cNvPr id="15" name="Rounded Rectangle 14"/>
          <p:cNvSpPr/>
          <p:nvPr/>
        </p:nvSpPr>
        <p:spPr>
          <a:xfrm>
            <a:off x="6172200" y="2071588"/>
            <a:ext cx="5207000" cy="2542183"/>
          </a:xfrm>
          <a:prstGeom prst="roundRect">
            <a:avLst>
              <a:gd name="adj" fmla="val 4496"/>
            </a:avLst>
          </a:prstGeom>
          <a:solidFill>
            <a:srgbClr val="F2F1ED"/>
          </a:solidFill>
          <a:ln w="12700">
            <a:solidFill>
              <a:srgbClr val="6B4A52">
                <a:alpha val="30000"/>
              </a:srgbClr>
            </a:solidFill>
          </a:ln>
          <a:effectLst/>
        </p:spPr>
        <p:txBody>
          <a:bodyPr rtlCol="0" anchor="ctr"/>
          <a:lstStyle/>
          <a:p>
            <a:pPr algn="ctr"/>
          </a:p>
        </p:txBody>
      </p:sp>
      <p:sp>
        <p:nvSpPr>
          <p:cNvPr id="16" name="Rounded Rectangle 15"/>
          <p:cNvSpPr/>
          <p:nvPr/>
        </p:nvSpPr>
        <p:spPr>
          <a:xfrm>
            <a:off x="6617791" y="2236688"/>
            <a:ext cx="4596309" cy="820341"/>
          </a:xfrm>
          <a:prstGeom prst="roundRect">
            <a:avLst>
              <a:gd name="adj" fmla="val 13933"/>
            </a:avLst>
          </a:prstGeom>
          <a:solidFill>
            <a:srgbClr val="E9E3E4"/>
          </a:solidFill>
          <a:ln>
            <a:noFill/>
          </a:ln>
          <a:effectLst/>
        </p:spPr>
        <p:txBody>
          <a:bodyPr rtlCol="0" anchor="ctr"/>
          <a:lstStyle/>
          <a:p>
            <a:pPr algn="ctr"/>
          </a:p>
        </p:txBody>
      </p:sp>
      <p:sp>
        <p:nvSpPr>
          <p:cNvPr id="17" name="TextBox 16"/>
          <p:cNvSpPr txBox="1"/>
          <p:nvPr/>
        </p:nvSpPr>
        <p:spPr>
          <a:xfrm>
            <a:off x="6770191" y="2357338"/>
            <a:ext cx="4316909" cy="56892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My loop prints the last name five times. Hint only — no fix!</a:t>
            </a:r>
          </a:p>
        </p:txBody>
      </p:sp>
      <p:sp>
        <p:nvSpPr>
          <p:cNvPr id="18" name="TextBox 17"/>
          <p:cNvSpPr txBox="1"/>
          <p:nvPr/>
        </p:nvSpPr>
        <p:spPr>
          <a:xfrm>
            <a:off x="6337300" y="3209429"/>
            <a:ext cx="228600" cy="308571"/>
          </a:xfrm>
          <a:prstGeom prst="rect">
            <a:avLst/>
          </a:prstGeom>
          <a:noFill/>
        </p:spPr>
        <p:txBody>
          <a:bodyPr wrap="none" lIns="0" rIns="0" tIns="0" bIns="0" anchor="ctr">
            <a:noAutofit/>
          </a:bodyPr>
          <a:lstStyle/>
          <a:p>
            <a:pPr algn="l">
              <a:lnSpc>
                <a:spcPts val="2430"/>
              </a:lnSpc>
            </a:pPr>
            <a:r>
              <a:rPr sz="1800" b="0" i="0">
                <a:solidFill>
                  <a:srgbClr val="B35510"/>
                </a:solidFill>
                <a:latin typeface="Verdana"/>
              </a:rPr>
              <a:t>✻</a:t>
            </a:r>
          </a:p>
        </p:txBody>
      </p:sp>
      <p:sp>
        <p:nvSpPr>
          <p:cNvPr id="19" name="TextBox 18"/>
          <p:cNvSpPr txBox="1"/>
          <p:nvPr/>
        </p:nvSpPr>
        <p:spPr>
          <a:xfrm>
            <a:off x="6642100" y="3228479"/>
            <a:ext cx="4597400" cy="62607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Print </a:t>
            </a:r>
            <a:r>
              <a:rPr sz="1800" b="0" i="0">
                <a:solidFill>
                  <a:srgbClr val="2C1A1F"/>
                </a:solidFill>
                <a:latin typeface="Roboto Mono"/>
              </a:rPr>
              <a:t>i</a:t>
            </a:r>
            <a:r>
              <a:rPr sz="1800" b="0" i="0">
                <a:solidFill>
                  <a:srgbClr val="2C1A1F"/>
                </a:solidFill>
                <a:latin typeface="Verdana"/>
              </a:rPr>
              <a:t> and </a:t>
            </a:r>
            <a:r>
              <a:rPr sz="1800" b="0" i="0">
                <a:solidFill>
                  <a:srgbClr val="2C1A1F"/>
                </a:solidFill>
                <a:latin typeface="Roboto Mono"/>
              </a:rPr>
              <a:t>names[i]</a:t>
            </a:r>
            <a:r>
              <a:rPr sz="1800" b="0" i="0">
                <a:solidFill>
                  <a:srgbClr val="2C1A1F"/>
                </a:solidFill>
                <a:latin typeface="Verdana"/>
              </a:rPr>
              <a:t> each pass — watch what the inner loop actually changes.</a:t>
            </a:r>
          </a:p>
        </p:txBody>
      </p:sp>
      <p:sp>
        <p:nvSpPr>
          <p:cNvPr id="20" name="Rounded Rectangle 19"/>
          <p:cNvSpPr/>
          <p:nvPr/>
        </p:nvSpPr>
        <p:spPr>
          <a:xfrm>
            <a:off x="6172200" y="2071588"/>
            <a:ext cx="5207000" cy="2542183"/>
          </a:xfrm>
          <a:prstGeom prst="roundRect">
            <a:avLst>
              <a:gd name="adj" fmla="val 4496"/>
            </a:avLst>
          </a:prstGeom>
          <a:solidFill>
            <a:srgbClr val="F2F1ED"/>
          </a:solidFill>
          <a:ln w="12700">
            <a:solidFill>
              <a:srgbClr val="6B4A52">
                <a:alpha val="30000"/>
              </a:srgbClr>
            </a:solidFill>
          </a:ln>
          <a:effectLst/>
        </p:spPr>
        <p:txBody>
          <a:bodyPr rtlCol="0" anchor="ctr"/>
          <a:lstStyle/>
          <a:p>
            <a:pPr algn="ctr"/>
          </a:p>
        </p:txBody>
      </p:sp>
      <p:sp>
        <p:nvSpPr>
          <p:cNvPr id="21" name="Rounded Rectangle 20"/>
          <p:cNvSpPr/>
          <p:nvPr/>
        </p:nvSpPr>
        <p:spPr>
          <a:xfrm>
            <a:off x="7736880" y="2236688"/>
            <a:ext cx="3477220" cy="511770"/>
          </a:xfrm>
          <a:prstGeom prst="roundRect">
            <a:avLst>
              <a:gd name="adj" fmla="val 22334"/>
            </a:avLst>
          </a:prstGeom>
          <a:solidFill>
            <a:srgbClr val="E9E3E4"/>
          </a:solidFill>
          <a:ln>
            <a:noFill/>
          </a:ln>
          <a:effectLst/>
        </p:spPr>
        <p:txBody>
          <a:bodyPr rtlCol="0" anchor="ctr"/>
          <a:lstStyle/>
          <a:p>
            <a:pPr algn="ctr"/>
          </a:p>
        </p:txBody>
      </p:sp>
      <p:sp>
        <p:nvSpPr>
          <p:cNvPr id="22" name="TextBox 21"/>
          <p:cNvSpPr txBox="1"/>
          <p:nvPr/>
        </p:nvSpPr>
        <p:spPr>
          <a:xfrm>
            <a:off x="7889280" y="2357338"/>
            <a:ext cx="3172420" cy="274320"/>
          </a:xfrm>
          <a:prstGeom prst="rect">
            <a:avLst/>
          </a:prstGeom>
          <a:noFill/>
        </p:spPr>
        <p:txBody>
          <a:bodyPr wrap="none" lIns="0" rIns="0" tIns="0" bIns="0" anchor="ctr">
            <a:noAutofit/>
          </a:bodyPr>
          <a:lstStyle/>
          <a:p>
            <a:pPr algn="l">
              <a:lnSpc>
                <a:spcPts val="2430"/>
              </a:lnSpc>
            </a:pPr>
            <a:r>
              <a:rPr sz="1800" b="0" i="0">
                <a:solidFill>
                  <a:srgbClr val="2C1A1F"/>
                </a:solidFill>
                <a:latin typeface="Verdana"/>
              </a:rPr>
              <a:t>Generic method that returns T?</a:t>
            </a:r>
          </a:p>
        </p:txBody>
      </p:sp>
      <p:sp>
        <p:nvSpPr>
          <p:cNvPr id="23" name="TextBox 22"/>
          <p:cNvSpPr txBox="1"/>
          <p:nvPr/>
        </p:nvSpPr>
        <p:spPr>
          <a:xfrm>
            <a:off x="6337300" y="2900859"/>
            <a:ext cx="228600" cy="308571"/>
          </a:xfrm>
          <a:prstGeom prst="rect">
            <a:avLst/>
          </a:prstGeom>
          <a:noFill/>
        </p:spPr>
        <p:txBody>
          <a:bodyPr wrap="none" lIns="0" rIns="0" tIns="0" bIns="0" anchor="ctr">
            <a:noAutofit/>
          </a:bodyPr>
          <a:lstStyle/>
          <a:p>
            <a:pPr algn="l">
              <a:lnSpc>
                <a:spcPts val="2430"/>
              </a:lnSpc>
            </a:pPr>
            <a:r>
              <a:rPr sz="1800" b="0" i="0">
                <a:solidFill>
                  <a:srgbClr val="B35510"/>
                </a:solidFill>
                <a:latin typeface="Verdana"/>
              </a:rPr>
              <a:t>✻</a:t>
            </a:r>
          </a:p>
        </p:txBody>
      </p:sp>
      <p:sp>
        <p:nvSpPr>
          <p:cNvPr id="24" name="TextBox 23"/>
          <p:cNvSpPr txBox="1"/>
          <p:nvPr/>
        </p:nvSpPr>
        <p:spPr>
          <a:xfrm>
            <a:off x="6642100" y="2919909"/>
            <a:ext cx="902196" cy="274320"/>
          </a:xfrm>
          <a:prstGeom prst="rect">
            <a:avLst/>
          </a:prstGeom>
          <a:noFill/>
        </p:spPr>
        <p:txBody>
          <a:bodyPr wrap="none" lIns="0" rIns="0" tIns="0" bIns="0" anchor="ctr">
            <a:noAutofit/>
          </a:bodyPr>
          <a:lstStyle/>
          <a:p>
            <a:pPr algn="l">
              <a:lnSpc>
                <a:spcPts val="2430"/>
              </a:lnSpc>
            </a:pPr>
            <a:r>
              <a:rPr sz="1800" b="0" i="0">
                <a:solidFill>
                  <a:srgbClr val="2C1A1F"/>
                </a:solidFill>
                <a:latin typeface="Verdana"/>
              </a:rPr>
              <a:t>Like this:</a:t>
            </a:r>
          </a:p>
        </p:txBody>
      </p:sp>
      <p:sp>
        <p:nvSpPr>
          <p:cNvPr id="25" name="Rounded Rectangle 24"/>
          <p:cNvSpPr/>
          <p:nvPr/>
        </p:nvSpPr>
        <p:spPr>
          <a:xfrm>
            <a:off x="6337300" y="3361829"/>
            <a:ext cx="4876800" cy="1086842"/>
          </a:xfrm>
          <a:prstGeom prst="roundRect">
            <a:avLst>
              <a:gd name="adj" fmla="val 5842"/>
            </a:avLst>
          </a:prstGeom>
          <a:solidFill>
            <a:srgbClr val="2C1A1F"/>
          </a:solidFill>
          <a:ln>
            <a:noFill/>
          </a:ln>
          <a:effectLst/>
        </p:spPr>
        <p:txBody>
          <a:bodyPr rtlCol="0" anchor="ctr"/>
          <a:lstStyle/>
          <a:p>
            <a:pPr algn="ctr"/>
          </a:p>
        </p:txBody>
      </p:sp>
      <p:sp>
        <p:nvSpPr>
          <p:cNvPr id="26" name="TextBox 25"/>
          <p:cNvSpPr txBox="1"/>
          <p:nvPr/>
        </p:nvSpPr>
        <p:spPr>
          <a:xfrm>
            <a:off x="6489700" y="3520579"/>
            <a:ext cx="4597400" cy="914400"/>
          </a:xfrm>
          <a:prstGeom prst="rect">
            <a:avLst/>
          </a:prstGeom>
          <a:noFill/>
        </p:spPr>
        <p:txBody>
          <a:bodyPr wrap="square" lIns="0" rIns="0" tIns="0" bIns="0" anchor="ctr">
            <a:noAutofit/>
          </a:bodyPr>
          <a:lstStyle/>
          <a:p>
            <a:pPr algn="l">
              <a:lnSpc>
                <a:spcPts val="2700"/>
              </a:lnSpc>
            </a:pPr>
            <a:r>
              <a:rPr sz="1800" b="0" i="0">
                <a:solidFill>
                  <a:srgbClr val="92B0C4"/>
                </a:solidFill>
                <a:latin typeface="Roboto Mono"/>
              </a:rPr>
              <a:t>public</a:t>
            </a:r>
            <a:r>
              <a:rPr sz="1800" b="0" i="0">
                <a:solidFill>
                  <a:srgbClr val="F2F1ED"/>
                </a:solidFill>
                <a:latin typeface="Roboto Mono"/>
              </a:rPr>
              <a:t> &lt;</a:t>
            </a:r>
            <a:r>
              <a:rPr sz="1800" b="0" i="0">
                <a:solidFill>
                  <a:srgbClr val="4EC07C"/>
                </a:solidFill>
                <a:latin typeface="Roboto Mono"/>
              </a:rPr>
              <a:t>T</a:t>
            </a:r>
            <a:r>
              <a:rPr sz="1800" b="0" i="0">
                <a:solidFill>
                  <a:srgbClr val="F2F1ED"/>
                </a:solidFill>
                <a:latin typeface="Roboto Mono"/>
              </a:rPr>
              <a:t>&gt; </a:t>
            </a:r>
            <a:r>
              <a:rPr sz="1800" b="0" i="0">
                <a:solidFill>
                  <a:srgbClr val="4EC07C"/>
                </a:solidFill>
                <a:latin typeface="Roboto Mono"/>
              </a:rPr>
              <a:t>T</a:t>
            </a:r>
            <a:r>
              <a:rPr sz="1800" b="0" i="0">
                <a:solidFill>
                  <a:srgbClr val="CF9B73"/>
                </a:solidFill>
                <a:latin typeface="Roboto Mono"/>
              </a:rPr>
              <a:t>first</a:t>
            </a:r>
            <a:r>
              <a:rPr sz="1800" b="0" i="0">
                <a:solidFill>
                  <a:srgbClr val="F2F1ED"/>
                </a:solidFill>
                <a:latin typeface="Roboto Mono"/>
              </a:rPr>
              <a:t>(</a:t>
            </a:r>
            <a:r>
              <a:rPr sz="1800" b="0" i="0">
                <a:solidFill>
                  <a:srgbClr val="4EC07C"/>
                </a:solidFill>
                <a:latin typeface="Roboto Mono"/>
              </a:rPr>
              <a:t>List</a:t>
            </a:r>
            <a:r>
              <a:rPr sz="1800" b="0" i="0">
                <a:solidFill>
                  <a:srgbClr val="F2F1ED"/>
                </a:solidFill>
                <a:latin typeface="Roboto Mono"/>
              </a:rPr>
              <a:t>&lt;</a:t>
            </a:r>
            <a:r>
              <a:rPr sz="1800" b="0" i="0">
                <a:solidFill>
                  <a:srgbClr val="4EC07C"/>
                </a:solidFill>
                <a:latin typeface="Roboto Mono"/>
              </a:rPr>
              <a:t>T</a:t>
            </a:r>
            <a:r>
              <a:rPr sz="1800" b="0" i="0">
                <a:solidFill>
                  <a:srgbClr val="F2F1ED"/>
                </a:solidFill>
                <a:latin typeface="Roboto Mono"/>
              </a:rPr>
              <a:t>&gt; xs) {</a:t>
            </a:r>
          </a:p>
          <a:p>
            <a:pPr algn="l">
              <a:lnSpc>
                <a:spcPts val="2700"/>
              </a:lnSpc>
            </a:pPr>
            <a:r>
              <a:rPr sz="1800" b="0" i="0">
                <a:solidFill>
                  <a:srgbClr val="F2F1ED"/>
                </a:solidFill>
                <a:latin typeface="Roboto Mono"/>
              </a:rPr>
              <a:t>  </a:t>
            </a:r>
            <a:r>
              <a:rPr sz="1800" b="0" i="0">
                <a:solidFill>
                  <a:srgbClr val="92B0C4"/>
                </a:solidFill>
                <a:latin typeface="Roboto Mono"/>
              </a:rPr>
              <a:t>return</a:t>
            </a:r>
            <a:r>
              <a:rPr sz="1800" b="0" i="0">
                <a:solidFill>
                  <a:srgbClr val="F2F1ED"/>
                </a:solidFill>
                <a:latin typeface="Roboto Mono"/>
              </a:rPr>
              <a:t> xs.</a:t>
            </a:r>
            <a:r>
              <a:rPr sz="1800" b="0" i="0">
                <a:solidFill>
                  <a:srgbClr val="CF9B73"/>
                </a:solidFill>
                <a:latin typeface="Roboto Mono"/>
              </a:rPr>
              <a:t>get</a:t>
            </a:r>
            <a:r>
              <a:rPr sz="1800" b="0" i="0">
                <a:solidFill>
                  <a:srgbClr val="F2F1ED"/>
                </a:solidFill>
                <a:latin typeface="Roboto Mono"/>
              </a:rPr>
              <a:t>(0);</a:t>
            </a:r>
          </a:p>
          <a:p>
            <a:pPr algn="l">
              <a:lnSpc>
                <a:spcPts val="2700"/>
              </a:lnSpc>
            </a:pPr>
            <a:r>
              <a:rPr sz="1800" b="0" i="0">
                <a:solidFill>
                  <a:srgbClr val="F2F1ED"/>
                </a:solidFill>
                <a:latin typeface="Roboto Mono"/>
              </a:rPr>
              <a:t>}</a:t>
            </a:r>
          </a:p>
        </p:txBody>
      </p:sp>
      <p:sp>
        <p:nvSpPr>
          <p:cNvPr id="27" name="Rounded Rectangle 26"/>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28" name="TextBox 27"/>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14 / 28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GenAI: use it and use it well</a:t>
            </a:r>
          </a:p>
        </p:txBody>
      </p:sp>
      <p:sp>
        <p:nvSpPr>
          <p:cNvPr id="4" name="Rounded Rectangle 3"/>
          <p:cNvSpPr/>
          <p:nvPr/>
        </p:nvSpPr>
        <p:spPr>
          <a:xfrm>
            <a:off x="812800" y="2071588"/>
            <a:ext cx="5207000" cy="2542183"/>
          </a:xfrm>
          <a:prstGeom prst="roundRect">
            <a:avLst>
              <a:gd name="adj" fmla="val 2497"/>
            </a:avLst>
          </a:prstGeom>
          <a:solidFill>
            <a:srgbClr val="E9E3E4"/>
          </a:solidFill>
          <a:ln w="19050">
            <a:solidFill>
              <a:srgbClr val="1C6091"/>
            </a:solidFill>
          </a:ln>
          <a:effectLst/>
        </p:spPr>
        <p:txBody>
          <a:bodyPr rtlCol="0" anchor="ctr"/>
          <a:lstStyle/>
          <a:p>
            <a:pPr algn="ctr"/>
          </a:p>
        </p:txBody>
      </p:sp>
      <p:sp>
        <p:nvSpPr>
          <p:cNvPr id="5" name="TextBox 4"/>
          <p:cNvSpPr txBox="1"/>
          <p:nvPr/>
        </p:nvSpPr>
        <p:spPr>
          <a:xfrm>
            <a:off x="1035050" y="2255738"/>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Encouraged</a:t>
            </a:r>
          </a:p>
        </p:txBody>
      </p:sp>
      <p:sp>
        <p:nvSpPr>
          <p:cNvPr id="6" name="TextBox 5"/>
          <p:cNvSpPr txBox="1"/>
          <p:nvPr/>
        </p:nvSpPr>
        <p:spPr>
          <a:xfrm>
            <a:off x="1286470" y="2742109"/>
            <a:ext cx="45110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Explaining concepts and errors</a:t>
            </a:r>
          </a:p>
        </p:txBody>
      </p:sp>
      <p:sp>
        <p:nvSpPr>
          <p:cNvPr id="7" name="TextBox 6"/>
          <p:cNvSpPr txBox="1"/>
          <p:nvPr/>
        </p:nvSpPr>
        <p:spPr>
          <a:xfrm>
            <a:off x="1286470" y="3175099"/>
            <a:ext cx="45110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Debugging hints</a:t>
            </a:r>
          </a:p>
        </p:txBody>
      </p:sp>
      <p:sp>
        <p:nvSpPr>
          <p:cNvPr id="8" name="TextBox 7"/>
          <p:cNvSpPr txBox="1"/>
          <p:nvPr/>
        </p:nvSpPr>
        <p:spPr>
          <a:xfrm>
            <a:off x="1286470" y="3608090"/>
            <a:ext cx="45110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Boilerplate and syntax recall</a:t>
            </a:r>
          </a:p>
        </p:txBody>
      </p:sp>
      <p:sp>
        <p:nvSpPr>
          <p:cNvPr id="9" name="TextBox 8"/>
          <p:cNvSpPr txBox="1"/>
          <p:nvPr/>
        </p:nvSpPr>
        <p:spPr>
          <a:xfrm>
            <a:off x="1286470" y="4041080"/>
            <a:ext cx="45110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Brainstorming</a:t>
            </a:r>
          </a:p>
        </p:txBody>
      </p:sp>
      <p:sp>
        <p:nvSpPr>
          <p:cNvPr id="10" name="Rounded Rectangle 9"/>
          <p:cNvSpPr/>
          <p:nvPr/>
        </p:nvSpPr>
        <p:spPr>
          <a:xfrm>
            <a:off x="6172200" y="2071588"/>
            <a:ext cx="5207000" cy="2542183"/>
          </a:xfrm>
          <a:prstGeom prst="roundRect">
            <a:avLst>
              <a:gd name="adj" fmla="val 4496"/>
            </a:avLst>
          </a:prstGeom>
          <a:solidFill>
            <a:srgbClr val="F2F1ED"/>
          </a:solidFill>
          <a:ln w="12700">
            <a:solidFill>
              <a:srgbClr val="6B4A52">
                <a:alpha val="30000"/>
              </a:srgbClr>
            </a:solidFill>
          </a:ln>
          <a:effectLst/>
        </p:spPr>
        <p:txBody>
          <a:bodyPr rtlCol="0" anchor="ctr"/>
          <a:lstStyle/>
          <a:p>
            <a:pPr algn="ctr"/>
          </a:p>
        </p:txBody>
      </p:sp>
      <p:sp>
        <p:nvSpPr>
          <p:cNvPr id="11" name="Rounded Rectangle 10"/>
          <p:cNvSpPr/>
          <p:nvPr/>
        </p:nvSpPr>
        <p:spPr>
          <a:xfrm>
            <a:off x="6617791" y="2236688"/>
            <a:ext cx="4596309" cy="820341"/>
          </a:xfrm>
          <a:prstGeom prst="roundRect">
            <a:avLst>
              <a:gd name="adj" fmla="val 13933"/>
            </a:avLst>
          </a:prstGeom>
          <a:solidFill>
            <a:srgbClr val="E9E3E4"/>
          </a:solidFill>
          <a:ln>
            <a:noFill/>
          </a:ln>
          <a:effectLst/>
        </p:spPr>
        <p:txBody>
          <a:bodyPr rtlCol="0" anchor="ctr"/>
          <a:lstStyle/>
          <a:p>
            <a:pPr algn="ctr"/>
          </a:p>
        </p:txBody>
      </p:sp>
      <p:sp>
        <p:nvSpPr>
          <p:cNvPr id="12" name="TextBox 11"/>
          <p:cNvSpPr txBox="1"/>
          <p:nvPr/>
        </p:nvSpPr>
        <p:spPr>
          <a:xfrm>
            <a:off x="6770191" y="2357338"/>
            <a:ext cx="4316909" cy="56892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What does “NullPointerException at Node.getNext()” mean?</a:t>
            </a:r>
          </a:p>
        </p:txBody>
      </p:sp>
      <p:sp>
        <p:nvSpPr>
          <p:cNvPr id="13" name="TextBox 12"/>
          <p:cNvSpPr txBox="1"/>
          <p:nvPr/>
        </p:nvSpPr>
        <p:spPr>
          <a:xfrm>
            <a:off x="6337300" y="3209429"/>
            <a:ext cx="228600" cy="308571"/>
          </a:xfrm>
          <a:prstGeom prst="rect">
            <a:avLst/>
          </a:prstGeom>
          <a:noFill/>
        </p:spPr>
        <p:txBody>
          <a:bodyPr wrap="none" lIns="0" rIns="0" tIns="0" bIns="0" anchor="ctr">
            <a:noAutofit/>
          </a:bodyPr>
          <a:lstStyle/>
          <a:p>
            <a:pPr algn="l">
              <a:lnSpc>
                <a:spcPts val="2430"/>
              </a:lnSpc>
            </a:pPr>
            <a:r>
              <a:rPr sz="1800" b="0" i="0">
                <a:solidFill>
                  <a:srgbClr val="B35510"/>
                </a:solidFill>
                <a:latin typeface="Verdana"/>
              </a:rPr>
              <a:t>✻</a:t>
            </a:r>
          </a:p>
        </p:txBody>
      </p:sp>
      <p:sp>
        <p:nvSpPr>
          <p:cNvPr id="14" name="TextBox 13"/>
          <p:cNvSpPr txBox="1"/>
          <p:nvPr/>
        </p:nvSpPr>
        <p:spPr>
          <a:xfrm>
            <a:off x="6642100" y="3228479"/>
            <a:ext cx="4597400" cy="1036241"/>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You called </a:t>
            </a:r>
            <a:r>
              <a:rPr sz="1800" b="0" i="0">
                <a:solidFill>
                  <a:srgbClr val="2C1A1F"/>
                </a:solidFill>
                <a:latin typeface="Roboto Mono"/>
              </a:rPr>
              <a:t>getNext()</a:t>
            </a:r>
            <a:r>
              <a:rPr sz="1800" b="0" i="0">
                <a:solidFill>
                  <a:srgbClr val="2C1A1F"/>
                </a:solidFill>
                <a:latin typeface="Verdana"/>
              </a:rPr>
              <a:t> on a variable that never got a </a:t>
            </a:r>
            <a:r>
              <a:rPr sz="1800" b="0" i="0">
                <a:solidFill>
                  <a:srgbClr val="2C1A1F"/>
                </a:solidFill>
                <a:latin typeface="Roboto Mono"/>
              </a:rPr>
              <a:t>Node</a:t>
            </a:r>
            <a:r>
              <a:rPr sz="1800" b="0" i="0">
                <a:solidFill>
                  <a:srgbClr val="2C1A1F"/>
                </a:solidFill>
                <a:latin typeface="Verdana"/>
              </a:rPr>
              <a:t> — check where </a:t>
            </a:r>
            <a:r>
              <a:rPr sz="1800" b="0" i="0">
                <a:solidFill>
                  <a:srgbClr val="2C1A1F"/>
                </a:solidFill>
                <a:latin typeface="Roboto Mono"/>
              </a:rPr>
              <a:t>firstNode</a:t>
            </a:r>
            <a:r>
              <a:rPr sz="1800" b="0" i="0">
                <a:solidFill>
                  <a:srgbClr val="2C1A1F"/>
                </a:solidFill>
                <a:latin typeface="Verdana"/>
              </a:rPr>
              <a:t> is assigned.</a:t>
            </a:r>
          </a:p>
        </p:txBody>
      </p:sp>
      <p:sp>
        <p:nvSpPr>
          <p:cNvPr id="15" name="Rounded Rectangle 14"/>
          <p:cNvSpPr/>
          <p:nvPr/>
        </p:nvSpPr>
        <p:spPr>
          <a:xfrm>
            <a:off x="6172200" y="2071588"/>
            <a:ext cx="5207000" cy="2542183"/>
          </a:xfrm>
          <a:prstGeom prst="roundRect">
            <a:avLst>
              <a:gd name="adj" fmla="val 4496"/>
            </a:avLst>
          </a:prstGeom>
          <a:solidFill>
            <a:srgbClr val="F2F1ED"/>
          </a:solidFill>
          <a:ln w="12700">
            <a:solidFill>
              <a:srgbClr val="6B4A52">
                <a:alpha val="30000"/>
              </a:srgbClr>
            </a:solidFill>
          </a:ln>
          <a:effectLst/>
        </p:spPr>
        <p:txBody>
          <a:bodyPr rtlCol="0" anchor="ctr"/>
          <a:lstStyle/>
          <a:p>
            <a:pPr algn="ctr"/>
          </a:p>
        </p:txBody>
      </p:sp>
      <p:sp>
        <p:nvSpPr>
          <p:cNvPr id="16" name="Rounded Rectangle 15"/>
          <p:cNvSpPr/>
          <p:nvPr/>
        </p:nvSpPr>
        <p:spPr>
          <a:xfrm>
            <a:off x="6617791" y="2236688"/>
            <a:ext cx="4596309" cy="820341"/>
          </a:xfrm>
          <a:prstGeom prst="roundRect">
            <a:avLst>
              <a:gd name="adj" fmla="val 13933"/>
            </a:avLst>
          </a:prstGeom>
          <a:solidFill>
            <a:srgbClr val="E9E3E4"/>
          </a:solidFill>
          <a:ln>
            <a:noFill/>
          </a:ln>
          <a:effectLst/>
        </p:spPr>
        <p:txBody>
          <a:bodyPr rtlCol="0" anchor="ctr"/>
          <a:lstStyle/>
          <a:p>
            <a:pPr algn="ctr"/>
          </a:p>
        </p:txBody>
      </p:sp>
      <p:sp>
        <p:nvSpPr>
          <p:cNvPr id="17" name="TextBox 16"/>
          <p:cNvSpPr txBox="1"/>
          <p:nvPr/>
        </p:nvSpPr>
        <p:spPr>
          <a:xfrm>
            <a:off x="6770191" y="2357338"/>
            <a:ext cx="4316909" cy="56892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My loop prints the last name five times. Hint only — no fix!</a:t>
            </a:r>
          </a:p>
        </p:txBody>
      </p:sp>
      <p:sp>
        <p:nvSpPr>
          <p:cNvPr id="18" name="TextBox 17"/>
          <p:cNvSpPr txBox="1"/>
          <p:nvPr/>
        </p:nvSpPr>
        <p:spPr>
          <a:xfrm>
            <a:off x="6337300" y="3209429"/>
            <a:ext cx="228600" cy="308571"/>
          </a:xfrm>
          <a:prstGeom prst="rect">
            <a:avLst/>
          </a:prstGeom>
          <a:noFill/>
        </p:spPr>
        <p:txBody>
          <a:bodyPr wrap="none" lIns="0" rIns="0" tIns="0" bIns="0" anchor="ctr">
            <a:noAutofit/>
          </a:bodyPr>
          <a:lstStyle/>
          <a:p>
            <a:pPr algn="l">
              <a:lnSpc>
                <a:spcPts val="2430"/>
              </a:lnSpc>
            </a:pPr>
            <a:r>
              <a:rPr sz="1800" b="0" i="0">
                <a:solidFill>
                  <a:srgbClr val="B35510"/>
                </a:solidFill>
                <a:latin typeface="Verdana"/>
              </a:rPr>
              <a:t>✻</a:t>
            </a:r>
          </a:p>
        </p:txBody>
      </p:sp>
      <p:sp>
        <p:nvSpPr>
          <p:cNvPr id="19" name="TextBox 18"/>
          <p:cNvSpPr txBox="1"/>
          <p:nvPr/>
        </p:nvSpPr>
        <p:spPr>
          <a:xfrm>
            <a:off x="6642100" y="3228479"/>
            <a:ext cx="4597400" cy="62607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Print </a:t>
            </a:r>
            <a:r>
              <a:rPr sz="1800" b="0" i="0">
                <a:solidFill>
                  <a:srgbClr val="2C1A1F"/>
                </a:solidFill>
                <a:latin typeface="Roboto Mono"/>
              </a:rPr>
              <a:t>i</a:t>
            </a:r>
            <a:r>
              <a:rPr sz="1800" b="0" i="0">
                <a:solidFill>
                  <a:srgbClr val="2C1A1F"/>
                </a:solidFill>
                <a:latin typeface="Verdana"/>
              </a:rPr>
              <a:t> and </a:t>
            </a:r>
            <a:r>
              <a:rPr sz="1800" b="0" i="0">
                <a:solidFill>
                  <a:srgbClr val="2C1A1F"/>
                </a:solidFill>
                <a:latin typeface="Roboto Mono"/>
              </a:rPr>
              <a:t>names[i]</a:t>
            </a:r>
            <a:r>
              <a:rPr sz="1800" b="0" i="0">
                <a:solidFill>
                  <a:srgbClr val="2C1A1F"/>
                </a:solidFill>
                <a:latin typeface="Verdana"/>
              </a:rPr>
              <a:t> each pass — watch what the inner loop actually changes.</a:t>
            </a:r>
          </a:p>
        </p:txBody>
      </p:sp>
      <p:sp>
        <p:nvSpPr>
          <p:cNvPr id="20" name="Rounded Rectangle 19"/>
          <p:cNvSpPr/>
          <p:nvPr/>
        </p:nvSpPr>
        <p:spPr>
          <a:xfrm>
            <a:off x="6172200" y="2071588"/>
            <a:ext cx="5207000" cy="2542183"/>
          </a:xfrm>
          <a:prstGeom prst="roundRect">
            <a:avLst>
              <a:gd name="adj" fmla="val 4496"/>
            </a:avLst>
          </a:prstGeom>
          <a:solidFill>
            <a:srgbClr val="F2F1ED"/>
          </a:solidFill>
          <a:ln w="12700">
            <a:solidFill>
              <a:srgbClr val="6B4A52">
                <a:alpha val="30000"/>
              </a:srgbClr>
            </a:solidFill>
          </a:ln>
          <a:effectLst/>
        </p:spPr>
        <p:txBody>
          <a:bodyPr rtlCol="0" anchor="ctr"/>
          <a:lstStyle/>
          <a:p>
            <a:pPr algn="ctr"/>
          </a:p>
        </p:txBody>
      </p:sp>
      <p:sp>
        <p:nvSpPr>
          <p:cNvPr id="21" name="Rounded Rectangle 20"/>
          <p:cNvSpPr/>
          <p:nvPr/>
        </p:nvSpPr>
        <p:spPr>
          <a:xfrm>
            <a:off x="7736880" y="2236688"/>
            <a:ext cx="3477220" cy="511770"/>
          </a:xfrm>
          <a:prstGeom prst="roundRect">
            <a:avLst>
              <a:gd name="adj" fmla="val 22334"/>
            </a:avLst>
          </a:prstGeom>
          <a:solidFill>
            <a:srgbClr val="E9E3E4"/>
          </a:solidFill>
          <a:ln>
            <a:noFill/>
          </a:ln>
          <a:effectLst/>
        </p:spPr>
        <p:txBody>
          <a:bodyPr rtlCol="0" anchor="ctr"/>
          <a:lstStyle/>
          <a:p>
            <a:pPr algn="ctr"/>
          </a:p>
        </p:txBody>
      </p:sp>
      <p:sp>
        <p:nvSpPr>
          <p:cNvPr id="22" name="TextBox 21"/>
          <p:cNvSpPr txBox="1"/>
          <p:nvPr/>
        </p:nvSpPr>
        <p:spPr>
          <a:xfrm>
            <a:off x="7889280" y="2357338"/>
            <a:ext cx="3172420" cy="274320"/>
          </a:xfrm>
          <a:prstGeom prst="rect">
            <a:avLst/>
          </a:prstGeom>
          <a:noFill/>
        </p:spPr>
        <p:txBody>
          <a:bodyPr wrap="none" lIns="0" rIns="0" tIns="0" bIns="0" anchor="ctr">
            <a:noAutofit/>
          </a:bodyPr>
          <a:lstStyle/>
          <a:p>
            <a:pPr algn="l">
              <a:lnSpc>
                <a:spcPts val="2430"/>
              </a:lnSpc>
            </a:pPr>
            <a:r>
              <a:rPr sz="1800" b="0" i="0">
                <a:solidFill>
                  <a:srgbClr val="2C1A1F"/>
                </a:solidFill>
                <a:latin typeface="Verdana"/>
              </a:rPr>
              <a:t>Generic method that returns T?</a:t>
            </a:r>
          </a:p>
        </p:txBody>
      </p:sp>
      <p:sp>
        <p:nvSpPr>
          <p:cNvPr id="23" name="TextBox 22"/>
          <p:cNvSpPr txBox="1"/>
          <p:nvPr/>
        </p:nvSpPr>
        <p:spPr>
          <a:xfrm>
            <a:off x="6337300" y="2900859"/>
            <a:ext cx="228600" cy="308571"/>
          </a:xfrm>
          <a:prstGeom prst="rect">
            <a:avLst/>
          </a:prstGeom>
          <a:noFill/>
        </p:spPr>
        <p:txBody>
          <a:bodyPr wrap="none" lIns="0" rIns="0" tIns="0" bIns="0" anchor="ctr">
            <a:noAutofit/>
          </a:bodyPr>
          <a:lstStyle/>
          <a:p>
            <a:pPr algn="l">
              <a:lnSpc>
                <a:spcPts val="2430"/>
              </a:lnSpc>
            </a:pPr>
            <a:r>
              <a:rPr sz="1800" b="0" i="0">
                <a:solidFill>
                  <a:srgbClr val="B35510"/>
                </a:solidFill>
                <a:latin typeface="Verdana"/>
              </a:rPr>
              <a:t>✻</a:t>
            </a:r>
          </a:p>
        </p:txBody>
      </p:sp>
      <p:sp>
        <p:nvSpPr>
          <p:cNvPr id="24" name="TextBox 23"/>
          <p:cNvSpPr txBox="1"/>
          <p:nvPr/>
        </p:nvSpPr>
        <p:spPr>
          <a:xfrm>
            <a:off x="6642100" y="2919909"/>
            <a:ext cx="902196" cy="274320"/>
          </a:xfrm>
          <a:prstGeom prst="rect">
            <a:avLst/>
          </a:prstGeom>
          <a:noFill/>
        </p:spPr>
        <p:txBody>
          <a:bodyPr wrap="none" lIns="0" rIns="0" tIns="0" bIns="0" anchor="ctr">
            <a:noAutofit/>
          </a:bodyPr>
          <a:lstStyle/>
          <a:p>
            <a:pPr algn="l">
              <a:lnSpc>
                <a:spcPts val="2430"/>
              </a:lnSpc>
            </a:pPr>
            <a:r>
              <a:rPr sz="1800" b="0" i="0">
                <a:solidFill>
                  <a:srgbClr val="2C1A1F"/>
                </a:solidFill>
                <a:latin typeface="Verdana"/>
              </a:rPr>
              <a:t>Like this:</a:t>
            </a:r>
          </a:p>
        </p:txBody>
      </p:sp>
      <p:sp>
        <p:nvSpPr>
          <p:cNvPr id="25" name="Rounded Rectangle 24"/>
          <p:cNvSpPr/>
          <p:nvPr/>
        </p:nvSpPr>
        <p:spPr>
          <a:xfrm>
            <a:off x="6337300" y="3361829"/>
            <a:ext cx="4876800" cy="1086842"/>
          </a:xfrm>
          <a:prstGeom prst="roundRect">
            <a:avLst>
              <a:gd name="adj" fmla="val 5842"/>
            </a:avLst>
          </a:prstGeom>
          <a:solidFill>
            <a:srgbClr val="2C1A1F"/>
          </a:solidFill>
          <a:ln>
            <a:noFill/>
          </a:ln>
          <a:effectLst/>
        </p:spPr>
        <p:txBody>
          <a:bodyPr rtlCol="0" anchor="ctr"/>
          <a:lstStyle/>
          <a:p>
            <a:pPr algn="ctr"/>
          </a:p>
        </p:txBody>
      </p:sp>
      <p:sp>
        <p:nvSpPr>
          <p:cNvPr id="26" name="TextBox 25"/>
          <p:cNvSpPr txBox="1"/>
          <p:nvPr/>
        </p:nvSpPr>
        <p:spPr>
          <a:xfrm>
            <a:off x="6489700" y="3520579"/>
            <a:ext cx="4597400" cy="914400"/>
          </a:xfrm>
          <a:prstGeom prst="rect">
            <a:avLst/>
          </a:prstGeom>
          <a:noFill/>
        </p:spPr>
        <p:txBody>
          <a:bodyPr wrap="square" lIns="0" rIns="0" tIns="0" bIns="0" anchor="ctr">
            <a:noAutofit/>
          </a:bodyPr>
          <a:lstStyle/>
          <a:p>
            <a:pPr algn="l">
              <a:lnSpc>
                <a:spcPts val="2700"/>
              </a:lnSpc>
            </a:pPr>
            <a:r>
              <a:rPr sz="1800" b="0" i="0">
                <a:solidFill>
                  <a:srgbClr val="92B0C4"/>
                </a:solidFill>
                <a:latin typeface="Roboto Mono"/>
              </a:rPr>
              <a:t>public</a:t>
            </a:r>
            <a:r>
              <a:rPr sz="1800" b="0" i="0">
                <a:solidFill>
                  <a:srgbClr val="F2F1ED"/>
                </a:solidFill>
                <a:latin typeface="Roboto Mono"/>
              </a:rPr>
              <a:t> &lt;</a:t>
            </a:r>
            <a:r>
              <a:rPr sz="1800" b="0" i="0">
                <a:solidFill>
                  <a:srgbClr val="4EC07C"/>
                </a:solidFill>
                <a:latin typeface="Roboto Mono"/>
              </a:rPr>
              <a:t>T</a:t>
            </a:r>
            <a:r>
              <a:rPr sz="1800" b="0" i="0">
                <a:solidFill>
                  <a:srgbClr val="F2F1ED"/>
                </a:solidFill>
                <a:latin typeface="Roboto Mono"/>
              </a:rPr>
              <a:t>&gt; </a:t>
            </a:r>
            <a:r>
              <a:rPr sz="1800" b="0" i="0">
                <a:solidFill>
                  <a:srgbClr val="4EC07C"/>
                </a:solidFill>
                <a:latin typeface="Roboto Mono"/>
              </a:rPr>
              <a:t>T</a:t>
            </a:r>
            <a:r>
              <a:rPr sz="1800" b="0" i="0">
                <a:solidFill>
                  <a:srgbClr val="CF9B73"/>
                </a:solidFill>
                <a:latin typeface="Roboto Mono"/>
              </a:rPr>
              <a:t>first</a:t>
            </a:r>
            <a:r>
              <a:rPr sz="1800" b="0" i="0">
                <a:solidFill>
                  <a:srgbClr val="F2F1ED"/>
                </a:solidFill>
                <a:latin typeface="Roboto Mono"/>
              </a:rPr>
              <a:t>(</a:t>
            </a:r>
            <a:r>
              <a:rPr sz="1800" b="0" i="0">
                <a:solidFill>
                  <a:srgbClr val="4EC07C"/>
                </a:solidFill>
                <a:latin typeface="Roboto Mono"/>
              </a:rPr>
              <a:t>List</a:t>
            </a:r>
            <a:r>
              <a:rPr sz="1800" b="0" i="0">
                <a:solidFill>
                  <a:srgbClr val="F2F1ED"/>
                </a:solidFill>
                <a:latin typeface="Roboto Mono"/>
              </a:rPr>
              <a:t>&lt;</a:t>
            </a:r>
            <a:r>
              <a:rPr sz="1800" b="0" i="0">
                <a:solidFill>
                  <a:srgbClr val="4EC07C"/>
                </a:solidFill>
                <a:latin typeface="Roboto Mono"/>
              </a:rPr>
              <a:t>T</a:t>
            </a:r>
            <a:r>
              <a:rPr sz="1800" b="0" i="0">
                <a:solidFill>
                  <a:srgbClr val="F2F1ED"/>
                </a:solidFill>
                <a:latin typeface="Roboto Mono"/>
              </a:rPr>
              <a:t>&gt; xs) {</a:t>
            </a:r>
          </a:p>
          <a:p>
            <a:pPr algn="l">
              <a:lnSpc>
                <a:spcPts val="2700"/>
              </a:lnSpc>
            </a:pPr>
            <a:r>
              <a:rPr sz="1800" b="0" i="0">
                <a:solidFill>
                  <a:srgbClr val="F2F1ED"/>
                </a:solidFill>
                <a:latin typeface="Roboto Mono"/>
              </a:rPr>
              <a:t>  </a:t>
            </a:r>
            <a:r>
              <a:rPr sz="1800" b="0" i="0">
                <a:solidFill>
                  <a:srgbClr val="92B0C4"/>
                </a:solidFill>
                <a:latin typeface="Roboto Mono"/>
              </a:rPr>
              <a:t>return</a:t>
            </a:r>
            <a:r>
              <a:rPr sz="1800" b="0" i="0">
                <a:solidFill>
                  <a:srgbClr val="F2F1ED"/>
                </a:solidFill>
                <a:latin typeface="Roboto Mono"/>
              </a:rPr>
              <a:t> xs.</a:t>
            </a:r>
            <a:r>
              <a:rPr sz="1800" b="0" i="0">
                <a:solidFill>
                  <a:srgbClr val="CF9B73"/>
                </a:solidFill>
                <a:latin typeface="Roboto Mono"/>
              </a:rPr>
              <a:t>get</a:t>
            </a:r>
            <a:r>
              <a:rPr sz="1800" b="0" i="0">
                <a:solidFill>
                  <a:srgbClr val="F2F1ED"/>
                </a:solidFill>
                <a:latin typeface="Roboto Mono"/>
              </a:rPr>
              <a:t>(0);</a:t>
            </a:r>
          </a:p>
          <a:p>
            <a:pPr algn="l">
              <a:lnSpc>
                <a:spcPts val="2700"/>
              </a:lnSpc>
            </a:pPr>
            <a:r>
              <a:rPr sz="1800" b="0" i="0">
                <a:solidFill>
                  <a:srgbClr val="F2F1ED"/>
                </a:solidFill>
                <a:latin typeface="Roboto Mono"/>
              </a:rPr>
              <a:t>}</a:t>
            </a:r>
          </a:p>
        </p:txBody>
      </p:sp>
      <p:sp>
        <p:nvSpPr>
          <p:cNvPr id="27" name="Rounded Rectangle 26"/>
          <p:cNvSpPr/>
          <p:nvPr/>
        </p:nvSpPr>
        <p:spPr>
          <a:xfrm>
            <a:off x="6172200" y="2071588"/>
            <a:ext cx="5207000" cy="2542183"/>
          </a:xfrm>
          <a:prstGeom prst="roundRect">
            <a:avLst>
              <a:gd name="adj" fmla="val 4496"/>
            </a:avLst>
          </a:prstGeom>
          <a:solidFill>
            <a:srgbClr val="F2F1ED"/>
          </a:solidFill>
          <a:ln w="12700">
            <a:solidFill>
              <a:srgbClr val="6B4A52">
                <a:alpha val="30000"/>
              </a:srgbClr>
            </a:solidFill>
          </a:ln>
          <a:effectLst/>
        </p:spPr>
        <p:txBody>
          <a:bodyPr rtlCol="0" anchor="ctr"/>
          <a:lstStyle/>
          <a:p>
            <a:pPr algn="ctr"/>
          </a:p>
        </p:txBody>
      </p:sp>
      <p:sp>
        <p:nvSpPr>
          <p:cNvPr id="28" name="Rounded Rectangle 27"/>
          <p:cNvSpPr/>
          <p:nvPr/>
        </p:nvSpPr>
        <p:spPr>
          <a:xfrm>
            <a:off x="7669411" y="2236688"/>
            <a:ext cx="3544689" cy="511770"/>
          </a:xfrm>
          <a:prstGeom prst="roundRect">
            <a:avLst>
              <a:gd name="adj" fmla="val 22334"/>
            </a:avLst>
          </a:prstGeom>
          <a:solidFill>
            <a:srgbClr val="E9E3E4"/>
          </a:solidFill>
          <a:ln>
            <a:noFill/>
          </a:ln>
          <a:effectLst/>
        </p:spPr>
        <p:txBody>
          <a:bodyPr rtlCol="0" anchor="ctr"/>
          <a:lstStyle/>
          <a:p>
            <a:pPr algn="ctr"/>
          </a:p>
        </p:txBody>
      </p:sp>
      <p:sp>
        <p:nvSpPr>
          <p:cNvPr id="29" name="TextBox 28"/>
          <p:cNvSpPr txBox="1"/>
          <p:nvPr/>
        </p:nvSpPr>
        <p:spPr>
          <a:xfrm>
            <a:off x="7821811" y="2357338"/>
            <a:ext cx="3239889" cy="274320"/>
          </a:xfrm>
          <a:prstGeom prst="rect">
            <a:avLst/>
          </a:prstGeom>
          <a:noFill/>
        </p:spPr>
        <p:txBody>
          <a:bodyPr wrap="none" lIns="0" rIns="0" tIns="0" bIns="0" anchor="ctr">
            <a:noAutofit/>
          </a:bodyPr>
          <a:lstStyle/>
          <a:p>
            <a:pPr algn="l">
              <a:lnSpc>
                <a:spcPts val="2430"/>
              </a:lnSpc>
            </a:pPr>
            <a:r>
              <a:rPr sz="1800" b="0" i="0">
                <a:solidFill>
                  <a:srgbClr val="2C1A1F"/>
                </a:solidFill>
                <a:latin typeface="Verdana"/>
              </a:rPr>
              <a:t>What classes for Minesweeper?</a:t>
            </a:r>
          </a:p>
        </p:txBody>
      </p:sp>
      <p:sp>
        <p:nvSpPr>
          <p:cNvPr id="30" name="TextBox 29"/>
          <p:cNvSpPr txBox="1"/>
          <p:nvPr/>
        </p:nvSpPr>
        <p:spPr>
          <a:xfrm>
            <a:off x="6337300" y="2900859"/>
            <a:ext cx="228600" cy="308571"/>
          </a:xfrm>
          <a:prstGeom prst="rect">
            <a:avLst/>
          </a:prstGeom>
          <a:noFill/>
        </p:spPr>
        <p:txBody>
          <a:bodyPr wrap="none" lIns="0" rIns="0" tIns="0" bIns="0" anchor="ctr">
            <a:noAutofit/>
          </a:bodyPr>
          <a:lstStyle/>
          <a:p>
            <a:pPr algn="l">
              <a:lnSpc>
                <a:spcPts val="2430"/>
              </a:lnSpc>
            </a:pPr>
            <a:r>
              <a:rPr sz="1800" b="0" i="0">
                <a:solidFill>
                  <a:srgbClr val="B35510"/>
                </a:solidFill>
                <a:latin typeface="Verdana"/>
              </a:rPr>
              <a:t>✻</a:t>
            </a:r>
          </a:p>
        </p:txBody>
      </p:sp>
      <p:sp>
        <p:nvSpPr>
          <p:cNvPr id="31" name="TextBox 30"/>
          <p:cNvSpPr txBox="1"/>
          <p:nvPr/>
        </p:nvSpPr>
        <p:spPr>
          <a:xfrm>
            <a:off x="6642100" y="2919909"/>
            <a:ext cx="4597400" cy="67052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Maybe </a:t>
            </a:r>
            <a:r>
              <a:rPr sz="1800" b="0" i="0">
                <a:solidFill>
                  <a:srgbClr val="2C1A1F"/>
                </a:solidFill>
                <a:latin typeface="Roboto Mono"/>
              </a:rPr>
              <a:t>Board</a:t>
            </a:r>
            <a:r>
              <a:rPr sz="1800" b="0" i="0">
                <a:solidFill>
                  <a:srgbClr val="2C1A1F"/>
                </a:solidFill>
                <a:latin typeface="Verdana"/>
              </a:rPr>
              <a:t>, </a:t>
            </a:r>
            <a:r>
              <a:rPr sz="1800" b="0" i="0">
                <a:solidFill>
                  <a:srgbClr val="2C1A1F"/>
                </a:solidFill>
                <a:latin typeface="Roboto Mono"/>
              </a:rPr>
              <a:t>Cell</a:t>
            </a:r>
            <a:r>
              <a:rPr sz="1800" b="0" i="0">
                <a:solidFill>
                  <a:srgbClr val="2C1A1F"/>
                </a:solidFill>
                <a:latin typeface="Verdana"/>
              </a:rPr>
              <a:t>, </a:t>
            </a:r>
            <a:r>
              <a:rPr sz="1800" b="0" i="0">
                <a:solidFill>
                  <a:srgbClr val="2C1A1F"/>
                </a:solidFill>
                <a:latin typeface="Roboto Mono"/>
              </a:rPr>
              <a:t>Game</a:t>
            </a:r>
            <a:r>
              <a:rPr sz="1800" b="0" i="0">
                <a:solidFill>
                  <a:srgbClr val="2C1A1F"/>
                </a:solidFill>
                <a:latin typeface="Verdana"/>
              </a:rPr>
              <a:t> for the rules, </a:t>
            </a:r>
            <a:r>
              <a:rPr sz="1800" b="0" i="0">
                <a:solidFill>
                  <a:srgbClr val="2C1A1F"/>
                </a:solidFill>
                <a:latin typeface="Roboto Mono"/>
              </a:rPr>
              <a:t>TextUI</a:t>
            </a:r>
            <a:r>
              <a:rPr sz="1800" b="0" i="0">
                <a:solidFill>
                  <a:srgbClr val="2C1A1F"/>
                </a:solidFill>
                <a:latin typeface="Verdana"/>
              </a:rPr>
              <a:t> to draw. What else?</a:t>
            </a:r>
          </a:p>
        </p:txBody>
      </p:sp>
      <p:sp>
        <p:nvSpPr>
          <p:cNvPr id="32" name="Rounded Rectangle 31"/>
          <p:cNvSpPr/>
          <p:nvPr/>
        </p:nvSpPr>
        <p:spPr>
          <a:xfrm>
            <a:off x="7893943" y="3784699"/>
            <a:ext cx="3320157" cy="511770"/>
          </a:xfrm>
          <a:prstGeom prst="roundRect">
            <a:avLst>
              <a:gd name="adj" fmla="val 22334"/>
            </a:avLst>
          </a:prstGeom>
          <a:solidFill>
            <a:srgbClr val="E9E3E4"/>
          </a:solidFill>
          <a:ln>
            <a:noFill/>
          </a:ln>
          <a:effectLst/>
        </p:spPr>
        <p:txBody>
          <a:bodyPr rtlCol="0" anchor="ctr"/>
          <a:lstStyle/>
          <a:p>
            <a:pPr algn="ctr"/>
          </a:p>
        </p:txBody>
      </p:sp>
      <p:sp>
        <p:nvSpPr>
          <p:cNvPr id="33" name="TextBox 32"/>
          <p:cNvSpPr txBox="1"/>
          <p:nvPr/>
        </p:nvSpPr>
        <p:spPr>
          <a:xfrm>
            <a:off x="8046343" y="3905349"/>
            <a:ext cx="3015357" cy="274320"/>
          </a:xfrm>
          <a:prstGeom prst="rect">
            <a:avLst/>
          </a:prstGeom>
          <a:noFill/>
        </p:spPr>
        <p:txBody>
          <a:bodyPr wrap="none" lIns="0" rIns="0" tIns="0" bIns="0" anchor="ctr">
            <a:noAutofit/>
          </a:bodyPr>
          <a:lstStyle/>
          <a:p>
            <a:pPr algn="l">
              <a:lnSpc>
                <a:spcPts val="2430"/>
              </a:lnSpc>
            </a:pPr>
            <a:r>
              <a:rPr sz="1800" b="0" i="0">
                <a:solidFill>
                  <a:srgbClr val="2C1A1F"/>
                </a:solidFill>
                <a:latin typeface="Verdana"/>
              </a:rPr>
              <a:t>A Timer! And maybe Difficulty.</a:t>
            </a:r>
          </a:p>
        </p:txBody>
      </p:sp>
      <p:sp>
        <p:nvSpPr>
          <p:cNvPr id="34" name="Rounded Rectangle 33"/>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35" name="TextBox 34"/>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14 / 28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GenAI: use it and use it well</a:t>
            </a:r>
          </a:p>
        </p:txBody>
      </p:sp>
      <p:sp>
        <p:nvSpPr>
          <p:cNvPr id="4" name="Rounded Rectangle 3"/>
          <p:cNvSpPr/>
          <p:nvPr/>
        </p:nvSpPr>
        <p:spPr>
          <a:xfrm>
            <a:off x="812800" y="2071588"/>
            <a:ext cx="5207000" cy="2542183"/>
          </a:xfrm>
          <a:prstGeom prst="roundRect">
            <a:avLst>
              <a:gd name="adj" fmla="val 2497"/>
            </a:avLst>
          </a:prstGeom>
          <a:solidFill>
            <a:srgbClr val="E9E3E4"/>
          </a:solidFill>
          <a:ln w="19050">
            <a:solidFill>
              <a:srgbClr val="1C6091"/>
            </a:solidFill>
          </a:ln>
          <a:effectLst/>
        </p:spPr>
        <p:txBody>
          <a:bodyPr rtlCol="0" anchor="ctr"/>
          <a:lstStyle/>
          <a:p>
            <a:pPr algn="ctr"/>
          </a:p>
        </p:txBody>
      </p:sp>
      <p:sp>
        <p:nvSpPr>
          <p:cNvPr id="5" name="TextBox 4"/>
          <p:cNvSpPr txBox="1"/>
          <p:nvPr/>
        </p:nvSpPr>
        <p:spPr>
          <a:xfrm>
            <a:off x="1035050" y="2255738"/>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Encouraged</a:t>
            </a:r>
          </a:p>
        </p:txBody>
      </p:sp>
      <p:sp>
        <p:nvSpPr>
          <p:cNvPr id="6" name="TextBox 5"/>
          <p:cNvSpPr txBox="1"/>
          <p:nvPr/>
        </p:nvSpPr>
        <p:spPr>
          <a:xfrm>
            <a:off x="1286470" y="2742109"/>
            <a:ext cx="45110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Explaining concepts and errors</a:t>
            </a:r>
          </a:p>
        </p:txBody>
      </p:sp>
      <p:sp>
        <p:nvSpPr>
          <p:cNvPr id="7" name="TextBox 6"/>
          <p:cNvSpPr txBox="1"/>
          <p:nvPr/>
        </p:nvSpPr>
        <p:spPr>
          <a:xfrm>
            <a:off x="1286470" y="3175099"/>
            <a:ext cx="45110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Debugging hints</a:t>
            </a:r>
          </a:p>
        </p:txBody>
      </p:sp>
      <p:sp>
        <p:nvSpPr>
          <p:cNvPr id="8" name="TextBox 7"/>
          <p:cNvSpPr txBox="1"/>
          <p:nvPr/>
        </p:nvSpPr>
        <p:spPr>
          <a:xfrm>
            <a:off x="1286470" y="3608090"/>
            <a:ext cx="45110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Boilerplate and syntax recall</a:t>
            </a:r>
          </a:p>
        </p:txBody>
      </p:sp>
      <p:sp>
        <p:nvSpPr>
          <p:cNvPr id="9" name="TextBox 8"/>
          <p:cNvSpPr txBox="1"/>
          <p:nvPr/>
        </p:nvSpPr>
        <p:spPr>
          <a:xfrm>
            <a:off x="1286470" y="4041080"/>
            <a:ext cx="45110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Brainstorming</a:t>
            </a:r>
          </a:p>
        </p:txBody>
      </p:sp>
      <p:sp>
        <p:nvSpPr>
          <p:cNvPr id="10" name="Rounded Rectangle 9"/>
          <p:cNvSpPr/>
          <p:nvPr/>
        </p:nvSpPr>
        <p:spPr>
          <a:xfrm>
            <a:off x="6172200" y="2071588"/>
            <a:ext cx="5207000" cy="2542183"/>
          </a:xfrm>
          <a:prstGeom prst="roundRect">
            <a:avLst>
              <a:gd name="adj" fmla="val 4496"/>
            </a:avLst>
          </a:prstGeom>
          <a:solidFill>
            <a:srgbClr val="F2F1ED"/>
          </a:solidFill>
          <a:ln w="12700">
            <a:solidFill>
              <a:srgbClr val="6B4A52">
                <a:alpha val="30000"/>
              </a:srgbClr>
            </a:solidFill>
          </a:ln>
          <a:effectLst/>
        </p:spPr>
        <p:txBody>
          <a:bodyPr rtlCol="0" anchor="ctr"/>
          <a:lstStyle/>
          <a:p>
            <a:pPr algn="ctr"/>
          </a:p>
        </p:txBody>
      </p:sp>
      <p:sp>
        <p:nvSpPr>
          <p:cNvPr id="11" name="Rounded Rectangle 10"/>
          <p:cNvSpPr/>
          <p:nvPr/>
        </p:nvSpPr>
        <p:spPr>
          <a:xfrm>
            <a:off x="6617791" y="2236688"/>
            <a:ext cx="4596309" cy="820341"/>
          </a:xfrm>
          <a:prstGeom prst="roundRect">
            <a:avLst>
              <a:gd name="adj" fmla="val 13933"/>
            </a:avLst>
          </a:prstGeom>
          <a:solidFill>
            <a:srgbClr val="E9E3E4"/>
          </a:solidFill>
          <a:ln>
            <a:noFill/>
          </a:ln>
          <a:effectLst/>
        </p:spPr>
        <p:txBody>
          <a:bodyPr rtlCol="0" anchor="ctr"/>
          <a:lstStyle/>
          <a:p>
            <a:pPr algn="ctr"/>
          </a:p>
        </p:txBody>
      </p:sp>
      <p:sp>
        <p:nvSpPr>
          <p:cNvPr id="12" name="TextBox 11"/>
          <p:cNvSpPr txBox="1"/>
          <p:nvPr/>
        </p:nvSpPr>
        <p:spPr>
          <a:xfrm>
            <a:off x="6770191" y="2357338"/>
            <a:ext cx="4316909" cy="56892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What does “NullPointerException at Node.getNext()” mean?</a:t>
            </a:r>
          </a:p>
        </p:txBody>
      </p:sp>
      <p:sp>
        <p:nvSpPr>
          <p:cNvPr id="13" name="TextBox 12"/>
          <p:cNvSpPr txBox="1"/>
          <p:nvPr/>
        </p:nvSpPr>
        <p:spPr>
          <a:xfrm>
            <a:off x="6337300" y="3209429"/>
            <a:ext cx="228600" cy="308571"/>
          </a:xfrm>
          <a:prstGeom prst="rect">
            <a:avLst/>
          </a:prstGeom>
          <a:noFill/>
        </p:spPr>
        <p:txBody>
          <a:bodyPr wrap="none" lIns="0" rIns="0" tIns="0" bIns="0" anchor="ctr">
            <a:noAutofit/>
          </a:bodyPr>
          <a:lstStyle/>
          <a:p>
            <a:pPr algn="l">
              <a:lnSpc>
                <a:spcPts val="2430"/>
              </a:lnSpc>
            </a:pPr>
            <a:r>
              <a:rPr sz="1800" b="0" i="0">
                <a:solidFill>
                  <a:srgbClr val="B35510"/>
                </a:solidFill>
                <a:latin typeface="Verdana"/>
              </a:rPr>
              <a:t>✻</a:t>
            </a:r>
          </a:p>
        </p:txBody>
      </p:sp>
      <p:sp>
        <p:nvSpPr>
          <p:cNvPr id="14" name="TextBox 13"/>
          <p:cNvSpPr txBox="1"/>
          <p:nvPr/>
        </p:nvSpPr>
        <p:spPr>
          <a:xfrm>
            <a:off x="6642100" y="3228479"/>
            <a:ext cx="4597400" cy="1036241"/>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You called </a:t>
            </a:r>
            <a:r>
              <a:rPr sz="1800" b="0" i="0">
                <a:solidFill>
                  <a:srgbClr val="2C1A1F"/>
                </a:solidFill>
                <a:latin typeface="Roboto Mono"/>
              </a:rPr>
              <a:t>getNext()</a:t>
            </a:r>
            <a:r>
              <a:rPr sz="1800" b="0" i="0">
                <a:solidFill>
                  <a:srgbClr val="2C1A1F"/>
                </a:solidFill>
                <a:latin typeface="Verdana"/>
              </a:rPr>
              <a:t> on a variable that never got a </a:t>
            </a:r>
            <a:r>
              <a:rPr sz="1800" b="0" i="0">
                <a:solidFill>
                  <a:srgbClr val="2C1A1F"/>
                </a:solidFill>
                <a:latin typeface="Roboto Mono"/>
              </a:rPr>
              <a:t>Node</a:t>
            </a:r>
            <a:r>
              <a:rPr sz="1800" b="0" i="0">
                <a:solidFill>
                  <a:srgbClr val="2C1A1F"/>
                </a:solidFill>
                <a:latin typeface="Verdana"/>
              </a:rPr>
              <a:t> — check where </a:t>
            </a:r>
            <a:r>
              <a:rPr sz="1800" b="0" i="0">
                <a:solidFill>
                  <a:srgbClr val="2C1A1F"/>
                </a:solidFill>
                <a:latin typeface="Roboto Mono"/>
              </a:rPr>
              <a:t>firstNode</a:t>
            </a:r>
            <a:r>
              <a:rPr sz="1800" b="0" i="0">
                <a:solidFill>
                  <a:srgbClr val="2C1A1F"/>
                </a:solidFill>
                <a:latin typeface="Verdana"/>
              </a:rPr>
              <a:t> is assigned.</a:t>
            </a:r>
          </a:p>
        </p:txBody>
      </p:sp>
      <p:sp>
        <p:nvSpPr>
          <p:cNvPr id="15" name="Rounded Rectangle 14"/>
          <p:cNvSpPr/>
          <p:nvPr/>
        </p:nvSpPr>
        <p:spPr>
          <a:xfrm>
            <a:off x="6172200" y="2071588"/>
            <a:ext cx="5207000" cy="2542183"/>
          </a:xfrm>
          <a:prstGeom prst="roundRect">
            <a:avLst>
              <a:gd name="adj" fmla="val 4496"/>
            </a:avLst>
          </a:prstGeom>
          <a:solidFill>
            <a:srgbClr val="F2F1ED"/>
          </a:solidFill>
          <a:ln w="12700">
            <a:solidFill>
              <a:srgbClr val="6B4A52">
                <a:alpha val="30000"/>
              </a:srgbClr>
            </a:solidFill>
          </a:ln>
          <a:effectLst/>
        </p:spPr>
        <p:txBody>
          <a:bodyPr rtlCol="0" anchor="ctr"/>
          <a:lstStyle/>
          <a:p>
            <a:pPr algn="ctr"/>
          </a:p>
        </p:txBody>
      </p:sp>
      <p:sp>
        <p:nvSpPr>
          <p:cNvPr id="16" name="Rounded Rectangle 15"/>
          <p:cNvSpPr/>
          <p:nvPr/>
        </p:nvSpPr>
        <p:spPr>
          <a:xfrm>
            <a:off x="6617791" y="2236688"/>
            <a:ext cx="4596309" cy="820341"/>
          </a:xfrm>
          <a:prstGeom prst="roundRect">
            <a:avLst>
              <a:gd name="adj" fmla="val 13933"/>
            </a:avLst>
          </a:prstGeom>
          <a:solidFill>
            <a:srgbClr val="E9E3E4"/>
          </a:solidFill>
          <a:ln>
            <a:noFill/>
          </a:ln>
          <a:effectLst/>
        </p:spPr>
        <p:txBody>
          <a:bodyPr rtlCol="0" anchor="ctr"/>
          <a:lstStyle/>
          <a:p>
            <a:pPr algn="ctr"/>
          </a:p>
        </p:txBody>
      </p:sp>
      <p:sp>
        <p:nvSpPr>
          <p:cNvPr id="17" name="TextBox 16"/>
          <p:cNvSpPr txBox="1"/>
          <p:nvPr/>
        </p:nvSpPr>
        <p:spPr>
          <a:xfrm>
            <a:off x="6770191" y="2357338"/>
            <a:ext cx="4316909" cy="56892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My loop prints the last name five times. Hint only — no fix!</a:t>
            </a:r>
          </a:p>
        </p:txBody>
      </p:sp>
      <p:sp>
        <p:nvSpPr>
          <p:cNvPr id="18" name="TextBox 17"/>
          <p:cNvSpPr txBox="1"/>
          <p:nvPr/>
        </p:nvSpPr>
        <p:spPr>
          <a:xfrm>
            <a:off x="6337300" y="3209429"/>
            <a:ext cx="228600" cy="308571"/>
          </a:xfrm>
          <a:prstGeom prst="rect">
            <a:avLst/>
          </a:prstGeom>
          <a:noFill/>
        </p:spPr>
        <p:txBody>
          <a:bodyPr wrap="none" lIns="0" rIns="0" tIns="0" bIns="0" anchor="ctr">
            <a:noAutofit/>
          </a:bodyPr>
          <a:lstStyle/>
          <a:p>
            <a:pPr algn="l">
              <a:lnSpc>
                <a:spcPts val="2430"/>
              </a:lnSpc>
            </a:pPr>
            <a:r>
              <a:rPr sz="1800" b="0" i="0">
                <a:solidFill>
                  <a:srgbClr val="B35510"/>
                </a:solidFill>
                <a:latin typeface="Verdana"/>
              </a:rPr>
              <a:t>✻</a:t>
            </a:r>
          </a:p>
        </p:txBody>
      </p:sp>
      <p:sp>
        <p:nvSpPr>
          <p:cNvPr id="19" name="TextBox 18"/>
          <p:cNvSpPr txBox="1"/>
          <p:nvPr/>
        </p:nvSpPr>
        <p:spPr>
          <a:xfrm>
            <a:off x="6642100" y="3228479"/>
            <a:ext cx="4597400" cy="62607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Print </a:t>
            </a:r>
            <a:r>
              <a:rPr sz="1800" b="0" i="0">
                <a:solidFill>
                  <a:srgbClr val="2C1A1F"/>
                </a:solidFill>
                <a:latin typeface="Roboto Mono"/>
              </a:rPr>
              <a:t>i</a:t>
            </a:r>
            <a:r>
              <a:rPr sz="1800" b="0" i="0">
                <a:solidFill>
                  <a:srgbClr val="2C1A1F"/>
                </a:solidFill>
                <a:latin typeface="Verdana"/>
              </a:rPr>
              <a:t> and </a:t>
            </a:r>
            <a:r>
              <a:rPr sz="1800" b="0" i="0">
                <a:solidFill>
                  <a:srgbClr val="2C1A1F"/>
                </a:solidFill>
                <a:latin typeface="Roboto Mono"/>
              </a:rPr>
              <a:t>names[i]</a:t>
            </a:r>
            <a:r>
              <a:rPr sz="1800" b="0" i="0">
                <a:solidFill>
                  <a:srgbClr val="2C1A1F"/>
                </a:solidFill>
                <a:latin typeface="Verdana"/>
              </a:rPr>
              <a:t> each pass — watch what the inner loop actually changes.</a:t>
            </a:r>
          </a:p>
        </p:txBody>
      </p:sp>
      <p:sp>
        <p:nvSpPr>
          <p:cNvPr id="20" name="Rounded Rectangle 19"/>
          <p:cNvSpPr/>
          <p:nvPr/>
        </p:nvSpPr>
        <p:spPr>
          <a:xfrm>
            <a:off x="6172200" y="2071588"/>
            <a:ext cx="5207000" cy="2542183"/>
          </a:xfrm>
          <a:prstGeom prst="roundRect">
            <a:avLst>
              <a:gd name="adj" fmla="val 4496"/>
            </a:avLst>
          </a:prstGeom>
          <a:solidFill>
            <a:srgbClr val="F2F1ED"/>
          </a:solidFill>
          <a:ln w="12700">
            <a:solidFill>
              <a:srgbClr val="6B4A52">
                <a:alpha val="30000"/>
              </a:srgbClr>
            </a:solidFill>
          </a:ln>
          <a:effectLst/>
        </p:spPr>
        <p:txBody>
          <a:bodyPr rtlCol="0" anchor="ctr"/>
          <a:lstStyle/>
          <a:p>
            <a:pPr algn="ctr"/>
          </a:p>
        </p:txBody>
      </p:sp>
      <p:sp>
        <p:nvSpPr>
          <p:cNvPr id="21" name="Rounded Rectangle 20"/>
          <p:cNvSpPr/>
          <p:nvPr/>
        </p:nvSpPr>
        <p:spPr>
          <a:xfrm>
            <a:off x="7736880" y="2236688"/>
            <a:ext cx="3477220" cy="511770"/>
          </a:xfrm>
          <a:prstGeom prst="roundRect">
            <a:avLst>
              <a:gd name="adj" fmla="val 22334"/>
            </a:avLst>
          </a:prstGeom>
          <a:solidFill>
            <a:srgbClr val="E9E3E4"/>
          </a:solidFill>
          <a:ln>
            <a:noFill/>
          </a:ln>
          <a:effectLst/>
        </p:spPr>
        <p:txBody>
          <a:bodyPr rtlCol="0" anchor="ctr"/>
          <a:lstStyle/>
          <a:p>
            <a:pPr algn="ctr"/>
          </a:p>
        </p:txBody>
      </p:sp>
      <p:sp>
        <p:nvSpPr>
          <p:cNvPr id="22" name="TextBox 21"/>
          <p:cNvSpPr txBox="1"/>
          <p:nvPr/>
        </p:nvSpPr>
        <p:spPr>
          <a:xfrm>
            <a:off x="7889280" y="2357338"/>
            <a:ext cx="3172420" cy="274320"/>
          </a:xfrm>
          <a:prstGeom prst="rect">
            <a:avLst/>
          </a:prstGeom>
          <a:noFill/>
        </p:spPr>
        <p:txBody>
          <a:bodyPr wrap="none" lIns="0" rIns="0" tIns="0" bIns="0" anchor="ctr">
            <a:noAutofit/>
          </a:bodyPr>
          <a:lstStyle/>
          <a:p>
            <a:pPr algn="l">
              <a:lnSpc>
                <a:spcPts val="2430"/>
              </a:lnSpc>
            </a:pPr>
            <a:r>
              <a:rPr sz="1800" b="0" i="0">
                <a:solidFill>
                  <a:srgbClr val="2C1A1F"/>
                </a:solidFill>
                <a:latin typeface="Verdana"/>
              </a:rPr>
              <a:t>Generic method that returns T?</a:t>
            </a:r>
          </a:p>
        </p:txBody>
      </p:sp>
      <p:sp>
        <p:nvSpPr>
          <p:cNvPr id="23" name="TextBox 22"/>
          <p:cNvSpPr txBox="1"/>
          <p:nvPr/>
        </p:nvSpPr>
        <p:spPr>
          <a:xfrm>
            <a:off x="6337300" y="2900859"/>
            <a:ext cx="228600" cy="308571"/>
          </a:xfrm>
          <a:prstGeom prst="rect">
            <a:avLst/>
          </a:prstGeom>
          <a:noFill/>
        </p:spPr>
        <p:txBody>
          <a:bodyPr wrap="none" lIns="0" rIns="0" tIns="0" bIns="0" anchor="ctr">
            <a:noAutofit/>
          </a:bodyPr>
          <a:lstStyle/>
          <a:p>
            <a:pPr algn="l">
              <a:lnSpc>
                <a:spcPts val="2430"/>
              </a:lnSpc>
            </a:pPr>
            <a:r>
              <a:rPr sz="1800" b="0" i="0">
                <a:solidFill>
                  <a:srgbClr val="B35510"/>
                </a:solidFill>
                <a:latin typeface="Verdana"/>
              </a:rPr>
              <a:t>✻</a:t>
            </a:r>
          </a:p>
        </p:txBody>
      </p:sp>
      <p:sp>
        <p:nvSpPr>
          <p:cNvPr id="24" name="TextBox 23"/>
          <p:cNvSpPr txBox="1"/>
          <p:nvPr/>
        </p:nvSpPr>
        <p:spPr>
          <a:xfrm>
            <a:off x="6642100" y="2919909"/>
            <a:ext cx="902196" cy="274320"/>
          </a:xfrm>
          <a:prstGeom prst="rect">
            <a:avLst/>
          </a:prstGeom>
          <a:noFill/>
        </p:spPr>
        <p:txBody>
          <a:bodyPr wrap="none" lIns="0" rIns="0" tIns="0" bIns="0" anchor="ctr">
            <a:noAutofit/>
          </a:bodyPr>
          <a:lstStyle/>
          <a:p>
            <a:pPr algn="l">
              <a:lnSpc>
                <a:spcPts val="2430"/>
              </a:lnSpc>
            </a:pPr>
            <a:r>
              <a:rPr sz="1800" b="0" i="0">
                <a:solidFill>
                  <a:srgbClr val="2C1A1F"/>
                </a:solidFill>
                <a:latin typeface="Verdana"/>
              </a:rPr>
              <a:t>Like this:</a:t>
            </a:r>
          </a:p>
        </p:txBody>
      </p:sp>
      <p:sp>
        <p:nvSpPr>
          <p:cNvPr id="25" name="Rounded Rectangle 24"/>
          <p:cNvSpPr/>
          <p:nvPr/>
        </p:nvSpPr>
        <p:spPr>
          <a:xfrm>
            <a:off x="6337300" y="3361829"/>
            <a:ext cx="4876800" cy="1086842"/>
          </a:xfrm>
          <a:prstGeom prst="roundRect">
            <a:avLst>
              <a:gd name="adj" fmla="val 5842"/>
            </a:avLst>
          </a:prstGeom>
          <a:solidFill>
            <a:srgbClr val="2C1A1F"/>
          </a:solidFill>
          <a:ln>
            <a:noFill/>
          </a:ln>
          <a:effectLst/>
        </p:spPr>
        <p:txBody>
          <a:bodyPr rtlCol="0" anchor="ctr"/>
          <a:lstStyle/>
          <a:p>
            <a:pPr algn="ctr"/>
          </a:p>
        </p:txBody>
      </p:sp>
      <p:sp>
        <p:nvSpPr>
          <p:cNvPr id="26" name="TextBox 25"/>
          <p:cNvSpPr txBox="1"/>
          <p:nvPr/>
        </p:nvSpPr>
        <p:spPr>
          <a:xfrm>
            <a:off x="6489700" y="3520579"/>
            <a:ext cx="4597400" cy="914400"/>
          </a:xfrm>
          <a:prstGeom prst="rect">
            <a:avLst/>
          </a:prstGeom>
          <a:noFill/>
        </p:spPr>
        <p:txBody>
          <a:bodyPr wrap="square" lIns="0" rIns="0" tIns="0" bIns="0" anchor="ctr">
            <a:noAutofit/>
          </a:bodyPr>
          <a:lstStyle/>
          <a:p>
            <a:pPr algn="l">
              <a:lnSpc>
                <a:spcPts val="2700"/>
              </a:lnSpc>
            </a:pPr>
            <a:r>
              <a:rPr sz="1800" b="0" i="0">
                <a:solidFill>
                  <a:srgbClr val="92B0C4"/>
                </a:solidFill>
                <a:latin typeface="Roboto Mono"/>
              </a:rPr>
              <a:t>public</a:t>
            </a:r>
            <a:r>
              <a:rPr sz="1800" b="0" i="0">
                <a:solidFill>
                  <a:srgbClr val="F2F1ED"/>
                </a:solidFill>
                <a:latin typeface="Roboto Mono"/>
              </a:rPr>
              <a:t> &lt;</a:t>
            </a:r>
            <a:r>
              <a:rPr sz="1800" b="0" i="0">
                <a:solidFill>
                  <a:srgbClr val="4EC07C"/>
                </a:solidFill>
                <a:latin typeface="Roboto Mono"/>
              </a:rPr>
              <a:t>T</a:t>
            </a:r>
            <a:r>
              <a:rPr sz="1800" b="0" i="0">
                <a:solidFill>
                  <a:srgbClr val="F2F1ED"/>
                </a:solidFill>
                <a:latin typeface="Roboto Mono"/>
              </a:rPr>
              <a:t>&gt; </a:t>
            </a:r>
            <a:r>
              <a:rPr sz="1800" b="0" i="0">
                <a:solidFill>
                  <a:srgbClr val="4EC07C"/>
                </a:solidFill>
                <a:latin typeface="Roboto Mono"/>
              </a:rPr>
              <a:t>T</a:t>
            </a:r>
            <a:r>
              <a:rPr sz="1800" b="0" i="0">
                <a:solidFill>
                  <a:srgbClr val="CF9B73"/>
                </a:solidFill>
                <a:latin typeface="Roboto Mono"/>
              </a:rPr>
              <a:t>first</a:t>
            </a:r>
            <a:r>
              <a:rPr sz="1800" b="0" i="0">
                <a:solidFill>
                  <a:srgbClr val="F2F1ED"/>
                </a:solidFill>
                <a:latin typeface="Roboto Mono"/>
              </a:rPr>
              <a:t>(</a:t>
            </a:r>
            <a:r>
              <a:rPr sz="1800" b="0" i="0">
                <a:solidFill>
                  <a:srgbClr val="4EC07C"/>
                </a:solidFill>
                <a:latin typeface="Roboto Mono"/>
              </a:rPr>
              <a:t>List</a:t>
            </a:r>
            <a:r>
              <a:rPr sz="1800" b="0" i="0">
                <a:solidFill>
                  <a:srgbClr val="F2F1ED"/>
                </a:solidFill>
                <a:latin typeface="Roboto Mono"/>
              </a:rPr>
              <a:t>&lt;</a:t>
            </a:r>
            <a:r>
              <a:rPr sz="1800" b="0" i="0">
                <a:solidFill>
                  <a:srgbClr val="4EC07C"/>
                </a:solidFill>
                <a:latin typeface="Roboto Mono"/>
              </a:rPr>
              <a:t>T</a:t>
            </a:r>
            <a:r>
              <a:rPr sz="1800" b="0" i="0">
                <a:solidFill>
                  <a:srgbClr val="F2F1ED"/>
                </a:solidFill>
                <a:latin typeface="Roboto Mono"/>
              </a:rPr>
              <a:t>&gt; xs) {</a:t>
            </a:r>
          </a:p>
          <a:p>
            <a:pPr algn="l">
              <a:lnSpc>
                <a:spcPts val="2700"/>
              </a:lnSpc>
            </a:pPr>
            <a:r>
              <a:rPr sz="1800" b="0" i="0">
                <a:solidFill>
                  <a:srgbClr val="F2F1ED"/>
                </a:solidFill>
                <a:latin typeface="Roboto Mono"/>
              </a:rPr>
              <a:t>  </a:t>
            </a:r>
            <a:r>
              <a:rPr sz="1800" b="0" i="0">
                <a:solidFill>
                  <a:srgbClr val="92B0C4"/>
                </a:solidFill>
                <a:latin typeface="Roboto Mono"/>
              </a:rPr>
              <a:t>return</a:t>
            </a:r>
            <a:r>
              <a:rPr sz="1800" b="0" i="0">
                <a:solidFill>
                  <a:srgbClr val="F2F1ED"/>
                </a:solidFill>
                <a:latin typeface="Roboto Mono"/>
              </a:rPr>
              <a:t> xs.</a:t>
            </a:r>
            <a:r>
              <a:rPr sz="1800" b="0" i="0">
                <a:solidFill>
                  <a:srgbClr val="CF9B73"/>
                </a:solidFill>
                <a:latin typeface="Roboto Mono"/>
              </a:rPr>
              <a:t>get</a:t>
            </a:r>
            <a:r>
              <a:rPr sz="1800" b="0" i="0">
                <a:solidFill>
                  <a:srgbClr val="F2F1ED"/>
                </a:solidFill>
                <a:latin typeface="Roboto Mono"/>
              </a:rPr>
              <a:t>(0);</a:t>
            </a:r>
          </a:p>
          <a:p>
            <a:pPr algn="l">
              <a:lnSpc>
                <a:spcPts val="2700"/>
              </a:lnSpc>
            </a:pPr>
            <a:r>
              <a:rPr sz="1800" b="0" i="0">
                <a:solidFill>
                  <a:srgbClr val="F2F1ED"/>
                </a:solidFill>
                <a:latin typeface="Roboto Mono"/>
              </a:rPr>
              <a:t>}</a:t>
            </a:r>
          </a:p>
        </p:txBody>
      </p:sp>
      <p:sp>
        <p:nvSpPr>
          <p:cNvPr id="27" name="Rounded Rectangle 26"/>
          <p:cNvSpPr/>
          <p:nvPr/>
        </p:nvSpPr>
        <p:spPr>
          <a:xfrm>
            <a:off x="6172200" y="2071588"/>
            <a:ext cx="5207000" cy="2542183"/>
          </a:xfrm>
          <a:prstGeom prst="roundRect">
            <a:avLst>
              <a:gd name="adj" fmla="val 4496"/>
            </a:avLst>
          </a:prstGeom>
          <a:solidFill>
            <a:srgbClr val="F2F1ED"/>
          </a:solidFill>
          <a:ln w="12700">
            <a:solidFill>
              <a:srgbClr val="6B4A52">
                <a:alpha val="30000"/>
              </a:srgbClr>
            </a:solidFill>
          </a:ln>
          <a:effectLst/>
        </p:spPr>
        <p:txBody>
          <a:bodyPr rtlCol="0" anchor="ctr"/>
          <a:lstStyle/>
          <a:p>
            <a:pPr algn="ctr"/>
          </a:p>
        </p:txBody>
      </p:sp>
      <p:sp>
        <p:nvSpPr>
          <p:cNvPr id="28" name="Rounded Rectangle 27"/>
          <p:cNvSpPr/>
          <p:nvPr/>
        </p:nvSpPr>
        <p:spPr>
          <a:xfrm>
            <a:off x="7669411" y="2236688"/>
            <a:ext cx="3544689" cy="511770"/>
          </a:xfrm>
          <a:prstGeom prst="roundRect">
            <a:avLst>
              <a:gd name="adj" fmla="val 22334"/>
            </a:avLst>
          </a:prstGeom>
          <a:solidFill>
            <a:srgbClr val="E9E3E4"/>
          </a:solidFill>
          <a:ln>
            <a:noFill/>
          </a:ln>
          <a:effectLst/>
        </p:spPr>
        <p:txBody>
          <a:bodyPr rtlCol="0" anchor="ctr"/>
          <a:lstStyle/>
          <a:p>
            <a:pPr algn="ctr"/>
          </a:p>
        </p:txBody>
      </p:sp>
      <p:sp>
        <p:nvSpPr>
          <p:cNvPr id="29" name="TextBox 28"/>
          <p:cNvSpPr txBox="1"/>
          <p:nvPr/>
        </p:nvSpPr>
        <p:spPr>
          <a:xfrm>
            <a:off x="7821811" y="2357338"/>
            <a:ext cx="3239889" cy="274320"/>
          </a:xfrm>
          <a:prstGeom prst="rect">
            <a:avLst/>
          </a:prstGeom>
          <a:noFill/>
        </p:spPr>
        <p:txBody>
          <a:bodyPr wrap="none" lIns="0" rIns="0" tIns="0" bIns="0" anchor="ctr">
            <a:noAutofit/>
          </a:bodyPr>
          <a:lstStyle/>
          <a:p>
            <a:pPr algn="l">
              <a:lnSpc>
                <a:spcPts val="2430"/>
              </a:lnSpc>
            </a:pPr>
            <a:r>
              <a:rPr sz="1800" b="0" i="0">
                <a:solidFill>
                  <a:srgbClr val="2C1A1F"/>
                </a:solidFill>
                <a:latin typeface="Verdana"/>
              </a:rPr>
              <a:t>What classes for Minesweeper?</a:t>
            </a:r>
          </a:p>
        </p:txBody>
      </p:sp>
      <p:sp>
        <p:nvSpPr>
          <p:cNvPr id="30" name="TextBox 29"/>
          <p:cNvSpPr txBox="1"/>
          <p:nvPr/>
        </p:nvSpPr>
        <p:spPr>
          <a:xfrm>
            <a:off x="6337300" y="2900859"/>
            <a:ext cx="228600" cy="308571"/>
          </a:xfrm>
          <a:prstGeom prst="rect">
            <a:avLst/>
          </a:prstGeom>
          <a:noFill/>
        </p:spPr>
        <p:txBody>
          <a:bodyPr wrap="none" lIns="0" rIns="0" tIns="0" bIns="0" anchor="ctr">
            <a:noAutofit/>
          </a:bodyPr>
          <a:lstStyle/>
          <a:p>
            <a:pPr algn="l">
              <a:lnSpc>
                <a:spcPts val="2430"/>
              </a:lnSpc>
            </a:pPr>
            <a:r>
              <a:rPr sz="1800" b="0" i="0">
                <a:solidFill>
                  <a:srgbClr val="B35510"/>
                </a:solidFill>
                <a:latin typeface="Verdana"/>
              </a:rPr>
              <a:t>✻</a:t>
            </a:r>
          </a:p>
        </p:txBody>
      </p:sp>
      <p:sp>
        <p:nvSpPr>
          <p:cNvPr id="31" name="TextBox 30"/>
          <p:cNvSpPr txBox="1"/>
          <p:nvPr/>
        </p:nvSpPr>
        <p:spPr>
          <a:xfrm>
            <a:off x="6642100" y="2919909"/>
            <a:ext cx="4597400" cy="670520"/>
          </a:xfrm>
          <a:prstGeom prst="rect">
            <a:avLst/>
          </a:prstGeom>
          <a:noFill/>
        </p:spPr>
        <p:txBody>
          <a:bodyPr wrap="square" lIns="0" rIns="0" tIns="0" bIns="0" anchor="ctr">
            <a:noAutofit/>
          </a:bodyPr>
          <a:lstStyle/>
          <a:p>
            <a:pPr algn="l">
              <a:lnSpc>
                <a:spcPts val="2430"/>
              </a:lnSpc>
            </a:pPr>
            <a:r>
              <a:rPr sz="1800" b="0" i="0">
                <a:solidFill>
                  <a:srgbClr val="2C1A1F"/>
                </a:solidFill>
                <a:latin typeface="Verdana"/>
              </a:rPr>
              <a:t>Maybe </a:t>
            </a:r>
            <a:r>
              <a:rPr sz="1800" b="0" i="0">
                <a:solidFill>
                  <a:srgbClr val="2C1A1F"/>
                </a:solidFill>
                <a:latin typeface="Roboto Mono"/>
              </a:rPr>
              <a:t>Board</a:t>
            </a:r>
            <a:r>
              <a:rPr sz="1800" b="0" i="0">
                <a:solidFill>
                  <a:srgbClr val="2C1A1F"/>
                </a:solidFill>
                <a:latin typeface="Verdana"/>
              </a:rPr>
              <a:t>, </a:t>
            </a:r>
            <a:r>
              <a:rPr sz="1800" b="0" i="0">
                <a:solidFill>
                  <a:srgbClr val="2C1A1F"/>
                </a:solidFill>
                <a:latin typeface="Roboto Mono"/>
              </a:rPr>
              <a:t>Cell</a:t>
            </a:r>
            <a:r>
              <a:rPr sz="1800" b="0" i="0">
                <a:solidFill>
                  <a:srgbClr val="2C1A1F"/>
                </a:solidFill>
                <a:latin typeface="Verdana"/>
              </a:rPr>
              <a:t>, </a:t>
            </a:r>
            <a:r>
              <a:rPr sz="1800" b="0" i="0">
                <a:solidFill>
                  <a:srgbClr val="2C1A1F"/>
                </a:solidFill>
                <a:latin typeface="Roboto Mono"/>
              </a:rPr>
              <a:t>Game</a:t>
            </a:r>
            <a:r>
              <a:rPr sz="1800" b="0" i="0">
                <a:solidFill>
                  <a:srgbClr val="2C1A1F"/>
                </a:solidFill>
                <a:latin typeface="Verdana"/>
              </a:rPr>
              <a:t> for the rules, </a:t>
            </a:r>
            <a:r>
              <a:rPr sz="1800" b="0" i="0">
                <a:solidFill>
                  <a:srgbClr val="2C1A1F"/>
                </a:solidFill>
                <a:latin typeface="Roboto Mono"/>
              </a:rPr>
              <a:t>TextUI</a:t>
            </a:r>
            <a:r>
              <a:rPr sz="1800" b="0" i="0">
                <a:solidFill>
                  <a:srgbClr val="2C1A1F"/>
                </a:solidFill>
                <a:latin typeface="Verdana"/>
              </a:rPr>
              <a:t> to draw. What else?</a:t>
            </a:r>
          </a:p>
        </p:txBody>
      </p:sp>
      <p:sp>
        <p:nvSpPr>
          <p:cNvPr id="32" name="Rounded Rectangle 31"/>
          <p:cNvSpPr/>
          <p:nvPr/>
        </p:nvSpPr>
        <p:spPr>
          <a:xfrm>
            <a:off x="7893943" y="3784699"/>
            <a:ext cx="3320157" cy="511770"/>
          </a:xfrm>
          <a:prstGeom prst="roundRect">
            <a:avLst>
              <a:gd name="adj" fmla="val 22334"/>
            </a:avLst>
          </a:prstGeom>
          <a:solidFill>
            <a:srgbClr val="E9E3E4"/>
          </a:solidFill>
          <a:ln>
            <a:noFill/>
          </a:ln>
          <a:effectLst/>
        </p:spPr>
        <p:txBody>
          <a:bodyPr rtlCol="0" anchor="ctr"/>
          <a:lstStyle/>
          <a:p>
            <a:pPr algn="ctr"/>
          </a:p>
        </p:txBody>
      </p:sp>
      <p:sp>
        <p:nvSpPr>
          <p:cNvPr id="33" name="TextBox 32"/>
          <p:cNvSpPr txBox="1"/>
          <p:nvPr/>
        </p:nvSpPr>
        <p:spPr>
          <a:xfrm>
            <a:off x="8046343" y="3905349"/>
            <a:ext cx="3015357" cy="274320"/>
          </a:xfrm>
          <a:prstGeom prst="rect">
            <a:avLst/>
          </a:prstGeom>
          <a:noFill/>
        </p:spPr>
        <p:txBody>
          <a:bodyPr wrap="none" lIns="0" rIns="0" tIns="0" bIns="0" anchor="ctr">
            <a:noAutofit/>
          </a:bodyPr>
          <a:lstStyle/>
          <a:p>
            <a:pPr algn="l">
              <a:lnSpc>
                <a:spcPts val="2430"/>
              </a:lnSpc>
            </a:pPr>
            <a:r>
              <a:rPr sz="1800" b="0" i="0">
                <a:solidFill>
                  <a:srgbClr val="2C1A1F"/>
                </a:solidFill>
                <a:latin typeface="Verdana"/>
              </a:rPr>
              <a:t>A Timer! And maybe Difficulty.</a:t>
            </a:r>
          </a:p>
        </p:txBody>
      </p:sp>
      <p:sp>
        <p:nvSpPr>
          <p:cNvPr id="34" name="TextBox 33"/>
          <p:cNvSpPr txBox="1"/>
          <p:nvPr/>
        </p:nvSpPr>
        <p:spPr>
          <a:xfrm>
            <a:off x="812800" y="5262959"/>
            <a:ext cx="10591800" cy="778470"/>
          </a:xfrm>
          <a:prstGeom prst="rect">
            <a:avLst/>
          </a:prstGeom>
          <a:noFill/>
        </p:spPr>
        <p:txBody>
          <a:bodyPr wrap="square" lIns="0" rIns="0" tIns="0" bIns="0" anchor="ctr">
            <a:noAutofit/>
          </a:bodyPr>
          <a:lstStyle/>
          <a:p>
            <a:pPr algn="l">
              <a:lnSpc>
                <a:spcPts val="3479"/>
              </a:lnSpc>
            </a:pPr>
            <a:r>
              <a:rPr sz="2400" b="1" i="0">
                <a:solidFill>
                  <a:srgbClr val="6B4A52"/>
                </a:solidFill>
                <a:latin typeface="Verdana"/>
              </a:rPr>
              <a:t>Note:</a:t>
            </a:r>
            <a:r>
              <a:rPr sz="2400" b="0" i="0">
                <a:solidFill>
                  <a:srgbClr val="6B4A52"/>
                </a:solidFill>
                <a:latin typeface="Verdana"/>
              </a:rPr>
              <a:t> We won’t be restricting GenAI use in this course — but failing to learn the concepts independently </a:t>
            </a:r>
            <a:r>
              <a:rPr sz="2400" b="0" i="1">
                <a:solidFill>
                  <a:srgbClr val="6B4A52"/>
                </a:solidFill>
                <a:latin typeface="Verdana"/>
              </a:rPr>
              <a:t>will</a:t>
            </a:r>
            <a:r>
              <a:rPr sz="2400" b="0" i="0">
                <a:solidFill>
                  <a:srgbClr val="6B4A52"/>
                </a:solidFill>
                <a:latin typeface="Verdana"/>
              </a:rPr>
              <a:t> show up in your exam score!</a:t>
            </a:r>
          </a:p>
        </p:txBody>
      </p:sp>
      <p:sp>
        <p:nvSpPr>
          <p:cNvPr id="35" name="Rounded Rectangle 34"/>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36" name="TextBox 35"/>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14 / 28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This week</a:t>
            </a:r>
          </a:p>
        </p:txBody>
      </p:sp>
      <p:sp>
        <p:nvSpPr>
          <p:cNvPr id="4" name="Rounded Rectangle 3"/>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5" name="TextBox 4"/>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15 / 28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This week</a:t>
            </a:r>
          </a:p>
        </p:txBody>
      </p:sp>
      <p:sp>
        <p:nvSpPr>
          <p:cNvPr id="4" name="Rounded Rectangle 3"/>
          <p:cNvSpPr/>
          <p:nvPr/>
        </p:nvSpPr>
        <p:spPr>
          <a:xfrm>
            <a:off x="812800" y="1473200"/>
            <a:ext cx="5207000" cy="1956792"/>
          </a:xfrm>
          <a:prstGeom prst="roundRect">
            <a:avLst>
              <a:gd name="adj" fmla="val 3245"/>
            </a:avLst>
          </a:prstGeom>
          <a:solidFill>
            <a:srgbClr val="E9E3E4"/>
          </a:solidFill>
          <a:ln w="19050">
            <a:solidFill>
              <a:srgbClr val="861F41"/>
            </a:solidFill>
          </a:ln>
          <a:effectLst/>
        </p:spPr>
        <p:txBody>
          <a:bodyPr rtlCol="0" anchor="ctr"/>
          <a:lstStyle/>
          <a:p>
            <a:pPr algn="ctr"/>
          </a:p>
        </p:txBody>
      </p:sp>
      <p:sp>
        <p:nvSpPr>
          <p:cNvPr id="5" name="TextBox 4"/>
          <p:cNvSpPr txBox="1"/>
          <p:nvPr/>
        </p:nvSpPr>
        <p:spPr>
          <a:xfrm>
            <a:off x="1035050" y="1695450"/>
            <a:ext cx="47625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PrairieLearn · before each lecture</a:t>
            </a:r>
          </a:p>
        </p:txBody>
      </p:sp>
      <p:sp>
        <p:nvSpPr>
          <p:cNvPr id="6" name="TextBox 5"/>
          <p:cNvSpPr txBox="1"/>
          <p:nvPr/>
        </p:nvSpPr>
        <p:spPr>
          <a:xfrm>
            <a:off x="1035050" y="2141141"/>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Modules 1.1–1.5</a:t>
            </a:r>
          </a:p>
        </p:txBody>
      </p:sp>
      <p:sp>
        <p:nvSpPr>
          <p:cNvPr id="7" name="TextBox 6"/>
          <p:cNvSpPr txBox="1"/>
          <p:nvPr/>
        </p:nvSpPr>
        <p:spPr>
          <a:xfrm>
            <a:off x="1035050" y="2627511"/>
            <a:ext cx="4787900"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Welcome · Environment Setup · Java Fundamentals · Unit Testing · Style &amp; Docs</a:t>
            </a:r>
          </a:p>
        </p:txBody>
      </p:sp>
      <p:sp>
        <p:nvSpPr>
          <p:cNvPr id="8" name="Rounded Rectangle 7"/>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9" name="TextBox 8"/>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15 / 28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This week</a:t>
            </a:r>
          </a:p>
        </p:txBody>
      </p:sp>
      <p:sp>
        <p:nvSpPr>
          <p:cNvPr id="4" name="Rounded Rectangle 3"/>
          <p:cNvSpPr/>
          <p:nvPr/>
        </p:nvSpPr>
        <p:spPr>
          <a:xfrm>
            <a:off x="812800" y="1473200"/>
            <a:ext cx="5207000" cy="1956792"/>
          </a:xfrm>
          <a:prstGeom prst="roundRect">
            <a:avLst>
              <a:gd name="adj" fmla="val 3245"/>
            </a:avLst>
          </a:prstGeom>
          <a:solidFill>
            <a:srgbClr val="E9E3E4"/>
          </a:solidFill>
          <a:ln w="19050">
            <a:solidFill>
              <a:srgbClr val="861F41"/>
            </a:solidFill>
          </a:ln>
          <a:effectLst/>
        </p:spPr>
        <p:txBody>
          <a:bodyPr rtlCol="0" anchor="ctr"/>
          <a:lstStyle/>
          <a:p>
            <a:pPr algn="ctr"/>
          </a:p>
        </p:txBody>
      </p:sp>
      <p:sp>
        <p:nvSpPr>
          <p:cNvPr id="5" name="TextBox 4"/>
          <p:cNvSpPr txBox="1"/>
          <p:nvPr/>
        </p:nvSpPr>
        <p:spPr>
          <a:xfrm>
            <a:off x="1035050" y="1695450"/>
            <a:ext cx="47625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PrairieLearn · before each lecture</a:t>
            </a:r>
          </a:p>
        </p:txBody>
      </p:sp>
      <p:sp>
        <p:nvSpPr>
          <p:cNvPr id="6" name="TextBox 5"/>
          <p:cNvSpPr txBox="1"/>
          <p:nvPr/>
        </p:nvSpPr>
        <p:spPr>
          <a:xfrm>
            <a:off x="1035050" y="2141141"/>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Modules 1.1–1.5</a:t>
            </a:r>
          </a:p>
        </p:txBody>
      </p:sp>
      <p:sp>
        <p:nvSpPr>
          <p:cNvPr id="7" name="TextBox 6"/>
          <p:cNvSpPr txBox="1"/>
          <p:nvPr/>
        </p:nvSpPr>
        <p:spPr>
          <a:xfrm>
            <a:off x="1035050" y="2627511"/>
            <a:ext cx="4787900"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Welcome · Environment Setup · Java Fundamentals · Unit Testing · Style &amp; Docs</a:t>
            </a:r>
          </a:p>
        </p:txBody>
      </p:sp>
      <p:sp>
        <p:nvSpPr>
          <p:cNvPr id="8" name="Rounded Rectangle 7"/>
          <p:cNvSpPr/>
          <p:nvPr/>
        </p:nvSpPr>
        <p:spPr>
          <a:xfrm>
            <a:off x="6172200" y="1473200"/>
            <a:ext cx="5207000" cy="1956792"/>
          </a:xfrm>
          <a:prstGeom prst="roundRect">
            <a:avLst>
              <a:gd name="adj" fmla="val 3245"/>
            </a:avLst>
          </a:prstGeom>
          <a:solidFill>
            <a:srgbClr val="E9E3E4"/>
          </a:solidFill>
          <a:ln w="19050">
            <a:solidFill>
              <a:srgbClr val="1C6091"/>
            </a:solidFill>
          </a:ln>
          <a:effectLst/>
        </p:spPr>
        <p:txBody>
          <a:bodyPr rtlCol="0" anchor="ctr"/>
          <a:lstStyle/>
          <a:p>
            <a:pPr algn="ctr"/>
          </a:p>
        </p:txBody>
      </p:sp>
      <p:sp>
        <p:nvSpPr>
          <p:cNvPr id="9" name="TextBox 8"/>
          <p:cNvSpPr txBox="1"/>
          <p:nvPr/>
        </p:nvSpPr>
        <p:spPr>
          <a:xfrm>
            <a:off x="6394450" y="1695450"/>
            <a:ext cx="4762500" cy="274320"/>
          </a:xfrm>
          <a:prstGeom prst="rect">
            <a:avLst/>
          </a:prstGeom>
          <a:noFill/>
        </p:spPr>
        <p:txBody>
          <a:bodyPr wrap="none" lIns="0" rIns="0" tIns="0" bIns="0" anchor="ctr">
            <a:noAutofit/>
          </a:bodyPr>
          <a:lstStyle/>
          <a:p>
            <a:pPr algn="l">
              <a:lnSpc>
                <a:spcPts val="2610"/>
              </a:lnSpc>
            </a:pPr>
            <a:r>
              <a:rPr sz="1800" b="0" i="0">
                <a:solidFill>
                  <a:srgbClr val="1C6091"/>
                </a:solidFill>
                <a:latin typeface="Roboto Mono"/>
              </a:rPr>
              <a:t>PrairieLearn · due Friday</a:t>
            </a:r>
          </a:p>
        </p:txBody>
      </p:sp>
      <p:sp>
        <p:nvSpPr>
          <p:cNvPr id="10" name="TextBox 9"/>
          <p:cNvSpPr txBox="1"/>
          <p:nvPr/>
        </p:nvSpPr>
        <p:spPr>
          <a:xfrm>
            <a:off x="6394450" y="2141141"/>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Homework: Week 1 Intro</a:t>
            </a:r>
          </a:p>
        </p:txBody>
      </p:sp>
      <p:sp>
        <p:nvSpPr>
          <p:cNvPr id="11" name="TextBox 10"/>
          <p:cNvSpPr txBox="1"/>
          <p:nvPr/>
        </p:nvSpPr>
        <p:spPr>
          <a:xfrm>
            <a:off x="6394450" y="2627511"/>
            <a:ext cx="47625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Your first graded assignment.</a:t>
            </a:r>
          </a:p>
        </p:txBody>
      </p:sp>
      <p:sp>
        <p:nvSpPr>
          <p:cNvPr id="12" name="Rounded Rectangle 11"/>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3" name="TextBox 12"/>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15 / 28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This week</a:t>
            </a:r>
          </a:p>
        </p:txBody>
      </p:sp>
      <p:sp>
        <p:nvSpPr>
          <p:cNvPr id="4" name="Rounded Rectangle 3"/>
          <p:cNvSpPr/>
          <p:nvPr/>
        </p:nvSpPr>
        <p:spPr>
          <a:xfrm>
            <a:off x="812800" y="1473200"/>
            <a:ext cx="5207000" cy="1956792"/>
          </a:xfrm>
          <a:prstGeom prst="roundRect">
            <a:avLst>
              <a:gd name="adj" fmla="val 3245"/>
            </a:avLst>
          </a:prstGeom>
          <a:solidFill>
            <a:srgbClr val="E9E3E4"/>
          </a:solidFill>
          <a:ln w="19050">
            <a:solidFill>
              <a:srgbClr val="861F41"/>
            </a:solidFill>
          </a:ln>
          <a:effectLst/>
        </p:spPr>
        <p:txBody>
          <a:bodyPr rtlCol="0" anchor="ctr"/>
          <a:lstStyle/>
          <a:p>
            <a:pPr algn="ctr"/>
          </a:p>
        </p:txBody>
      </p:sp>
      <p:sp>
        <p:nvSpPr>
          <p:cNvPr id="5" name="TextBox 4"/>
          <p:cNvSpPr txBox="1"/>
          <p:nvPr/>
        </p:nvSpPr>
        <p:spPr>
          <a:xfrm>
            <a:off x="1035050" y="1695450"/>
            <a:ext cx="47625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PrairieLearn · before each lecture</a:t>
            </a:r>
          </a:p>
        </p:txBody>
      </p:sp>
      <p:sp>
        <p:nvSpPr>
          <p:cNvPr id="6" name="TextBox 5"/>
          <p:cNvSpPr txBox="1"/>
          <p:nvPr/>
        </p:nvSpPr>
        <p:spPr>
          <a:xfrm>
            <a:off x="1035050" y="2141141"/>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Modules 1.1–1.5</a:t>
            </a:r>
          </a:p>
        </p:txBody>
      </p:sp>
      <p:sp>
        <p:nvSpPr>
          <p:cNvPr id="7" name="TextBox 6"/>
          <p:cNvSpPr txBox="1"/>
          <p:nvPr/>
        </p:nvSpPr>
        <p:spPr>
          <a:xfrm>
            <a:off x="1035050" y="2627511"/>
            <a:ext cx="4787900"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Welcome · Environment Setup · Java Fundamentals · Unit Testing · Style &amp; Docs</a:t>
            </a:r>
          </a:p>
        </p:txBody>
      </p:sp>
      <p:sp>
        <p:nvSpPr>
          <p:cNvPr id="8" name="Rounded Rectangle 7"/>
          <p:cNvSpPr/>
          <p:nvPr/>
        </p:nvSpPr>
        <p:spPr>
          <a:xfrm>
            <a:off x="6172200" y="1473200"/>
            <a:ext cx="5207000" cy="1956792"/>
          </a:xfrm>
          <a:prstGeom prst="roundRect">
            <a:avLst>
              <a:gd name="adj" fmla="val 3245"/>
            </a:avLst>
          </a:prstGeom>
          <a:solidFill>
            <a:srgbClr val="E9E3E4"/>
          </a:solidFill>
          <a:ln w="19050">
            <a:solidFill>
              <a:srgbClr val="1C6091"/>
            </a:solidFill>
          </a:ln>
          <a:effectLst/>
        </p:spPr>
        <p:txBody>
          <a:bodyPr rtlCol="0" anchor="ctr"/>
          <a:lstStyle/>
          <a:p>
            <a:pPr algn="ctr"/>
          </a:p>
        </p:txBody>
      </p:sp>
      <p:sp>
        <p:nvSpPr>
          <p:cNvPr id="9" name="TextBox 8"/>
          <p:cNvSpPr txBox="1"/>
          <p:nvPr/>
        </p:nvSpPr>
        <p:spPr>
          <a:xfrm>
            <a:off x="6394450" y="1695450"/>
            <a:ext cx="4762500" cy="274320"/>
          </a:xfrm>
          <a:prstGeom prst="rect">
            <a:avLst/>
          </a:prstGeom>
          <a:noFill/>
        </p:spPr>
        <p:txBody>
          <a:bodyPr wrap="none" lIns="0" rIns="0" tIns="0" bIns="0" anchor="ctr">
            <a:noAutofit/>
          </a:bodyPr>
          <a:lstStyle/>
          <a:p>
            <a:pPr algn="l">
              <a:lnSpc>
                <a:spcPts val="2610"/>
              </a:lnSpc>
            </a:pPr>
            <a:r>
              <a:rPr sz="1800" b="0" i="0">
                <a:solidFill>
                  <a:srgbClr val="1C6091"/>
                </a:solidFill>
                <a:latin typeface="Roboto Mono"/>
              </a:rPr>
              <a:t>PrairieLearn · due Friday</a:t>
            </a:r>
          </a:p>
        </p:txBody>
      </p:sp>
      <p:sp>
        <p:nvSpPr>
          <p:cNvPr id="10" name="TextBox 9"/>
          <p:cNvSpPr txBox="1"/>
          <p:nvPr/>
        </p:nvSpPr>
        <p:spPr>
          <a:xfrm>
            <a:off x="6394450" y="2141141"/>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Homework: Week 1 Intro</a:t>
            </a:r>
          </a:p>
        </p:txBody>
      </p:sp>
      <p:sp>
        <p:nvSpPr>
          <p:cNvPr id="11" name="TextBox 10"/>
          <p:cNvSpPr txBox="1"/>
          <p:nvPr/>
        </p:nvSpPr>
        <p:spPr>
          <a:xfrm>
            <a:off x="6394450" y="2627511"/>
            <a:ext cx="47625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Your first graded assignment.</a:t>
            </a:r>
          </a:p>
        </p:txBody>
      </p:sp>
      <p:sp>
        <p:nvSpPr>
          <p:cNvPr id="12" name="Rounded Rectangle 11"/>
          <p:cNvSpPr/>
          <p:nvPr/>
        </p:nvSpPr>
        <p:spPr>
          <a:xfrm>
            <a:off x="812800" y="3582392"/>
            <a:ext cx="5207000" cy="1953617"/>
          </a:xfrm>
          <a:prstGeom prst="roundRect">
            <a:avLst>
              <a:gd name="adj" fmla="val 3250"/>
            </a:avLst>
          </a:prstGeom>
          <a:solidFill>
            <a:srgbClr val="E9E3E4"/>
          </a:solidFill>
          <a:ln w="19050">
            <a:solidFill>
              <a:srgbClr val="B35510"/>
            </a:solidFill>
          </a:ln>
          <a:effectLst/>
        </p:spPr>
        <p:txBody>
          <a:bodyPr rtlCol="0" anchor="ctr"/>
          <a:lstStyle/>
          <a:p>
            <a:pPr algn="ctr"/>
          </a:p>
        </p:txBody>
      </p:sp>
      <p:sp>
        <p:nvSpPr>
          <p:cNvPr id="13" name="TextBox 12"/>
          <p:cNvSpPr txBox="1"/>
          <p:nvPr/>
        </p:nvSpPr>
        <p:spPr>
          <a:xfrm>
            <a:off x="1035050" y="3804642"/>
            <a:ext cx="4762500"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Roboto Mono"/>
              </a:rPr>
              <a:t>Lab challenge · due Friday</a:t>
            </a:r>
          </a:p>
        </p:txBody>
      </p:sp>
      <p:sp>
        <p:nvSpPr>
          <p:cNvPr id="14" name="TextBox 13"/>
          <p:cNvSpPr txBox="1"/>
          <p:nvPr/>
        </p:nvSpPr>
        <p:spPr>
          <a:xfrm>
            <a:off x="1035050" y="4250333"/>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Challenge Exercise 01</a:t>
            </a:r>
          </a:p>
        </p:txBody>
      </p:sp>
      <p:sp>
        <p:nvSpPr>
          <p:cNvPr id="15" name="TextBox 14"/>
          <p:cNvSpPr txBox="1"/>
          <p:nvPr/>
        </p:nvSpPr>
        <p:spPr>
          <a:xfrm>
            <a:off x="1035050" y="4736703"/>
            <a:ext cx="47625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Eclipse setup — get the toolchain running.</a:t>
            </a:r>
          </a:p>
        </p:txBody>
      </p:sp>
      <p:sp>
        <p:nvSpPr>
          <p:cNvPr id="16" name="Rounded Rectangle 15"/>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7" name="TextBox 16"/>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15 / 28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This week</a:t>
            </a:r>
          </a:p>
        </p:txBody>
      </p:sp>
      <p:sp>
        <p:nvSpPr>
          <p:cNvPr id="4" name="Rounded Rectangle 3"/>
          <p:cNvSpPr/>
          <p:nvPr/>
        </p:nvSpPr>
        <p:spPr>
          <a:xfrm>
            <a:off x="812800" y="1473200"/>
            <a:ext cx="5207000" cy="1956792"/>
          </a:xfrm>
          <a:prstGeom prst="roundRect">
            <a:avLst>
              <a:gd name="adj" fmla="val 3245"/>
            </a:avLst>
          </a:prstGeom>
          <a:solidFill>
            <a:srgbClr val="E9E3E4"/>
          </a:solidFill>
          <a:ln w="19050">
            <a:solidFill>
              <a:srgbClr val="861F41"/>
            </a:solidFill>
          </a:ln>
          <a:effectLst/>
        </p:spPr>
        <p:txBody>
          <a:bodyPr rtlCol="0" anchor="ctr"/>
          <a:lstStyle/>
          <a:p>
            <a:pPr algn="ctr"/>
          </a:p>
        </p:txBody>
      </p:sp>
      <p:sp>
        <p:nvSpPr>
          <p:cNvPr id="5" name="TextBox 4"/>
          <p:cNvSpPr txBox="1"/>
          <p:nvPr/>
        </p:nvSpPr>
        <p:spPr>
          <a:xfrm>
            <a:off x="1035050" y="1695450"/>
            <a:ext cx="47625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PrairieLearn · before each lecture</a:t>
            </a:r>
          </a:p>
        </p:txBody>
      </p:sp>
      <p:sp>
        <p:nvSpPr>
          <p:cNvPr id="6" name="TextBox 5"/>
          <p:cNvSpPr txBox="1"/>
          <p:nvPr/>
        </p:nvSpPr>
        <p:spPr>
          <a:xfrm>
            <a:off x="1035050" y="2141141"/>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Modules 1.1–1.5</a:t>
            </a:r>
          </a:p>
        </p:txBody>
      </p:sp>
      <p:sp>
        <p:nvSpPr>
          <p:cNvPr id="7" name="TextBox 6"/>
          <p:cNvSpPr txBox="1"/>
          <p:nvPr/>
        </p:nvSpPr>
        <p:spPr>
          <a:xfrm>
            <a:off x="1035050" y="2627511"/>
            <a:ext cx="4787900"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Welcome · Environment Setup · Java Fundamentals · Unit Testing · Style &amp; Docs</a:t>
            </a:r>
          </a:p>
        </p:txBody>
      </p:sp>
      <p:sp>
        <p:nvSpPr>
          <p:cNvPr id="8" name="Rounded Rectangle 7"/>
          <p:cNvSpPr/>
          <p:nvPr/>
        </p:nvSpPr>
        <p:spPr>
          <a:xfrm>
            <a:off x="6172200" y="1473200"/>
            <a:ext cx="5207000" cy="1956792"/>
          </a:xfrm>
          <a:prstGeom prst="roundRect">
            <a:avLst>
              <a:gd name="adj" fmla="val 3245"/>
            </a:avLst>
          </a:prstGeom>
          <a:solidFill>
            <a:srgbClr val="E9E3E4"/>
          </a:solidFill>
          <a:ln w="19050">
            <a:solidFill>
              <a:srgbClr val="1C6091"/>
            </a:solidFill>
          </a:ln>
          <a:effectLst/>
        </p:spPr>
        <p:txBody>
          <a:bodyPr rtlCol="0" anchor="ctr"/>
          <a:lstStyle/>
          <a:p>
            <a:pPr algn="ctr"/>
          </a:p>
        </p:txBody>
      </p:sp>
      <p:sp>
        <p:nvSpPr>
          <p:cNvPr id="9" name="TextBox 8"/>
          <p:cNvSpPr txBox="1"/>
          <p:nvPr/>
        </p:nvSpPr>
        <p:spPr>
          <a:xfrm>
            <a:off x="6394450" y="1695450"/>
            <a:ext cx="4762500" cy="274320"/>
          </a:xfrm>
          <a:prstGeom prst="rect">
            <a:avLst/>
          </a:prstGeom>
          <a:noFill/>
        </p:spPr>
        <p:txBody>
          <a:bodyPr wrap="none" lIns="0" rIns="0" tIns="0" bIns="0" anchor="ctr">
            <a:noAutofit/>
          </a:bodyPr>
          <a:lstStyle/>
          <a:p>
            <a:pPr algn="l">
              <a:lnSpc>
                <a:spcPts val="2610"/>
              </a:lnSpc>
            </a:pPr>
            <a:r>
              <a:rPr sz="1800" b="0" i="0">
                <a:solidFill>
                  <a:srgbClr val="1C6091"/>
                </a:solidFill>
                <a:latin typeface="Roboto Mono"/>
              </a:rPr>
              <a:t>PrairieLearn · due Friday</a:t>
            </a:r>
          </a:p>
        </p:txBody>
      </p:sp>
      <p:sp>
        <p:nvSpPr>
          <p:cNvPr id="10" name="TextBox 9"/>
          <p:cNvSpPr txBox="1"/>
          <p:nvPr/>
        </p:nvSpPr>
        <p:spPr>
          <a:xfrm>
            <a:off x="6394450" y="2141141"/>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Homework: Week 1 Intro</a:t>
            </a:r>
          </a:p>
        </p:txBody>
      </p:sp>
      <p:sp>
        <p:nvSpPr>
          <p:cNvPr id="11" name="TextBox 10"/>
          <p:cNvSpPr txBox="1"/>
          <p:nvPr/>
        </p:nvSpPr>
        <p:spPr>
          <a:xfrm>
            <a:off x="6394450" y="2627511"/>
            <a:ext cx="47625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Your first graded assignment.</a:t>
            </a:r>
          </a:p>
        </p:txBody>
      </p:sp>
      <p:sp>
        <p:nvSpPr>
          <p:cNvPr id="12" name="Rounded Rectangle 11"/>
          <p:cNvSpPr/>
          <p:nvPr/>
        </p:nvSpPr>
        <p:spPr>
          <a:xfrm>
            <a:off x="812800" y="3582392"/>
            <a:ext cx="5207000" cy="1953617"/>
          </a:xfrm>
          <a:prstGeom prst="roundRect">
            <a:avLst>
              <a:gd name="adj" fmla="val 3250"/>
            </a:avLst>
          </a:prstGeom>
          <a:solidFill>
            <a:srgbClr val="E9E3E4"/>
          </a:solidFill>
          <a:ln w="19050">
            <a:solidFill>
              <a:srgbClr val="B35510"/>
            </a:solidFill>
          </a:ln>
          <a:effectLst/>
        </p:spPr>
        <p:txBody>
          <a:bodyPr rtlCol="0" anchor="ctr"/>
          <a:lstStyle/>
          <a:p>
            <a:pPr algn="ctr"/>
          </a:p>
        </p:txBody>
      </p:sp>
      <p:sp>
        <p:nvSpPr>
          <p:cNvPr id="13" name="TextBox 12"/>
          <p:cNvSpPr txBox="1"/>
          <p:nvPr/>
        </p:nvSpPr>
        <p:spPr>
          <a:xfrm>
            <a:off x="1035050" y="3804642"/>
            <a:ext cx="4762500"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Roboto Mono"/>
              </a:rPr>
              <a:t>Lab challenge · due Friday</a:t>
            </a:r>
          </a:p>
        </p:txBody>
      </p:sp>
      <p:sp>
        <p:nvSpPr>
          <p:cNvPr id="14" name="TextBox 13"/>
          <p:cNvSpPr txBox="1"/>
          <p:nvPr/>
        </p:nvSpPr>
        <p:spPr>
          <a:xfrm>
            <a:off x="1035050" y="4250333"/>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Challenge Exercise 01</a:t>
            </a:r>
          </a:p>
        </p:txBody>
      </p:sp>
      <p:sp>
        <p:nvSpPr>
          <p:cNvPr id="15" name="TextBox 14"/>
          <p:cNvSpPr txBox="1"/>
          <p:nvPr/>
        </p:nvSpPr>
        <p:spPr>
          <a:xfrm>
            <a:off x="1035050" y="4736703"/>
            <a:ext cx="47625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Eclipse setup — get the toolchain running.</a:t>
            </a:r>
          </a:p>
        </p:txBody>
      </p:sp>
      <p:sp>
        <p:nvSpPr>
          <p:cNvPr id="16" name="Rounded Rectangle 15"/>
          <p:cNvSpPr/>
          <p:nvPr/>
        </p:nvSpPr>
        <p:spPr>
          <a:xfrm>
            <a:off x="6172200" y="3582392"/>
            <a:ext cx="5207000" cy="1953617"/>
          </a:xfrm>
          <a:prstGeom prst="roundRect">
            <a:avLst>
              <a:gd name="adj" fmla="val 3250"/>
            </a:avLst>
          </a:prstGeom>
          <a:solidFill>
            <a:srgbClr val="E9E3E4"/>
          </a:solidFill>
          <a:ln w="19050">
            <a:solidFill>
              <a:srgbClr val="9D3A29"/>
            </a:solidFill>
          </a:ln>
          <a:effectLst/>
        </p:spPr>
        <p:txBody>
          <a:bodyPr rtlCol="0" anchor="ctr"/>
          <a:lstStyle/>
          <a:p>
            <a:pPr algn="ctr"/>
          </a:p>
        </p:txBody>
      </p:sp>
      <p:sp>
        <p:nvSpPr>
          <p:cNvPr id="17" name="TextBox 16"/>
          <p:cNvSpPr txBox="1"/>
          <p:nvPr/>
        </p:nvSpPr>
        <p:spPr>
          <a:xfrm>
            <a:off x="6394450" y="3804642"/>
            <a:ext cx="4762500" cy="274320"/>
          </a:xfrm>
          <a:prstGeom prst="rect">
            <a:avLst/>
          </a:prstGeom>
          <a:noFill/>
        </p:spPr>
        <p:txBody>
          <a:bodyPr wrap="none" lIns="0" rIns="0" tIns="0" bIns="0" anchor="ctr">
            <a:noAutofit/>
          </a:bodyPr>
          <a:lstStyle/>
          <a:p>
            <a:pPr algn="l">
              <a:lnSpc>
                <a:spcPts val="2610"/>
              </a:lnSpc>
            </a:pPr>
            <a:r>
              <a:rPr sz="1800" b="0" i="0">
                <a:solidFill>
                  <a:srgbClr val="9D3A29"/>
                </a:solidFill>
                <a:latin typeface="Roboto Mono"/>
              </a:rPr>
              <a:t>In class · to earn credit</a:t>
            </a:r>
          </a:p>
        </p:txBody>
      </p:sp>
      <p:sp>
        <p:nvSpPr>
          <p:cNvPr id="18" name="TextBox 17"/>
          <p:cNvSpPr txBox="1"/>
          <p:nvPr/>
        </p:nvSpPr>
        <p:spPr>
          <a:xfrm>
            <a:off x="6394450" y="4250333"/>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Peer Instruction</a:t>
            </a:r>
          </a:p>
        </p:txBody>
      </p:sp>
      <p:sp>
        <p:nvSpPr>
          <p:cNvPr id="19" name="TextBox 18"/>
          <p:cNvSpPr txBox="1"/>
          <p:nvPr/>
        </p:nvSpPr>
        <p:spPr>
          <a:xfrm>
            <a:off x="6394450" y="4736703"/>
            <a:ext cx="47625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W1D1 and W1D2, this lecture and the next.</a:t>
            </a:r>
          </a:p>
        </p:txBody>
      </p:sp>
      <p:sp>
        <p:nvSpPr>
          <p:cNvPr id="20" name="Rounded Rectangle 19"/>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21" name="TextBox 20"/>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15 / 28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This week</a:t>
            </a:r>
          </a:p>
        </p:txBody>
      </p:sp>
      <p:sp>
        <p:nvSpPr>
          <p:cNvPr id="4" name="Rounded Rectangle 3"/>
          <p:cNvSpPr/>
          <p:nvPr/>
        </p:nvSpPr>
        <p:spPr>
          <a:xfrm>
            <a:off x="812800" y="1473200"/>
            <a:ext cx="5207000" cy="1956792"/>
          </a:xfrm>
          <a:prstGeom prst="roundRect">
            <a:avLst>
              <a:gd name="adj" fmla="val 3245"/>
            </a:avLst>
          </a:prstGeom>
          <a:solidFill>
            <a:srgbClr val="E9E3E4"/>
          </a:solidFill>
          <a:ln w="19050">
            <a:solidFill>
              <a:srgbClr val="861F41"/>
            </a:solidFill>
          </a:ln>
          <a:effectLst/>
        </p:spPr>
        <p:txBody>
          <a:bodyPr rtlCol="0" anchor="ctr"/>
          <a:lstStyle/>
          <a:p>
            <a:pPr algn="ctr"/>
          </a:p>
        </p:txBody>
      </p:sp>
      <p:sp>
        <p:nvSpPr>
          <p:cNvPr id="5" name="TextBox 4"/>
          <p:cNvSpPr txBox="1"/>
          <p:nvPr/>
        </p:nvSpPr>
        <p:spPr>
          <a:xfrm>
            <a:off x="1035050" y="1695450"/>
            <a:ext cx="4762500"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PrairieLearn · before each lecture</a:t>
            </a:r>
          </a:p>
        </p:txBody>
      </p:sp>
      <p:sp>
        <p:nvSpPr>
          <p:cNvPr id="6" name="TextBox 5"/>
          <p:cNvSpPr txBox="1"/>
          <p:nvPr/>
        </p:nvSpPr>
        <p:spPr>
          <a:xfrm>
            <a:off x="1035050" y="2141141"/>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Modules 1.1–1.5</a:t>
            </a:r>
          </a:p>
        </p:txBody>
      </p:sp>
      <p:sp>
        <p:nvSpPr>
          <p:cNvPr id="7" name="TextBox 6"/>
          <p:cNvSpPr txBox="1"/>
          <p:nvPr/>
        </p:nvSpPr>
        <p:spPr>
          <a:xfrm>
            <a:off x="1035050" y="2627511"/>
            <a:ext cx="4787900"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Welcome · Environment Setup · Java Fundamentals · Unit Testing · Style &amp; Docs</a:t>
            </a:r>
          </a:p>
        </p:txBody>
      </p:sp>
      <p:sp>
        <p:nvSpPr>
          <p:cNvPr id="8" name="Rounded Rectangle 7"/>
          <p:cNvSpPr/>
          <p:nvPr/>
        </p:nvSpPr>
        <p:spPr>
          <a:xfrm>
            <a:off x="6172200" y="1473200"/>
            <a:ext cx="5207000" cy="1956792"/>
          </a:xfrm>
          <a:prstGeom prst="roundRect">
            <a:avLst>
              <a:gd name="adj" fmla="val 3245"/>
            </a:avLst>
          </a:prstGeom>
          <a:solidFill>
            <a:srgbClr val="E9E3E4"/>
          </a:solidFill>
          <a:ln w="19050">
            <a:solidFill>
              <a:srgbClr val="1C6091"/>
            </a:solidFill>
          </a:ln>
          <a:effectLst/>
        </p:spPr>
        <p:txBody>
          <a:bodyPr rtlCol="0" anchor="ctr"/>
          <a:lstStyle/>
          <a:p>
            <a:pPr algn="ctr"/>
          </a:p>
        </p:txBody>
      </p:sp>
      <p:sp>
        <p:nvSpPr>
          <p:cNvPr id="9" name="TextBox 8"/>
          <p:cNvSpPr txBox="1"/>
          <p:nvPr/>
        </p:nvSpPr>
        <p:spPr>
          <a:xfrm>
            <a:off x="6394450" y="1695450"/>
            <a:ext cx="4762500" cy="274320"/>
          </a:xfrm>
          <a:prstGeom prst="rect">
            <a:avLst/>
          </a:prstGeom>
          <a:noFill/>
        </p:spPr>
        <p:txBody>
          <a:bodyPr wrap="none" lIns="0" rIns="0" tIns="0" bIns="0" anchor="ctr">
            <a:noAutofit/>
          </a:bodyPr>
          <a:lstStyle/>
          <a:p>
            <a:pPr algn="l">
              <a:lnSpc>
                <a:spcPts val="2610"/>
              </a:lnSpc>
            </a:pPr>
            <a:r>
              <a:rPr sz="1800" b="0" i="0">
                <a:solidFill>
                  <a:srgbClr val="1C6091"/>
                </a:solidFill>
                <a:latin typeface="Roboto Mono"/>
              </a:rPr>
              <a:t>PrairieLearn · due Friday</a:t>
            </a:r>
          </a:p>
        </p:txBody>
      </p:sp>
      <p:sp>
        <p:nvSpPr>
          <p:cNvPr id="10" name="TextBox 9"/>
          <p:cNvSpPr txBox="1"/>
          <p:nvPr/>
        </p:nvSpPr>
        <p:spPr>
          <a:xfrm>
            <a:off x="6394450" y="2141141"/>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Homework: Week 1 Intro</a:t>
            </a:r>
          </a:p>
        </p:txBody>
      </p:sp>
      <p:sp>
        <p:nvSpPr>
          <p:cNvPr id="11" name="TextBox 10"/>
          <p:cNvSpPr txBox="1"/>
          <p:nvPr/>
        </p:nvSpPr>
        <p:spPr>
          <a:xfrm>
            <a:off x="6394450" y="2627511"/>
            <a:ext cx="47625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Your first graded assignment.</a:t>
            </a:r>
          </a:p>
        </p:txBody>
      </p:sp>
      <p:sp>
        <p:nvSpPr>
          <p:cNvPr id="12" name="Rounded Rectangle 11"/>
          <p:cNvSpPr/>
          <p:nvPr/>
        </p:nvSpPr>
        <p:spPr>
          <a:xfrm>
            <a:off x="812800" y="3582392"/>
            <a:ext cx="5207000" cy="1953617"/>
          </a:xfrm>
          <a:prstGeom prst="roundRect">
            <a:avLst>
              <a:gd name="adj" fmla="val 3250"/>
            </a:avLst>
          </a:prstGeom>
          <a:solidFill>
            <a:srgbClr val="E9E3E4"/>
          </a:solidFill>
          <a:ln w="19050">
            <a:solidFill>
              <a:srgbClr val="B35510"/>
            </a:solidFill>
          </a:ln>
          <a:effectLst/>
        </p:spPr>
        <p:txBody>
          <a:bodyPr rtlCol="0" anchor="ctr"/>
          <a:lstStyle/>
          <a:p>
            <a:pPr algn="ctr"/>
          </a:p>
        </p:txBody>
      </p:sp>
      <p:sp>
        <p:nvSpPr>
          <p:cNvPr id="13" name="TextBox 12"/>
          <p:cNvSpPr txBox="1"/>
          <p:nvPr/>
        </p:nvSpPr>
        <p:spPr>
          <a:xfrm>
            <a:off x="1035050" y="3804642"/>
            <a:ext cx="4762500"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Roboto Mono"/>
              </a:rPr>
              <a:t>Lab challenge · due Friday</a:t>
            </a:r>
          </a:p>
        </p:txBody>
      </p:sp>
      <p:sp>
        <p:nvSpPr>
          <p:cNvPr id="14" name="TextBox 13"/>
          <p:cNvSpPr txBox="1"/>
          <p:nvPr/>
        </p:nvSpPr>
        <p:spPr>
          <a:xfrm>
            <a:off x="1035050" y="4250333"/>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Challenge Exercise 01</a:t>
            </a:r>
          </a:p>
        </p:txBody>
      </p:sp>
      <p:sp>
        <p:nvSpPr>
          <p:cNvPr id="15" name="TextBox 14"/>
          <p:cNvSpPr txBox="1"/>
          <p:nvPr/>
        </p:nvSpPr>
        <p:spPr>
          <a:xfrm>
            <a:off x="1035050" y="4736703"/>
            <a:ext cx="47625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Eclipse setup — get the toolchain running.</a:t>
            </a:r>
          </a:p>
        </p:txBody>
      </p:sp>
      <p:sp>
        <p:nvSpPr>
          <p:cNvPr id="16" name="Rounded Rectangle 15"/>
          <p:cNvSpPr/>
          <p:nvPr/>
        </p:nvSpPr>
        <p:spPr>
          <a:xfrm>
            <a:off x="6172200" y="3582392"/>
            <a:ext cx="5207000" cy="1953617"/>
          </a:xfrm>
          <a:prstGeom prst="roundRect">
            <a:avLst>
              <a:gd name="adj" fmla="val 3250"/>
            </a:avLst>
          </a:prstGeom>
          <a:solidFill>
            <a:srgbClr val="E9E3E4"/>
          </a:solidFill>
          <a:ln w="19050">
            <a:solidFill>
              <a:srgbClr val="9D3A29"/>
            </a:solidFill>
          </a:ln>
          <a:effectLst/>
        </p:spPr>
        <p:txBody>
          <a:bodyPr rtlCol="0" anchor="ctr"/>
          <a:lstStyle/>
          <a:p>
            <a:pPr algn="ctr"/>
          </a:p>
        </p:txBody>
      </p:sp>
      <p:sp>
        <p:nvSpPr>
          <p:cNvPr id="17" name="TextBox 16"/>
          <p:cNvSpPr txBox="1"/>
          <p:nvPr/>
        </p:nvSpPr>
        <p:spPr>
          <a:xfrm>
            <a:off x="6394450" y="3804642"/>
            <a:ext cx="4762500" cy="274320"/>
          </a:xfrm>
          <a:prstGeom prst="rect">
            <a:avLst/>
          </a:prstGeom>
          <a:noFill/>
        </p:spPr>
        <p:txBody>
          <a:bodyPr wrap="none" lIns="0" rIns="0" tIns="0" bIns="0" anchor="ctr">
            <a:noAutofit/>
          </a:bodyPr>
          <a:lstStyle/>
          <a:p>
            <a:pPr algn="l">
              <a:lnSpc>
                <a:spcPts val="2610"/>
              </a:lnSpc>
            </a:pPr>
            <a:r>
              <a:rPr sz="1800" b="0" i="0">
                <a:solidFill>
                  <a:srgbClr val="9D3A29"/>
                </a:solidFill>
                <a:latin typeface="Roboto Mono"/>
              </a:rPr>
              <a:t>In class · to earn credit</a:t>
            </a:r>
          </a:p>
        </p:txBody>
      </p:sp>
      <p:sp>
        <p:nvSpPr>
          <p:cNvPr id="18" name="TextBox 17"/>
          <p:cNvSpPr txBox="1"/>
          <p:nvPr/>
        </p:nvSpPr>
        <p:spPr>
          <a:xfrm>
            <a:off x="6394450" y="4250333"/>
            <a:ext cx="4762500"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Peer Instruction</a:t>
            </a:r>
          </a:p>
        </p:txBody>
      </p:sp>
      <p:sp>
        <p:nvSpPr>
          <p:cNvPr id="19" name="TextBox 18"/>
          <p:cNvSpPr txBox="1"/>
          <p:nvPr/>
        </p:nvSpPr>
        <p:spPr>
          <a:xfrm>
            <a:off x="6394450" y="4736703"/>
            <a:ext cx="476250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W1D1 and W1D2, this lecture and the next.</a:t>
            </a:r>
          </a:p>
        </p:txBody>
      </p:sp>
      <p:sp>
        <p:nvSpPr>
          <p:cNvPr id="20" name="Rounded Rectangle 19"/>
          <p:cNvSpPr/>
          <p:nvPr/>
        </p:nvSpPr>
        <p:spPr>
          <a:xfrm>
            <a:off x="812800" y="5688409"/>
            <a:ext cx="10566400" cy="559991"/>
          </a:xfrm>
          <a:prstGeom prst="roundRect">
            <a:avLst>
              <a:gd name="adj" fmla="val 11339"/>
            </a:avLst>
          </a:prstGeom>
          <a:noFill/>
          <a:ln w="12700">
            <a:solidFill>
              <a:srgbClr val="6B4A52"/>
            </a:solidFill>
            <a:prstDash val="dash"/>
          </a:ln>
          <a:effectLst/>
        </p:spPr>
        <p:txBody>
          <a:bodyPr rtlCol="0" anchor="ctr"/>
          <a:lstStyle/>
          <a:p>
            <a:pPr algn="ctr"/>
          </a:p>
        </p:txBody>
      </p:sp>
      <p:sp>
        <p:nvSpPr>
          <p:cNvPr id="21" name="TextBox 20"/>
          <p:cNvSpPr txBox="1"/>
          <p:nvPr/>
        </p:nvSpPr>
        <p:spPr>
          <a:xfrm>
            <a:off x="1028700" y="5853509"/>
            <a:ext cx="10134600" cy="274320"/>
          </a:xfrm>
          <a:prstGeom prst="rect">
            <a:avLst/>
          </a:prstGeom>
          <a:noFill/>
        </p:spPr>
        <p:txBody>
          <a:bodyPr wrap="none" lIns="0" rIns="0" tIns="0" bIns="0" anchor="ctr">
            <a:noAutofit/>
          </a:bodyPr>
          <a:lstStyle/>
          <a:p>
            <a:pPr algn="l">
              <a:lnSpc>
                <a:spcPts val="2610"/>
              </a:lnSpc>
            </a:pPr>
            <a:r>
              <a:rPr sz="1800" b="0" i="0">
                <a:solidFill>
                  <a:srgbClr val="6B4A52"/>
                </a:solidFill>
                <a:latin typeface="Roboto Mono"/>
              </a:rPr>
              <a:t>No lab this week — labs begin in Week 2</a:t>
            </a:r>
          </a:p>
        </p:txBody>
      </p:sp>
      <p:sp>
        <p:nvSpPr>
          <p:cNvPr id="22" name="Rounded Rectangle 21"/>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23" name="TextBox 22"/>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15 / 28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Java and Eclipse in CS 2114</a:t>
            </a:r>
          </a:p>
        </p:txBody>
      </p:sp>
      <p:sp>
        <p:nvSpPr>
          <p:cNvPr id="4" name="TextBox 3"/>
          <p:cNvSpPr txBox="1"/>
          <p:nvPr/>
        </p:nvSpPr>
        <p:spPr>
          <a:xfrm>
            <a:off x="812800" y="1219200"/>
            <a:ext cx="88900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Write once. Compile once. Run anywhere.</a:t>
            </a:r>
          </a:p>
        </p:txBody>
      </p:sp>
      <p:sp>
        <p:nvSpPr>
          <p:cNvPr id="5" name="TextBox 4"/>
          <p:cNvSpPr txBox="1"/>
          <p:nvPr/>
        </p:nvSpPr>
        <p:spPr>
          <a:xfrm>
            <a:off x="812800" y="5792093"/>
            <a:ext cx="105664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Use the exact versions named in Challenge Exercise 01.</a:t>
            </a:r>
          </a:p>
        </p:txBody>
      </p:sp>
      <p:sp>
        <p:nvSpPr>
          <p:cNvPr id="6" name="Rounded Rectangle 5"/>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7" name="TextBox 6"/>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16 / 28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Java and Eclipse in CS 2114</a:t>
            </a:r>
          </a:p>
        </p:txBody>
      </p:sp>
      <p:sp>
        <p:nvSpPr>
          <p:cNvPr id="4" name="TextBox 3"/>
          <p:cNvSpPr txBox="1"/>
          <p:nvPr/>
        </p:nvSpPr>
        <p:spPr>
          <a:xfrm>
            <a:off x="812800" y="1219200"/>
            <a:ext cx="88900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Write once. Compile once. Run anywhere.</a:t>
            </a:r>
          </a:p>
        </p:txBody>
      </p:sp>
      <p:sp>
        <p:nvSpPr>
          <p:cNvPr id="5" name="Rounded Rectangle 4"/>
          <p:cNvSpPr/>
          <p:nvPr/>
        </p:nvSpPr>
        <p:spPr>
          <a:xfrm>
            <a:off x="812800" y="2067520"/>
            <a:ext cx="2263180" cy="609600"/>
          </a:xfrm>
          <a:prstGeom prst="roundRect">
            <a:avLst>
              <a:gd name="adj" fmla="val 10416"/>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984250" y="2257425"/>
            <a:ext cx="19202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Roboto Mono"/>
              </a:rPr>
              <a:t>MyProgram.java</a:t>
            </a:r>
          </a:p>
        </p:txBody>
      </p:sp>
      <p:sp>
        <p:nvSpPr>
          <p:cNvPr id="7" name="TextBox 6"/>
          <p:cNvSpPr txBox="1"/>
          <p:nvPr/>
        </p:nvSpPr>
        <p:spPr>
          <a:xfrm>
            <a:off x="812800" y="5792093"/>
            <a:ext cx="105664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Use the exact versions named in Challenge Exercise 01.</a:t>
            </a:r>
          </a:p>
        </p:txBody>
      </p:sp>
      <p:sp>
        <p:nvSpPr>
          <p:cNvPr id="8" name="Rounded Rectangle 7"/>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9" name="TextBox 8"/>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16 / 28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Java and Eclipse in CS 2114</a:t>
            </a:r>
          </a:p>
        </p:txBody>
      </p:sp>
      <p:sp>
        <p:nvSpPr>
          <p:cNvPr id="4" name="TextBox 3"/>
          <p:cNvSpPr txBox="1"/>
          <p:nvPr/>
        </p:nvSpPr>
        <p:spPr>
          <a:xfrm>
            <a:off x="812800" y="1219200"/>
            <a:ext cx="88900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Write once. Compile once. Run anywhere.</a:t>
            </a:r>
          </a:p>
        </p:txBody>
      </p:sp>
      <p:sp>
        <p:nvSpPr>
          <p:cNvPr id="5" name="Rounded Rectangle 4"/>
          <p:cNvSpPr/>
          <p:nvPr/>
        </p:nvSpPr>
        <p:spPr>
          <a:xfrm>
            <a:off x="812800" y="2067520"/>
            <a:ext cx="2263180" cy="609600"/>
          </a:xfrm>
          <a:prstGeom prst="roundRect">
            <a:avLst>
              <a:gd name="adj" fmla="val 10416"/>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984250" y="2257425"/>
            <a:ext cx="19202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Roboto Mono"/>
              </a:rPr>
              <a:t>MyProgram.java</a:t>
            </a:r>
          </a:p>
        </p:txBody>
      </p:sp>
      <p:sp>
        <p:nvSpPr>
          <p:cNvPr id="7" name="Rectangle 6"/>
          <p:cNvSpPr/>
          <p:nvPr/>
        </p:nvSpPr>
        <p:spPr>
          <a:xfrm>
            <a:off x="3177580" y="2155825"/>
            <a:ext cx="1954312" cy="432991"/>
          </a:xfrm>
          <a:prstGeom prst="rect">
            <a:avLst/>
          </a:prstGeom>
          <a:solidFill>
            <a:srgbClr val="1C6091"/>
          </a:solidFill>
          <a:ln>
            <a:noFill/>
          </a:ln>
          <a:effectLst/>
        </p:spPr>
        <p:txBody>
          <a:bodyPr rtlCol="0" anchor="ctr"/>
          <a:lstStyle/>
          <a:p>
            <a:pPr algn="ctr"/>
          </a:p>
        </p:txBody>
      </p:sp>
      <p:sp>
        <p:nvSpPr>
          <p:cNvPr id="8" name="TextBox 7"/>
          <p:cNvSpPr txBox="1"/>
          <p:nvPr/>
        </p:nvSpPr>
        <p:spPr>
          <a:xfrm>
            <a:off x="3279180" y="2238375"/>
            <a:ext cx="1547912" cy="274320"/>
          </a:xfrm>
          <a:prstGeom prst="rect">
            <a:avLst/>
          </a:prstGeom>
          <a:noFill/>
        </p:spPr>
        <p:txBody>
          <a:bodyPr wrap="none" lIns="0" rIns="0" tIns="0" bIns="0" anchor="ctr">
            <a:noAutofit/>
          </a:bodyPr>
          <a:lstStyle/>
          <a:p>
            <a:pPr algn="l">
              <a:lnSpc>
                <a:spcPts val="2610"/>
              </a:lnSpc>
            </a:pPr>
            <a:r>
              <a:rPr sz="1800" b="0" i="0">
                <a:solidFill>
                  <a:srgbClr val="F2F1ED"/>
                </a:solidFill>
                <a:latin typeface="Verdana"/>
              </a:rPr>
              <a:t>Compiler</a:t>
            </a:r>
          </a:p>
        </p:txBody>
      </p:sp>
      <p:sp>
        <p:nvSpPr>
          <p:cNvPr id="9" name="TextBox 8"/>
          <p:cNvSpPr txBox="1"/>
          <p:nvPr/>
        </p:nvSpPr>
        <p:spPr>
          <a:xfrm>
            <a:off x="812800" y="5792093"/>
            <a:ext cx="105664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Use the exact versions named in Challenge Exercise 01.</a:t>
            </a:r>
          </a:p>
        </p:txBody>
      </p:sp>
      <p:sp>
        <p:nvSpPr>
          <p:cNvPr id="10" name="Rounded Rectangle 9"/>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1" name="TextBox 10"/>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16 / 28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Java and Eclipse in CS 2114</a:t>
            </a:r>
          </a:p>
        </p:txBody>
      </p:sp>
      <p:sp>
        <p:nvSpPr>
          <p:cNvPr id="4" name="TextBox 3"/>
          <p:cNvSpPr txBox="1"/>
          <p:nvPr/>
        </p:nvSpPr>
        <p:spPr>
          <a:xfrm>
            <a:off x="812800" y="1219200"/>
            <a:ext cx="88900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Write once. Compile once. Run anywhere.</a:t>
            </a:r>
          </a:p>
        </p:txBody>
      </p:sp>
      <p:sp>
        <p:nvSpPr>
          <p:cNvPr id="5" name="Rounded Rectangle 4"/>
          <p:cNvSpPr/>
          <p:nvPr/>
        </p:nvSpPr>
        <p:spPr>
          <a:xfrm>
            <a:off x="812800" y="2067520"/>
            <a:ext cx="2263180" cy="609600"/>
          </a:xfrm>
          <a:prstGeom prst="roundRect">
            <a:avLst>
              <a:gd name="adj" fmla="val 10416"/>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984250" y="2257425"/>
            <a:ext cx="19202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Roboto Mono"/>
              </a:rPr>
              <a:t>MyProgram.java</a:t>
            </a:r>
          </a:p>
        </p:txBody>
      </p:sp>
      <p:sp>
        <p:nvSpPr>
          <p:cNvPr id="7" name="Rectangle 6"/>
          <p:cNvSpPr/>
          <p:nvPr/>
        </p:nvSpPr>
        <p:spPr>
          <a:xfrm>
            <a:off x="3177580" y="2155825"/>
            <a:ext cx="1954312" cy="432991"/>
          </a:xfrm>
          <a:prstGeom prst="rect">
            <a:avLst/>
          </a:prstGeom>
          <a:solidFill>
            <a:srgbClr val="1C6091"/>
          </a:solidFill>
          <a:ln>
            <a:noFill/>
          </a:ln>
          <a:effectLst/>
        </p:spPr>
        <p:txBody>
          <a:bodyPr rtlCol="0" anchor="ctr"/>
          <a:lstStyle/>
          <a:p>
            <a:pPr algn="ctr"/>
          </a:p>
        </p:txBody>
      </p:sp>
      <p:sp>
        <p:nvSpPr>
          <p:cNvPr id="8" name="TextBox 7"/>
          <p:cNvSpPr txBox="1"/>
          <p:nvPr/>
        </p:nvSpPr>
        <p:spPr>
          <a:xfrm>
            <a:off x="3279180" y="2238375"/>
            <a:ext cx="1547912" cy="274320"/>
          </a:xfrm>
          <a:prstGeom prst="rect">
            <a:avLst/>
          </a:prstGeom>
          <a:noFill/>
        </p:spPr>
        <p:txBody>
          <a:bodyPr wrap="none" lIns="0" rIns="0" tIns="0" bIns="0" anchor="ctr">
            <a:noAutofit/>
          </a:bodyPr>
          <a:lstStyle/>
          <a:p>
            <a:pPr algn="l">
              <a:lnSpc>
                <a:spcPts val="2610"/>
              </a:lnSpc>
            </a:pPr>
            <a:r>
              <a:rPr sz="1800" b="0" i="0">
                <a:solidFill>
                  <a:srgbClr val="F2F1ED"/>
                </a:solidFill>
                <a:latin typeface="Verdana"/>
              </a:rPr>
              <a:t>Compiler</a:t>
            </a:r>
          </a:p>
        </p:txBody>
      </p:sp>
      <p:sp>
        <p:nvSpPr>
          <p:cNvPr id="9" name="Rounded Rectangle 8"/>
          <p:cNvSpPr/>
          <p:nvPr/>
        </p:nvSpPr>
        <p:spPr>
          <a:xfrm>
            <a:off x="5233491" y="2067520"/>
            <a:ext cx="2400399" cy="609600"/>
          </a:xfrm>
          <a:prstGeom prst="roundRect">
            <a:avLst>
              <a:gd name="adj" fmla="val 10416"/>
            </a:avLst>
          </a:prstGeom>
          <a:solidFill>
            <a:srgbClr val="E9E3E4"/>
          </a:solidFill>
          <a:ln w="19050">
            <a:solidFill>
              <a:srgbClr val="1C6091"/>
            </a:solidFill>
          </a:ln>
          <a:effectLst/>
        </p:spPr>
        <p:txBody>
          <a:bodyPr rtlCol="0" anchor="ctr"/>
          <a:lstStyle/>
          <a:p>
            <a:pPr algn="ctr"/>
          </a:p>
        </p:txBody>
      </p:sp>
      <p:sp>
        <p:nvSpPr>
          <p:cNvPr id="10" name="TextBox 9"/>
          <p:cNvSpPr txBox="1"/>
          <p:nvPr/>
        </p:nvSpPr>
        <p:spPr>
          <a:xfrm>
            <a:off x="5404941" y="2257425"/>
            <a:ext cx="2057499"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Roboto Mono"/>
              </a:rPr>
              <a:t>MyProgram.class</a:t>
            </a:r>
          </a:p>
        </p:txBody>
      </p:sp>
      <p:sp>
        <p:nvSpPr>
          <p:cNvPr id="11" name="TextBox 10"/>
          <p:cNvSpPr txBox="1"/>
          <p:nvPr/>
        </p:nvSpPr>
        <p:spPr>
          <a:xfrm>
            <a:off x="812800" y="5792093"/>
            <a:ext cx="105664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Use the exact versions named in Challenge Exercise 01.</a:t>
            </a:r>
          </a:p>
        </p:txBody>
      </p:sp>
      <p:sp>
        <p:nvSpPr>
          <p:cNvPr id="12" name="Rounded Rectangle 11"/>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3" name="TextBox 12"/>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16 / 28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Java and Eclipse in CS 2114</a:t>
            </a:r>
          </a:p>
        </p:txBody>
      </p:sp>
      <p:sp>
        <p:nvSpPr>
          <p:cNvPr id="4" name="TextBox 3"/>
          <p:cNvSpPr txBox="1"/>
          <p:nvPr/>
        </p:nvSpPr>
        <p:spPr>
          <a:xfrm>
            <a:off x="812800" y="1219200"/>
            <a:ext cx="88900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Write once. Compile once. Run anywhere.</a:t>
            </a:r>
          </a:p>
        </p:txBody>
      </p:sp>
      <p:sp>
        <p:nvSpPr>
          <p:cNvPr id="5" name="Rounded Rectangle 4"/>
          <p:cNvSpPr/>
          <p:nvPr/>
        </p:nvSpPr>
        <p:spPr>
          <a:xfrm>
            <a:off x="812800" y="2067520"/>
            <a:ext cx="2263180" cy="609600"/>
          </a:xfrm>
          <a:prstGeom prst="roundRect">
            <a:avLst>
              <a:gd name="adj" fmla="val 10416"/>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984250" y="2257425"/>
            <a:ext cx="19202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Roboto Mono"/>
              </a:rPr>
              <a:t>MyProgram.java</a:t>
            </a:r>
          </a:p>
        </p:txBody>
      </p:sp>
      <p:sp>
        <p:nvSpPr>
          <p:cNvPr id="7" name="Rectangle 6"/>
          <p:cNvSpPr/>
          <p:nvPr/>
        </p:nvSpPr>
        <p:spPr>
          <a:xfrm>
            <a:off x="3177580" y="2155825"/>
            <a:ext cx="1954312" cy="432991"/>
          </a:xfrm>
          <a:prstGeom prst="rect">
            <a:avLst/>
          </a:prstGeom>
          <a:solidFill>
            <a:srgbClr val="1C6091"/>
          </a:solidFill>
          <a:ln>
            <a:noFill/>
          </a:ln>
          <a:effectLst/>
        </p:spPr>
        <p:txBody>
          <a:bodyPr rtlCol="0" anchor="ctr"/>
          <a:lstStyle/>
          <a:p>
            <a:pPr algn="ctr"/>
          </a:p>
        </p:txBody>
      </p:sp>
      <p:sp>
        <p:nvSpPr>
          <p:cNvPr id="8" name="TextBox 7"/>
          <p:cNvSpPr txBox="1"/>
          <p:nvPr/>
        </p:nvSpPr>
        <p:spPr>
          <a:xfrm>
            <a:off x="3279180" y="2238375"/>
            <a:ext cx="1547912" cy="274320"/>
          </a:xfrm>
          <a:prstGeom prst="rect">
            <a:avLst/>
          </a:prstGeom>
          <a:noFill/>
        </p:spPr>
        <p:txBody>
          <a:bodyPr wrap="none" lIns="0" rIns="0" tIns="0" bIns="0" anchor="ctr">
            <a:noAutofit/>
          </a:bodyPr>
          <a:lstStyle/>
          <a:p>
            <a:pPr algn="l">
              <a:lnSpc>
                <a:spcPts val="2610"/>
              </a:lnSpc>
            </a:pPr>
            <a:r>
              <a:rPr sz="1800" b="0" i="0">
                <a:solidFill>
                  <a:srgbClr val="F2F1ED"/>
                </a:solidFill>
                <a:latin typeface="Verdana"/>
              </a:rPr>
              <a:t>Compiler</a:t>
            </a:r>
          </a:p>
        </p:txBody>
      </p:sp>
      <p:sp>
        <p:nvSpPr>
          <p:cNvPr id="9" name="Rounded Rectangle 8"/>
          <p:cNvSpPr/>
          <p:nvPr/>
        </p:nvSpPr>
        <p:spPr>
          <a:xfrm>
            <a:off x="5233491" y="2067520"/>
            <a:ext cx="2400399" cy="609600"/>
          </a:xfrm>
          <a:prstGeom prst="roundRect">
            <a:avLst>
              <a:gd name="adj" fmla="val 10416"/>
            </a:avLst>
          </a:prstGeom>
          <a:solidFill>
            <a:srgbClr val="E9E3E4"/>
          </a:solidFill>
          <a:ln w="19050">
            <a:solidFill>
              <a:srgbClr val="1C6091"/>
            </a:solidFill>
          </a:ln>
          <a:effectLst/>
        </p:spPr>
        <p:txBody>
          <a:bodyPr rtlCol="0" anchor="ctr"/>
          <a:lstStyle/>
          <a:p>
            <a:pPr algn="ctr"/>
          </a:p>
        </p:txBody>
      </p:sp>
      <p:sp>
        <p:nvSpPr>
          <p:cNvPr id="10" name="TextBox 9"/>
          <p:cNvSpPr txBox="1"/>
          <p:nvPr/>
        </p:nvSpPr>
        <p:spPr>
          <a:xfrm>
            <a:off x="5404941" y="2257425"/>
            <a:ext cx="2057499"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Roboto Mono"/>
              </a:rPr>
              <a:t>MyProgram.class</a:t>
            </a:r>
          </a:p>
        </p:txBody>
      </p:sp>
      <p:sp>
        <p:nvSpPr>
          <p:cNvPr id="11" name="Rectangle 10"/>
          <p:cNvSpPr/>
          <p:nvPr/>
        </p:nvSpPr>
        <p:spPr>
          <a:xfrm>
            <a:off x="7735491" y="2155825"/>
            <a:ext cx="1954411" cy="432991"/>
          </a:xfrm>
          <a:prstGeom prst="rect">
            <a:avLst/>
          </a:prstGeom>
          <a:solidFill>
            <a:srgbClr val="1C6091"/>
          </a:solidFill>
          <a:ln>
            <a:noFill/>
          </a:ln>
          <a:effectLst/>
        </p:spPr>
        <p:txBody>
          <a:bodyPr rtlCol="0" anchor="ctr"/>
          <a:lstStyle/>
          <a:p>
            <a:pPr algn="ctr"/>
          </a:p>
        </p:txBody>
      </p:sp>
      <p:sp>
        <p:nvSpPr>
          <p:cNvPr id="12" name="TextBox 11"/>
          <p:cNvSpPr txBox="1"/>
          <p:nvPr/>
        </p:nvSpPr>
        <p:spPr>
          <a:xfrm>
            <a:off x="7837091" y="2238375"/>
            <a:ext cx="1548011" cy="274320"/>
          </a:xfrm>
          <a:prstGeom prst="rect">
            <a:avLst/>
          </a:prstGeom>
          <a:noFill/>
        </p:spPr>
        <p:txBody>
          <a:bodyPr wrap="none" lIns="0" rIns="0" tIns="0" bIns="0" anchor="ctr">
            <a:noAutofit/>
          </a:bodyPr>
          <a:lstStyle/>
          <a:p>
            <a:pPr algn="l">
              <a:lnSpc>
                <a:spcPts val="2610"/>
              </a:lnSpc>
            </a:pPr>
            <a:r>
              <a:rPr sz="1800" b="0" i="0">
                <a:solidFill>
                  <a:srgbClr val="F2F1ED"/>
                </a:solidFill>
                <a:latin typeface="Verdana"/>
              </a:rPr>
              <a:t>Java VM</a:t>
            </a:r>
          </a:p>
        </p:txBody>
      </p:sp>
      <p:sp>
        <p:nvSpPr>
          <p:cNvPr id="13" name="TextBox 12"/>
          <p:cNvSpPr txBox="1"/>
          <p:nvPr/>
        </p:nvSpPr>
        <p:spPr>
          <a:xfrm>
            <a:off x="812800" y="5792093"/>
            <a:ext cx="105664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Use the exact versions named in Challenge Exercise 01.</a:t>
            </a:r>
          </a:p>
        </p:txBody>
      </p:sp>
      <p:sp>
        <p:nvSpPr>
          <p:cNvPr id="14" name="Rounded Rectangle 13"/>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5" name="TextBox 14"/>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16 / 28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Java and Eclipse in CS 2114</a:t>
            </a:r>
          </a:p>
        </p:txBody>
      </p:sp>
      <p:sp>
        <p:nvSpPr>
          <p:cNvPr id="4" name="TextBox 3"/>
          <p:cNvSpPr txBox="1"/>
          <p:nvPr/>
        </p:nvSpPr>
        <p:spPr>
          <a:xfrm>
            <a:off x="812800" y="1219200"/>
            <a:ext cx="88900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Write once. Compile once. Run anywhere.</a:t>
            </a:r>
          </a:p>
        </p:txBody>
      </p:sp>
      <p:sp>
        <p:nvSpPr>
          <p:cNvPr id="5" name="Rounded Rectangle 4"/>
          <p:cNvSpPr/>
          <p:nvPr/>
        </p:nvSpPr>
        <p:spPr>
          <a:xfrm>
            <a:off x="812800" y="2067520"/>
            <a:ext cx="2263180" cy="609600"/>
          </a:xfrm>
          <a:prstGeom prst="roundRect">
            <a:avLst>
              <a:gd name="adj" fmla="val 10416"/>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984250" y="2257425"/>
            <a:ext cx="19202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Roboto Mono"/>
              </a:rPr>
              <a:t>MyProgram.java</a:t>
            </a:r>
          </a:p>
        </p:txBody>
      </p:sp>
      <p:sp>
        <p:nvSpPr>
          <p:cNvPr id="7" name="Rectangle 6"/>
          <p:cNvSpPr/>
          <p:nvPr/>
        </p:nvSpPr>
        <p:spPr>
          <a:xfrm>
            <a:off x="3177580" y="2155825"/>
            <a:ext cx="1954312" cy="432991"/>
          </a:xfrm>
          <a:prstGeom prst="rect">
            <a:avLst/>
          </a:prstGeom>
          <a:solidFill>
            <a:srgbClr val="1C6091"/>
          </a:solidFill>
          <a:ln>
            <a:noFill/>
          </a:ln>
          <a:effectLst/>
        </p:spPr>
        <p:txBody>
          <a:bodyPr rtlCol="0" anchor="ctr"/>
          <a:lstStyle/>
          <a:p>
            <a:pPr algn="ctr"/>
          </a:p>
        </p:txBody>
      </p:sp>
      <p:sp>
        <p:nvSpPr>
          <p:cNvPr id="8" name="TextBox 7"/>
          <p:cNvSpPr txBox="1"/>
          <p:nvPr/>
        </p:nvSpPr>
        <p:spPr>
          <a:xfrm>
            <a:off x="3279180" y="2238375"/>
            <a:ext cx="1547912" cy="274320"/>
          </a:xfrm>
          <a:prstGeom prst="rect">
            <a:avLst/>
          </a:prstGeom>
          <a:noFill/>
        </p:spPr>
        <p:txBody>
          <a:bodyPr wrap="none" lIns="0" rIns="0" tIns="0" bIns="0" anchor="ctr">
            <a:noAutofit/>
          </a:bodyPr>
          <a:lstStyle/>
          <a:p>
            <a:pPr algn="l">
              <a:lnSpc>
                <a:spcPts val="2610"/>
              </a:lnSpc>
            </a:pPr>
            <a:r>
              <a:rPr sz="1800" b="0" i="0">
                <a:solidFill>
                  <a:srgbClr val="F2F1ED"/>
                </a:solidFill>
                <a:latin typeface="Verdana"/>
              </a:rPr>
              <a:t>Compiler</a:t>
            </a:r>
          </a:p>
        </p:txBody>
      </p:sp>
      <p:sp>
        <p:nvSpPr>
          <p:cNvPr id="9" name="Rounded Rectangle 8"/>
          <p:cNvSpPr/>
          <p:nvPr/>
        </p:nvSpPr>
        <p:spPr>
          <a:xfrm>
            <a:off x="5233491" y="2067520"/>
            <a:ext cx="2400399" cy="609600"/>
          </a:xfrm>
          <a:prstGeom prst="roundRect">
            <a:avLst>
              <a:gd name="adj" fmla="val 10416"/>
            </a:avLst>
          </a:prstGeom>
          <a:solidFill>
            <a:srgbClr val="E9E3E4"/>
          </a:solidFill>
          <a:ln w="19050">
            <a:solidFill>
              <a:srgbClr val="1C6091"/>
            </a:solidFill>
          </a:ln>
          <a:effectLst/>
        </p:spPr>
        <p:txBody>
          <a:bodyPr rtlCol="0" anchor="ctr"/>
          <a:lstStyle/>
          <a:p>
            <a:pPr algn="ctr"/>
          </a:p>
        </p:txBody>
      </p:sp>
      <p:sp>
        <p:nvSpPr>
          <p:cNvPr id="10" name="TextBox 9"/>
          <p:cNvSpPr txBox="1"/>
          <p:nvPr/>
        </p:nvSpPr>
        <p:spPr>
          <a:xfrm>
            <a:off x="5404941" y="2257425"/>
            <a:ext cx="2057499"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Roboto Mono"/>
              </a:rPr>
              <a:t>MyProgram.class</a:t>
            </a:r>
          </a:p>
        </p:txBody>
      </p:sp>
      <p:sp>
        <p:nvSpPr>
          <p:cNvPr id="11" name="Rectangle 10"/>
          <p:cNvSpPr/>
          <p:nvPr/>
        </p:nvSpPr>
        <p:spPr>
          <a:xfrm>
            <a:off x="7735491" y="2155825"/>
            <a:ext cx="1954411" cy="432991"/>
          </a:xfrm>
          <a:prstGeom prst="rect">
            <a:avLst/>
          </a:prstGeom>
          <a:solidFill>
            <a:srgbClr val="1C6091"/>
          </a:solidFill>
          <a:ln>
            <a:noFill/>
          </a:ln>
          <a:effectLst/>
        </p:spPr>
        <p:txBody>
          <a:bodyPr rtlCol="0" anchor="ctr"/>
          <a:lstStyle/>
          <a:p>
            <a:pPr algn="ctr"/>
          </a:p>
        </p:txBody>
      </p:sp>
      <p:sp>
        <p:nvSpPr>
          <p:cNvPr id="12" name="TextBox 11"/>
          <p:cNvSpPr txBox="1"/>
          <p:nvPr/>
        </p:nvSpPr>
        <p:spPr>
          <a:xfrm>
            <a:off x="7837091" y="2238375"/>
            <a:ext cx="1548011" cy="274320"/>
          </a:xfrm>
          <a:prstGeom prst="rect">
            <a:avLst/>
          </a:prstGeom>
          <a:noFill/>
        </p:spPr>
        <p:txBody>
          <a:bodyPr wrap="none" lIns="0" rIns="0" tIns="0" bIns="0" anchor="ctr">
            <a:noAutofit/>
          </a:bodyPr>
          <a:lstStyle/>
          <a:p>
            <a:pPr algn="l">
              <a:lnSpc>
                <a:spcPts val="2610"/>
              </a:lnSpc>
            </a:pPr>
            <a:r>
              <a:rPr sz="1800" b="0" i="0">
                <a:solidFill>
                  <a:srgbClr val="F2F1ED"/>
                </a:solidFill>
                <a:latin typeface="Verdana"/>
              </a:rPr>
              <a:t>Java VM</a:t>
            </a:r>
          </a:p>
        </p:txBody>
      </p:sp>
      <p:sp>
        <p:nvSpPr>
          <p:cNvPr id="13" name="Rounded Rectangle 12"/>
          <p:cNvSpPr/>
          <p:nvPr/>
        </p:nvSpPr>
        <p:spPr>
          <a:xfrm>
            <a:off x="9791502" y="2067520"/>
            <a:ext cx="1587698" cy="609600"/>
          </a:xfrm>
          <a:prstGeom prst="roundRect">
            <a:avLst>
              <a:gd name="adj" fmla="val 10416"/>
            </a:avLst>
          </a:prstGeom>
          <a:solidFill>
            <a:srgbClr val="E3D2CB"/>
          </a:solidFill>
          <a:ln w="19050">
            <a:solidFill>
              <a:srgbClr val="B35510"/>
            </a:solidFill>
          </a:ln>
          <a:effectLst/>
        </p:spPr>
        <p:txBody>
          <a:bodyPr rtlCol="0" anchor="ctr"/>
          <a:lstStyle/>
          <a:p>
            <a:pPr algn="ctr"/>
          </a:p>
        </p:txBody>
      </p:sp>
      <p:sp>
        <p:nvSpPr>
          <p:cNvPr id="14" name="TextBox 13"/>
          <p:cNvSpPr txBox="1"/>
          <p:nvPr/>
        </p:nvSpPr>
        <p:spPr>
          <a:xfrm>
            <a:off x="9962952" y="2238375"/>
            <a:ext cx="1244798"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My Program</a:t>
            </a:r>
          </a:p>
        </p:txBody>
      </p:sp>
      <p:sp>
        <p:nvSpPr>
          <p:cNvPr id="15" name="TextBox 14"/>
          <p:cNvSpPr txBox="1"/>
          <p:nvPr/>
        </p:nvSpPr>
        <p:spPr>
          <a:xfrm>
            <a:off x="812800" y="5792093"/>
            <a:ext cx="105664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Use the exact versions named in Challenge Exercise 01.</a:t>
            </a:r>
          </a:p>
        </p:txBody>
      </p:sp>
      <p:sp>
        <p:nvSpPr>
          <p:cNvPr id="16" name="Rounded Rectangle 15"/>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7" name="TextBox 16"/>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16 / 28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Java and Eclipse in CS 2114</a:t>
            </a:r>
          </a:p>
        </p:txBody>
      </p:sp>
      <p:sp>
        <p:nvSpPr>
          <p:cNvPr id="4" name="TextBox 3"/>
          <p:cNvSpPr txBox="1"/>
          <p:nvPr/>
        </p:nvSpPr>
        <p:spPr>
          <a:xfrm>
            <a:off x="812800" y="1219200"/>
            <a:ext cx="88900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Write once. Compile once. Run anywhere.</a:t>
            </a:r>
          </a:p>
        </p:txBody>
      </p:sp>
      <p:sp>
        <p:nvSpPr>
          <p:cNvPr id="5" name="Rounded Rectangle 4"/>
          <p:cNvSpPr/>
          <p:nvPr/>
        </p:nvSpPr>
        <p:spPr>
          <a:xfrm>
            <a:off x="812800" y="2067520"/>
            <a:ext cx="2263180" cy="609600"/>
          </a:xfrm>
          <a:prstGeom prst="roundRect">
            <a:avLst>
              <a:gd name="adj" fmla="val 10416"/>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984250" y="2257425"/>
            <a:ext cx="19202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Roboto Mono"/>
              </a:rPr>
              <a:t>MyProgram.java</a:t>
            </a:r>
          </a:p>
        </p:txBody>
      </p:sp>
      <p:sp>
        <p:nvSpPr>
          <p:cNvPr id="7" name="Rectangle 6"/>
          <p:cNvSpPr/>
          <p:nvPr/>
        </p:nvSpPr>
        <p:spPr>
          <a:xfrm>
            <a:off x="3177580" y="2155825"/>
            <a:ext cx="1954312" cy="432991"/>
          </a:xfrm>
          <a:prstGeom prst="rect">
            <a:avLst/>
          </a:prstGeom>
          <a:solidFill>
            <a:srgbClr val="1C6091"/>
          </a:solidFill>
          <a:ln>
            <a:noFill/>
          </a:ln>
          <a:effectLst/>
        </p:spPr>
        <p:txBody>
          <a:bodyPr rtlCol="0" anchor="ctr"/>
          <a:lstStyle/>
          <a:p>
            <a:pPr algn="ctr"/>
          </a:p>
        </p:txBody>
      </p:sp>
      <p:sp>
        <p:nvSpPr>
          <p:cNvPr id="8" name="TextBox 7"/>
          <p:cNvSpPr txBox="1"/>
          <p:nvPr/>
        </p:nvSpPr>
        <p:spPr>
          <a:xfrm>
            <a:off x="3279180" y="2238375"/>
            <a:ext cx="1547912" cy="274320"/>
          </a:xfrm>
          <a:prstGeom prst="rect">
            <a:avLst/>
          </a:prstGeom>
          <a:noFill/>
        </p:spPr>
        <p:txBody>
          <a:bodyPr wrap="none" lIns="0" rIns="0" tIns="0" bIns="0" anchor="ctr">
            <a:noAutofit/>
          </a:bodyPr>
          <a:lstStyle/>
          <a:p>
            <a:pPr algn="l">
              <a:lnSpc>
                <a:spcPts val="2610"/>
              </a:lnSpc>
            </a:pPr>
            <a:r>
              <a:rPr sz="1800" b="0" i="0">
                <a:solidFill>
                  <a:srgbClr val="F2F1ED"/>
                </a:solidFill>
                <a:latin typeface="Verdana"/>
              </a:rPr>
              <a:t>Compiler</a:t>
            </a:r>
          </a:p>
        </p:txBody>
      </p:sp>
      <p:sp>
        <p:nvSpPr>
          <p:cNvPr id="9" name="Rounded Rectangle 8"/>
          <p:cNvSpPr/>
          <p:nvPr/>
        </p:nvSpPr>
        <p:spPr>
          <a:xfrm>
            <a:off x="5233491" y="2067520"/>
            <a:ext cx="2400399" cy="609600"/>
          </a:xfrm>
          <a:prstGeom prst="roundRect">
            <a:avLst>
              <a:gd name="adj" fmla="val 10416"/>
            </a:avLst>
          </a:prstGeom>
          <a:solidFill>
            <a:srgbClr val="E9E3E4"/>
          </a:solidFill>
          <a:ln w="19050">
            <a:solidFill>
              <a:srgbClr val="1C6091"/>
            </a:solidFill>
          </a:ln>
          <a:effectLst/>
        </p:spPr>
        <p:txBody>
          <a:bodyPr rtlCol="0" anchor="ctr"/>
          <a:lstStyle/>
          <a:p>
            <a:pPr algn="ctr"/>
          </a:p>
        </p:txBody>
      </p:sp>
      <p:sp>
        <p:nvSpPr>
          <p:cNvPr id="10" name="TextBox 9"/>
          <p:cNvSpPr txBox="1"/>
          <p:nvPr/>
        </p:nvSpPr>
        <p:spPr>
          <a:xfrm>
            <a:off x="5404941" y="2257425"/>
            <a:ext cx="2057499"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Roboto Mono"/>
              </a:rPr>
              <a:t>MyProgram.class</a:t>
            </a:r>
          </a:p>
        </p:txBody>
      </p:sp>
      <p:sp>
        <p:nvSpPr>
          <p:cNvPr id="11" name="Rectangle 10"/>
          <p:cNvSpPr/>
          <p:nvPr/>
        </p:nvSpPr>
        <p:spPr>
          <a:xfrm>
            <a:off x="7735491" y="2155825"/>
            <a:ext cx="1954411" cy="432991"/>
          </a:xfrm>
          <a:prstGeom prst="rect">
            <a:avLst/>
          </a:prstGeom>
          <a:solidFill>
            <a:srgbClr val="1C6091"/>
          </a:solidFill>
          <a:ln>
            <a:noFill/>
          </a:ln>
          <a:effectLst/>
        </p:spPr>
        <p:txBody>
          <a:bodyPr rtlCol="0" anchor="ctr"/>
          <a:lstStyle/>
          <a:p>
            <a:pPr algn="ctr"/>
          </a:p>
        </p:txBody>
      </p:sp>
      <p:sp>
        <p:nvSpPr>
          <p:cNvPr id="12" name="TextBox 11"/>
          <p:cNvSpPr txBox="1"/>
          <p:nvPr/>
        </p:nvSpPr>
        <p:spPr>
          <a:xfrm>
            <a:off x="7837091" y="2238375"/>
            <a:ext cx="1548011" cy="274320"/>
          </a:xfrm>
          <a:prstGeom prst="rect">
            <a:avLst/>
          </a:prstGeom>
          <a:noFill/>
        </p:spPr>
        <p:txBody>
          <a:bodyPr wrap="none" lIns="0" rIns="0" tIns="0" bIns="0" anchor="ctr">
            <a:noAutofit/>
          </a:bodyPr>
          <a:lstStyle/>
          <a:p>
            <a:pPr algn="l">
              <a:lnSpc>
                <a:spcPts val="2610"/>
              </a:lnSpc>
            </a:pPr>
            <a:r>
              <a:rPr sz="1800" b="0" i="0">
                <a:solidFill>
                  <a:srgbClr val="F2F1ED"/>
                </a:solidFill>
                <a:latin typeface="Verdana"/>
              </a:rPr>
              <a:t>Java VM</a:t>
            </a:r>
          </a:p>
        </p:txBody>
      </p:sp>
      <p:sp>
        <p:nvSpPr>
          <p:cNvPr id="13" name="Rounded Rectangle 12"/>
          <p:cNvSpPr/>
          <p:nvPr/>
        </p:nvSpPr>
        <p:spPr>
          <a:xfrm>
            <a:off x="9791502" y="2067520"/>
            <a:ext cx="1587698" cy="609600"/>
          </a:xfrm>
          <a:prstGeom prst="roundRect">
            <a:avLst>
              <a:gd name="adj" fmla="val 10416"/>
            </a:avLst>
          </a:prstGeom>
          <a:solidFill>
            <a:srgbClr val="E3D2CB"/>
          </a:solidFill>
          <a:ln w="19050">
            <a:solidFill>
              <a:srgbClr val="B35510"/>
            </a:solidFill>
          </a:ln>
          <a:effectLst/>
        </p:spPr>
        <p:txBody>
          <a:bodyPr rtlCol="0" anchor="ctr"/>
          <a:lstStyle/>
          <a:p>
            <a:pPr algn="ctr"/>
          </a:p>
        </p:txBody>
      </p:sp>
      <p:sp>
        <p:nvSpPr>
          <p:cNvPr id="14" name="TextBox 13"/>
          <p:cNvSpPr txBox="1"/>
          <p:nvPr/>
        </p:nvSpPr>
        <p:spPr>
          <a:xfrm>
            <a:off x="9962952" y="2238375"/>
            <a:ext cx="1244798"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My Program</a:t>
            </a:r>
          </a:p>
        </p:txBody>
      </p:sp>
      <p:sp>
        <p:nvSpPr>
          <p:cNvPr id="15" name="Rounded Rectangle 14"/>
          <p:cNvSpPr/>
          <p:nvPr/>
        </p:nvSpPr>
        <p:spPr>
          <a:xfrm>
            <a:off x="812800" y="2829520"/>
            <a:ext cx="10566400" cy="650180"/>
          </a:xfrm>
          <a:prstGeom prst="roundRect">
            <a:avLst>
              <a:gd name="adj" fmla="val 9766"/>
            </a:avLst>
          </a:prstGeom>
          <a:solidFill>
            <a:srgbClr val="1C6091"/>
          </a:solidFill>
          <a:ln w="19050">
            <a:solidFill>
              <a:srgbClr val="1C6091"/>
            </a:solidFill>
          </a:ln>
          <a:effectLst/>
        </p:spPr>
        <p:txBody>
          <a:bodyPr rtlCol="0" anchor="ctr"/>
          <a:lstStyle/>
          <a:p>
            <a:pPr algn="ctr"/>
          </a:p>
        </p:txBody>
      </p:sp>
      <p:sp>
        <p:nvSpPr>
          <p:cNvPr id="16" name="Rounded Rectangle 15"/>
          <p:cNvSpPr/>
          <p:nvPr/>
        </p:nvSpPr>
        <p:spPr>
          <a:xfrm>
            <a:off x="1035050" y="2988270"/>
            <a:ext cx="1371699" cy="332680"/>
          </a:xfrm>
          <a:prstGeom prst="roundRect">
            <a:avLst>
              <a:gd name="adj" fmla="val 7634"/>
            </a:avLst>
          </a:prstGeom>
          <a:solidFill>
            <a:srgbClr val="4B80A5"/>
          </a:solidFill>
          <a:ln>
            <a:noFill/>
          </a:ln>
          <a:effectLst/>
        </p:spPr>
        <p:txBody>
          <a:bodyPr rtlCol="0" anchor="ctr"/>
          <a:lstStyle/>
          <a:p>
            <a:pPr algn="ctr"/>
          </a:p>
        </p:txBody>
      </p:sp>
      <p:sp>
        <p:nvSpPr>
          <p:cNvPr id="17" name="TextBox 16"/>
          <p:cNvSpPr txBox="1"/>
          <p:nvPr/>
        </p:nvSpPr>
        <p:spPr>
          <a:xfrm>
            <a:off x="1187450" y="3064470"/>
            <a:ext cx="1066899" cy="213360"/>
          </a:xfrm>
          <a:prstGeom prst="rect">
            <a:avLst/>
          </a:prstGeom>
          <a:noFill/>
        </p:spPr>
        <p:txBody>
          <a:bodyPr wrap="none" lIns="0" rIns="0" tIns="0" bIns="0" anchor="ctr">
            <a:noAutofit/>
          </a:bodyPr>
          <a:lstStyle/>
          <a:p>
            <a:pPr algn="l">
              <a:lnSpc>
                <a:spcPts val="1820"/>
              </a:lnSpc>
            </a:pPr>
            <a:r>
              <a:rPr sz="1400" b="0" i="0">
                <a:solidFill>
                  <a:srgbClr val="F2F1ED"/>
                </a:solidFill>
                <a:latin typeface="Roboto Mono"/>
              </a:rPr>
              <a:t>Java Setup</a:t>
            </a:r>
          </a:p>
        </p:txBody>
      </p:sp>
      <p:sp>
        <p:nvSpPr>
          <p:cNvPr id="18" name="TextBox 17"/>
          <p:cNvSpPr txBox="1"/>
          <p:nvPr/>
        </p:nvSpPr>
        <p:spPr>
          <a:xfrm>
            <a:off x="2609949" y="2956520"/>
            <a:ext cx="3891359" cy="426720"/>
          </a:xfrm>
          <a:prstGeom prst="rect">
            <a:avLst/>
          </a:prstGeom>
          <a:noFill/>
        </p:spPr>
        <p:txBody>
          <a:bodyPr wrap="none" lIns="0" rIns="0" tIns="0" bIns="0" anchor="ctr">
            <a:noAutofit/>
          </a:bodyPr>
          <a:lstStyle/>
          <a:p>
            <a:pPr algn="l">
              <a:lnSpc>
                <a:spcPts val="3220"/>
              </a:lnSpc>
            </a:pPr>
            <a:r>
              <a:rPr sz="2800" b="0" i="0">
                <a:solidFill>
                  <a:srgbClr val="F2F1ED"/>
                </a:solidFill>
                <a:latin typeface="Georgia"/>
              </a:rPr>
              <a:t>3 Billion Devices Run Java</a:t>
            </a:r>
          </a:p>
        </p:txBody>
      </p:sp>
      <p:sp>
        <p:nvSpPr>
          <p:cNvPr id="19" name="TextBox 18"/>
          <p:cNvSpPr txBox="1"/>
          <p:nvPr/>
        </p:nvSpPr>
        <p:spPr>
          <a:xfrm>
            <a:off x="8142684" y="3051770"/>
            <a:ext cx="3014266" cy="213360"/>
          </a:xfrm>
          <a:prstGeom prst="rect">
            <a:avLst/>
          </a:prstGeom>
          <a:noFill/>
        </p:spPr>
        <p:txBody>
          <a:bodyPr wrap="none" lIns="0" rIns="0" tIns="0" bIns="0" anchor="ctr">
            <a:noAutofit/>
          </a:bodyPr>
          <a:lstStyle/>
          <a:p>
            <a:pPr algn="r">
              <a:lnSpc>
                <a:spcPts val="1820"/>
              </a:lnSpc>
            </a:pPr>
            <a:r>
              <a:rPr sz="1400" b="0" i="0">
                <a:solidFill>
                  <a:srgbClr val="C3D1D9"/>
                </a:solidFill>
                <a:latin typeface="Verdana"/>
              </a:rPr>
              <a:t>Same .class file on every one of them.</a:t>
            </a:r>
          </a:p>
        </p:txBody>
      </p:sp>
      <p:sp>
        <p:nvSpPr>
          <p:cNvPr id="20" name="TextBox 19"/>
          <p:cNvSpPr txBox="1"/>
          <p:nvPr/>
        </p:nvSpPr>
        <p:spPr>
          <a:xfrm>
            <a:off x="812800" y="5792093"/>
            <a:ext cx="105664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Use the exact versions named in Challenge Exercise 01.</a:t>
            </a:r>
          </a:p>
        </p:txBody>
      </p:sp>
      <p:sp>
        <p:nvSpPr>
          <p:cNvPr id="21" name="Rounded Rectangle 20"/>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22" name="TextBox 21"/>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16 / 28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Java and Eclipse in CS 2114</a:t>
            </a:r>
          </a:p>
        </p:txBody>
      </p:sp>
      <p:sp>
        <p:nvSpPr>
          <p:cNvPr id="4" name="TextBox 3"/>
          <p:cNvSpPr txBox="1"/>
          <p:nvPr/>
        </p:nvSpPr>
        <p:spPr>
          <a:xfrm>
            <a:off x="812800" y="1219200"/>
            <a:ext cx="88900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Write once. Compile once. Run anywhere.</a:t>
            </a:r>
          </a:p>
        </p:txBody>
      </p:sp>
      <p:sp>
        <p:nvSpPr>
          <p:cNvPr id="5" name="Rounded Rectangle 4"/>
          <p:cNvSpPr/>
          <p:nvPr/>
        </p:nvSpPr>
        <p:spPr>
          <a:xfrm>
            <a:off x="812800" y="2067520"/>
            <a:ext cx="2263180" cy="609600"/>
          </a:xfrm>
          <a:prstGeom prst="roundRect">
            <a:avLst>
              <a:gd name="adj" fmla="val 10416"/>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984250" y="2257425"/>
            <a:ext cx="19202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Roboto Mono"/>
              </a:rPr>
              <a:t>MyProgram.java</a:t>
            </a:r>
          </a:p>
        </p:txBody>
      </p:sp>
      <p:sp>
        <p:nvSpPr>
          <p:cNvPr id="7" name="Rectangle 6"/>
          <p:cNvSpPr/>
          <p:nvPr/>
        </p:nvSpPr>
        <p:spPr>
          <a:xfrm>
            <a:off x="3177580" y="2155825"/>
            <a:ext cx="1954312" cy="432991"/>
          </a:xfrm>
          <a:prstGeom prst="rect">
            <a:avLst/>
          </a:prstGeom>
          <a:solidFill>
            <a:srgbClr val="1C6091"/>
          </a:solidFill>
          <a:ln>
            <a:noFill/>
          </a:ln>
          <a:effectLst/>
        </p:spPr>
        <p:txBody>
          <a:bodyPr rtlCol="0" anchor="ctr"/>
          <a:lstStyle/>
          <a:p>
            <a:pPr algn="ctr"/>
          </a:p>
        </p:txBody>
      </p:sp>
      <p:sp>
        <p:nvSpPr>
          <p:cNvPr id="8" name="TextBox 7"/>
          <p:cNvSpPr txBox="1"/>
          <p:nvPr/>
        </p:nvSpPr>
        <p:spPr>
          <a:xfrm>
            <a:off x="3279180" y="2238375"/>
            <a:ext cx="1547912" cy="274320"/>
          </a:xfrm>
          <a:prstGeom prst="rect">
            <a:avLst/>
          </a:prstGeom>
          <a:noFill/>
        </p:spPr>
        <p:txBody>
          <a:bodyPr wrap="none" lIns="0" rIns="0" tIns="0" bIns="0" anchor="ctr">
            <a:noAutofit/>
          </a:bodyPr>
          <a:lstStyle/>
          <a:p>
            <a:pPr algn="l">
              <a:lnSpc>
                <a:spcPts val="2610"/>
              </a:lnSpc>
            </a:pPr>
            <a:r>
              <a:rPr sz="1800" b="0" i="0">
                <a:solidFill>
                  <a:srgbClr val="F2F1ED"/>
                </a:solidFill>
                <a:latin typeface="Verdana"/>
              </a:rPr>
              <a:t>Compiler</a:t>
            </a:r>
          </a:p>
        </p:txBody>
      </p:sp>
      <p:sp>
        <p:nvSpPr>
          <p:cNvPr id="9" name="Rounded Rectangle 8"/>
          <p:cNvSpPr/>
          <p:nvPr/>
        </p:nvSpPr>
        <p:spPr>
          <a:xfrm>
            <a:off x="5233491" y="2067520"/>
            <a:ext cx="2400399" cy="609600"/>
          </a:xfrm>
          <a:prstGeom prst="roundRect">
            <a:avLst>
              <a:gd name="adj" fmla="val 10416"/>
            </a:avLst>
          </a:prstGeom>
          <a:solidFill>
            <a:srgbClr val="E9E3E4"/>
          </a:solidFill>
          <a:ln w="19050">
            <a:solidFill>
              <a:srgbClr val="1C6091"/>
            </a:solidFill>
          </a:ln>
          <a:effectLst/>
        </p:spPr>
        <p:txBody>
          <a:bodyPr rtlCol="0" anchor="ctr"/>
          <a:lstStyle/>
          <a:p>
            <a:pPr algn="ctr"/>
          </a:p>
        </p:txBody>
      </p:sp>
      <p:sp>
        <p:nvSpPr>
          <p:cNvPr id="10" name="TextBox 9"/>
          <p:cNvSpPr txBox="1"/>
          <p:nvPr/>
        </p:nvSpPr>
        <p:spPr>
          <a:xfrm>
            <a:off x="5404941" y="2257425"/>
            <a:ext cx="2057499"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Roboto Mono"/>
              </a:rPr>
              <a:t>MyProgram.class</a:t>
            </a:r>
          </a:p>
        </p:txBody>
      </p:sp>
      <p:sp>
        <p:nvSpPr>
          <p:cNvPr id="11" name="Rectangle 10"/>
          <p:cNvSpPr/>
          <p:nvPr/>
        </p:nvSpPr>
        <p:spPr>
          <a:xfrm>
            <a:off x="7735491" y="2155825"/>
            <a:ext cx="1954411" cy="432991"/>
          </a:xfrm>
          <a:prstGeom prst="rect">
            <a:avLst/>
          </a:prstGeom>
          <a:solidFill>
            <a:srgbClr val="1C6091"/>
          </a:solidFill>
          <a:ln>
            <a:noFill/>
          </a:ln>
          <a:effectLst/>
        </p:spPr>
        <p:txBody>
          <a:bodyPr rtlCol="0" anchor="ctr"/>
          <a:lstStyle/>
          <a:p>
            <a:pPr algn="ctr"/>
          </a:p>
        </p:txBody>
      </p:sp>
      <p:sp>
        <p:nvSpPr>
          <p:cNvPr id="12" name="TextBox 11"/>
          <p:cNvSpPr txBox="1"/>
          <p:nvPr/>
        </p:nvSpPr>
        <p:spPr>
          <a:xfrm>
            <a:off x="7837091" y="2238375"/>
            <a:ext cx="1548011" cy="274320"/>
          </a:xfrm>
          <a:prstGeom prst="rect">
            <a:avLst/>
          </a:prstGeom>
          <a:noFill/>
        </p:spPr>
        <p:txBody>
          <a:bodyPr wrap="none" lIns="0" rIns="0" tIns="0" bIns="0" anchor="ctr">
            <a:noAutofit/>
          </a:bodyPr>
          <a:lstStyle/>
          <a:p>
            <a:pPr algn="l">
              <a:lnSpc>
                <a:spcPts val="2610"/>
              </a:lnSpc>
            </a:pPr>
            <a:r>
              <a:rPr sz="1800" b="0" i="0">
                <a:solidFill>
                  <a:srgbClr val="F2F1ED"/>
                </a:solidFill>
                <a:latin typeface="Verdana"/>
              </a:rPr>
              <a:t>Java VM</a:t>
            </a:r>
          </a:p>
        </p:txBody>
      </p:sp>
      <p:sp>
        <p:nvSpPr>
          <p:cNvPr id="13" name="Rounded Rectangle 12"/>
          <p:cNvSpPr/>
          <p:nvPr/>
        </p:nvSpPr>
        <p:spPr>
          <a:xfrm>
            <a:off x="9791502" y="2067520"/>
            <a:ext cx="1587698" cy="609600"/>
          </a:xfrm>
          <a:prstGeom prst="roundRect">
            <a:avLst>
              <a:gd name="adj" fmla="val 10416"/>
            </a:avLst>
          </a:prstGeom>
          <a:solidFill>
            <a:srgbClr val="E3D2CB"/>
          </a:solidFill>
          <a:ln w="19050">
            <a:solidFill>
              <a:srgbClr val="B35510"/>
            </a:solidFill>
          </a:ln>
          <a:effectLst/>
        </p:spPr>
        <p:txBody>
          <a:bodyPr rtlCol="0" anchor="ctr"/>
          <a:lstStyle/>
          <a:p>
            <a:pPr algn="ctr"/>
          </a:p>
        </p:txBody>
      </p:sp>
      <p:sp>
        <p:nvSpPr>
          <p:cNvPr id="14" name="TextBox 13"/>
          <p:cNvSpPr txBox="1"/>
          <p:nvPr/>
        </p:nvSpPr>
        <p:spPr>
          <a:xfrm>
            <a:off x="9962952" y="2238375"/>
            <a:ext cx="1244798"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My Program</a:t>
            </a:r>
          </a:p>
        </p:txBody>
      </p:sp>
      <p:sp>
        <p:nvSpPr>
          <p:cNvPr id="15" name="Rounded Rectangle 14"/>
          <p:cNvSpPr/>
          <p:nvPr/>
        </p:nvSpPr>
        <p:spPr>
          <a:xfrm>
            <a:off x="812800" y="2829520"/>
            <a:ext cx="10566400" cy="650180"/>
          </a:xfrm>
          <a:prstGeom prst="roundRect">
            <a:avLst>
              <a:gd name="adj" fmla="val 9766"/>
            </a:avLst>
          </a:prstGeom>
          <a:solidFill>
            <a:srgbClr val="1C6091"/>
          </a:solidFill>
          <a:ln w="19050">
            <a:solidFill>
              <a:srgbClr val="1C6091"/>
            </a:solidFill>
          </a:ln>
          <a:effectLst/>
        </p:spPr>
        <p:txBody>
          <a:bodyPr rtlCol="0" anchor="ctr"/>
          <a:lstStyle/>
          <a:p>
            <a:pPr algn="ctr"/>
          </a:p>
        </p:txBody>
      </p:sp>
      <p:sp>
        <p:nvSpPr>
          <p:cNvPr id="16" name="Rounded Rectangle 15"/>
          <p:cNvSpPr/>
          <p:nvPr/>
        </p:nvSpPr>
        <p:spPr>
          <a:xfrm>
            <a:off x="1035050" y="2988270"/>
            <a:ext cx="1371699" cy="332680"/>
          </a:xfrm>
          <a:prstGeom prst="roundRect">
            <a:avLst>
              <a:gd name="adj" fmla="val 7634"/>
            </a:avLst>
          </a:prstGeom>
          <a:solidFill>
            <a:srgbClr val="4B80A5"/>
          </a:solidFill>
          <a:ln>
            <a:noFill/>
          </a:ln>
          <a:effectLst/>
        </p:spPr>
        <p:txBody>
          <a:bodyPr rtlCol="0" anchor="ctr"/>
          <a:lstStyle/>
          <a:p>
            <a:pPr algn="ctr"/>
          </a:p>
        </p:txBody>
      </p:sp>
      <p:sp>
        <p:nvSpPr>
          <p:cNvPr id="17" name="TextBox 16"/>
          <p:cNvSpPr txBox="1"/>
          <p:nvPr/>
        </p:nvSpPr>
        <p:spPr>
          <a:xfrm>
            <a:off x="1187450" y="3064470"/>
            <a:ext cx="1066899" cy="213360"/>
          </a:xfrm>
          <a:prstGeom prst="rect">
            <a:avLst/>
          </a:prstGeom>
          <a:noFill/>
        </p:spPr>
        <p:txBody>
          <a:bodyPr wrap="none" lIns="0" rIns="0" tIns="0" bIns="0" anchor="ctr">
            <a:noAutofit/>
          </a:bodyPr>
          <a:lstStyle/>
          <a:p>
            <a:pPr algn="l">
              <a:lnSpc>
                <a:spcPts val="1820"/>
              </a:lnSpc>
            </a:pPr>
            <a:r>
              <a:rPr sz="1400" b="0" i="0">
                <a:solidFill>
                  <a:srgbClr val="F2F1ED"/>
                </a:solidFill>
                <a:latin typeface="Roboto Mono"/>
              </a:rPr>
              <a:t>Java Setup</a:t>
            </a:r>
          </a:p>
        </p:txBody>
      </p:sp>
      <p:sp>
        <p:nvSpPr>
          <p:cNvPr id="18" name="TextBox 17"/>
          <p:cNvSpPr txBox="1"/>
          <p:nvPr/>
        </p:nvSpPr>
        <p:spPr>
          <a:xfrm>
            <a:off x="2609949" y="2956520"/>
            <a:ext cx="3891359" cy="426720"/>
          </a:xfrm>
          <a:prstGeom prst="rect">
            <a:avLst/>
          </a:prstGeom>
          <a:noFill/>
        </p:spPr>
        <p:txBody>
          <a:bodyPr wrap="none" lIns="0" rIns="0" tIns="0" bIns="0" anchor="ctr">
            <a:noAutofit/>
          </a:bodyPr>
          <a:lstStyle/>
          <a:p>
            <a:pPr algn="l">
              <a:lnSpc>
                <a:spcPts val="3220"/>
              </a:lnSpc>
            </a:pPr>
            <a:r>
              <a:rPr sz="2800" b="0" i="0">
                <a:solidFill>
                  <a:srgbClr val="F2F1ED"/>
                </a:solidFill>
                <a:latin typeface="Georgia"/>
              </a:rPr>
              <a:t>3 Billion Devices Run Java</a:t>
            </a:r>
          </a:p>
        </p:txBody>
      </p:sp>
      <p:sp>
        <p:nvSpPr>
          <p:cNvPr id="19" name="TextBox 18"/>
          <p:cNvSpPr txBox="1"/>
          <p:nvPr/>
        </p:nvSpPr>
        <p:spPr>
          <a:xfrm>
            <a:off x="8142684" y="3051770"/>
            <a:ext cx="3014266" cy="213360"/>
          </a:xfrm>
          <a:prstGeom prst="rect">
            <a:avLst/>
          </a:prstGeom>
          <a:noFill/>
        </p:spPr>
        <p:txBody>
          <a:bodyPr wrap="none" lIns="0" rIns="0" tIns="0" bIns="0" anchor="ctr">
            <a:noAutofit/>
          </a:bodyPr>
          <a:lstStyle/>
          <a:p>
            <a:pPr algn="r">
              <a:lnSpc>
                <a:spcPts val="1820"/>
              </a:lnSpc>
            </a:pPr>
            <a:r>
              <a:rPr sz="1400" b="0" i="0">
                <a:solidFill>
                  <a:srgbClr val="C3D1D9"/>
                </a:solidFill>
                <a:latin typeface="Verdana"/>
              </a:rPr>
              <a:t>Same .class file on every one of them.</a:t>
            </a:r>
          </a:p>
        </p:txBody>
      </p:sp>
      <p:sp>
        <p:nvSpPr>
          <p:cNvPr id="20" name="Rounded Rectangle 19"/>
          <p:cNvSpPr/>
          <p:nvPr/>
        </p:nvSpPr>
        <p:spPr>
          <a:xfrm>
            <a:off x="812800" y="3632101"/>
            <a:ext cx="3420467" cy="1956792"/>
          </a:xfrm>
          <a:prstGeom prst="roundRect">
            <a:avLst>
              <a:gd name="adj" fmla="val 3245"/>
            </a:avLst>
          </a:prstGeom>
          <a:solidFill>
            <a:srgbClr val="E9E3E4"/>
          </a:solidFill>
          <a:ln w="19050">
            <a:solidFill>
              <a:srgbClr val="1C6091"/>
            </a:solidFill>
          </a:ln>
          <a:effectLst/>
        </p:spPr>
        <p:txBody>
          <a:bodyPr rtlCol="0" anchor="ctr"/>
          <a:lstStyle/>
          <a:p>
            <a:pPr algn="ctr"/>
          </a:p>
        </p:txBody>
      </p:sp>
      <p:sp>
        <p:nvSpPr>
          <p:cNvPr id="21" name="TextBox 20"/>
          <p:cNvSpPr txBox="1"/>
          <p:nvPr/>
        </p:nvSpPr>
        <p:spPr>
          <a:xfrm>
            <a:off x="1035050" y="3854351"/>
            <a:ext cx="2975967" cy="274320"/>
          </a:xfrm>
          <a:prstGeom prst="rect">
            <a:avLst/>
          </a:prstGeom>
          <a:noFill/>
        </p:spPr>
        <p:txBody>
          <a:bodyPr wrap="none" lIns="0" rIns="0" tIns="0" bIns="0" anchor="ctr">
            <a:noAutofit/>
          </a:bodyPr>
          <a:lstStyle/>
          <a:p>
            <a:pPr algn="l">
              <a:lnSpc>
                <a:spcPts val="2610"/>
              </a:lnSpc>
            </a:pPr>
            <a:r>
              <a:rPr sz="1800" b="0" i="0">
                <a:solidFill>
                  <a:srgbClr val="1C6091"/>
                </a:solidFill>
                <a:latin typeface="Roboto Mono"/>
              </a:rPr>
              <a:t>runs code</a:t>
            </a:r>
          </a:p>
        </p:txBody>
      </p:sp>
      <p:sp>
        <p:nvSpPr>
          <p:cNvPr id="22" name="TextBox 21"/>
          <p:cNvSpPr txBox="1"/>
          <p:nvPr/>
        </p:nvSpPr>
        <p:spPr>
          <a:xfrm>
            <a:off x="1035050" y="4300041"/>
            <a:ext cx="2975967"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JRE</a:t>
            </a:r>
          </a:p>
        </p:txBody>
      </p:sp>
      <p:sp>
        <p:nvSpPr>
          <p:cNvPr id="23" name="TextBox 22"/>
          <p:cNvSpPr txBox="1"/>
          <p:nvPr/>
        </p:nvSpPr>
        <p:spPr>
          <a:xfrm>
            <a:off x="1035050" y="4786412"/>
            <a:ext cx="3001367"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Runs applications. It holds the JVM.</a:t>
            </a:r>
          </a:p>
        </p:txBody>
      </p:sp>
      <p:sp>
        <p:nvSpPr>
          <p:cNvPr id="24" name="TextBox 23"/>
          <p:cNvSpPr txBox="1"/>
          <p:nvPr/>
        </p:nvSpPr>
        <p:spPr>
          <a:xfrm>
            <a:off x="812800" y="5792093"/>
            <a:ext cx="105664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Use the exact versions named in Challenge Exercise 01.</a:t>
            </a:r>
          </a:p>
        </p:txBody>
      </p:sp>
      <p:sp>
        <p:nvSpPr>
          <p:cNvPr id="25" name="Rounded Rectangle 24"/>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26" name="TextBox 25"/>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16 / 28</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Java and Eclipse in CS 2114</a:t>
            </a:r>
          </a:p>
        </p:txBody>
      </p:sp>
      <p:sp>
        <p:nvSpPr>
          <p:cNvPr id="4" name="TextBox 3"/>
          <p:cNvSpPr txBox="1"/>
          <p:nvPr/>
        </p:nvSpPr>
        <p:spPr>
          <a:xfrm>
            <a:off x="812800" y="1219200"/>
            <a:ext cx="88900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Write once. Compile once. Run anywhere.</a:t>
            </a:r>
          </a:p>
        </p:txBody>
      </p:sp>
      <p:sp>
        <p:nvSpPr>
          <p:cNvPr id="5" name="Rounded Rectangle 4"/>
          <p:cNvSpPr/>
          <p:nvPr/>
        </p:nvSpPr>
        <p:spPr>
          <a:xfrm>
            <a:off x="812800" y="2067520"/>
            <a:ext cx="2263180" cy="609600"/>
          </a:xfrm>
          <a:prstGeom prst="roundRect">
            <a:avLst>
              <a:gd name="adj" fmla="val 10416"/>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984250" y="2257425"/>
            <a:ext cx="19202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Roboto Mono"/>
              </a:rPr>
              <a:t>MyProgram.java</a:t>
            </a:r>
          </a:p>
        </p:txBody>
      </p:sp>
      <p:sp>
        <p:nvSpPr>
          <p:cNvPr id="7" name="Rectangle 6"/>
          <p:cNvSpPr/>
          <p:nvPr/>
        </p:nvSpPr>
        <p:spPr>
          <a:xfrm>
            <a:off x="3177580" y="2155825"/>
            <a:ext cx="1954312" cy="432991"/>
          </a:xfrm>
          <a:prstGeom prst="rect">
            <a:avLst/>
          </a:prstGeom>
          <a:solidFill>
            <a:srgbClr val="1C6091"/>
          </a:solidFill>
          <a:ln>
            <a:noFill/>
          </a:ln>
          <a:effectLst/>
        </p:spPr>
        <p:txBody>
          <a:bodyPr rtlCol="0" anchor="ctr"/>
          <a:lstStyle/>
          <a:p>
            <a:pPr algn="ctr"/>
          </a:p>
        </p:txBody>
      </p:sp>
      <p:sp>
        <p:nvSpPr>
          <p:cNvPr id="8" name="TextBox 7"/>
          <p:cNvSpPr txBox="1"/>
          <p:nvPr/>
        </p:nvSpPr>
        <p:spPr>
          <a:xfrm>
            <a:off x="3279180" y="2238375"/>
            <a:ext cx="1547912" cy="274320"/>
          </a:xfrm>
          <a:prstGeom prst="rect">
            <a:avLst/>
          </a:prstGeom>
          <a:noFill/>
        </p:spPr>
        <p:txBody>
          <a:bodyPr wrap="none" lIns="0" rIns="0" tIns="0" bIns="0" anchor="ctr">
            <a:noAutofit/>
          </a:bodyPr>
          <a:lstStyle/>
          <a:p>
            <a:pPr algn="l">
              <a:lnSpc>
                <a:spcPts val="2610"/>
              </a:lnSpc>
            </a:pPr>
            <a:r>
              <a:rPr sz="1800" b="0" i="0">
                <a:solidFill>
                  <a:srgbClr val="F2F1ED"/>
                </a:solidFill>
                <a:latin typeface="Verdana"/>
              </a:rPr>
              <a:t>Compiler</a:t>
            </a:r>
          </a:p>
        </p:txBody>
      </p:sp>
      <p:sp>
        <p:nvSpPr>
          <p:cNvPr id="9" name="Rounded Rectangle 8"/>
          <p:cNvSpPr/>
          <p:nvPr/>
        </p:nvSpPr>
        <p:spPr>
          <a:xfrm>
            <a:off x="5233491" y="2067520"/>
            <a:ext cx="2400399" cy="609600"/>
          </a:xfrm>
          <a:prstGeom prst="roundRect">
            <a:avLst>
              <a:gd name="adj" fmla="val 10416"/>
            </a:avLst>
          </a:prstGeom>
          <a:solidFill>
            <a:srgbClr val="E9E3E4"/>
          </a:solidFill>
          <a:ln w="19050">
            <a:solidFill>
              <a:srgbClr val="1C6091"/>
            </a:solidFill>
          </a:ln>
          <a:effectLst/>
        </p:spPr>
        <p:txBody>
          <a:bodyPr rtlCol="0" anchor="ctr"/>
          <a:lstStyle/>
          <a:p>
            <a:pPr algn="ctr"/>
          </a:p>
        </p:txBody>
      </p:sp>
      <p:sp>
        <p:nvSpPr>
          <p:cNvPr id="10" name="TextBox 9"/>
          <p:cNvSpPr txBox="1"/>
          <p:nvPr/>
        </p:nvSpPr>
        <p:spPr>
          <a:xfrm>
            <a:off x="5404941" y="2257425"/>
            <a:ext cx="2057499"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Roboto Mono"/>
              </a:rPr>
              <a:t>MyProgram.class</a:t>
            </a:r>
          </a:p>
        </p:txBody>
      </p:sp>
      <p:sp>
        <p:nvSpPr>
          <p:cNvPr id="11" name="Rectangle 10"/>
          <p:cNvSpPr/>
          <p:nvPr/>
        </p:nvSpPr>
        <p:spPr>
          <a:xfrm>
            <a:off x="7735491" y="2155825"/>
            <a:ext cx="1954411" cy="432991"/>
          </a:xfrm>
          <a:prstGeom prst="rect">
            <a:avLst/>
          </a:prstGeom>
          <a:solidFill>
            <a:srgbClr val="1C6091"/>
          </a:solidFill>
          <a:ln>
            <a:noFill/>
          </a:ln>
          <a:effectLst/>
        </p:spPr>
        <p:txBody>
          <a:bodyPr rtlCol="0" anchor="ctr"/>
          <a:lstStyle/>
          <a:p>
            <a:pPr algn="ctr"/>
          </a:p>
        </p:txBody>
      </p:sp>
      <p:sp>
        <p:nvSpPr>
          <p:cNvPr id="12" name="TextBox 11"/>
          <p:cNvSpPr txBox="1"/>
          <p:nvPr/>
        </p:nvSpPr>
        <p:spPr>
          <a:xfrm>
            <a:off x="7837091" y="2238375"/>
            <a:ext cx="1548011" cy="274320"/>
          </a:xfrm>
          <a:prstGeom prst="rect">
            <a:avLst/>
          </a:prstGeom>
          <a:noFill/>
        </p:spPr>
        <p:txBody>
          <a:bodyPr wrap="none" lIns="0" rIns="0" tIns="0" bIns="0" anchor="ctr">
            <a:noAutofit/>
          </a:bodyPr>
          <a:lstStyle/>
          <a:p>
            <a:pPr algn="l">
              <a:lnSpc>
                <a:spcPts val="2610"/>
              </a:lnSpc>
            </a:pPr>
            <a:r>
              <a:rPr sz="1800" b="0" i="0">
                <a:solidFill>
                  <a:srgbClr val="F2F1ED"/>
                </a:solidFill>
                <a:latin typeface="Verdana"/>
              </a:rPr>
              <a:t>Java VM</a:t>
            </a:r>
          </a:p>
        </p:txBody>
      </p:sp>
      <p:sp>
        <p:nvSpPr>
          <p:cNvPr id="13" name="Rounded Rectangle 12"/>
          <p:cNvSpPr/>
          <p:nvPr/>
        </p:nvSpPr>
        <p:spPr>
          <a:xfrm>
            <a:off x="9791502" y="2067520"/>
            <a:ext cx="1587698" cy="609600"/>
          </a:xfrm>
          <a:prstGeom prst="roundRect">
            <a:avLst>
              <a:gd name="adj" fmla="val 10416"/>
            </a:avLst>
          </a:prstGeom>
          <a:solidFill>
            <a:srgbClr val="E3D2CB"/>
          </a:solidFill>
          <a:ln w="19050">
            <a:solidFill>
              <a:srgbClr val="B35510"/>
            </a:solidFill>
          </a:ln>
          <a:effectLst/>
        </p:spPr>
        <p:txBody>
          <a:bodyPr rtlCol="0" anchor="ctr"/>
          <a:lstStyle/>
          <a:p>
            <a:pPr algn="ctr"/>
          </a:p>
        </p:txBody>
      </p:sp>
      <p:sp>
        <p:nvSpPr>
          <p:cNvPr id="14" name="TextBox 13"/>
          <p:cNvSpPr txBox="1"/>
          <p:nvPr/>
        </p:nvSpPr>
        <p:spPr>
          <a:xfrm>
            <a:off x="9962952" y="2238375"/>
            <a:ext cx="1244798"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My Program</a:t>
            </a:r>
          </a:p>
        </p:txBody>
      </p:sp>
      <p:sp>
        <p:nvSpPr>
          <p:cNvPr id="15" name="Rounded Rectangle 14"/>
          <p:cNvSpPr/>
          <p:nvPr/>
        </p:nvSpPr>
        <p:spPr>
          <a:xfrm>
            <a:off x="812800" y="2829520"/>
            <a:ext cx="10566400" cy="650180"/>
          </a:xfrm>
          <a:prstGeom prst="roundRect">
            <a:avLst>
              <a:gd name="adj" fmla="val 9766"/>
            </a:avLst>
          </a:prstGeom>
          <a:solidFill>
            <a:srgbClr val="1C6091"/>
          </a:solidFill>
          <a:ln w="19050">
            <a:solidFill>
              <a:srgbClr val="1C6091"/>
            </a:solidFill>
          </a:ln>
          <a:effectLst/>
        </p:spPr>
        <p:txBody>
          <a:bodyPr rtlCol="0" anchor="ctr"/>
          <a:lstStyle/>
          <a:p>
            <a:pPr algn="ctr"/>
          </a:p>
        </p:txBody>
      </p:sp>
      <p:sp>
        <p:nvSpPr>
          <p:cNvPr id="16" name="Rounded Rectangle 15"/>
          <p:cNvSpPr/>
          <p:nvPr/>
        </p:nvSpPr>
        <p:spPr>
          <a:xfrm>
            <a:off x="1035050" y="2988270"/>
            <a:ext cx="1371699" cy="332680"/>
          </a:xfrm>
          <a:prstGeom prst="roundRect">
            <a:avLst>
              <a:gd name="adj" fmla="val 7634"/>
            </a:avLst>
          </a:prstGeom>
          <a:solidFill>
            <a:srgbClr val="4B80A5"/>
          </a:solidFill>
          <a:ln>
            <a:noFill/>
          </a:ln>
          <a:effectLst/>
        </p:spPr>
        <p:txBody>
          <a:bodyPr rtlCol="0" anchor="ctr"/>
          <a:lstStyle/>
          <a:p>
            <a:pPr algn="ctr"/>
          </a:p>
        </p:txBody>
      </p:sp>
      <p:sp>
        <p:nvSpPr>
          <p:cNvPr id="17" name="TextBox 16"/>
          <p:cNvSpPr txBox="1"/>
          <p:nvPr/>
        </p:nvSpPr>
        <p:spPr>
          <a:xfrm>
            <a:off x="1187450" y="3064470"/>
            <a:ext cx="1066899" cy="213360"/>
          </a:xfrm>
          <a:prstGeom prst="rect">
            <a:avLst/>
          </a:prstGeom>
          <a:noFill/>
        </p:spPr>
        <p:txBody>
          <a:bodyPr wrap="none" lIns="0" rIns="0" tIns="0" bIns="0" anchor="ctr">
            <a:noAutofit/>
          </a:bodyPr>
          <a:lstStyle/>
          <a:p>
            <a:pPr algn="l">
              <a:lnSpc>
                <a:spcPts val="1820"/>
              </a:lnSpc>
            </a:pPr>
            <a:r>
              <a:rPr sz="1400" b="0" i="0">
                <a:solidFill>
                  <a:srgbClr val="F2F1ED"/>
                </a:solidFill>
                <a:latin typeface="Roboto Mono"/>
              </a:rPr>
              <a:t>Java Setup</a:t>
            </a:r>
          </a:p>
        </p:txBody>
      </p:sp>
      <p:sp>
        <p:nvSpPr>
          <p:cNvPr id="18" name="TextBox 17"/>
          <p:cNvSpPr txBox="1"/>
          <p:nvPr/>
        </p:nvSpPr>
        <p:spPr>
          <a:xfrm>
            <a:off x="2609949" y="2956520"/>
            <a:ext cx="3891359" cy="426720"/>
          </a:xfrm>
          <a:prstGeom prst="rect">
            <a:avLst/>
          </a:prstGeom>
          <a:noFill/>
        </p:spPr>
        <p:txBody>
          <a:bodyPr wrap="none" lIns="0" rIns="0" tIns="0" bIns="0" anchor="ctr">
            <a:noAutofit/>
          </a:bodyPr>
          <a:lstStyle/>
          <a:p>
            <a:pPr algn="l">
              <a:lnSpc>
                <a:spcPts val="3220"/>
              </a:lnSpc>
            </a:pPr>
            <a:r>
              <a:rPr sz="2800" b="0" i="0">
                <a:solidFill>
                  <a:srgbClr val="F2F1ED"/>
                </a:solidFill>
                <a:latin typeface="Georgia"/>
              </a:rPr>
              <a:t>3 Billion Devices Run Java</a:t>
            </a:r>
          </a:p>
        </p:txBody>
      </p:sp>
      <p:sp>
        <p:nvSpPr>
          <p:cNvPr id="19" name="TextBox 18"/>
          <p:cNvSpPr txBox="1"/>
          <p:nvPr/>
        </p:nvSpPr>
        <p:spPr>
          <a:xfrm>
            <a:off x="8142684" y="3051770"/>
            <a:ext cx="3014266" cy="213360"/>
          </a:xfrm>
          <a:prstGeom prst="rect">
            <a:avLst/>
          </a:prstGeom>
          <a:noFill/>
        </p:spPr>
        <p:txBody>
          <a:bodyPr wrap="none" lIns="0" rIns="0" tIns="0" bIns="0" anchor="ctr">
            <a:noAutofit/>
          </a:bodyPr>
          <a:lstStyle/>
          <a:p>
            <a:pPr algn="r">
              <a:lnSpc>
                <a:spcPts val="1820"/>
              </a:lnSpc>
            </a:pPr>
            <a:r>
              <a:rPr sz="1400" b="0" i="0">
                <a:solidFill>
                  <a:srgbClr val="C3D1D9"/>
                </a:solidFill>
                <a:latin typeface="Verdana"/>
              </a:rPr>
              <a:t>Same .class file on every one of them.</a:t>
            </a:r>
          </a:p>
        </p:txBody>
      </p:sp>
      <p:sp>
        <p:nvSpPr>
          <p:cNvPr id="20" name="Rounded Rectangle 19"/>
          <p:cNvSpPr/>
          <p:nvPr/>
        </p:nvSpPr>
        <p:spPr>
          <a:xfrm>
            <a:off x="812800" y="3632101"/>
            <a:ext cx="3420467" cy="1956792"/>
          </a:xfrm>
          <a:prstGeom prst="roundRect">
            <a:avLst>
              <a:gd name="adj" fmla="val 3245"/>
            </a:avLst>
          </a:prstGeom>
          <a:solidFill>
            <a:srgbClr val="E9E3E4"/>
          </a:solidFill>
          <a:ln w="19050">
            <a:solidFill>
              <a:srgbClr val="1C6091"/>
            </a:solidFill>
          </a:ln>
          <a:effectLst/>
        </p:spPr>
        <p:txBody>
          <a:bodyPr rtlCol="0" anchor="ctr"/>
          <a:lstStyle/>
          <a:p>
            <a:pPr algn="ctr"/>
          </a:p>
        </p:txBody>
      </p:sp>
      <p:sp>
        <p:nvSpPr>
          <p:cNvPr id="21" name="TextBox 20"/>
          <p:cNvSpPr txBox="1"/>
          <p:nvPr/>
        </p:nvSpPr>
        <p:spPr>
          <a:xfrm>
            <a:off x="1035050" y="3854351"/>
            <a:ext cx="2975967" cy="274320"/>
          </a:xfrm>
          <a:prstGeom prst="rect">
            <a:avLst/>
          </a:prstGeom>
          <a:noFill/>
        </p:spPr>
        <p:txBody>
          <a:bodyPr wrap="none" lIns="0" rIns="0" tIns="0" bIns="0" anchor="ctr">
            <a:noAutofit/>
          </a:bodyPr>
          <a:lstStyle/>
          <a:p>
            <a:pPr algn="l">
              <a:lnSpc>
                <a:spcPts val="2610"/>
              </a:lnSpc>
            </a:pPr>
            <a:r>
              <a:rPr sz="1800" b="0" i="0">
                <a:solidFill>
                  <a:srgbClr val="1C6091"/>
                </a:solidFill>
                <a:latin typeface="Roboto Mono"/>
              </a:rPr>
              <a:t>runs code</a:t>
            </a:r>
          </a:p>
        </p:txBody>
      </p:sp>
      <p:sp>
        <p:nvSpPr>
          <p:cNvPr id="22" name="TextBox 21"/>
          <p:cNvSpPr txBox="1"/>
          <p:nvPr/>
        </p:nvSpPr>
        <p:spPr>
          <a:xfrm>
            <a:off x="1035050" y="4300041"/>
            <a:ext cx="2975967"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JRE</a:t>
            </a:r>
          </a:p>
        </p:txBody>
      </p:sp>
      <p:sp>
        <p:nvSpPr>
          <p:cNvPr id="23" name="TextBox 22"/>
          <p:cNvSpPr txBox="1"/>
          <p:nvPr/>
        </p:nvSpPr>
        <p:spPr>
          <a:xfrm>
            <a:off x="1035050" y="4786412"/>
            <a:ext cx="3001367"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Runs applications. It holds the JVM.</a:t>
            </a:r>
          </a:p>
        </p:txBody>
      </p:sp>
      <p:sp>
        <p:nvSpPr>
          <p:cNvPr id="24" name="Rounded Rectangle 23"/>
          <p:cNvSpPr/>
          <p:nvPr/>
        </p:nvSpPr>
        <p:spPr>
          <a:xfrm>
            <a:off x="4385667" y="3632101"/>
            <a:ext cx="3420566" cy="1956792"/>
          </a:xfrm>
          <a:prstGeom prst="roundRect">
            <a:avLst>
              <a:gd name="adj" fmla="val 3245"/>
            </a:avLst>
          </a:prstGeom>
          <a:solidFill>
            <a:srgbClr val="E9E3E4"/>
          </a:solidFill>
          <a:ln w="19050">
            <a:solidFill>
              <a:srgbClr val="B35510"/>
            </a:solidFill>
          </a:ln>
          <a:effectLst/>
        </p:spPr>
        <p:txBody>
          <a:bodyPr rtlCol="0" anchor="ctr"/>
          <a:lstStyle/>
          <a:p>
            <a:pPr algn="ctr"/>
          </a:p>
        </p:txBody>
      </p:sp>
      <p:sp>
        <p:nvSpPr>
          <p:cNvPr id="25" name="TextBox 24"/>
          <p:cNvSpPr txBox="1"/>
          <p:nvPr/>
        </p:nvSpPr>
        <p:spPr>
          <a:xfrm>
            <a:off x="4607917" y="3854351"/>
            <a:ext cx="2976066"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Roboto Mono"/>
              </a:rPr>
              <a:t>builds code</a:t>
            </a:r>
          </a:p>
        </p:txBody>
      </p:sp>
      <p:sp>
        <p:nvSpPr>
          <p:cNvPr id="26" name="TextBox 25"/>
          <p:cNvSpPr txBox="1"/>
          <p:nvPr/>
        </p:nvSpPr>
        <p:spPr>
          <a:xfrm>
            <a:off x="4607917" y="4300041"/>
            <a:ext cx="2976066"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JDK</a:t>
            </a:r>
          </a:p>
        </p:txBody>
      </p:sp>
      <p:sp>
        <p:nvSpPr>
          <p:cNvPr id="27" name="TextBox 26"/>
          <p:cNvSpPr txBox="1"/>
          <p:nvPr/>
        </p:nvSpPr>
        <p:spPr>
          <a:xfrm>
            <a:off x="4607917" y="4786412"/>
            <a:ext cx="3001466"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The JRE plus the compiler and libraries.</a:t>
            </a:r>
          </a:p>
        </p:txBody>
      </p:sp>
      <p:sp>
        <p:nvSpPr>
          <p:cNvPr id="28" name="TextBox 27"/>
          <p:cNvSpPr txBox="1"/>
          <p:nvPr/>
        </p:nvSpPr>
        <p:spPr>
          <a:xfrm>
            <a:off x="812800" y="5792093"/>
            <a:ext cx="105664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Use the exact versions named in Challenge Exercise 01.</a:t>
            </a:r>
          </a:p>
        </p:txBody>
      </p:sp>
      <p:sp>
        <p:nvSpPr>
          <p:cNvPr id="29" name="Rounded Rectangle 28"/>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30" name="TextBox 29"/>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16 / 28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Java and Eclipse in CS 2114</a:t>
            </a:r>
          </a:p>
        </p:txBody>
      </p:sp>
      <p:sp>
        <p:nvSpPr>
          <p:cNvPr id="4" name="TextBox 3"/>
          <p:cNvSpPr txBox="1"/>
          <p:nvPr/>
        </p:nvSpPr>
        <p:spPr>
          <a:xfrm>
            <a:off x="812800" y="1219200"/>
            <a:ext cx="88900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Write once. Compile once. Run anywhere.</a:t>
            </a:r>
          </a:p>
        </p:txBody>
      </p:sp>
      <p:sp>
        <p:nvSpPr>
          <p:cNvPr id="5" name="Rounded Rectangle 4"/>
          <p:cNvSpPr/>
          <p:nvPr/>
        </p:nvSpPr>
        <p:spPr>
          <a:xfrm>
            <a:off x="812800" y="2067520"/>
            <a:ext cx="2263180" cy="609600"/>
          </a:xfrm>
          <a:prstGeom prst="roundRect">
            <a:avLst>
              <a:gd name="adj" fmla="val 10416"/>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984250" y="2257425"/>
            <a:ext cx="1920280"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Roboto Mono"/>
              </a:rPr>
              <a:t>MyProgram.java</a:t>
            </a:r>
          </a:p>
        </p:txBody>
      </p:sp>
      <p:sp>
        <p:nvSpPr>
          <p:cNvPr id="7" name="Rectangle 6"/>
          <p:cNvSpPr/>
          <p:nvPr/>
        </p:nvSpPr>
        <p:spPr>
          <a:xfrm>
            <a:off x="3177580" y="2155825"/>
            <a:ext cx="1954312" cy="432991"/>
          </a:xfrm>
          <a:prstGeom prst="rect">
            <a:avLst/>
          </a:prstGeom>
          <a:solidFill>
            <a:srgbClr val="1C6091"/>
          </a:solidFill>
          <a:ln>
            <a:noFill/>
          </a:ln>
          <a:effectLst/>
        </p:spPr>
        <p:txBody>
          <a:bodyPr rtlCol="0" anchor="ctr"/>
          <a:lstStyle/>
          <a:p>
            <a:pPr algn="ctr"/>
          </a:p>
        </p:txBody>
      </p:sp>
      <p:sp>
        <p:nvSpPr>
          <p:cNvPr id="8" name="TextBox 7"/>
          <p:cNvSpPr txBox="1"/>
          <p:nvPr/>
        </p:nvSpPr>
        <p:spPr>
          <a:xfrm>
            <a:off x="3279180" y="2238375"/>
            <a:ext cx="1547912" cy="274320"/>
          </a:xfrm>
          <a:prstGeom prst="rect">
            <a:avLst/>
          </a:prstGeom>
          <a:noFill/>
        </p:spPr>
        <p:txBody>
          <a:bodyPr wrap="none" lIns="0" rIns="0" tIns="0" bIns="0" anchor="ctr">
            <a:noAutofit/>
          </a:bodyPr>
          <a:lstStyle/>
          <a:p>
            <a:pPr algn="l">
              <a:lnSpc>
                <a:spcPts val="2610"/>
              </a:lnSpc>
            </a:pPr>
            <a:r>
              <a:rPr sz="1800" b="0" i="0">
                <a:solidFill>
                  <a:srgbClr val="F2F1ED"/>
                </a:solidFill>
                <a:latin typeface="Verdana"/>
              </a:rPr>
              <a:t>Compiler</a:t>
            </a:r>
          </a:p>
        </p:txBody>
      </p:sp>
      <p:sp>
        <p:nvSpPr>
          <p:cNvPr id="9" name="Rounded Rectangle 8"/>
          <p:cNvSpPr/>
          <p:nvPr/>
        </p:nvSpPr>
        <p:spPr>
          <a:xfrm>
            <a:off x="5233491" y="2067520"/>
            <a:ext cx="2400399" cy="609600"/>
          </a:xfrm>
          <a:prstGeom prst="roundRect">
            <a:avLst>
              <a:gd name="adj" fmla="val 10416"/>
            </a:avLst>
          </a:prstGeom>
          <a:solidFill>
            <a:srgbClr val="E9E3E4"/>
          </a:solidFill>
          <a:ln w="19050">
            <a:solidFill>
              <a:srgbClr val="1C6091"/>
            </a:solidFill>
          </a:ln>
          <a:effectLst/>
        </p:spPr>
        <p:txBody>
          <a:bodyPr rtlCol="0" anchor="ctr"/>
          <a:lstStyle/>
          <a:p>
            <a:pPr algn="ctr"/>
          </a:p>
        </p:txBody>
      </p:sp>
      <p:sp>
        <p:nvSpPr>
          <p:cNvPr id="10" name="TextBox 9"/>
          <p:cNvSpPr txBox="1"/>
          <p:nvPr/>
        </p:nvSpPr>
        <p:spPr>
          <a:xfrm>
            <a:off x="5404941" y="2257425"/>
            <a:ext cx="2057499"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Roboto Mono"/>
              </a:rPr>
              <a:t>MyProgram.class</a:t>
            </a:r>
          </a:p>
        </p:txBody>
      </p:sp>
      <p:sp>
        <p:nvSpPr>
          <p:cNvPr id="11" name="Rectangle 10"/>
          <p:cNvSpPr/>
          <p:nvPr/>
        </p:nvSpPr>
        <p:spPr>
          <a:xfrm>
            <a:off x="7735491" y="2155825"/>
            <a:ext cx="1954411" cy="432991"/>
          </a:xfrm>
          <a:prstGeom prst="rect">
            <a:avLst/>
          </a:prstGeom>
          <a:solidFill>
            <a:srgbClr val="1C6091"/>
          </a:solidFill>
          <a:ln>
            <a:noFill/>
          </a:ln>
          <a:effectLst/>
        </p:spPr>
        <p:txBody>
          <a:bodyPr rtlCol="0" anchor="ctr"/>
          <a:lstStyle/>
          <a:p>
            <a:pPr algn="ctr"/>
          </a:p>
        </p:txBody>
      </p:sp>
      <p:sp>
        <p:nvSpPr>
          <p:cNvPr id="12" name="TextBox 11"/>
          <p:cNvSpPr txBox="1"/>
          <p:nvPr/>
        </p:nvSpPr>
        <p:spPr>
          <a:xfrm>
            <a:off x="7837091" y="2238375"/>
            <a:ext cx="1548011" cy="274320"/>
          </a:xfrm>
          <a:prstGeom prst="rect">
            <a:avLst/>
          </a:prstGeom>
          <a:noFill/>
        </p:spPr>
        <p:txBody>
          <a:bodyPr wrap="none" lIns="0" rIns="0" tIns="0" bIns="0" anchor="ctr">
            <a:noAutofit/>
          </a:bodyPr>
          <a:lstStyle/>
          <a:p>
            <a:pPr algn="l">
              <a:lnSpc>
                <a:spcPts val="2610"/>
              </a:lnSpc>
            </a:pPr>
            <a:r>
              <a:rPr sz="1800" b="0" i="0">
                <a:solidFill>
                  <a:srgbClr val="F2F1ED"/>
                </a:solidFill>
                <a:latin typeface="Verdana"/>
              </a:rPr>
              <a:t>Java VM</a:t>
            </a:r>
          </a:p>
        </p:txBody>
      </p:sp>
      <p:sp>
        <p:nvSpPr>
          <p:cNvPr id="13" name="Rounded Rectangle 12"/>
          <p:cNvSpPr/>
          <p:nvPr/>
        </p:nvSpPr>
        <p:spPr>
          <a:xfrm>
            <a:off x="9791502" y="2067520"/>
            <a:ext cx="1587698" cy="609600"/>
          </a:xfrm>
          <a:prstGeom prst="roundRect">
            <a:avLst>
              <a:gd name="adj" fmla="val 10416"/>
            </a:avLst>
          </a:prstGeom>
          <a:solidFill>
            <a:srgbClr val="E3D2CB"/>
          </a:solidFill>
          <a:ln w="19050">
            <a:solidFill>
              <a:srgbClr val="B35510"/>
            </a:solidFill>
          </a:ln>
          <a:effectLst/>
        </p:spPr>
        <p:txBody>
          <a:bodyPr rtlCol="0" anchor="ctr"/>
          <a:lstStyle/>
          <a:p>
            <a:pPr algn="ctr"/>
          </a:p>
        </p:txBody>
      </p:sp>
      <p:sp>
        <p:nvSpPr>
          <p:cNvPr id="14" name="TextBox 13"/>
          <p:cNvSpPr txBox="1"/>
          <p:nvPr/>
        </p:nvSpPr>
        <p:spPr>
          <a:xfrm>
            <a:off x="9962952" y="2238375"/>
            <a:ext cx="1244798"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My Program</a:t>
            </a:r>
          </a:p>
        </p:txBody>
      </p:sp>
      <p:sp>
        <p:nvSpPr>
          <p:cNvPr id="15" name="Rounded Rectangle 14"/>
          <p:cNvSpPr/>
          <p:nvPr/>
        </p:nvSpPr>
        <p:spPr>
          <a:xfrm>
            <a:off x="812800" y="2829520"/>
            <a:ext cx="10566400" cy="650180"/>
          </a:xfrm>
          <a:prstGeom prst="roundRect">
            <a:avLst>
              <a:gd name="adj" fmla="val 9766"/>
            </a:avLst>
          </a:prstGeom>
          <a:solidFill>
            <a:srgbClr val="1C6091"/>
          </a:solidFill>
          <a:ln w="19050">
            <a:solidFill>
              <a:srgbClr val="1C6091"/>
            </a:solidFill>
          </a:ln>
          <a:effectLst/>
        </p:spPr>
        <p:txBody>
          <a:bodyPr rtlCol="0" anchor="ctr"/>
          <a:lstStyle/>
          <a:p>
            <a:pPr algn="ctr"/>
          </a:p>
        </p:txBody>
      </p:sp>
      <p:sp>
        <p:nvSpPr>
          <p:cNvPr id="16" name="Rounded Rectangle 15"/>
          <p:cNvSpPr/>
          <p:nvPr/>
        </p:nvSpPr>
        <p:spPr>
          <a:xfrm>
            <a:off x="1035050" y="2988270"/>
            <a:ext cx="1371699" cy="332680"/>
          </a:xfrm>
          <a:prstGeom prst="roundRect">
            <a:avLst>
              <a:gd name="adj" fmla="val 7634"/>
            </a:avLst>
          </a:prstGeom>
          <a:solidFill>
            <a:srgbClr val="4B80A5"/>
          </a:solidFill>
          <a:ln>
            <a:noFill/>
          </a:ln>
          <a:effectLst/>
        </p:spPr>
        <p:txBody>
          <a:bodyPr rtlCol="0" anchor="ctr"/>
          <a:lstStyle/>
          <a:p>
            <a:pPr algn="ctr"/>
          </a:p>
        </p:txBody>
      </p:sp>
      <p:sp>
        <p:nvSpPr>
          <p:cNvPr id="17" name="TextBox 16"/>
          <p:cNvSpPr txBox="1"/>
          <p:nvPr/>
        </p:nvSpPr>
        <p:spPr>
          <a:xfrm>
            <a:off x="1187450" y="3064470"/>
            <a:ext cx="1066899" cy="213360"/>
          </a:xfrm>
          <a:prstGeom prst="rect">
            <a:avLst/>
          </a:prstGeom>
          <a:noFill/>
        </p:spPr>
        <p:txBody>
          <a:bodyPr wrap="none" lIns="0" rIns="0" tIns="0" bIns="0" anchor="ctr">
            <a:noAutofit/>
          </a:bodyPr>
          <a:lstStyle/>
          <a:p>
            <a:pPr algn="l">
              <a:lnSpc>
                <a:spcPts val="1820"/>
              </a:lnSpc>
            </a:pPr>
            <a:r>
              <a:rPr sz="1400" b="0" i="0">
                <a:solidFill>
                  <a:srgbClr val="F2F1ED"/>
                </a:solidFill>
                <a:latin typeface="Roboto Mono"/>
              </a:rPr>
              <a:t>Java Setup</a:t>
            </a:r>
          </a:p>
        </p:txBody>
      </p:sp>
      <p:sp>
        <p:nvSpPr>
          <p:cNvPr id="18" name="TextBox 17"/>
          <p:cNvSpPr txBox="1"/>
          <p:nvPr/>
        </p:nvSpPr>
        <p:spPr>
          <a:xfrm>
            <a:off x="2609949" y="2956520"/>
            <a:ext cx="3891359" cy="426720"/>
          </a:xfrm>
          <a:prstGeom prst="rect">
            <a:avLst/>
          </a:prstGeom>
          <a:noFill/>
        </p:spPr>
        <p:txBody>
          <a:bodyPr wrap="none" lIns="0" rIns="0" tIns="0" bIns="0" anchor="ctr">
            <a:noAutofit/>
          </a:bodyPr>
          <a:lstStyle/>
          <a:p>
            <a:pPr algn="l">
              <a:lnSpc>
                <a:spcPts val="3220"/>
              </a:lnSpc>
            </a:pPr>
            <a:r>
              <a:rPr sz="2800" b="0" i="0">
                <a:solidFill>
                  <a:srgbClr val="F2F1ED"/>
                </a:solidFill>
                <a:latin typeface="Georgia"/>
              </a:rPr>
              <a:t>3 Billion Devices Run Java</a:t>
            </a:r>
          </a:p>
        </p:txBody>
      </p:sp>
      <p:sp>
        <p:nvSpPr>
          <p:cNvPr id="19" name="TextBox 18"/>
          <p:cNvSpPr txBox="1"/>
          <p:nvPr/>
        </p:nvSpPr>
        <p:spPr>
          <a:xfrm>
            <a:off x="8142684" y="3051770"/>
            <a:ext cx="3014266" cy="213360"/>
          </a:xfrm>
          <a:prstGeom prst="rect">
            <a:avLst/>
          </a:prstGeom>
          <a:noFill/>
        </p:spPr>
        <p:txBody>
          <a:bodyPr wrap="none" lIns="0" rIns="0" tIns="0" bIns="0" anchor="ctr">
            <a:noAutofit/>
          </a:bodyPr>
          <a:lstStyle/>
          <a:p>
            <a:pPr algn="r">
              <a:lnSpc>
                <a:spcPts val="1820"/>
              </a:lnSpc>
            </a:pPr>
            <a:r>
              <a:rPr sz="1400" b="0" i="0">
                <a:solidFill>
                  <a:srgbClr val="C3D1D9"/>
                </a:solidFill>
                <a:latin typeface="Verdana"/>
              </a:rPr>
              <a:t>Same .class file on every one of them.</a:t>
            </a:r>
          </a:p>
        </p:txBody>
      </p:sp>
      <p:sp>
        <p:nvSpPr>
          <p:cNvPr id="20" name="Rounded Rectangle 19"/>
          <p:cNvSpPr/>
          <p:nvPr/>
        </p:nvSpPr>
        <p:spPr>
          <a:xfrm>
            <a:off x="812800" y="3632101"/>
            <a:ext cx="3420467" cy="1956792"/>
          </a:xfrm>
          <a:prstGeom prst="roundRect">
            <a:avLst>
              <a:gd name="adj" fmla="val 3245"/>
            </a:avLst>
          </a:prstGeom>
          <a:solidFill>
            <a:srgbClr val="E9E3E4"/>
          </a:solidFill>
          <a:ln w="19050">
            <a:solidFill>
              <a:srgbClr val="1C6091"/>
            </a:solidFill>
          </a:ln>
          <a:effectLst/>
        </p:spPr>
        <p:txBody>
          <a:bodyPr rtlCol="0" anchor="ctr"/>
          <a:lstStyle/>
          <a:p>
            <a:pPr algn="ctr"/>
          </a:p>
        </p:txBody>
      </p:sp>
      <p:sp>
        <p:nvSpPr>
          <p:cNvPr id="21" name="TextBox 20"/>
          <p:cNvSpPr txBox="1"/>
          <p:nvPr/>
        </p:nvSpPr>
        <p:spPr>
          <a:xfrm>
            <a:off x="1035050" y="3854351"/>
            <a:ext cx="2975967" cy="274320"/>
          </a:xfrm>
          <a:prstGeom prst="rect">
            <a:avLst/>
          </a:prstGeom>
          <a:noFill/>
        </p:spPr>
        <p:txBody>
          <a:bodyPr wrap="none" lIns="0" rIns="0" tIns="0" bIns="0" anchor="ctr">
            <a:noAutofit/>
          </a:bodyPr>
          <a:lstStyle/>
          <a:p>
            <a:pPr algn="l">
              <a:lnSpc>
                <a:spcPts val="2610"/>
              </a:lnSpc>
            </a:pPr>
            <a:r>
              <a:rPr sz="1800" b="0" i="0">
                <a:solidFill>
                  <a:srgbClr val="1C6091"/>
                </a:solidFill>
                <a:latin typeface="Roboto Mono"/>
              </a:rPr>
              <a:t>runs code</a:t>
            </a:r>
          </a:p>
        </p:txBody>
      </p:sp>
      <p:sp>
        <p:nvSpPr>
          <p:cNvPr id="22" name="TextBox 21"/>
          <p:cNvSpPr txBox="1"/>
          <p:nvPr/>
        </p:nvSpPr>
        <p:spPr>
          <a:xfrm>
            <a:off x="1035050" y="4300041"/>
            <a:ext cx="2975967"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JRE</a:t>
            </a:r>
          </a:p>
        </p:txBody>
      </p:sp>
      <p:sp>
        <p:nvSpPr>
          <p:cNvPr id="23" name="TextBox 22"/>
          <p:cNvSpPr txBox="1"/>
          <p:nvPr/>
        </p:nvSpPr>
        <p:spPr>
          <a:xfrm>
            <a:off x="1035050" y="4786412"/>
            <a:ext cx="3001367"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Runs applications. It holds the JVM.</a:t>
            </a:r>
          </a:p>
        </p:txBody>
      </p:sp>
      <p:sp>
        <p:nvSpPr>
          <p:cNvPr id="24" name="Rounded Rectangle 23"/>
          <p:cNvSpPr/>
          <p:nvPr/>
        </p:nvSpPr>
        <p:spPr>
          <a:xfrm>
            <a:off x="4385667" y="3632101"/>
            <a:ext cx="3420566" cy="1956792"/>
          </a:xfrm>
          <a:prstGeom prst="roundRect">
            <a:avLst>
              <a:gd name="adj" fmla="val 3245"/>
            </a:avLst>
          </a:prstGeom>
          <a:solidFill>
            <a:srgbClr val="E9E3E4"/>
          </a:solidFill>
          <a:ln w="19050">
            <a:solidFill>
              <a:srgbClr val="B35510"/>
            </a:solidFill>
          </a:ln>
          <a:effectLst/>
        </p:spPr>
        <p:txBody>
          <a:bodyPr rtlCol="0" anchor="ctr"/>
          <a:lstStyle/>
          <a:p>
            <a:pPr algn="ctr"/>
          </a:p>
        </p:txBody>
      </p:sp>
      <p:sp>
        <p:nvSpPr>
          <p:cNvPr id="25" name="TextBox 24"/>
          <p:cNvSpPr txBox="1"/>
          <p:nvPr/>
        </p:nvSpPr>
        <p:spPr>
          <a:xfrm>
            <a:off x="4607917" y="3854351"/>
            <a:ext cx="2976066"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Roboto Mono"/>
              </a:rPr>
              <a:t>builds code</a:t>
            </a:r>
          </a:p>
        </p:txBody>
      </p:sp>
      <p:sp>
        <p:nvSpPr>
          <p:cNvPr id="26" name="TextBox 25"/>
          <p:cNvSpPr txBox="1"/>
          <p:nvPr/>
        </p:nvSpPr>
        <p:spPr>
          <a:xfrm>
            <a:off x="4607917" y="4300041"/>
            <a:ext cx="2976066"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JDK</a:t>
            </a:r>
          </a:p>
        </p:txBody>
      </p:sp>
      <p:sp>
        <p:nvSpPr>
          <p:cNvPr id="27" name="TextBox 26"/>
          <p:cNvSpPr txBox="1"/>
          <p:nvPr/>
        </p:nvSpPr>
        <p:spPr>
          <a:xfrm>
            <a:off x="4607917" y="4786412"/>
            <a:ext cx="3001466"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The JRE plus the compiler and libraries.</a:t>
            </a:r>
          </a:p>
        </p:txBody>
      </p:sp>
      <p:sp>
        <p:nvSpPr>
          <p:cNvPr id="28" name="Rounded Rectangle 27"/>
          <p:cNvSpPr/>
          <p:nvPr/>
        </p:nvSpPr>
        <p:spPr>
          <a:xfrm>
            <a:off x="7958634" y="3632101"/>
            <a:ext cx="3420566" cy="1956792"/>
          </a:xfrm>
          <a:prstGeom prst="roundRect">
            <a:avLst>
              <a:gd name="adj" fmla="val 3245"/>
            </a:avLst>
          </a:prstGeom>
          <a:solidFill>
            <a:srgbClr val="E9E3E4"/>
          </a:solidFill>
          <a:ln w="19050">
            <a:solidFill>
              <a:srgbClr val="861F41"/>
            </a:solidFill>
          </a:ln>
          <a:effectLst/>
        </p:spPr>
        <p:txBody>
          <a:bodyPr rtlCol="0" anchor="ctr"/>
          <a:lstStyle/>
          <a:p>
            <a:pPr algn="ctr"/>
          </a:p>
        </p:txBody>
      </p:sp>
      <p:sp>
        <p:nvSpPr>
          <p:cNvPr id="29" name="TextBox 28"/>
          <p:cNvSpPr txBox="1"/>
          <p:nvPr/>
        </p:nvSpPr>
        <p:spPr>
          <a:xfrm>
            <a:off x="8180884" y="3854351"/>
            <a:ext cx="2976066"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Roboto Mono"/>
              </a:rPr>
              <a:t>where you work</a:t>
            </a:r>
          </a:p>
        </p:txBody>
      </p:sp>
      <p:sp>
        <p:nvSpPr>
          <p:cNvPr id="30" name="TextBox 29"/>
          <p:cNvSpPr txBox="1"/>
          <p:nvPr/>
        </p:nvSpPr>
        <p:spPr>
          <a:xfrm>
            <a:off x="8180884" y="4300041"/>
            <a:ext cx="2976066"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Eclipse</a:t>
            </a:r>
          </a:p>
        </p:txBody>
      </p:sp>
      <p:sp>
        <p:nvSpPr>
          <p:cNvPr id="31" name="TextBox 30"/>
          <p:cNvSpPr txBox="1"/>
          <p:nvPr/>
        </p:nvSpPr>
        <p:spPr>
          <a:xfrm>
            <a:off x="8180884" y="4786412"/>
            <a:ext cx="3001466" cy="591741"/>
          </a:xfrm>
          <a:prstGeom prst="rect">
            <a:avLst/>
          </a:prstGeom>
          <a:noFill/>
        </p:spPr>
        <p:txBody>
          <a:bodyPr wrap="square" lIns="0" rIns="0" tIns="0" bIns="0" anchor="ctr">
            <a:noAutofit/>
          </a:bodyPr>
          <a:lstStyle/>
          <a:p>
            <a:pPr algn="l">
              <a:lnSpc>
                <a:spcPts val="2610"/>
              </a:lnSpc>
            </a:pPr>
            <a:r>
              <a:rPr sz="1800" b="0" i="0">
                <a:solidFill>
                  <a:srgbClr val="2C1A1F"/>
                </a:solidFill>
                <a:latin typeface="Verdana"/>
              </a:rPr>
              <a:t>Edit, compile, run and debug in one window.</a:t>
            </a:r>
          </a:p>
        </p:txBody>
      </p:sp>
      <p:sp>
        <p:nvSpPr>
          <p:cNvPr id="32" name="TextBox 31"/>
          <p:cNvSpPr txBox="1"/>
          <p:nvPr/>
        </p:nvSpPr>
        <p:spPr>
          <a:xfrm>
            <a:off x="812800" y="5792093"/>
            <a:ext cx="105664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Verdana"/>
              </a:rPr>
              <a:t>Use the exact versions named in Challenge Exercise 01.</a:t>
            </a:r>
          </a:p>
        </p:txBody>
      </p:sp>
      <p:sp>
        <p:nvSpPr>
          <p:cNvPr id="33" name="Rounded Rectangle 32"/>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34" name="TextBox 33"/>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16 / 28</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Getting help</a:t>
            </a:r>
          </a:p>
        </p:txBody>
      </p:sp>
      <p:sp>
        <p:nvSpPr>
          <p:cNvPr id="4" name="Rounded Rectangle 3"/>
          <p:cNvSpPr/>
          <p:nvPr/>
        </p:nvSpPr>
        <p:spPr>
          <a:xfrm>
            <a:off x="812800" y="2002929"/>
            <a:ext cx="3420467" cy="2679502"/>
          </a:xfrm>
          <a:prstGeom prst="roundRect">
            <a:avLst>
              <a:gd name="adj" fmla="val 2369"/>
            </a:avLst>
          </a:prstGeom>
          <a:solidFill>
            <a:srgbClr val="E9E3E4"/>
          </a:solidFill>
          <a:ln w="19050">
            <a:solidFill>
              <a:srgbClr val="1C6091"/>
            </a:solidFill>
          </a:ln>
          <a:effectLst/>
        </p:spPr>
        <p:txBody>
          <a:bodyPr rtlCol="0" anchor="ctr"/>
          <a:lstStyle/>
          <a:p>
            <a:pPr algn="ctr"/>
          </a:p>
        </p:txBody>
      </p:sp>
      <p:sp>
        <p:nvSpPr>
          <p:cNvPr id="5" name="TextBox 4"/>
          <p:cNvSpPr txBox="1"/>
          <p:nvPr/>
        </p:nvSpPr>
        <p:spPr>
          <a:xfrm>
            <a:off x="1136650" y="2237879"/>
            <a:ext cx="2772767"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Piazza</a:t>
            </a:r>
          </a:p>
        </p:txBody>
      </p:sp>
      <p:sp>
        <p:nvSpPr>
          <p:cNvPr id="6" name="TextBox 5"/>
          <p:cNvSpPr txBox="1"/>
          <p:nvPr/>
        </p:nvSpPr>
        <p:spPr>
          <a:xfrm>
            <a:off x="1136650" y="2743299"/>
            <a:ext cx="2798167" cy="1220391"/>
          </a:xfrm>
          <a:prstGeom prst="rect">
            <a:avLst/>
          </a:prstGeom>
          <a:noFill/>
        </p:spPr>
        <p:txBody>
          <a:bodyPr wrap="square" lIns="0" rIns="0" tIns="0" bIns="0" anchor="ctr">
            <a:noAutofit/>
          </a:bodyPr>
          <a:lstStyle/>
          <a:p>
            <a:pPr algn="l">
              <a:lnSpc>
                <a:spcPts val="3479"/>
              </a:lnSpc>
            </a:pPr>
            <a:r>
              <a:rPr sz="2400" b="0" i="0">
                <a:solidFill>
                  <a:srgbClr val="2C1A1F"/>
                </a:solidFill>
                <a:latin typeface="Verdana"/>
              </a:rPr>
              <a:t>Fastest answers — search before posting</a:t>
            </a:r>
          </a:p>
        </p:txBody>
      </p:sp>
      <p:sp>
        <p:nvSpPr>
          <p:cNvPr id="7" name="Rounded Rectangle 6"/>
          <p:cNvSpPr/>
          <p:nvPr/>
        </p:nvSpPr>
        <p:spPr>
          <a:xfrm>
            <a:off x="4385667" y="2002929"/>
            <a:ext cx="3420566" cy="2679502"/>
          </a:xfrm>
          <a:prstGeom prst="roundRect">
            <a:avLst>
              <a:gd name="adj" fmla="val 2369"/>
            </a:avLst>
          </a:prstGeom>
          <a:solidFill>
            <a:srgbClr val="E9E3E4"/>
          </a:solidFill>
          <a:ln w="19050">
            <a:solidFill>
              <a:srgbClr val="861F41"/>
            </a:solidFill>
          </a:ln>
          <a:effectLst/>
        </p:spPr>
        <p:txBody>
          <a:bodyPr rtlCol="0" anchor="ctr"/>
          <a:lstStyle/>
          <a:p>
            <a:pPr algn="ctr"/>
          </a:p>
        </p:txBody>
      </p:sp>
      <p:sp>
        <p:nvSpPr>
          <p:cNvPr id="8" name="TextBox 7"/>
          <p:cNvSpPr txBox="1"/>
          <p:nvPr/>
        </p:nvSpPr>
        <p:spPr>
          <a:xfrm>
            <a:off x="4709517" y="2237879"/>
            <a:ext cx="2772866"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Office hours</a:t>
            </a:r>
          </a:p>
        </p:txBody>
      </p:sp>
      <p:sp>
        <p:nvSpPr>
          <p:cNvPr id="9" name="TextBox 8"/>
          <p:cNvSpPr txBox="1"/>
          <p:nvPr/>
        </p:nvSpPr>
        <p:spPr>
          <a:xfrm>
            <a:off x="4709517" y="2743299"/>
            <a:ext cx="2798266" cy="1220391"/>
          </a:xfrm>
          <a:prstGeom prst="rect">
            <a:avLst/>
          </a:prstGeom>
          <a:noFill/>
        </p:spPr>
        <p:txBody>
          <a:bodyPr wrap="square" lIns="0" rIns="0" tIns="0" bIns="0" anchor="ctr">
            <a:noAutofit/>
          </a:bodyPr>
          <a:lstStyle/>
          <a:p>
            <a:pPr algn="l">
              <a:lnSpc>
                <a:spcPts val="3479"/>
              </a:lnSpc>
            </a:pPr>
            <a:r>
              <a:rPr sz="2400" b="0" i="0">
                <a:solidFill>
                  <a:srgbClr val="2C1A1F"/>
                </a:solidFill>
                <a:latin typeface="Verdana"/>
              </a:rPr>
              <a:t>Mine and the TAs’ — calendar on Canvas</a:t>
            </a:r>
          </a:p>
        </p:txBody>
      </p:sp>
      <p:sp>
        <p:nvSpPr>
          <p:cNvPr id="10" name="Rounded Rectangle 9"/>
          <p:cNvSpPr/>
          <p:nvPr/>
        </p:nvSpPr>
        <p:spPr>
          <a:xfrm>
            <a:off x="7958634" y="2002929"/>
            <a:ext cx="3420566" cy="2679502"/>
          </a:xfrm>
          <a:prstGeom prst="roundRect">
            <a:avLst>
              <a:gd name="adj" fmla="val 2369"/>
            </a:avLst>
          </a:prstGeom>
          <a:solidFill>
            <a:srgbClr val="E9E3E4"/>
          </a:solidFill>
          <a:ln w="19050">
            <a:solidFill>
              <a:srgbClr val="B35510"/>
            </a:solidFill>
          </a:ln>
          <a:effectLst/>
        </p:spPr>
        <p:txBody>
          <a:bodyPr rtlCol="0" anchor="ctr"/>
          <a:lstStyle/>
          <a:p>
            <a:pPr algn="ctr"/>
          </a:p>
        </p:txBody>
      </p:sp>
      <p:sp>
        <p:nvSpPr>
          <p:cNvPr id="11" name="TextBox 10"/>
          <p:cNvSpPr txBox="1"/>
          <p:nvPr/>
        </p:nvSpPr>
        <p:spPr>
          <a:xfrm>
            <a:off x="8282484" y="2237879"/>
            <a:ext cx="2772866"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Labs</a:t>
            </a:r>
          </a:p>
        </p:txBody>
      </p:sp>
      <p:sp>
        <p:nvSpPr>
          <p:cNvPr id="12" name="TextBox 11"/>
          <p:cNvSpPr txBox="1"/>
          <p:nvPr/>
        </p:nvSpPr>
        <p:spPr>
          <a:xfrm>
            <a:off x="8282484" y="2743299"/>
            <a:ext cx="2798266" cy="1662311"/>
          </a:xfrm>
          <a:prstGeom prst="rect">
            <a:avLst/>
          </a:prstGeom>
          <a:noFill/>
        </p:spPr>
        <p:txBody>
          <a:bodyPr wrap="square" lIns="0" rIns="0" tIns="0" bIns="0" anchor="ctr">
            <a:noAutofit/>
          </a:bodyPr>
          <a:lstStyle/>
          <a:p>
            <a:pPr algn="l">
              <a:lnSpc>
                <a:spcPts val="3479"/>
              </a:lnSpc>
            </a:pPr>
            <a:r>
              <a:rPr sz="2400" b="0" i="0">
                <a:solidFill>
                  <a:srgbClr val="2C1A1F"/>
                </a:solidFill>
                <a:latin typeface="Verdana"/>
              </a:rPr>
              <a:t>UTAs there to help, GTAs grade — every week from Week 2</a:t>
            </a:r>
          </a:p>
        </p:txBody>
      </p:sp>
      <p:sp>
        <p:nvSpPr>
          <p:cNvPr id="13" name="TextBox 12"/>
          <p:cNvSpPr txBox="1"/>
          <p:nvPr/>
        </p:nvSpPr>
        <p:spPr>
          <a:xfrm>
            <a:off x="812800" y="5262959"/>
            <a:ext cx="10591800" cy="778470"/>
          </a:xfrm>
          <a:prstGeom prst="rect">
            <a:avLst/>
          </a:prstGeom>
          <a:noFill/>
        </p:spPr>
        <p:txBody>
          <a:bodyPr wrap="square" lIns="0" rIns="0" tIns="0" bIns="0" anchor="ctr">
            <a:noAutofit/>
          </a:bodyPr>
          <a:lstStyle/>
          <a:p>
            <a:pPr algn="l">
              <a:lnSpc>
                <a:spcPts val="3479"/>
              </a:lnSpc>
            </a:pPr>
            <a:r>
              <a:rPr sz="2400" b="0" i="0">
                <a:solidFill>
                  <a:srgbClr val="6B4A52"/>
                </a:solidFill>
                <a:latin typeface="Verdana"/>
              </a:rPr>
              <a:t>AI can explain and hint — but check the assignment’s GenAI policy first, and never let it replace understanding.</a:t>
            </a:r>
          </a:p>
        </p:txBody>
      </p:sp>
      <p:sp>
        <p:nvSpPr>
          <p:cNvPr id="14" name="Rounded Rectangle 13"/>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5" name="TextBox 14"/>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17 / 28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1974056" y="2085975"/>
            <a:ext cx="4499372" cy="731520"/>
          </a:xfrm>
          <a:prstGeom prst="rect">
            <a:avLst/>
          </a:prstGeom>
          <a:noFill/>
        </p:spPr>
        <p:txBody>
          <a:bodyPr wrap="none" lIns="0" rIns="0" tIns="0" bIns="0" anchor="ctr">
            <a:noAutofit/>
          </a:bodyPr>
          <a:lstStyle/>
          <a:p>
            <a:pPr algn="l">
              <a:lnSpc>
                <a:spcPts val="5040"/>
              </a:lnSpc>
            </a:pPr>
            <a:r>
              <a:rPr sz="4800" b="0" i="0" spc="-96">
                <a:solidFill>
                  <a:srgbClr val="861F41"/>
                </a:solidFill>
                <a:latin typeface="Georgia"/>
              </a:rPr>
              <a:t>Software Design &amp;</a:t>
            </a:r>
          </a:p>
        </p:txBody>
      </p:sp>
      <p:sp>
        <p:nvSpPr>
          <p:cNvPr id="4" name="TextBox 3"/>
          <p:cNvSpPr txBox="1"/>
          <p:nvPr/>
        </p:nvSpPr>
        <p:spPr>
          <a:xfrm>
            <a:off x="6625828" y="2085975"/>
            <a:ext cx="3592016" cy="731520"/>
          </a:xfrm>
          <a:prstGeom prst="rect">
            <a:avLst/>
          </a:prstGeom>
          <a:noFill/>
        </p:spPr>
        <p:txBody>
          <a:bodyPr wrap="none" lIns="0" rIns="0" tIns="0" bIns="0" anchor="ctr">
            <a:noAutofit/>
          </a:bodyPr>
          <a:lstStyle/>
          <a:p>
            <a:pPr algn="l">
              <a:lnSpc>
                <a:spcPts val="5040"/>
              </a:lnSpc>
            </a:pPr>
            <a:r>
              <a:rPr sz="4800" b="0" i="0" spc="-96">
                <a:solidFill>
                  <a:srgbClr val="861F41"/>
                </a:solidFill>
                <a:latin typeface="Georgia"/>
              </a:rPr>
              <a:t>Data Structures</a:t>
            </a:r>
          </a:p>
        </p:txBody>
      </p:sp>
      <p:sp>
        <p:nvSpPr>
          <p:cNvPr id="5" name="Rounded Rectangle 4"/>
          <p:cNvSpPr/>
          <p:nvPr/>
        </p:nvSpPr>
        <p:spPr>
          <a:xfrm>
            <a:off x="1686917" y="3361035"/>
            <a:ext cx="846832" cy="1385491"/>
          </a:xfrm>
          <a:prstGeom prst="roundRect">
            <a:avLst>
              <a:gd name="adj" fmla="val 7498"/>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1756767" y="4275435"/>
            <a:ext cx="707132"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Writing</a:t>
            </a:r>
          </a:p>
        </p:txBody>
      </p:sp>
      <p:pic>
        <p:nvPicPr>
          <p:cNvPr id="7" name="Picture 6" descr="979f909bcfc327e2.png"/>
          <p:cNvPicPr>
            <a:picLocks noChangeAspect="1"/>
          </p:cNvPicPr>
          <p:nvPr/>
        </p:nvPicPr>
        <p:blipFill>
          <a:blip r:embed="rId3"/>
          <a:stretch>
            <a:fillRect/>
          </a:stretch>
        </p:blipFill>
        <p:spPr>
          <a:xfrm>
            <a:off x="1803400" y="3530600"/>
            <a:ext cx="609600" cy="609600"/>
          </a:xfrm>
          <a:prstGeom prst="rect">
            <a:avLst/>
          </a:prstGeom>
        </p:spPr>
      </p:pic>
      <p:sp>
        <p:nvSpPr>
          <p:cNvPr id="8" name="Rounded Rectangle 7"/>
          <p:cNvSpPr/>
          <p:nvPr/>
        </p:nvSpPr>
        <p:spPr>
          <a:xfrm>
            <a:off x="2686149" y="3361035"/>
            <a:ext cx="864096" cy="1385491"/>
          </a:xfrm>
          <a:prstGeom prst="roundRect">
            <a:avLst>
              <a:gd name="adj" fmla="val 7348"/>
            </a:avLst>
          </a:prstGeom>
          <a:solidFill>
            <a:srgbClr val="E9E3E4"/>
          </a:solidFill>
          <a:ln w="19050">
            <a:solidFill>
              <a:srgbClr val="1C6091"/>
            </a:solidFill>
          </a:ln>
          <a:effectLst/>
        </p:spPr>
        <p:txBody>
          <a:bodyPr rtlCol="0" anchor="ctr"/>
          <a:lstStyle/>
          <a:p>
            <a:pPr algn="ctr"/>
          </a:p>
        </p:txBody>
      </p:sp>
      <p:sp>
        <p:nvSpPr>
          <p:cNvPr id="9" name="TextBox 8"/>
          <p:cNvSpPr txBox="1"/>
          <p:nvPr/>
        </p:nvSpPr>
        <p:spPr>
          <a:xfrm>
            <a:off x="2755999" y="4275435"/>
            <a:ext cx="724396"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Testing</a:t>
            </a:r>
          </a:p>
        </p:txBody>
      </p:sp>
      <p:pic>
        <p:nvPicPr>
          <p:cNvPr id="10" name="Picture 9" descr="b8b92e0f8fb4ba81.jpg"/>
          <p:cNvPicPr>
            <a:picLocks noChangeAspect="1"/>
          </p:cNvPicPr>
          <p:nvPr/>
        </p:nvPicPr>
        <p:blipFill>
          <a:blip r:embed="rId4"/>
          <a:stretch>
            <a:fillRect/>
          </a:stretch>
        </p:blipFill>
        <p:spPr>
          <a:xfrm>
            <a:off x="2813050" y="3530600"/>
            <a:ext cx="609600" cy="609600"/>
          </a:xfrm>
          <a:prstGeom prst="rect">
            <a:avLst/>
          </a:prstGeom>
        </p:spPr>
      </p:pic>
      <p:sp>
        <p:nvSpPr>
          <p:cNvPr id="11" name="Rounded Rectangle 10"/>
          <p:cNvSpPr/>
          <p:nvPr/>
        </p:nvSpPr>
        <p:spPr>
          <a:xfrm>
            <a:off x="3702645" y="3361035"/>
            <a:ext cx="893564" cy="1385491"/>
          </a:xfrm>
          <a:prstGeom prst="roundRect">
            <a:avLst>
              <a:gd name="adj" fmla="val 7106"/>
            </a:avLst>
          </a:prstGeom>
          <a:solidFill>
            <a:srgbClr val="E9E3E4"/>
          </a:solidFill>
          <a:ln w="19050">
            <a:solidFill>
              <a:srgbClr val="1C6091"/>
            </a:solidFill>
          </a:ln>
          <a:effectLst/>
        </p:spPr>
        <p:txBody>
          <a:bodyPr rtlCol="0" anchor="ctr"/>
          <a:lstStyle/>
          <a:p>
            <a:pPr algn="ctr"/>
          </a:p>
        </p:txBody>
      </p:sp>
      <p:sp>
        <p:nvSpPr>
          <p:cNvPr id="12" name="TextBox 11"/>
          <p:cNvSpPr txBox="1"/>
          <p:nvPr/>
        </p:nvSpPr>
        <p:spPr>
          <a:xfrm>
            <a:off x="3772495" y="4275435"/>
            <a:ext cx="753864"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Tracing</a:t>
            </a:r>
          </a:p>
        </p:txBody>
      </p:sp>
      <p:pic>
        <p:nvPicPr>
          <p:cNvPr id="13" name="Picture 12" descr="d0e181bcef619971.png"/>
          <p:cNvPicPr>
            <a:picLocks noChangeAspect="1"/>
          </p:cNvPicPr>
          <p:nvPr/>
        </p:nvPicPr>
        <p:blipFill>
          <a:blip r:embed="rId5"/>
          <a:stretch>
            <a:fillRect/>
          </a:stretch>
        </p:blipFill>
        <p:spPr>
          <a:xfrm>
            <a:off x="3841750" y="3530600"/>
            <a:ext cx="609600" cy="609600"/>
          </a:xfrm>
          <a:prstGeom prst="rect">
            <a:avLst/>
          </a:prstGeom>
        </p:spPr>
      </p:pic>
      <p:sp>
        <p:nvSpPr>
          <p:cNvPr id="14" name="Rounded Rectangle 13"/>
          <p:cNvSpPr/>
          <p:nvPr/>
        </p:nvSpPr>
        <p:spPr>
          <a:xfrm>
            <a:off x="4748609" y="3361035"/>
            <a:ext cx="1245592" cy="1385491"/>
          </a:xfrm>
          <a:prstGeom prst="roundRect">
            <a:avLst>
              <a:gd name="adj" fmla="val 5097"/>
            </a:avLst>
          </a:prstGeom>
          <a:solidFill>
            <a:srgbClr val="E9E3E4"/>
          </a:solidFill>
          <a:ln w="19050">
            <a:solidFill>
              <a:srgbClr val="1C6091"/>
            </a:solidFill>
          </a:ln>
          <a:effectLst/>
        </p:spPr>
        <p:txBody>
          <a:bodyPr rtlCol="0" anchor="ctr"/>
          <a:lstStyle/>
          <a:p>
            <a:pPr algn="ctr"/>
          </a:p>
        </p:txBody>
      </p:sp>
      <p:sp>
        <p:nvSpPr>
          <p:cNvPr id="15" name="TextBox 14"/>
          <p:cNvSpPr txBox="1"/>
          <p:nvPr/>
        </p:nvSpPr>
        <p:spPr>
          <a:xfrm>
            <a:off x="4818459" y="4275435"/>
            <a:ext cx="1105892"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Debugging</a:t>
            </a:r>
          </a:p>
        </p:txBody>
      </p:sp>
      <p:pic>
        <p:nvPicPr>
          <p:cNvPr id="16" name="Picture 15" descr="40fe602cfad3339e.png"/>
          <p:cNvPicPr>
            <a:picLocks noChangeAspect="1"/>
          </p:cNvPicPr>
          <p:nvPr/>
        </p:nvPicPr>
        <p:blipFill>
          <a:blip r:embed="rId6"/>
          <a:stretch>
            <a:fillRect/>
          </a:stretch>
        </p:blipFill>
        <p:spPr>
          <a:xfrm>
            <a:off x="5060950" y="3530600"/>
            <a:ext cx="609600" cy="609600"/>
          </a:xfrm>
          <a:prstGeom prst="rect">
            <a:avLst/>
          </a:prstGeom>
        </p:spPr>
      </p:pic>
      <p:sp>
        <p:nvSpPr>
          <p:cNvPr id="17" name="Rounded Rectangle 16"/>
          <p:cNvSpPr/>
          <p:nvPr/>
        </p:nvSpPr>
        <p:spPr>
          <a:xfrm>
            <a:off x="6146602" y="3361035"/>
            <a:ext cx="1550491" cy="1385491"/>
          </a:xfrm>
          <a:prstGeom prst="roundRect">
            <a:avLst>
              <a:gd name="adj" fmla="val 4583"/>
            </a:avLst>
          </a:prstGeom>
          <a:solidFill>
            <a:srgbClr val="E9E3E4"/>
          </a:solidFill>
          <a:ln w="19050">
            <a:solidFill>
              <a:srgbClr val="1C6091"/>
            </a:solidFill>
          </a:ln>
          <a:effectLst/>
        </p:spPr>
        <p:txBody>
          <a:bodyPr rtlCol="0" anchor="ctr"/>
          <a:lstStyle/>
          <a:p>
            <a:pPr algn="ctr"/>
          </a:p>
        </p:txBody>
      </p:sp>
      <p:sp>
        <p:nvSpPr>
          <p:cNvPr id="18" name="TextBox 17"/>
          <p:cNvSpPr txBox="1"/>
          <p:nvPr/>
        </p:nvSpPr>
        <p:spPr>
          <a:xfrm>
            <a:off x="6216452" y="4275435"/>
            <a:ext cx="1410791"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Reading code</a:t>
            </a:r>
          </a:p>
        </p:txBody>
      </p:sp>
      <p:pic>
        <p:nvPicPr>
          <p:cNvPr id="19" name="Picture 18" descr="12849a71dde1c896.png"/>
          <p:cNvPicPr>
            <a:picLocks noChangeAspect="1"/>
          </p:cNvPicPr>
          <p:nvPr/>
        </p:nvPicPr>
        <p:blipFill>
          <a:blip r:embed="rId7"/>
          <a:stretch>
            <a:fillRect/>
          </a:stretch>
        </p:blipFill>
        <p:spPr>
          <a:xfrm>
            <a:off x="6616700" y="3530600"/>
            <a:ext cx="609600" cy="609600"/>
          </a:xfrm>
          <a:prstGeom prst="rect">
            <a:avLst/>
          </a:prstGeom>
        </p:spPr>
      </p:pic>
      <p:sp>
        <p:nvSpPr>
          <p:cNvPr id="20" name="Rounded Rectangle 19"/>
          <p:cNvSpPr/>
          <p:nvPr/>
        </p:nvSpPr>
        <p:spPr>
          <a:xfrm>
            <a:off x="7849493" y="3361035"/>
            <a:ext cx="851297" cy="1385491"/>
          </a:xfrm>
          <a:prstGeom prst="roundRect">
            <a:avLst>
              <a:gd name="adj" fmla="val 7459"/>
            </a:avLst>
          </a:prstGeom>
          <a:solidFill>
            <a:srgbClr val="E9E3E4"/>
          </a:solidFill>
          <a:ln w="19050">
            <a:solidFill>
              <a:srgbClr val="B35510"/>
            </a:solidFill>
          </a:ln>
          <a:effectLst/>
        </p:spPr>
        <p:txBody>
          <a:bodyPr rtlCol="0" anchor="ctr"/>
          <a:lstStyle/>
          <a:p>
            <a:pPr algn="ctr"/>
          </a:p>
        </p:txBody>
      </p:sp>
      <p:sp>
        <p:nvSpPr>
          <p:cNvPr id="21" name="TextBox 20"/>
          <p:cNvSpPr txBox="1"/>
          <p:nvPr/>
        </p:nvSpPr>
        <p:spPr>
          <a:xfrm>
            <a:off x="7919343" y="4275435"/>
            <a:ext cx="711597"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Verdana"/>
              </a:rPr>
              <a:t>Design</a:t>
            </a:r>
          </a:p>
        </p:txBody>
      </p:sp>
      <p:pic>
        <p:nvPicPr>
          <p:cNvPr id="22" name="Picture 21" descr="860aff60dd1529c7.png"/>
          <p:cNvPicPr>
            <a:picLocks noChangeAspect="1"/>
          </p:cNvPicPr>
          <p:nvPr/>
        </p:nvPicPr>
        <p:blipFill>
          <a:blip r:embed="rId8"/>
          <a:stretch>
            <a:fillRect/>
          </a:stretch>
        </p:blipFill>
        <p:spPr>
          <a:xfrm>
            <a:off x="7969250" y="3530600"/>
            <a:ext cx="609600" cy="609600"/>
          </a:xfrm>
          <a:prstGeom prst="rect">
            <a:avLst/>
          </a:prstGeom>
        </p:spPr>
      </p:pic>
      <p:sp>
        <p:nvSpPr>
          <p:cNvPr id="23" name="Rounded Rectangle 22"/>
          <p:cNvSpPr/>
          <p:nvPr/>
        </p:nvSpPr>
        <p:spPr>
          <a:xfrm>
            <a:off x="8853190" y="3361035"/>
            <a:ext cx="1651794" cy="1385491"/>
          </a:xfrm>
          <a:prstGeom prst="roundRect">
            <a:avLst>
              <a:gd name="adj" fmla="val 4583"/>
            </a:avLst>
          </a:prstGeom>
          <a:solidFill>
            <a:srgbClr val="E9E3E4"/>
          </a:solidFill>
          <a:ln w="19050">
            <a:solidFill>
              <a:srgbClr val="B35510"/>
            </a:solidFill>
          </a:ln>
          <a:effectLst/>
        </p:spPr>
        <p:txBody>
          <a:bodyPr rtlCol="0" anchor="ctr"/>
          <a:lstStyle/>
          <a:p>
            <a:pPr algn="ctr"/>
          </a:p>
        </p:txBody>
      </p:sp>
      <p:sp>
        <p:nvSpPr>
          <p:cNvPr id="24" name="TextBox 23"/>
          <p:cNvSpPr txBox="1"/>
          <p:nvPr/>
        </p:nvSpPr>
        <p:spPr>
          <a:xfrm>
            <a:off x="8923040" y="4275435"/>
            <a:ext cx="1512094"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Verdana"/>
              </a:rPr>
              <a:t>Decomposition</a:t>
            </a:r>
          </a:p>
        </p:txBody>
      </p:sp>
      <p:pic>
        <p:nvPicPr>
          <p:cNvPr id="25" name="Picture 24" descr="2de53c3ea82fe698.png"/>
          <p:cNvPicPr>
            <a:picLocks noChangeAspect="1"/>
          </p:cNvPicPr>
          <p:nvPr/>
        </p:nvPicPr>
        <p:blipFill>
          <a:blip r:embed="rId9"/>
          <a:stretch>
            <a:fillRect/>
          </a:stretch>
        </p:blipFill>
        <p:spPr>
          <a:xfrm>
            <a:off x="9372600" y="3530600"/>
            <a:ext cx="609600" cy="609600"/>
          </a:xfrm>
          <a:prstGeom prst="rect">
            <a:avLst/>
          </a:prstGeom>
        </p:spPr>
      </p:pic>
      <p:sp>
        <p:nvSpPr>
          <p:cNvPr id="26" name="Rounded Rectangle 25"/>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27" name="TextBox 26"/>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18 / 28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1974056" y="2085975"/>
            <a:ext cx="4499372" cy="731520"/>
          </a:xfrm>
          <a:prstGeom prst="rect">
            <a:avLst/>
          </a:prstGeom>
          <a:noFill/>
        </p:spPr>
        <p:txBody>
          <a:bodyPr wrap="none" lIns="0" rIns="0" tIns="0" bIns="0" anchor="ctr">
            <a:noAutofit/>
          </a:bodyPr>
          <a:lstStyle/>
          <a:p>
            <a:pPr algn="l">
              <a:lnSpc>
                <a:spcPts val="5040"/>
              </a:lnSpc>
            </a:pPr>
            <a:r>
              <a:rPr sz="4800" b="0" i="0" spc="-96">
                <a:solidFill>
                  <a:srgbClr val="861F41"/>
                </a:solidFill>
                <a:latin typeface="Georgia"/>
              </a:rPr>
              <a:t>Software Design &amp;</a:t>
            </a:r>
          </a:p>
        </p:txBody>
      </p:sp>
      <p:sp>
        <p:nvSpPr>
          <p:cNvPr id="4" name="TextBox 3"/>
          <p:cNvSpPr txBox="1"/>
          <p:nvPr/>
        </p:nvSpPr>
        <p:spPr>
          <a:xfrm>
            <a:off x="6625828" y="2085975"/>
            <a:ext cx="3592016" cy="731520"/>
          </a:xfrm>
          <a:prstGeom prst="rect">
            <a:avLst/>
          </a:prstGeom>
          <a:noFill/>
        </p:spPr>
        <p:txBody>
          <a:bodyPr wrap="none" lIns="0" rIns="0" tIns="0" bIns="0" anchor="ctr">
            <a:noAutofit/>
          </a:bodyPr>
          <a:lstStyle/>
          <a:p>
            <a:pPr algn="l">
              <a:lnSpc>
                <a:spcPts val="5040"/>
              </a:lnSpc>
            </a:pPr>
            <a:r>
              <a:rPr sz="4800" b="0" i="0" spc="-96">
                <a:solidFill>
                  <a:srgbClr val="861F41"/>
                </a:solidFill>
                <a:latin typeface="Georgia"/>
              </a:rPr>
              <a:t>Data Structures</a:t>
            </a:r>
          </a:p>
        </p:txBody>
      </p:sp>
      <p:sp>
        <p:nvSpPr>
          <p:cNvPr id="5" name="Rounded Rectangle 4"/>
          <p:cNvSpPr/>
          <p:nvPr/>
        </p:nvSpPr>
        <p:spPr>
          <a:xfrm>
            <a:off x="1229618" y="3361035"/>
            <a:ext cx="846832" cy="1385491"/>
          </a:xfrm>
          <a:prstGeom prst="roundRect">
            <a:avLst>
              <a:gd name="adj" fmla="val 7498"/>
            </a:avLst>
          </a:prstGeom>
          <a:solidFill>
            <a:srgbClr val="E9E3E4"/>
          </a:solidFill>
          <a:ln w="19050">
            <a:solidFill>
              <a:srgbClr val="1C6091"/>
            </a:solidFill>
          </a:ln>
          <a:effectLst/>
        </p:spPr>
        <p:txBody>
          <a:bodyPr rtlCol="0" anchor="ctr"/>
          <a:lstStyle/>
          <a:p>
            <a:pPr algn="ctr"/>
          </a:p>
        </p:txBody>
      </p:sp>
      <p:sp>
        <p:nvSpPr>
          <p:cNvPr id="6" name="TextBox 5"/>
          <p:cNvSpPr txBox="1"/>
          <p:nvPr/>
        </p:nvSpPr>
        <p:spPr>
          <a:xfrm>
            <a:off x="1299468" y="4275435"/>
            <a:ext cx="707132"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Writing</a:t>
            </a:r>
          </a:p>
        </p:txBody>
      </p:sp>
      <p:pic>
        <p:nvPicPr>
          <p:cNvPr id="7" name="Picture 6" descr="5112fc492230906c.png"/>
          <p:cNvPicPr>
            <a:picLocks noChangeAspect="1"/>
          </p:cNvPicPr>
          <p:nvPr/>
        </p:nvPicPr>
        <p:blipFill>
          <a:blip r:embed="rId3"/>
          <a:stretch>
            <a:fillRect/>
          </a:stretch>
        </p:blipFill>
        <p:spPr>
          <a:xfrm>
            <a:off x="1346200" y="3530600"/>
            <a:ext cx="609600" cy="609600"/>
          </a:xfrm>
          <a:prstGeom prst="rect">
            <a:avLst/>
          </a:prstGeom>
        </p:spPr>
      </p:pic>
      <p:sp>
        <p:nvSpPr>
          <p:cNvPr id="8" name="Rounded Rectangle 7"/>
          <p:cNvSpPr/>
          <p:nvPr/>
        </p:nvSpPr>
        <p:spPr>
          <a:xfrm>
            <a:off x="2228850" y="3361035"/>
            <a:ext cx="864096" cy="1385491"/>
          </a:xfrm>
          <a:prstGeom prst="roundRect">
            <a:avLst>
              <a:gd name="adj" fmla="val 7348"/>
            </a:avLst>
          </a:prstGeom>
          <a:solidFill>
            <a:srgbClr val="E9E3E4"/>
          </a:solidFill>
          <a:ln w="19050">
            <a:solidFill>
              <a:srgbClr val="1C6091"/>
            </a:solidFill>
          </a:ln>
          <a:effectLst/>
        </p:spPr>
        <p:txBody>
          <a:bodyPr rtlCol="0" anchor="ctr"/>
          <a:lstStyle/>
          <a:p>
            <a:pPr algn="ctr"/>
          </a:p>
        </p:txBody>
      </p:sp>
      <p:sp>
        <p:nvSpPr>
          <p:cNvPr id="9" name="TextBox 8"/>
          <p:cNvSpPr txBox="1"/>
          <p:nvPr/>
        </p:nvSpPr>
        <p:spPr>
          <a:xfrm>
            <a:off x="2298700" y="4275435"/>
            <a:ext cx="724396"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Testing</a:t>
            </a:r>
          </a:p>
        </p:txBody>
      </p:sp>
      <p:pic>
        <p:nvPicPr>
          <p:cNvPr id="10" name="Picture 9" descr="84fc6a5d42fd78dc.png"/>
          <p:cNvPicPr>
            <a:picLocks noChangeAspect="1"/>
          </p:cNvPicPr>
          <p:nvPr/>
        </p:nvPicPr>
        <p:blipFill>
          <a:blip r:embed="rId4"/>
          <a:stretch>
            <a:fillRect/>
          </a:stretch>
        </p:blipFill>
        <p:spPr>
          <a:xfrm>
            <a:off x="2355850" y="3530600"/>
            <a:ext cx="609600" cy="609600"/>
          </a:xfrm>
          <a:prstGeom prst="rect">
            <a:avLst/>
          </a:prstGeom>
        </p:spPr>
      </p:pic>
      <p:sp>
        <p:nvSpPr>
          <p:cNvPr id="11" name="Rounded Rectangle 10"/>
          <p:cNvSpPr/>
          <p:nvPr/>
        </p:nvSpPr>
        <p:spPr>
          <a:xfrm>
            <a:off x="3245346" y="3361035"/>
            <a:ext cx="893564" cy="1385491"/>
          </a:xfrm>
          <a:prstGeom prst="roundRect">
            <a:avLst>
              <a:gd name="adj" fmla="val 7106"/>
            </a:avLst>
          </a:prstGeom>
          <a:solidFill>
            <a:srgbClr val="E9E3E4"/>
          </a:solidFill>
          <a:ln w="19050">
            <a:solidFill>
              <a:srgbClr val="1C6091"/>
            </a:solidFill>
          </a:ln>
          <a:effectLst/>
        </p:spPr>
        <p:txBody>
          <a:bodyPr rtlCol="0" anchor="ctr"/>
          <a:lstStyle/>
          <a:p>
            <a:pPr algn="ctr"/>
          </a:p>
        </p:txBody>
      </p:sp>
      <p:sp>
        <p:nvSpPr>
          <p:cNvPr id="12" name="TextBox 11"/>
          <p:cNvSpPr txBox="1"/>
          <p:nvPr/>
        </p:nvSpPr>
        <p:spPr>
          <a:xfrm>
            <a:off x="3315196" y="4275435"/>
            <a:ext cx="753864"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Tracing</a:t>
            </a:r>
          </a:p>
        </p:txBody>
      </p:sp>
      <p:pic>
        <p:nvPicPr>
          <p:cNvPr id="13" name="Picture 12" descr="f59ae8fc37ab482a.png"/>
          <p:cNvPicPr>
            <a:picLocks noChangeAspect="1"/>
          </p:cNvPicPr>
          <p:nvPr/>
        </p:nvPicPr>
        <p:blipFill>
          <a:blip r:embed="rId5"/>
          <a:stretch>
            <a:fillRect/>
          </a:stretch>
        </p:blipFill>
        <p:spPr>
          <a:xfrm>
            <a:off x="3384550" y="3530600"/>
            <a:ext cx="609600" cy="609600"/>
          </a:xfrm>
          <a:prstGeom prst="rect">
            <a:avLst/>
          </a:prstGeom>
        </p:spPr>
      </p:pic>
      <p:sp>
        <p:nvSpPr>
          <p:cNvPr id="14" name="Rounded Rectangle 13"/>
          <p:cNvSpPr/>
          <p:nvPr/>
        </p:nvSpPr>
        <p:spPr>
          <a:xfrm>
            <a:off x="4291310" y="3361035"/>
            <a:ext cx="1245592" cy="1385491"/>
          </a:xfrm>
          <a:prstGeom prst="roundRect">
            <a:avLst>
              <a:gd name="adj" fmla="val 5097"/>
            </a:avLst>
          </a:prstGeom>
          <a:solidFill>
            <a:srgbClr val="E9E3E4"/>
          </a:solidFill>
          <a:ln w="19050">
            <a:solidFill>
              <a:srgbClr val="1C6091"/>
            </a:solidFill>
          </a:ln>
          <a:effectLst/>
        </p:spPr>
        <p:txBody>
          <a:bodyPr rtlCol="0" anchor="ctr"/>
          <a:lstStyle/>
          <a:p>
            <a:pPr algn="ctr"/>
          </a:p>
        </p:txBody>
      </p:sp>
      <p:sp>
        <p:nvSpPr>
          <p:cNvPr id="15" name="TextBox 14"/>
          <p:cNvSpPr txBox="1"/>
          <p:nvPr/>
        </p:nvSpPr>
        <p:spPr>
          <a:xfrm>
            <a:off x="4361160" y="4275435"/>
            <a:ext cx="1105892"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Debugging</a:t>
            </a:r>
          </a:p>
        </p:txBody>
      </p:sp>
      <p:pic>
        <p:nvPicPr>
          <p:cNvPr id="16" name="Picture 15" descr="9444ddb99caead3d.png"/>
          <p:cNvPicPr>
            <a:picLocks noChangeAspect="1"/>
          </p:cNvPicPr>
          <p:nvPr/>
        </p:nvPicPr>
        <p:blipFill>
          <a:blip r:embed="rId6"/>
          <a:stretch>
            <a:fillRect/>
          </a:stretch>
        </p:blipFill>
        <p:spPr>
          <a:xfrm>
            <a:off x="4603750" y="3530600"/>
            <a:ext cx="609600" cy="609600"/>
          </a:xfrm>
          <a:prstGeom prst="rect">
            <a:avLst/>
          </a:prstGeom>
        </p:spPr>
      </p:pic>
      <p:sp>
        <p:nvSpPr>
          <p:cNvPr id="17" name="Rounded Rectangle 16"/>
          <p:cNvSpPr/>
          <p:nvPr/>
        </p:nvSpPr>
        <p:spPr>
          <a:xfrm>
            <a:off x="5689302" y="3361035"/>
            <a:ext cx="1550491" cy="1385491"/>
          </a:xfrm>
          <a:prstGeom prst="roundRect">
            <a:avLst>
              <a:gd name="adj" fmla="val 4583"/>
            </a:avLst>
          </a:prstGeom>
          <a:solidFill>
            <a:srgbClr val="E9E3E4"/>
          </a:solidFill>
          <a:ln w="19050">
            <a:solidFill>
              <a:srgbClr val="1C6091"/>
            </a:solidFill>
          </a:ln>
          <a:effectLst/>
        </p:spPr>
        <p:txBody>
          <a:bodyPr rtlCol="0" anchor="ctr"/>
          <a:lstStyle/>
          <a:p>
            <a:pPr algn="ctr"/>
          </a:p>
        </p:txBody>
      </p:sp>
      <p:sp>
        <p:nvSpPr>
          <p:cNvPr id="18" name="TextBox 17"/>
          <p:cNvSpPr txBox="1"/>
          <p:nvPr/>
        </p:nvSpPr>
        <p:spPr>
          <a:xfrm>
            <a:off x="5759152" y="4275435"/>
            <a:ext cx="1410791" cy="274320"/>
          </a:xfrm>
          <a:prstGeom prst="rect">
            <a:avLst/>
          </a:prstGeom>
          <a:noFill/>
        </p:spPr>
        <p:txBody>
          <a:bodyPr wrap="none" lIns="0" rIns="0" tIns="0" bIns="0" anchor="ctr">
            <a:noAutofit/>
          </a:bodyPr>
          <a:lstStyle/>
          <a:p>
            <a:pPr algn="l">
              <a:lnSpc>
                <a:spcPts val="2610"/>
              </a:lnSpc>
            </a:pPr>
            <a:r>
              <a:rPr sz="1800" b="0" i="0">
                <a:solidFill>
                  <a:srgbClr val="2C1A1F"/>
                </a:solidFill>
                <a:latin typeface="Verdana"/>
              </a:rPr>
              <a:t>Reading code</a:t>
            </a:r>
          </a:p>
        </p:txBody>
      </p:sp>
      <p:pic>
        <p:nvPicPr>
          <p:cNvPr id="19" name="Picture 18" descr="6965e9782ec75051.png"/>
          <p:cNvPicPr>
            <a:picLocks noChangeAspect="1"/>
          </p:cNvPicPr>
          <p:nvPr/>
        </p:nvPicPr>
        <p:blipFill>
          <a:blip r:embed="rId7"/>
          <a:stretch>
            <a:fillRect/>
          </a:stretch>
        </p:blipFill>
        <p:spPr>
          <a:xfrm>
            <a:off x="6159500" y="3530600"/>
            <a:ext cx="609600" cy="609600"/>
          </a:xfrm>
          <a:prstGeom prst="rect">
            <a:avLst/>
          </a:prstGeom>
        </p:spPr>
      </p:pic>
      <p:sp>
        <p:nvSpPr>
          <p:cNvPr id="20" name="Rounded Rectangle 19"/>
          <p:cNvSpPr/>
          <p:nvPr/>
        </p:nvSpPr>
        <p:spPr>
          <a:xfrm>
            <a:off x="7392194" y="3361035"/>
            <a:ext cx="851297" cy="1385491"/>
          </a:xfrm>
          <a:prstGeom prst="roundRect">
            <a:avLst>
              <a:gd name="adj" fmla="val 7459"/>
            </a:avLst>
          </a:prstGeom>
          <a:solidFill>
            <a:srgbClr val="E9E3E4"/>
          </a:solidFill>
          <a:ln w="19050">
            <a:solidFill>
              <a:srgbClr val="B35510"/>
            </a:solidFill>
          </a:ln>
          <a:effectLst/>
        </p:spPr>
        <p:txBody>
          <a:bodyPr rtlCol="0" anchor="ctr"/>
          <a:lstStyle/>
          <a:p>
            <a:pPr algn="ctr"/>
          </a:p>
        </p:txBody>
      </p:sp>
      <p:sp>
        <p:nvSpPr>
          <p:cNvPr id="21" name="TextBox 20"/>
          <p:cNvSpPr txBox="1"/>
          <p:nvPr/>
        </p:nvSpPr>
        <p:spPr>
          <a:xfrm>
            <a:off x="7462044" y="4275435"/>
            <a:ext cx="711597"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Verdana"/>
              </a:rPr>
              <a:t>Design</a:t>
            </a:r>
          </a:p>
        </p:txBody>
      </p:sp>
      <p:pic>
        <p:nvPicPr>
          <p:cNvPr id="22" name="Picture 21" descr="860aff60dd1529c7.png"/>
          <p:cNvPicPr>
            <a:picLocks noChangeAspect="1"/>
          </p:cNvPicPr>
          <p:nvPr/>
        </p:nvPicPr>
        <p:blipFill>
          <a:blip r:embed="rId8"/>
          <a:stretch>
            <a:fillRect/>
          </a:stretch>
        </p:blipFill>
        <p:spPr>
          <a:xfrm>
            <a:off x="7512050" y="3530600"/>
            <a:ext cx="609600" cy="609600"/>
          </a:xfrm>
          <a:prstGeom prst="rect">
            <a:avLst/>
          </a:prstGeom>
        </p:spPr>
      </p:pic>
      <p:sp>
        <p:nvSpPr>
          <p:cNvPr id="23" name="Rounded Rectangle 22"/>
          <p:cNvSpPr/>
          <p:nvPr/>
        </p:nvSpPr>
        <p:spPr>
          <a:xfrm>
            <a:off x="8395891" y="3361035"/>
            <a:ext cx="1651794" cy="1385491"/>
          </a:xfrm>
          <a:prstGeom prst="roundRect">
            <a:avLst>
              <a:gd name="adj" fmla="val 4583"/>
            </a:avLst>
          </a:prstGeom>
          <a:solidFill>
            <a:srgbClr val="E9E3E4"/>
          </a:solidFill>
          <a:ln w="19050">
            <a:solidFill>
              <a:srgbClr val="B35510"/>
            </a:solidFill>
          </a:ln>
          <a:effectLst/>
        </p:spPr>
        <p:txBody>
          <a:bodyPr rtlCol="0" anchor="ctr"/>
          <a:lstStyle/>
          <a:p>
            <a:pPr algn="ctr"/>
          </a:p>
        </p:txBody>
      </p:sp>
      <p:sp>
        <p:nvSpPr>
          <p:cNvPr id="24" name="TextBox 23"/>
          <p:cNvSpPr txBox="1"/>
          <p:nvPr/>
        </p:nvSpPr>
        <p:spPr>
          <a:xfrm>
            <a:off x="8465741" y="4275435"/>
            <a:ext cx="1512094" cy="274320"/>
          </a:xfrm>
          <a:prstGeom prst="rect">
            <a:avLst/>
          </a:prstGeom>
          <a:noFill/>
        </p:spPr>
        <p:txBody>
          <a:bodyPr wrap="none" lIns="0" rIns="0" tIns="0" bIns="0" anchor="ctr">
            <a:noAutofit/>
          </a:bodyPr>
          <a:lstStyle/>
          <a:p>
            <a:pPr algn="l">
              <a:lnSpc>
                <a:spcPts val="2610"/>
              </a:lnSpc>
            </a:pPr>
            <a:r>
              <a:rPr sz="1800" b="0" i="0">
                <a:solidFill>
                  <a:srgbClr val="B35510"/>
                </a:solidFill>
                <a:latin typeface="Verdana"/>
              </a:rPr>
              <a:t>Decomposition</a:t>
            </a:r>
          </a:p>
        </p:txBody>
      </p:sp>
      <p:pic>
        <p:nvPicPr>
          <p:cNvPr id="25" name="Picture 24" descr="2de53c3ea82fe698.png"/>
          <p:cNvPicPr>
            <a:picLocks noChangeAspect="1"/>
          </p:cNvPicPr>
          <p:nvPr/>
        </p:nvPicPr>
        <p:blipFill>
          <a:blip r:embed="rId9"/>
          <a:stretch>
            <a:fillRect/>
          </a:stretch>
        </p:blipFill>
        <p:spPr>
          <a:xfrm>
            <a:off x="8915400" y="3530600"/>
            <a:ext cx="609600" cy="609600"/>
          </a:xfrm>
          <a:prstGeom prst="rect">
            <a:avLst/>
          </a:prstGeom>
        </p:spPr>
      </p:pic>
      <p:sp>
        <p:nvSpPr>
          <p:cNvPr id="26" name="Rounded Rectangle 25"/>
          <p:cNvSpPr/>
          <p:nvPr/>
        </p:nvSpPr>
        <p:spPr>
          <a:xfrm>
            <a:off x="10200084" y="3361035"/>
            <a:ext cx="762298" cy="1385491"/>
          </a:xfrm>
          <a:prstGeom prst="roundRect">
            <a:avLst>
              <a:gd name="adj" fmla="val 8330"/>
            </a:avLst>
          </a:prstGeom>
          <a:solidFill>
            <a:srgbClr val="E9E3E4"/>
          </a:solidFill>
          <a:ln w="19050">
            <a:solidFill>
              <a:srgbClr val="861F41"/>
            </a:solidFill>
          </a:ln>
          <a:effectLst/>
        </p:spPr>
        <p:txBody>
          <a:bodyPr rtlCol="0" anchor="ctr"/>
          <a:lstStyle/>
          <a:p>
            <a:pPr algn="ctr"/>
          </a:p>
        </p:txBody>
      </p:sp>
      <p:sp>
        <p:nvSpPr>
          <p:cNvPr id="27" name="TextBox 26"/>
          <p:cNvSpPr txBox="1"/>
          <p:nvPr/>
        </p:nvSpPr>
        <p:spPr>
          <a:xfrm>
            <a:off x="10269934" y="4275435"/>
            <a:ext cx="622598" cy="274320"/>
          </a:xfrm>
          <a:prstGeom prst="rect">
            <a:avLst/>
          </a:prstGeom>
          <a:noFill/>
        </p:spPr>
        <p:txBody>
          <a:bodyPr wrap="none" lIns="0" rIns="0" tIns="0" bIns="0" anchor="ctr">
            <a:noAutofit/>
          </a:bodyPr>
          <a:lstStyle/>
          <a:p>
            <a:pPr algn="l">
              <a:lnSpc>
                <a:spcPts val="2610"/>
              </a:lnSpc>
            </a:pPr>
            <a:r>
              <a:rPr sz="1800" b="0" i="0">
                <a:solidFill>
                  <a:srgbClr val="861F41"/>
                </a:solidFill>
                <a:latin typeface="Verdana"/>
              </a:rPr>
              <a:t>Ethics</a:t>
            </a:r>
          </a:p>
        </p:txBody>
      </p:sp>
      <p:pic>
        <p:nvPicPr>
          <p:cNvPr id="28" name="Picture 27" descr="cc7a14fc07ee6d1d.png"/>
          <p:cNvPicPr>
            <a:picLocks noChangeAspect="1"/>
          </p:cNvPicPr>
          <p:nvPr/>
        </p:nvPicPr>
        <p:blipFill>
          <a:blip r:embed="rId10"/>
          <a:stretch>
            <a:fillRect/>
          </a:stretch>
        </p:blipFill>
        <p:spPr>
          <a:xfrm>
            <a:off x="10274300" y="3530600"/>
            <a:ext cx="609600" cy="609600"/>
          </a:xfrm>
          <a:prstGeom prst="rect">
            <a:avLst/>
          </a:prstGeom>
        </p:spPr>
      </p:pic>
      <p:sp>
        <p:nvSpPr>
          <p:cNvPr id="29" name="Rounded Rectangle 28"/>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30" name="TextBox 29"/>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18 / 28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2184400"/>
            <a:ext cx="10566400" cy="914400"/>
          </a:xfrm>
          <a:prstGeom prst="rect">
            <a:avLst/>
          </a:prstGeom>
          <a:noFill/>
        </p:spPr>
        <p:txBody>
          <a:bodyPr wrap="none" lIns="0" rIns="0" tIns="0" bIns="0" anchor="ctr">
            <a:noAutofit/>
          </a:bodyPr>
          <a:lstStyle/>
          <a:p>
            <a:pPr algn="l">
              <a:lnSpc>
                <a:spcPts val="6300"/>
              </a:lnSpc>
            </a:pPr>
            <a:r>
              <a:rPr sz="6000" b="0" i="0" spc="-120">
                <a:solidFill>
                  <a:srgbClr val="2C1A1F"/>
                </a:solidFill>
                <a:latin typeface="Georgia"/>
              </a:rPr>
              <a:t>Generative AI is unethical.</a:t>
            </a:r>
          </a:p>
        </p:txBody>
      </p:sp>
      <p:sp>
        <p:nvSpPr>
          <p:cNvPr id="4" name="Rounded Rectangle 3"/>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5" name="TextBox 4"/>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19 / 28</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2184400"/>
            <a:ext cx="10566400" cy="914400"/>
          </a:xfrm>
          <a:prstGeom prst="rect">
            <a:avLst/>
          </a:prstGeom>
          <a:noFill/>
        </p:spPr>
        <p:txBody>
          <a:bodyPr wrap="none" lIns="0" rIns="0" tIns="0" bIns="0" anchor="ctr">
            <a:noAutofit/>
          </a:bodyPr>
          <a:lstStyle/>
          <a:p>
            <a:pPr algn="l">
              <a:lnSpc>
                <a:spcPts val="6300"/>
              </a:lnSpc>
            </a:pPr>
            <a:r>
              <a:rPr sz="6000" b="0" i="0" spc="-120">
                <a:solidFill>
                  <a:srgbClr val="2C1A1F"/>
                </a:solidFill>
                <a:latin typeface="Georgia"/>
              </a:rPr>
              <a:t>Generative AI is unethical.</a:t>
            </a:r>
          </a:p>
        </p:txBody>
      </p:sp>
      <p:sp>
        <p:nvSpPr>
          <p:cNvPr id="4" name="TextBox 3"/>
          <p:cNvSpPr txBox="1"/>
          <p:nvPr/>
        </p:nvSpPr>
        <p:spPr>
          <a:xfrm>
            <a:off x="812800" y="3340100"/>
            <a:ext cx="10566400" cy="426720"/>
          </a:xfrm>
          <a:prstGeom prst="rect">
            <a:avLst/>
          </a:prstGeom>
          <a:noFill/>
        </p:spPr>
        <p:txBody>
          <a:bodyPr wrap="none" lIns="0" rIns="0" tIns="0" bIns="0" anchor="ctr">
            <a:noAutofit/>
          </a:bodyPr>
          <a:lstStyle/>
          <a:p>
            <a:pPr algn="l">
              <a:lnSpc>
                <a:spcPts val="3500"/>
              </a:lnSpc>
            </a:pPr>
            <a:r>
              <a:rPr sz="2800" b="0" i="0">
                <a:solidFill>
                  <a:srgbClr val="6B4A52"/>
                </a:solidFill>
                <a:latin typeface="Georgia"/>
              </a:rPr>
              <a:t>And this course is going to use it, all semester, on purpose.</a:t>
            </a:r>
          </a:p>
        </p:txBody>
      </p:sp>
      <p:sp>
        <p:nvSpPr>
          <p:cNvPr id="5" name="Rounded Rectangle 4"/>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6" name="TextBox 5"/>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19 / 28</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2184400"/>
            <a:ext cx="10566400" cy="914400"/>
          </a:xfrm>
          <a:prstGeom prst="rect">
            <a:avLst/>
          </a:prstGeom>
          <a:noFill/>
        </p:spPr>
        <p:txBody>
          <a:bodyPr wrap="none" lIns="0" rIns="0" tIns="0" bIns="0" anchor="ctr">
            <a:noAutofit/>
          </a:bodyPr>
          <a:lstStyle/>
          <a:p>
            <a:pPr algn="l">
              <a:lnSpc>
                <a:spcPts val="6300"/>
              </a:lnSpc>
            </a:pPr>
            <a:r>
              <a:rPr sz="6000" b="0" i="0" spc="-120">
                <a:solidFill>
                  <a:srgbClr val="2C1A1F"/>
                </a:solidFill>
                <a:latin typeface="Georgia"/>
              </a:rPr>
              <a:t>Generative AI is unethical.</a:t>
            </a:r>
          </a:p>
        </p:txBody>
      </p:sp>
      <p:sp>
        <p:nvSpPr>
          <p:cNvPr id="4" name="TextBox 3"/>
          <p:cNvSpPr txBox="1"/>
          <p:nvPr/>
        </p:nvSpPr>
        <p:spPr>
          <a:xfrm>
            <a:off x="812800" y="3340100"/>
            <a:ext cx="10566400" cy="426720"/>
          </a:xfrm>
          <a:prstGeom prst="rect">
            <a:avLst/>
          </a:prstGeom>
          <a:noFill/>
        </p:spPr>
        <p:txBody>
          <a:bodyPr wrap="none" lIns="0" rIns="0" tIns="0" bIns="0" anchor="ctr">
            <a:noAutofit/>
          </a:bodyPr>
          <a:lstStyle/>
          <a:p>
            <a:pPr algn="l">
              <a:lnSpc>
                <a:spcPts val="3500"/>
              </a:lnSpc>
            </a:pPr>
            <a:r>
              <a:rPr sz="2800" b="0" i="0">
                <a:solidFill>
                  <a:srgbClr val="6B4A52"/>
                </a:solidFill>
                <a:latin typeface="Georgia"/>
              </a:rPr>
              <a:t>And this course is going to use it, all semester, on purpose.</a:t>
            </a:r>
          </a:p>
        </p:txBody>
      </p:sp>
      <p:sp>
        <p:nvSpPr>
          <p:cNvPr id="5" name="Rectangle 4"/>
          <p:cNvSpPr/>
          <p:nvPr/>
        </p:nvSpPr>
        <p:spPr>
          <a:xfrm>
            <a:off x="812800" y="4064000"/>
            <a:ext cx="10566400" cy="889000"/>
          </a:xfrm>
          <a:prstGeom prst="rect">
            <a:avLst/>
          </a:prstGeom>
          <a:noFill/>
          <a:ln>
            <a:noFill/>
          </a:ln>
          <a:effectLst/>
        </p:spPr>
        <p:txBody>
          <a:bodyPr rtlCol="0" anchor="ctr"/>
          <a:lstStyle/>
          <a:p>
            <a:pPr algn="ctr"/>
          </a:p>
        </p:txBody>
      </p:sp>
      <p:sp>
        <p:nvSpPr>
          <p:cNvPr id="6" name="Rectangle 5"/>
          <p:cNvSpPr/>
          <p:nvPr/>
        </p:nvSpPr>
        <p:spPr>
          <a:xfrm>
            <a:off x="812800" y="4064000"/>
            <a:ext cx="10566400" cy="25400"/>
          </a:xfrm>
          <a:prstGeom prst="rect">
            <a:avLst/>
          </a:prstGeom>
          <a:solidFill>
            <a:srgbClr val="861F41">
              <a:alpha val="40000"/>
            </a:srgbClr>
          </a:solidFill>
          <a:ln>
            <a:noFill/>
          </a:ln>
          <a:effectLst/>
        </p:spPr>
        <p:txBody>
          <a:bodyPr rtlCol="0" anchor="ctr"/>
          <a:lstStyle/>
          <a:p>
            <a:pPr algn="ctr"/>
          </a:p>
        </p:txBody>
      </p:sp>
      <p:sp>
        <p:nvSpPr>
          <p:cNvPr id="7" name="TextBox 6"/>
          <p:cNvSpPr txBox="1"/>
          <p:nvPr/>
        </p:nvSpPr>
        <p:spPr>
          <a:xfrm>
            <a:off x="812800" y="4394200"/>
            <a:ext cx="10566400" cy="609600"/>
          </a:xfrm>
          <a:prstGeom prst="rect">
            <a:avLst/>
          </a:prstGeom>
          <a:noFill/>
        </p:spPr>
        <p:txBody>
          <a:bodyPr wrap="none" lIns="0" rIns="0" tIns="0" bIns="0" anchor="ctr">
            <a:noAutofit/>
          </a:bodyPr>
          <a:lstStyle/>
          <a:p>
            <a:pPr algn="l">
              <a:lnSpc>
                <a:spcPts val="4400"/>
              </a:lnSpc>
            </a:pPr>
            <a:r>
              <a:rPr sz="4000" b="0" i="0">
                <a:solidFill>
                  <a:srgbClr val="861F41"/>
                </a:solidFill>
                <a:latin typeface="Georgia"/>
              </a:rPr>
              <a:t>So — what do we do with that?</a:t>
            </a:r>
          </a:p>
        </p:txBody>
      </p:sp>
      <p:sp>
        <p:nvSpPr>
          <p:cNvPr id="8" name="Rounded Rectangle 7"/>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9" name="TextBox 8"/>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19 / 28</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Three ideas I want to plant in your head.</a:t>
            </a:r>
          </a:p>
        </p:txBody>
      </p:sp>
      <p:pic>
        <p:nvPicPr>
          <p:cNvPr id="4" name="Picture 3" descr="c61293390d6178ef.jpg"/>
          <p:cNvPicPr>
            <a:picLocks noChangeAspect="1"/>
          </p:cNvPicPr>
          <p:nvPr/>
        </p:nvPicPr>
        <p:blipFill>
          <a:blip r:embed="rId3"/>
          <a:stretch>
            <a:fillRect/>
          </a:stretch>
        </p:blipFill>
        <p:spPr>
          <a:xfrm>
            <a:off x="4572000" y="4267200"/>
            <a:ext cx="3048000" cy="1828800"/>
          </a:xfrm>
          <a:prstGeom prst="rect">
            <a:avLst/>
          </a:prstGeom>
        </p:spPr>
      </p:pic>
      <p:sp>
        <p:nvSpPr>
          <p:cNvPr id="5" name="Rounded Rectangle 4"/>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6" name="TextBox 5"/>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20 / 28</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Three ideas I want to plant in your head.</a:t>
            </a:r>
          </a:p>
        </p:txBody>
      </p:sp>
      <p:pic>
        <p:nvPicPr>
          <p:cNvPr id="4" name="Picture 3" descr="800d18e1ee859caa.jpg"/>
          <p:cNvPicPr>
            <a:picLocks noChangeAspect="1"/>
          </p:cNvPicPr>
          <p:nvPr/>
        </p:nvPicPr>
        <p:blipFill>
          <a:blip r:embed="rId3"/>
          <a:stretch>
            <a:fillRect/>
          </a:stretch>
        </p:blipFill>
        <p:spPr>
          <a:xfrm>
            <a:off x="4572000" y="4267200"/>
            <a:ext cx="3048000" cy="1828800"/>
          </a:xfrm>
          <a:prstGeom prst="rect">
            <a:avLst/>
          </a:prstGeom>
        </p:spPr>
      </p:pic>
      <p:pic>
        <p:nvPicPr>
          <p:cNvPr id="5" name="Picture 4" descr="153dbe36a4fd0864.jpg"/>
          <p:cNvPicPr>
            <a:picLocks noChangeAspect="1"/>
          </p:cNvPicPr>
          <p:nvPr/>
        </p:nvPicPr>
        <p:blipFill>
          <a:blip r:embed="rId4"/>
          <a:stretch>
            <a:fillRect/>
          </a:stretch>
        </p:blipFill>
        <p:spPr>
          <a:xfrm>
            <a:off x="2400300" y="3492500"/>
            <a:ext cx="3048000" cy="1257300"/>
          </a:xfrm>
          <a:prstGeom prst="rect">
            <a:avLst/>
          </a:prstGeom>
        </p:spPr>
      </p:pic>
      <p:sp>
        <p:nvSpPr>
          <p:cNvPr id="6" name="TextBox 5"/>
          <p:cNvSpPr txBox="1"/>
          <p:nvPr/>
        </p:nvSpPr>
        <p:spPr>
          <a:xfrm>
            <a:off x="819249" y="1755775"/>
            <a:ext cx="3289102" cy="320040"/>
          </a:xfrm>
          <a:prstGeom prst="rect">
            <a:avLst/>
          </a:prstGeom>
          <a:noFill/>
        </p:spPr>
        <p:txBody>
          <a:bodyPr wrap="none" lIns="0" rIns="0" tIns="0" bIns="0" anchor="ctr">
            <a:noAutofit/>
          </a:bodyPr>
          <a:lstStyle/>
          <a:p>
            <a:pPr algn="ctr">
              <a:lnSpc>
                <a:spcPts val="2625"/>
              </a:lnSpc>
            </a:pPr>
            <a:r>
              <a:rPr sz="2100" b="0" i="0">
                <a:solidFill>
                  <a:srgbClr val="2C1A1F"/>
                </a:solidFill>
                <a:latin typeface="Georgia"/>
              </a:rPr>
              <a:t>Privileges and Responsibilities</a:t>
            </a:r>
          </a:p>
        </p:txBody>
      </p:sp>
      <p:pic>
        <p:nvPicPr>
          <p:cNvPr id="7" name="Picture 6" descr="7a184c9fbf0729d5.jpg"/>
          <p:cNvPicPr>
            <a:picLocks noChangeAspect="1"/>
          </p:cNvPicPr>
          <p:nvPr/>
        </p:nvPicPr>
        <p:blipFill>
          <a:blip r:embed="rId5"/>
          <a:stretch>
            <a:fillRect/>
          </a:stretch>
        </p:blipFill>
        <p:spPr>
          <a:xfrm>
            <a:off x="1701800" y="2070100"/>
            <a:ext cx="1524000" cy="1524000"/>
          </a:xfrm>
          <a:prstGeom prst="rect">
            <a:avLst/>
          </a:prstGeom>
        </p:spPr>
      </p:pic>
      <p:sp>
        <p:nvSpPr>
          <p:cNvPr id="8" name="TextBox 7"/>
          <p:cNvSpPr txBox="1"/>
          <p:nvPr/>
        </p:nvSpPr>
        <p:spPr>
          <a:xfrm>
            <a:off x="812800" y="2635250"/>
            <a:ext cx="3302000" cy="426720"/>
          </a:xfrm>
          <a:prstGeom prst="rect">
            <a:avLst/>
          </a:prstGeom>
          <a:noFill/>
        </p:spPr>
        <p:txBody>
          <a:bodyPr wrap="none" lIns="0" rIns="0" tIns="0" bIns="0" anchor="ctr">
            <a:noAutofit/>
          </a:bodyPr>
          <a:lstStyle/>
          <a:p>
            <a:pPr algn="l">
              <a:lnSpc>
                <a:spcPts val="2800"/>
              </a:lnSpc>
            </a:pPr>
            <a:r>
              <a:rPr sz="2800" b="0" i="0">
                <a:solidFill>
                  <a:srgbClr val="FFFFFF"/>
                </a:solidFill>
                <a:latin typeface="Georgia"/>
              </a:rPr>
              <a:t>1</a:t>
            </a:r>
          </a:p>
        </p:txBody>
      </p:sp>
      <p:sp>
        <p:nvSpPr>
          <p:cNvPr id="9" name="Rounded Rectangle 8"/>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0" name="TextBox 9"/>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20 / 28</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Three ideas I want to plant in your head.</a:t>
            </a:r>
          </a:p>
        </p:txBody>
      </p:sp>
      <p:pic>
        <p:nvPicPr>
          <p:cNvPr id="4" name="Picture 3" descr="db763fda6a91745d.jpg"/>
          <p:cNvPicPr>
            <a:picLocks noChangeAspect="1"/>
          </p:cNvPicPr>
          <p:nvPr/>
        </p:nvPicPr>
        <p:blipFill>
          <a:blip r:embed="rId3"/>
          <a:stretch>
            <a:fillRect/>
          </a:stretch>
        </p:blipFill>
        <p:spPr>
          <a:xfrm>
            <a:off x="4572000" y="4267200"/>
            <a:ext cx="3048000" cy="1828800"/>
          </a:xfrm>
          <a:prstGeom prst="rect">
            <a:avLst/>
          </a:prstGeom>
        </p:spPr>
      </p:pic>
      <p:pic>
        <p:nvPicPr>
          <p:cNvPr id="5" name="Picture 4" descr="153dbe36a4fd0864.jpg"/>
          <p:cNvPicPr>
            <a:picLocks noChangeAspect="1"/>
          </p:cNvPicPr>
          <p:nvPr/>
        </p:nvPicPr>
        <p:blipFill>
          <a:blip r:embed="rId4"/>
          <a:stretch>
            <a:fillRect/>
          </a:stretch>
        </p:blipFill>
        <p:spPr>
          <a:xfrm>
            <a:off x="2400300" y="3492500"/>
            <a:ext cx="3048000" cy="1257300"/>
          </a:xfrm>
          <a:prstGeom prst="rect">
            <a:avLst/>
          </a:prstGeom>
        </p:spPr>
      </p:pic>
      <p:sp>
        <p:nvSpPr>
          <p:cNvPr id="6" name="TextBox 5"/>
          <p:cNvSpPr txBox="1"/>
          <p:nvPr/>
        </p:nvSpPr>
        <p:spPr>
          <a:xfrm>
            <a:off x="819249" y="1755775"/>
            <a:ext cx="3289102" cy="320040"/>
          </a:xfrm>
          <a:prstGeom prst="rect">
            <a:avLst/>
          </a:prstGeom>
          <a:noFill/>
        </p:spPr>
        <p:txBody>
          <a:bodyPr wrap="none" lIns="0" rIns="0" tIns="0" bIns="0" anchor="ctr">
            <a:noAutofit/>
          </a:bodyPr>
          <a:lstStyle/>
          <a:p>
            <a:pPr algn="ctr">
              <a:lnSpc>
                <a:spcPts val="2625"/>
              </a:lnSpc>
            </a:pPr>
            <a:r>
              <a:rPr sz="2100" b="0" i="0">
                <a:solidFill>
                  <a:srgbClr val="2C1A1F"/>
                </a:solidFill>
                <a:latin typeface="Georgia"/>
              </a:rPr>
              <a:t>Privileges and Responsibilities</a:t>
            </a:r>
          </a:p>
        </p:txBody>
      </p:sp>
      <p:pic>
        <p:nvPicPr>
          <p:cNvPr id="7" name="Picture 6" descr="7a184c9fbf0729d5.jpg"/>
          <p:cNvPicPr>
            <a:picLocks noChangeAspect="1"/>
          </p:cNvPicPr>
          <p:nvPr/>
        </p:nvPicPr>
        <p:blipFill>
          <a:blip r:embed="rId5"/>
          <a:stretch>
            <a:fillRect/>
          </a:stretch>
        </p:blipFill>
        <p:spPr>
          <a:xfrm>
            <a:off x="1701800" y="2070100"/>
            <a:ext cx="1524000" cy="1524000"/>
          </a:xfrm>
          <a:prstGeom prst="rect">
            <a:avLst/>
          </a:prstGeom>
        </p:spPr>
      </p:pic>
      <p:sp>
        <p:nvSpPr>
          <p:cNvPr id="8" name="TextBox 7"/>
          <p:cNvSpPr txBox="1"/>
          <p:nvPr/>
        </p:nvSpPr>
        <p:spPr>
          <a:xfrm>
            <a:off x="812800" y="2635250"/>
            <a:ext cx="3302000" cy="426720"/>
          </a:xfrm>
          <a:prstGeom prst="rect">
            <a:avLst/>
          </a:prstGeom>
          <a:noFill/>
        </p:spPr>
        <p:txBody>
          <a:bodyPr wrap="none" lIns="0" rIns="0" tIns="0" bIns="0" anchor="ctr">
            <a:noAutofit/>
          </a:bodyPr>
          <a:lstStyle/>
          <a:p>
            <a:pPr algn="l">
              <a:lnSpc>
                <a:spcPts val="2800"/>
              </a:lnSpc>
            </a:pPr>
            <a:r>
              <a:rPr sz="2800" b="0" i="0">
                <a:solidFill>
                  <a:srgbClr val="FFFFFF"/>
                </a:solidFill>
                <a:latin typeface="Georgia"/>
              </a:rPr>
              <a:t>1</a:t>
            </a:r>
          </a:p>
        </p:txBody>
      </p:sp>
      <p:pic>
        <p:nvPicPr>
          <p:cNvPr id="9" name="Picture 8" descr="3b7cf9ade3fec39b.jpg"/>
          <p:cNvPicPr>
            <a:picLocks noChangeAspect="1"/>
          </p:cNvPicPr>
          <p:nvPr/>
        </p:nvPicPr>
        <p:blipFill>
          <a:blip r:embed="rId6"/>
          <a:stretch>
            <a:fillRect/>
          </a:stretch>
        </p:blipFill>
        <p:spPr>
          <a:xfrm>
            <a:off x="5359400" y="3492500"/>
            <a:ext cx="1473200" cy="1117600"/>
          </a:xfrm>
          <a:prstGeom prst="rect">
            <a:avLst/>
          </a:prstGeom>
        </p:spPr>
      </p:pic>
      <p:sp>
        <p:nvSpPr>
          <p:cNvPr id="10" name="TextBox 9"/>
          <p:cNvSpPr txBox="1"/>
          <p:nvPr/>
        </p:nvSpPr>
        <p:spPr>
          <a:xfrm>
            <a:off x="4710609" y="1797050"/>
            <a:ext cx="2770783" cy="274320"/>
          </a:xfrm>
          <a:prstGeom prst="rect">
            <a:avLst/>
          </a:prstGeom>
          <a:noFill/>
        </p:spPr>
        <p:txBody>
          <a:bodyPr wrap="none" lIns="0" rIns="0" tIns="0" bIns="0" anchor="ctr">
            <a:noAutofit/>
          </a:bodyPr>
          <a:lstStyle/>
          <a:p>
            <a:pPr algn="ctr">
              <a:lnSpc>
                <a:spcPts val="2250"/>
              </a:lnSpc>
            </a:pPr>
            <a:r>
              <a:rPr sz="1800" b="0" i="0">
                <a:solidFill>
                  <a:srgbClr val="2C1A1F"/>
                </a:solidFill>
                <a:latin typeface="Georgia"/>
              </a:rPr>
              <a:t>The Implications of Our Work</a:t>
            </a:r>
          </a:p>
        </p:txBody>
      </p:sp>
      <p:pic>
        <p:nvPicPr>
          <p:cNvPr id="11" name="Picture 10" descr="0423f95e42bcd83c.jpg"/>
          <p:cNvPicPr>
            <a:picLocks noChangeAspect="1"/>
          </p:cNvPicPr>
          <p:nvPr/>
        </p:nvPicPr>
        <p:blipFill>
          <a:blip r:embed="rId7"/>
          <a:stretch>
            <a:fillRect/>
          </a:stretch>
        </p:blipFill>
        <p:spPr>
          <a:xfrm>
            <a:off x="5334000" y="2070100"/>
            <a:ext cx="1524000" cy="1524000"/>
          </a:xfrm>
          <a:prstGeom prst="rect">
            <a:avLst/>
          </a:prstGeom>
        </p:spPr>
      </p:pic>
      <p:sp>
        <p:nvSpPr>
          <p:cNvPr id="12" name="TextBox 11"/>
          <p:cNvSpPr txBox="1"/>
          <p:nvPr/>
        </p:nvSpPr>
        <p:spPr>
          <a:xfrm>
            <a:off x="4445000" y="2635250"/>
            <a:ext cx="3302000" cy="426720"/>
          </a:xfrm>
          <a:prstGeom prst="rect">
            <a:avLst/>
          </a:prstGeom>
          <a:noFill/>
        </p:spPr>
        <p:txBody>
          <a:bodyPr wrap="none" lIns="0" rIns="0" tIns="0" bIns="0" anchor="ctr">
            <a:noAutofit/>
          </a:bodyPr>
          <a:lstStyle/>
          <a:p>
            <a:pPr algn="l">
              <a:lnSpc>
                <a:spcPts val="2800"/>
              </a:lnSpc>
            </a:pPr>
            <a:r>
              <a:rPr sz="2800" b="0" i="0">
                <a:solidFill>
                  <a:srgbClr val="FFFFFF"/>
                </a:solidFill>
                <a:latin typeface="Georgia"/>
              </a:rPr>
              <a:t>2</a:t>
            </a:r>
          </a:p>
        </p:txBody>
      </p:sp>
      <p:sp>
        <p:nvSpPr>
          <p:cNvPr id="13" name="Rounded Rectangle 12"/>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4" name="TextBox 13"/>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20 / 28</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Three ideas I want to plant in your head.</a:t>
            </a:r>
          </a:p>
        </p:txBody>
      </p:sp>
      <p:pic>
        <p:nvPicPr>
          <p:cNvPr id="4" name="Picture 3" descr="de9af77aa94eb313.jpg"/>
          <p:cNvPicPr>
            <a:picLocks noChangeAspect="1"/>
          </p:cNvPicPr>
          <p:nvPr/>
        </p:nvPicPr>
        <p:blipFill>
          <a:blip r:embed="rId3"/>
          <a:stretch>
            <a:fillRect/>
          </a:stretch>
        </p:blipFill>
        <p:spPr>
          <a:xfrm>
            <a:off x="4572000" y="4267200"/>
            <a:ext cx="3048000" cy="1828800"/>
          </a:xfrm>
          <a:prstGeom prst="rect">
            <a:avLst/>
          </a:prstGeom>
        </p:spPr>
      </p:pic>
      <p:pic>
        <p:nvPicPr>
          <p:cNvPr id="5" name="Picture 4" descr="153dbe36a4fd0864.jpg"/>
          <p:cNvPicPr>
            <a:picLocks noChangeAspect="1"/>
          </p:cNvPicPr>
          <p:nvPr/>
        </p:nvPicPr>
        <p:blipFill>
          <a:blip r:embed="rId4"/>
          <a:stretch>
            <a:fillRect/>
          </a:stretch>
        </p:blipFill>
        <p:spPr>
          <a:xfrm>
            <a:off x="2400300" y="3492500"/>
            <a:ext cx="3048000" cy="1257300"/>
          </a:xfrm>
          <a:prstGeom prst="rect">
            <a:avLst/>
          </a:prstGeom>
        </p:spPr>
      </p:pic>
      <p:sp>
        <p:nvSpPr>
          <p:cNvPr id="6" name="TextBox 5"/>
          <p:cNvSpPr txBox="1"/>
          <p:nvPr/>
        </p:nvSpPr>
        <p:spPr>
          <a:xfrm>
            <a:off x="819249" y="1755775"/>
            <a:ext cx="3289102" cy="320040"/>
          </a:xfrm>
          <a:prstGeom prst="rect">
            <a:avLst/>
          </a:prstGeom>
          <a:noFill/>
        </p:spPr>
        <p:txBody>
          <a:bodyPr wrap="none" lIns="0" rIns="0" tIns="0" bIns="0" anchor="ctr">
            <a:noAutofit/>
          </a:bodyPr>
          <a:lstStyle/>
          <a:p>
            <a:pPr algn="ctr">
              <a:lnSpc>
                <a:spcPts val="2625"/>
              </a:lnSpc>
            </a:pPr>
            <a:r>
              <a:rPr sz="2100" b="0" i="0">
                <a:solidFill>
                  <a:srgbClr val="2C1A1F"/>
                </a:solidFill>
                <a:latin typeface="Georgia"/>
              </a:rPr>
              <a:t>Privileges and Responsibilities</a:t>
            </a:r>
          </a:p>
        </p:txBody>
      </p:sp>
      <p:pic>
        <p:nvPicPr>
          <p:cNvPr id="7" name="Picture 6" descr="7a184c9fbf0729d5.jpg"/>
          <p:cNvPicPr>
            <a:picLocks noChangeAspect="1"/>
          </p:cNvPicPr>
          <p:nvPr/>
        </p:nvPicPr>
        <p:blipFill>
          <a:blip r:embed="rId5"/>
          <a:stretch>
            <a:fillRect/>
          </a:stretch>
        </p:blipFill>
        <p:spPr>
          <a:xfrm>
            <a:off x="1701800" y="2070100"/>
            <a:ext cx="1524000" cy="1524000"/>
          </a:xfrm>
          <a:prstGeom prst="rect">
            <a:avLst/>
          </a:prstGeom>
        </p:spPr>
      </p:pic>
      <p:sp>
        <p:nvSpPr>
          <p:cNvPr id="8" name="TextBox 7"/>
          <p:cNvSpPr txBox="1"/>
          <p:nvPr/>
        </p:nvSpPr>
        <p:spPr>
          <a:xfrm>
            <a:off x="812800" y="2635250"/>
            <a:ext cx="3302000" cy="426720"/>
          </a:xfrm>
          <a:prstGeom prst="rect">
            <a:avLst/>
          </a:prstGeom>
          <a:noFill/>
        </p:spPr>
        <p:txBody>
          <a:bodyPr wrap="none" lIns="0" rIns="0" tIns="0" bIns="0" anchor="ctr">
            <a:noAutofit/>
          </a:bodyPr>
          <a:lstStyle/>
          <a:p>
            <a:pPr algn="l">
              <a:lnSpc>
                <a:spcPts val="2800"/>
              </a:lnSpc>
            </a:pPr>
            <a:r>
              <a:rPr sz="2800" b="0" i="0">
                <a:solidFill>
                  <a:srgbClr val="FFFFFF"/>
                </a:solidFill>
                <a:latin typeface="Georgia"/>
              </a:rPr>
              <a:t>1</a:t>
            </a:r>
          </a:p>
        </p:txBody>
      </p:sp>
      <p:pic>
        <p:nvPicPr>
          <p:cNvPr id="9" name="Picture 8" descr="8dc3e681935f6824.jpg"/>
          <p:cNvPicPr>
            <a:picLocks noChangeAspect="1"/>
          </p:cNvPicPr>
          <p:nvPr/>
        </p:nvPicPr>
        <p:blipFill>
          <a:blip r:embed="rId6"/>
          <a:stretch>
            <a:fillRect/>
          </a:stretch>
        </p:blipFill>
        <p:spPr>
          <a:xfrm>
            <a:off x="5359400" y="3492500"/>
            <a:ext cx="1473200" cy="1117600"/>
          </a:xfrm>
          <a:prstGeom prst="rect">
            <a:avLst/>
          </a:prstGeom>
        </p:spPr>
      </p:pic>
      <p:sp>
        <p:nvSpPr>
          <p:cNvPr id="10" name="TextBox 9"/>
          <p:cNvSpPr txBox="1"/>
          <p:nvPr/>
        </p:nvSpPr>
        <p:spPr>
          <a:xfrm>
            <a:off x="4710609" y="1797050"/>
            <a:ext cx="2770783" cy="274320"/>
          </a:xfrm>
          <a:prstGeom prst="rect">
            <a:avLst/>
          </a:prstGeom>
          <a:noFill/>
        </p:spPr>
        <p:txBody>
          <a:bodyPr wrap="none" lIns="0" rIns="0" tIns="0" bIns="0" anchor="ctr">
            <a:noAutofit/>
          </a:bodyPr>
          <a:lstStyle/>
          <a:p>
            <a:pPr algn="ctr">
              <a:lnSpc>
                <a:spcPts val="2250"/>
              </a:lnSpc>
            </a:pPr>
            <a:r>
              <a:rPr sz="1800" b="0" i="0">
                <a:solidFill>
                  <a:srgbClr val="2C1A1F"/>
                </a:solidFill>
                <a:latin typeface="Georgia"/>
              </a:rPr>
              <a:t>The Implications of Our Work</a:t>
            </a:r>
          </a:p>
        </p:txBody>
      </p:sp>
      <p:pic>
        <p:nvPicPr>
          <p:cNvPr id="11" name="Picture 10" descr="0423f95e42bcd83c.jpg"/>
          <p:cNvPicPr>
            <a:picLocks noChangeAspect="1"/>
          </p:cNvPicPr>
          <p:nvPr/>
        </p:nvPicPr>
        <p:blipFill>
          <a:blip r:embed="rId7"/>
          <a:stretch>
            <a:fillRect/>
          </a:stretch>
        </p:blipFill>
        <p:spPr>
          <a:xfrm>
            <a:off x="5334000" y="2070100"/>
            <a:ext cx="1524000" cy="1524000"/>
          </a:xfrm>
          <a:prstGeom prst="rect">
            <a:avLst/>
          </a:prstGeom>
        </p:spPr>
      </p:pic>
      <p:sp>
        <p:nvSpPr>
          <p:cNvPr id="12" name="TextBox 11"/>
          <p:cNvSpPr txBox="1"/>
          <p:nvPr/>
        </p:nvSpPr>
        <p:spPr>
          <a:xfrm>
            <a:off x="4445000" y="2635250"/>
            <a:ext cx="3302000" cy="426720"/>
          </a:xfrm>
          <a:prstGeom prst="rect">
            <a:avLst/>
          </a:prstGeom>
          <a:noFill/>
        </p:spPr>
        <p:txBody>
          <a:bodyPr wrap="none" lIns="0" rIns="0" tIns="0" bIns="0" anchor="ctr">
            <a:noAutofit/>
          </a:bodyPr>
          <a:lstStyle/>
          <a:p>
            <a:pPr algn="l">
              <a:lnSpc>
                <a:spcPts val="2800"/>
              </a:lnSpc>
            </a:pPr>
            <a:r>
              <a:rPr sz="2800" b="0" i="0">
                <a:solidFill>
                  <a:srgbClr val="FFFFFF"/>
                </a:solidFill>
                <a:latin typeface="Georgia"/>
              </a:rPr>
              <a:t>2</a:t>
            </a:r>
          </a:p>
        </p:txBody>
      </p:sp>
      <p:pic>
        <p:nvPicPr>
          <p:cNvPr id="13" name="Picture 12" descr="7d797780709852b0.jpg"/>
          <p:cNvPicPr>
            <a:picLocks noChangeAspect="1"/>
          </p:cNvPicPr>
          <p:nvPr/>
        </p:nvPicPr>
        <p:blipFill>
          <a:blip r:embed="rId8"/>
          <a:stretch>
            <a:fillRect/>
          </a:stretch>
        </p:blipFill>
        <p:spPr>
          <a:xfrm>
            <a:off x="6743700" y="3492500"/>
            <a:ext cx="3048000" cy="1333500"/>
          </a:xfrm>
          <a:prstGeom prst="rect">
            <a:avLst/>
          </a:prstGeom>
        </p:spPr>
      </p:pic>
      <p:sp>
        <p:nvSpPr>
          <p:cNvPr id="14" name="TextBox 13"/>
          <p:cNvSpPr txBox="1"/>
          <p:nvPr/>
        </p:nvSpPr>
        <p:spPr>
          <a:xfrm>
            <a:off x="8826798" y="1797050"/>
            <a:ext cx="1802805" cy="274320"/>
          </a:xfrm>
          <a:prstGeom prst="rect">
            <a:avLst/>
          </a:prstGeom>
          <a:noFill/>
        </p:spPr>
        <p:txBody>
          <a:bodyPr wrap="none" lIns="0" rIns="0" tIns="0" bIns="0" anchor="ctr">
            <a:noAutofit/>
          </a:bodyPr>
          <a:lstStyle/>
          <a:p>
            <a:pPr algn="ctr">
              <a:lnSpc>
                <a:spcPts val="2250"/>
              </a:lnSpc>
            </a:pPr>
            <a:r>
              <a:rPr sz="1800" b="0" i="0">
                <a:solidFill>
                  <a:srgbClr val="2C1A1F"/>
                </a:solidFill>
                <a:latin typeface="Georgia"/>
              </a:rPr>
              <a:t>Agency and Choice</a:t>
            </a:r>
          </a:p>
        </p:txBody>
      </p:sp>
      <p:pic>
        <p:nvPicPr>
          <p:cNvPr id="15" name="Picture 14" descr="e66e49eee89d3de3.jpg"/>
          <p:cNvPicPr>
            <a:picLocks noChangeAspect="1"/>
          </p:cNvPicPr>
          <p:nvPr/>
        </p:nvPicPr>
        <p:blipFill>
          <a:blip r:embed="rId9"/>
          <a:stretch>
            <a:fillRect/>
          </a:stretch>
        </p:blipFill>
        <p:spPr>
          <a:xfrm>
            <a:off x="8966200" y="2070100"/>
            <a:ext cx="1524000" cy="1524000"/>
          </a:xfrm>
          <a:prstGeom prst="rect">
            <a:avLst/>
          </a:prstGeom>
        </p:spPr>
      </p:pic>
      <p:sp>
        <p:nvSpPr>
          <p:cNvPr id="16" name="TextBox 15"/>
          <p:cNvSpPr txBox="1"/>
          <p:nvPr/>
        </p:nvSpPr>
        <p:spPr>
          <a:xfrm>
            <a:off x="8077200" y="2635250"/>
            <a:ext cx="3302000" cy="426720"/>
          </a:xfrm>
          <a:prstGeom prst="rect">
            <a:avLst/>
          </a:prstGeom>
          <a:noFill/>
        </p:spPr>
        <p:txBody>
          <a:bodyPr wrap="none" lIns="0" rIns="0" tIns="0" bIns="0" anchor="ctr">
            <a:noAutofit/>
          </a:bodyPr>
          <a:lstStyle/>
          <a:p>
            <a:pPr algn="l">
              <a:lnSpc>
                <a:spcPts val="2800"/>
              </a:lnSpc>
            </a:pPr>
            <a:r>
              <a:rPr sz="2800" b="0" i="0">
                <a:solidFill>
                  <a:srgbClr val="FFFFFF"/>
                </a:solidFill>
                <a:latin typeface="Georgia"/>
              </a:rPr>
              <a:t>3</a:t>
            </a:r>
          </a:p>
        </p:txBody>
      </p:sp>
      <p:sp>
        <p:nvSpPr>
          <p:cNvPr id="17" name="Rounded Rectangle 16"/>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8" name="TextBox 17"/>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20 / 28</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b37971fdb9d819c0.jpg"/>
          <p:cNvPicPr>
            <a:picLocks noChangeAspect="1"/>
          </p:cNvPicPr>
          <p:nvPr/>
        </p:nvPicPr>
        <p:blipFill>
          <a:blip r:embed="rId2"/>
          <a:stretch>
            <a:fillRect/>
          </a:stretch>
        </p:blipFill>
        <p:spPr>
          <a:xfrm>
            <a:off x="0" y="0"/>
            <a:ext cx="457200" cy="6858000"/>
          </a:xfrm>
          <a:prstGeom prst="rect">
            <a:avLst/>
          </a:prstGeom>
        </p:spPr>
      </p:pic>
      <p:sp>
        <p:nvSpPr>
          <p:cNvPr id="3" name="Rectangle 2"/>
          <p:cNvSpPr/>
          <p:nvPr/>
        </p:nvSpPr>
        <p:spPr>
          <a:xfrm>
            <a:off x="0" y="0"/>
            <a:ext cx="12192000" cy="6858000"/>
          </a:xfrm>
          <a:prstGeom prst="rect">
            <a:avLst/>
          </a:prstGeom>
          <a:solidFill>
            <a:srgbClr val="F2F1ED">
              <a:alpha val="92000"/>
            </a:srgbClr>
          </a:solidFill>
          <a:ln>
            <a:noFill/>
          </a:ln>
          <a:effectLst/>
        </p:spPr>
        <p:txBody>
          <a:bodyPr rtlCol="0" anchor="ctr"/>
          <a:lstStyle/>
          <a:p>
            <a:pPr algn="ctr"/>
          </a:p>
        </p:txBody>
      </p:sp>
      <p:sp>
        <p:nvSpPr>
          <p:cNvPr id="4" name="TextBox 3"/>
          <p:cNvSpPr txBox="1"/>
          <p:nvPr/>
        </p:nvSpPr>
        <p:spPr>
          <a:xfrm>
            <a:off x="1765300" y="2540000"/>
            <a:ext cx="8661400" cy="1778000"/>
          </a:xfrm>
          <a:prstGeom prst="rect">
            <a:avLst/>
          </a:prstGeom>
          <a:noFill/>
        </p:spPr>
        <p:txBody>
          <a:bodyPr wrap="square" lIns="0" rIns="0" tIns="0" bIns="0" anchor="ctr">
            <a:noAutofit/>
          </a:bodyPr>
          <a:lstStyle/>
          <a:p>
            <a:pPr algn="ctr">
              <a:lnSpc>
                <a:spcPts val="4800"/>
              </a:lnSpc>
            </a:pPr>
            <a:r>
              <a:rPr sz="4000" b="0" i="0">
                <a:solidFill>
                  <a:srgbClr val="2C1A1F"/>
                </a:solidFill>
                <a:latin typeface="Georgia"/>
              </a:rPr>
              <a:t>What do you tell people about ethics in one of the most clearly virtuous jobs — being a </a:t>
            </a:r>
            <a:r>
              <a:rPr sz="4000" b="1" i="0">
                <a:solidFill>
                  <a:srgbClr val="861F41"/>
                </a:solidFill>
                <a:latin typeface="Georgia"/>
              </a:rPr>
              <a:t>doctor</a:t>
            </a:r>
            <a:r>
              <a:rPr sz="4000" b="0" i="0">
                <a:solidFill>
                  <a:srgbClr val="2C1A1F"/>
                </a:solidFill>
                <a:latin typeface="Georgia"/>
              </a:rPr>
              <a:t>?</a:t>
            </a:r>
          </a:p>
        </p:txBody>
      </p:sp>
      <p:sp>
        <p:nvSpPr>
          <p:cNvPr id="5" name="Rounded Rectangle 4"/>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6" name="TextBox 5"/>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21 / 28</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pic>
        <p:nvPicPr>
          <p:cNvPr id="3" name="Picture 2" descr="1ceeeeb120f6a6d3.jpg"/>
          <p:cNvPicPr>
            <a:picLocks noChangeAspect="1"/>
          </p:cNvPicPr>
          <p:nvPr/>
        </p:nvPicPr>
        <p:blipFill>
          <a:blip r:embed="rId3"/>
          <a:stretch>
            <a:fillRect/>
          </a:stretch>
        </p:blipFill>
        <p:spPr>
          <a:xfrm>
            <a:off x="812800" y="2298700"/>
            <a:ext cx="1397000" cy="1397000"/>
          </a:xfrm>
          <a:prstGeom prst="rect">
            <a:avLst/>
          </a:prstGeom>
        </p:spPr>
      </p:pic>
      <p:sp>
        <p:nvSpPr>
          <p:cNvPr id="4" name="Rectangle 3"/>
          <p:cNvSpPr/>
          <p:nvPr/>
        </p:nvSpPr>
        <p:spPr>
          <a:xfrm>
            <a:off x="2616200" y="2075259"/>
            <a:ext cx="8763000" cy="1752600"/>
          </a:xfrm>
          <a:prstGeom prst="rect">
            <a:avLst/>
          </a:prstGeom>
          <a:noFill/>
          <a:ln>
            <a:noFill/>
          </a:ln>
          <a:effectLst/>
        </p:spPr>
        <p:txBody>
          <a:bodyPr rtlCol="0" anchor="ctr"/>
          <a:lstStyle/>
          <a:p>
            <a:pPr algn="ctr"/>
          </a:p>
        </p:txBody>
      </p:sp>
      <p:sp>
        <p:nvSpPr>
          <p:cNvPr id="5" name="Rectangle 4"/>
          <p:cNvSpPr/>
          <p:nvPr/>
        </p:nvSpPr>
        <p:spPr>
          <a:xfrm>
            <a:off x="2616200" y="2075259"/>
            <a:ext cx="50800" cy="1752600"/>
          </a:xfrm>
          <a:prstGeom prst="rect">
            <a:avLst/>
          </a:prstGeom>
          <a:solidFill>
            <a:srgbClr val="B35510"/>
          </a:solidFill>
          <a:ln>
            <a:noFill/>
          </a:ln>
          <a:effectLst/>
        </p:spPr>
        <p:txBody>
          <a:bodyPr rtlCol="0" anchor="ctr"/>
          <a:lstStyle/>
          <a:p>
            <a:pPr algn="ctr"/>
          </a:p>
        </p:txBody>
      </p:sp>
      <p:sp>
        <p:nvSpPr>
          <p:cNvPr id="6" name="TextBox 5"/>
          <p:cNvSpPr txBox="1"/>
          <p:nvPr/>
        </p:nvSpPr>
        <p:spPr>
          <a:xfrm>
            <a:off x="2971800" y="2087959"/>
            <a:ext cx="8432800" cy="1727200"/>
          </a:xfrm>
          <a:prstGeom prst="rect">
            <a:avLst/>
          </a:prstGeom>
          <a:noFill/>
        </p:spPr>
        <p:txBody>
          <a:bodyPr wrap="square" lIns="0" rIns="0" tIns="0" bIns="0" anchor="ctr">
            <a:noAutofit/>
          </a:bodyPr>
          <a:lstStyle/>
          <a:p>
            <a:pPr algn="l">
              <a:lnSpc>
                <a:spcPts val="4600"/>
              </a:lnSpc>
            </a:pPr>
            <a:r>
              <a:rPr sz="4000" b="0" i="0">
                <a:solidFill>
                  <a:srgbClr val="2C1A1F"/>
                </a:solidFill>
                <a:latin typeface="Georgia"/>
              </a:rPr>
              <a:t>"You have the privilege to make a lucrative living off the backs of the sick and dying."</a:t>
            </a:r>
          </a:p>
        </p:txBody>
      </p:sp>
      <p:sp>
        <p:nvSpPr>
          <p:cNvPr id="7" name="Rounded Rectangle 6"/>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8" name="TextBox 7"/>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21 / 28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pic>
        <p:nvPicPr>
          <p:cNvPr id="3" name="Picture 2" descr="1ceeeeb120f6a6d3.jpg"/>
          <p:cNvPicPr>
            <a:picLocks noChangeAspect="1"/>
          </p:cNvPicPr>
          <p:nvPr/>
        </p:nvPicPr>
        <p:blipFill>
          <a:blip r:embed="rId3"/>
          <a:stretch>
            <a:fillRect/>
          </a:stretch>
        </p:blipFill>
        <p:spPr>
          <a:xfrm>
            <a:off x="812800" y="2298700"/>
            <a:ext cx="1397000" cy="1397000"/>
          </a:xfrm>
          <a:prstGeom prst="rect">
            <a:avLst/>
          </a:prstGeom>
        </p:spPr>
      </p:pic>
      <p:sp>
        <p:nvSpPr>
          <p:cNvPr id="4" name="Rectangle 3"/>
          <p:cNvSpPr/>
          <p:nvPr/>
        </p:nvSpPr>
        <p:spPr>
          <a:xfrm>
            <a:off x="2616200" y="2075259"/>
            <a:ext cx="8763000" cy="1752600"/>
          </a:xfrm>
          <a:prstGeom prst="rect">
            <a:avLst/>
          </a:prstGeom>
          <a:noFill/>
          <a:ln>
            <a:noFill/>
          </a:ln>
          <a:effectLst/>
        </p:spPr>
        <p:txBody>
          <a:bodyPr rtlCol="0" anchor="ctr"/>
          <a:lstStyle/>
          <a:p>
            <a:pPr algn="ctr"/>
          </a:p>
        </p:txBody>
      </p:sp>
      <p:sp>
        <p:nvSpPr>
          <p:cNvPr id="5" name="Rectangle 4"/>
          <p:cNvSpPr/>
          <p:nvPr/>
        </p:nvSpPr>
        <p:spPr>
          <a:xfrm>
            <a:off x="2616200" y="2075259"/>
            <a:ext cx="50800" cy="1752600"/>
          </a:xfrm>
          <a:prstGeom prst="rect">
            <a:avLst/>
          </a:prstGeom>
          <a:solidFill>
            <a:srgbClr val="B35510"/>
          </a:solidFill>
          <a:ln>
            <a:noFill/>
          </a:ln>
          <a:effectLst/>
        </p:spPr>
        <p:txBody>
          <a:bodyPr rtlCol="0" anchor="ctr"/>
          <a:lstStyle/>
          <a:p>
            <a:pPr algn="ctr"/>
          </a:p>
        </p:txBody>
      </p:sp>
      <p:sp>
        <p:nvSpPr>
          <p:cNvPr id="6" name="TextBox 5"/>
          <p:cNvSpPr txBox="1"/>
          <p:nvPr/>
        </p:nvSpPr>
        <p:spPr>
          <a:xfrm>
            <a:off x="2971800" y="2087959"/>
            <a:ext cx="8432800" cy="1727200"/>
          </a:xfrm>
          <a:prstGeom prst="rect">
            <a:avLst/>
          </a:prstGeom>
          <a:noFill/>
        </p:spPr>
        <p:txBody>
          <a:bodyPr wrap="square" lIns="0" rIns="0" tIns="0" bIns="0" anchor="ctr">
            <a:noAutofit/>
          </a:bodyPr>
          <a:lstStyle/>
          <a:p>
            <a:pPr algn="l">
              <a:lnSpc>
                <a:spcPts val="4600"/>
              </a:lnSpc>
            </a:pPr>
            <a:r>
              <a:rPr sz="4000" b="0" i="0">
                <a:solidFill>
                  <a:srgbClr val="2C1A1F"/>
                </a:solidFill>
                <a:latin typeface="Georgia"/>
              </a:rPr>
              <a:t>"You have the privilege to make a lucrative living off the backs of the sick and dying."</a:t>
            </a:r>
          </a:p>
        </p:txBody>
      </p:sp>
      <p:sp>
        <p:nvSpPr>
          <p:cNvPr id="7" name="TextBox 6"/>
          <p:cNvSpPr txBox="1"/>
          <p:nvPr/>
        </p:nvSpPr>
        <p:spPr>
          <a:xfrm>
            <a:off x="2616200" y="4278709"/>
            <a:ext cx="8788400" cy="763191"/>
          </a:xfrm>
          <a:prstGeom prst="rect">
            <a:avLst/>
          </a:prstGeom>
          <a:noFill/>
        </p:spPr>
        <p:txBody>
          <a:bodyPr wrap="square" lIns="0" rIns="0" tIns="0" bIns="0" anchor="ctr">
            <a:noAutofit/>
          </a:bodyPr>
          <a:lstStyle/>
          <a:p>
            <a:pPr algn="l">
              <a:lnSpc>
                <a:spcPts val="3360"/>
              </a:lnSpc>
            </a:pPr>
            <a:r>
              <a:rPr sz="2400" b="0" i="0">
                <a:solidFill>
                  <a:srgbClr val="6B4A52"/>
                </a:solidFill>
                <a:latin typeface="Verdana"/>
              </a:rPr>
              <a:t>Not an argument against becoming a doctor. An argument that it is a </a:t>
            </a:r>
            <a:r>
              <a:rPr sz="2400" b="1" i="0">
                <a:solidFill>
                  <a:srgbClr val="861F41"/>
                </a:solidFill>
                <a:latin typeface="Verdana"/>
              </a:rPr>
              <a:t>privilege</a:t>
            </a:r>
            <a:r>
              <a:rPr sz="2400" b="0" i="0">
                <a:solidFill>
                  <a:srgbClr val="6B4A52"/>
                </a:solidFill>
                <a:latin typeface="Verdana"/>
              </a:rPr>
              <a:t> — and that a privilege carries a </a:t>
            </a:r>
            <a:r>
              <a:rPr sz="2400" b="1" i="0">
                <a:solidFill>
                  <a:srgbClr val="861F41"/>
                </a:solidFill>
                <a:latin typeface="Verdana"/>
              </a:rPr>
              <a:t>responsibility</a:t>
            </a:r>
            <a:r>
              <a:rPr sz="2400" b="0" i="0">
                <a:solidFill>
                  <a:srgbClr val="6B4A52"/>
                </a:solidFill>
                <a:latin typeface="Verdana"/>
              </a:rPr>
              <a:t>.</a:t>
            </a:r>
          </a:p>
        </p:txBody>
      </p:sp>
      <p:sp>
        <p:nvSpPr>
          <p:cNvPr id="8" name="Rounded Rectangle 7"/>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9" name="TextBox 8"/>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21 / 28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pic>
        <p:nvPicPr>
          <p:cNvPr id="3" name="Picture 2" descr="06230c08a59b3946.jpg"/>
          <p:cNvPicPr>
            <a:picLocks noChangeAspect="1"/>
          </p:cNvPicPr>
          <p:nvPr/>
        </p:nvPicPr>
        <p:blipFill>
          <a:blip r:embed="rId3"/>
          <a:stretch>
            <a:fillRect/>
          </a:stretch>
        </p:blipFill>
        <p:spPr>
          <a:xfrm>
            <a:off x="812800" y="2692400"/>
            <a:ext cx="1778000" cy="1778000"/>
          </a:xfrm>
          <a:prstGeom prst="rect">
            <a:avLst/>
          </a:prstGeom>
        </p:spPr>
      </p:pic>
      <p:sp>
        <p:nvSpPr>
          <p:cNvPr id="4" name="Rectangle 3"/>
          <p:cNvSpPr/>
          <p:nvPr/>
        </p:nvSpPr>
        <p:spPr>
          <a:xfrm>
            <a:off x="2997200" y="2065040"/>
            <a:ext cx="8382000" cy="2438400"/>
          </a:xfrm>
          <a:prstGeom prst="rect">
            <a:avLst/>
          </a:prstGeom>
          <a:noFill/>
          <a:ln>
            <a:noFill/>
          </a:ln>
          <a:effectLst/>
        </p:spPr>
        <p:txBody>
          <a:bodyPr rtlCol="0" anchor="ctr"/>
          <a:lstStyle/>
          <a:p>
            <a:pPr algn="ctr"/>
          </a:p>
        </p:txBody>
      </p:sp>
      <p:sp>
        <p:nvSpPr>
          <p:cNvPr id="5" name="Rectangle 4"/>
          <p:cNvSpPr/>
          <p:nvPr/>
        </p:nvSpPr>
        <p:spPr>
          <a:xfrm>
            <a:off x="2997200" y="2065040"/>
            <a:ext cx="50800" cy="2438400"/>
          </a:xfrm>
          <a:prstGeom prst="rect">
            <a:avLst/>
          </a:prstGeom>
          <a:solidFill>
            <a:srgbClr val="861F41"/>
          </a:solidFill>
          <a:ln>
            <a:noFill/>
          </a:ln>
          <a:effectLst/>
        </p:spPr>
        <p:txBody>
          <a:bodyPr rtlCol="0" anchor="ctr"/>
          <a:lstStyle/>
          <a:p>
            <a:pPr algn="ctr"/>
          </a:p>
        </p:txBody>
      </p:sp>
      <p:sp>
        <p:nvSpPr>
          <p:cNvPr id="6" name="TextBox 5"/>
          <p:cNvSpPr txBox="1"/>
          <p:nvPr/>
        </p:nvSpPr>
        <p:spPr>
          <a:xfrm>
            <a:off x="3352800" y="2090440"/>
            <a:ext cx="8051800" cy="2387600"/>
          </a:xfrm>
          <a:prstGeom prst="rect">
            <a:avLst/>
          </a:prstGeom>
          <a:noFill/>
        </p:spPr>
        <p:txBody>
          <a:bodyPr wrap="square" lIns="0" rIns="0" tIns="0" bIns="0" anchor="ctr">
            <a:noAutofit/>
          </a:bodyPr>
          <a:lstStyle/>
          <a:p>
            <a:pPr algn="l">
              <a:lnSpc>
                <a:spcPts val="4800"/>
              </a:lnSpc>
            </a:pPr>
            <a:r>
              <a:rPr sz="4000" b="0" i="0">
                <a:solidFill>
                  <a:srgbClr val="2C1A1F"/>
                </a:solidFill>
                <a:latin typeface="Georgia"/>
              </a:rPr>
              <a:t>I have the privilege to make a lucrative living off the backs of </a:t>
            </a:r>
            <a:r>
              <a:rPr sz="4000" b="0" i="0">
                <a:solidFill>
                  <a:srgbClr val="861F41"/>
                </a:solidFill>
                <a:latin typeface="Georgia"/>
              </a:rPr>
              <a:t>the young — the financially and intellectually vulnerable</a:t>
            </a:r>
            <a:r>
              <a:rPr sz="4000" b="0" i="0">
                <a:solidFill>
                  <a:srgbClr val="2C1A1F"/>
                </a:solidFill>
                <a:latin typeface="Georgia"/>
              </a:rPr>
              <a:t>.</a:t>
            </a:r>
          </a:p>
        </p:txBody>
      </p:sp>
      <p:sp>
        <p:nvSpPr>
          <p:cNvPr id="7" name="TextBox 6"/>
          <p:cNvSpPr txBox="1"/>
          <p:nvPr/>
        </p:nvSpPr>
        <p:spPr>
          <a:xfrm>
            <a:off x="3352800" y="4719340"/>
            <a:ext cx="80264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Roboto Mono"/>
              </a:rPr>
              <a:t>— me</a:t>
            </a:r>
          </a:p>
        </p:txBody>
      </p:sp>
      <p:sp>
        <p:nvSpPr>
          <p:cNvPr id="8" name="Rounded Rectangle 7"/>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9" name="TextBox 8"/>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22 / 28</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So — on whose backs?</a:t>
            </a:r>
          </a:p>
        </p:txBody>
      </p:sp>
      <p:sp>
        <p:nvSpPr>
          <p:cNvPr id="4" name="TextBox 3"/>
          <p:cNvSpPr txBox="1"/>
          <p:nvPr/>
        </p:nvSpPr>
        <p:spPr>
          <a:xfrm>
            <a:off x="812800" y="1219200"/>
            <a:ext cx="8915400" cy="778470"/>
          </a:xfrm>
          <a:prstGeom prst="rect">
            <a:avLst/>
          </a:prstGeom>
          <a:noFill/>
        </p:spPr>
        <p:txBody>
          <a:bodyPr wrap="square" lIns="0" rIns="0" tIns="0" bIns="0" anchor="ctr">
            <a:noAutofit/>
          </a:bodyPr>
          <a:lstStyle/>
          <a:p>
            <a:pPr algn="l">
              <a:lnSpc>
                <a:spcPts val="3479"/>
              </a:lnSpc>
            </a:pPr>
            <a:r>
              <a:rPr sz="2400" b="0" i="0">
                <a:solidFill>
                  <a:srgbClr val="6B4A52"/>
                </a:solidFill>
                <a:latin typeface="Verdana"/>
              </a:rPr>
              <a:t>Same question, pointed at us. What does a software engineer make a lucrative living off?</a:t>
            </a:r>
          </a:p>
        </p:txBody>
      </p:sp>
      <p:sp>
        <p:nvSpPr>
          <p:cNvPr id="5" name="Rounded Rectangle 4"/>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6" name="TextBox 5"/>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23 / 28</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So — on whose backs?</a:t>
            </a:r>
          </a:p>
        </p:txBody>
      </p:sp>
      <p:sp>
        <p:nvSpPr>
          <p:cNvPr id="4" name="TextBox 3"/>
          <p:cNvSpPr txBox="1"/>
          <p:nvPr/>
        </p:nvSpPr>
        <p:spPr>
          <a:xfrm>
            <a:off x="812800" y="1219200"/>
            <a:ext cx="8915400" cy="778470"/>
          </a:xfrm>
          <a:prstGeom prst="rect">
            <a:avLst/>
          </a:prstGeom>
          <a:noFill/>
        </p:spPr>
        <p:txBody>
          <a:bodyPr wrap="square" lIns="0" rIns="0" tIns="0" bIns="0" anchor="ctr">
            <a:noAutofit/>
          </a:bodyPr>
          <a:lstStyle/>
          <a:p>
            <a:pPr algn="l">
              <a:lnSpc>
                <a:spcPts val="3479"/>
              </a:lnSpc>
            </a:pPr>
            <a:r>
              <a:rPr sz="2400" b="0" i="0">
                <a:solidFill>
                  <a:srgbClr val="6B4A52"/>
                </a:solidFill>
                <a:latin typeface="Verdana"/>
              </a:rPr>
              <a:t>Same question, pointed at us. What does a software engineer make a lucrative living off?</a:t>
            </a:r>
          </a:p>
        </p:txBody>
      </p:sp>
      <p:sp>
        <p:nvSpPr>
          <p:cNvPr id="5" name="Rounded Rectangle 4"/>
          <p:cNvSpPr/>
          <p:nvPr/>
        </p:nvSpPr>
        <p:spPr>
          <a:xfrm>
            <a:off x="812800" y="2509441"/>
            <a:ext cx="3420467" cy="3738959"/>
          </a:xfrm>
          <a:prstGeom prst="roundRect">
            <a:avLst>
              <a:gd name="adj" fmla="val 1856"/>
            </a:avLst>
          </a:prstGeom>
          <a:solidFill>
            <a:srgbClr val="E9E3E4"/>
          </a:solidFill>
          <a:ln w="19050">
            <a:solidFill>
              <a:srgbClr val="B35510"/>
            </a:solidFill>
          </a:ln>
          <a:effectLst/>
        </p:spPr>
        <p:txBody>
          <a:bodyPr rtlCol="0" anchor="ctr"/>
          <a:lstStyle/>
          <a:p>
            <a:pPr algn="ctr"/>
          </a:p>
        </p:txBody>
      </p:sp>
      <p:sp>
        <p:nvSpPr>
          <p:cNvPr id="6" name="TextBox 5"/>
          <p:cNvSpPr txBox="1"/>
          <p:nvPr/>
        </p:nvSpPr>
        <p:spPr>
          <a:xfrm>
            <a:off x="1035050" y="2693591"/>
            <a:ext cx="2975967"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The environment</a:t>
            </a:r>
          </a:p>
        </p:txBody>
      </p:sp>
      <p:pic>
        <p:nvPicPr>
          <p:cNvPr id="7" name="Picture 6" descr="9064f63930f0ae4f.png"/>
          <p:cNvPicPr>
            <a:picLocks noChangeAspect="1"/>
          </p:cNvPicPr>
          <p:nvPr/>
        </p:nvPicPr>
        <p:blipFill>
          <a:blip r:embed="rId3"/>
          <a:stretch>
            <a:fillRect/>
          </a:stretch>
        </p:blipFill>
        <p:spPr>
          <a:xfrm>
            <a:off x="1035050" y="3143250"/>
            <a:ext cx="2978150" cy="2933700"/>
          </a:xfrm>
          <a:prstGeom prst="rect">
            <a:avLst/>
          </a:prstGeom>
        </p:spPr>
      </p:pic>
      <p:sp>
        <p:nvSpPr>
          <p:cNvPr id="8" name="Rounded Rectangle 7"/>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9" name="TextBox 8"/>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23 / 28</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So — on whose backs?</a:t>
            </a:r>
          </a:p>
        </p:txBody>
      </p:sp>
      <p:sp>
        <p:nvSpPr>
          <p:cNvPr id="4" name="TextBox 3"/>
          <p:cNvSpPr txBox="1"/>
          <p:nvPr/>
        </p:nvSpPr>
        <p:spPr>
          <a:xfrm>
            <a:off x="812800" y="1219200"/>
            <a:ext cx="8915400" cy="778470"/>
          </a:xfrm>
          <a:prstGeom prst="rect">
            <a:avLst/>
          </a:prstGeom>
          <a:noFill/>
        </p:spPr>
        <p:txBody>
          <a:bodyPr wrap="square" lIns="0" rIns="0" tIns="0" bIns="0" anchor="ctr">
            <a:noAutofit/>
          </a:bodyPr>
          <a:lstStyle/>
          <a:p>
            <a:pPr algn="l">
              <a:lnSpc>
                <a:spcPts val="3479"/>
              </a:lnSpc>
            </a:pPr>
            <a:r>
              <a:rPr sz="2400" b="0" i="0">
                <a:solidFill>
                  <a:srgbClr val="6B4A52"/>
                </a:solidFill>
                <a:latin typeface="Verdana"/>
              </a:rPr>
              <a:t>Same question, pointed at us. What does a software engineer make a lucrative living off?</a:t>
            </a:r>
          </a:p>
        </p:txBody>
      </p:sp>
      <p:sp>
        <p:nvSpPr>
          <p:cNvPr id="5" name="Rounded Rectangle 4"/>
          <p:cNvSpPr/>
          <p:nvPr/>
        </p:nvSpPr>
        <p:spPr>
          <a:xfrm>
            <a:off x="812800" y="2509441"/>
            <a:ext cx="3420467" cy="3738959"/>
          </a:xfrm>
          <a:prstGeom prst="roundRect">
            <a:avLst>
              <a:gd name="adj" fmla="val 1856"/>
            </a:avLst>
          </a:prstGeom>
          <a:solidFill>
            <a:srgbClr val="E9E3E4"/>
          </a:solidFill>
          <a:ln w="19050">
            <a:solidFill>
              <a:srgbClr val="B35510"/>
            </a:solidFill>
          </a:ln>
          <a:effectLst/>
        </p:spPr>
        <p:txBody>
          <a:bodyPr rtlCol="0" anchor="ctr"/>
          <a:lstStyle/>
          <a:p>
            <a:pPr algn="ctr"/>
          </a:p>
        </p:txBody>
      </p:sp>
      <p:sp>
        <p:nvSpPr>
          <p:cNvPr id="6" name="TextBox 5"/>
          <p:cNvSpPr txBox="1"/>
          <p:nvPr/>
        </p:nvSpPr>
        <p:spPr>
          <a:xfrm>
            <a:off x="1035050" y="2693591"/>
            <a:ext cx="2975967"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The environment</a:t>
            </a:r>
          </a:p>
        </p:txBody>
      </p:sp>
      <p:pic>
        <p:nvPicPr>
          <p:cNvPr id="7" name="Picture 6" descr="9064f63930f0ae4f.png"/>
          <p:cNvPicPr>
            <a:picLocks noChangeAspect="1"/>
          </p:cNvPicPr>
          <p:nvPr/>
        </p:nvPicPr>
        <p:blipFill>
          <a:blip r:embed="rId3"/>
          <a:stretch>
            <a:fillRect/>
          </a:stretch>
        </p:blipFill>
        <p:spPr>
          <a:xfrm>
            <a:off x="1035050" y="3143250"/>
            <a:ext cx="2978150" cy="2933700"/>
          </a:xfrm>
          <a:prstGeom prst="rect">
            <a:avLst/>
          </a:prstGeom>
        </p:spPr>
      </p:pic>
      <p:sp>
        <p:nvSpPr>
          <p:cNvPr id="8" name="Rounded Rectangle 7"/>
          <p:cNvSpPr/>
          <p:nvPr/>
        </p:nvSpPr>
        <p:spPr>
          <a:xfrm>
            <a:off x="4385667" y="2509441"/>
            <a:ext cx="3420566" cy="3738959"/>
          </a:xfrm>
          <a:prstGeom prst="roundRect">
            <a:avLst>
              <a:gd name="adj" fmla="val 1856"/>
            </a:avLst>
          </a:prstGeom>
          <a:solidFill>
            <a:srgbClr val="E9E3E4"/>
          </a:solidFill>
          <a:ln w="19050">
            <a:solidFill>
              <a:srgbClr val="1C6091"/>
            </a:solidFill>
          </a:ln>
          <a:effectLst/>
        </p:spPr>
        <p:txBody>
          <a:bodyPr rtlCol="0" anchor="ctr"/>
          <a:lstStyle/>
          <a:p>
            <a:pPr algn="ctr"/>
          </a:p>
        </p:txBody>
      </p:sp>
      <p:sp>
        <p:nvSpPr>
          <p:cNvPr id="9" name="TextBox 8"/>
          <p:cNvSpPr txBox="1"/>
          <p:nvPr/>
        </p:nvSpPr>
        <p:spPr>
          <a:xfrm>
            <a:off x="4607917" y="2693591"/>
            <a:ext cx="2976066"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Data laborers</a:t>
            </a:r>
          </a:p>
        </p:txBody>
      </p:sp>
      <p:pic>
        <p:nvPicPr>
          <p:cNvPr id="10" name="Picture 9" descr="34af3f1348a51cd8.png"/>
          <p:cNvPicPr>
            <a:picLocks noChangeAspect="1"/>
          </p:cNvPicPr>
          <p:nvPr/>
        </p:nvPicPr>
        <p:blipFill>
          <a:blip r:embed="rId4"/>
          <a:stretch>
            <a:fillRect/>
          </a:stretch>
        </p:blipFill>
        <p:spPr>
          <a:xfrm>
            <a:off x="4603750" y="3143250"/>
            <a:ext cx="2978150" cy="2933700"/>
          </a:xfrm>
          <a:prstGeom prst="rect">
            <a:avLst/>
          </a:prstGeom>
        </p:spPr>
      </p:pic>
      <p:sp>
        <p:nvSpPr>
          <p:cNvPr id="11" name="Rounded Rectangle 10"/>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2" name="TextBox 11"/>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23 / 28</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So — on whose backs?</a:t>
            </a:r>
          </a:p>
        </p:txBody>
      </p:sp>
      <p:sp>
        <p:nvSpPr>
          <p:cNvPr id="4" name="TextBox 3"/>
          <p:cNvSpPr txBox="1"/>
          <p:nvPr/>
        </p:nvSpPr>
        <p:spPr>
          <a:xfrm>
            <a:off x="812800" y="1219200"/>
            <a:ext cx="8915400" cy="778470"/>
          </a:xfrm>
          <a:prstGeom prst="rect">
            <a:avLst/>
          </a:prstGeom>
          <a:noFill/>
        </p:spPr>
        <p:txBody>
          <a:bodyPr wrap="square" lIns="0" rIns="0" tIns="0" bIns="0" anchor="ctr">
            <a:noAutofit/>
          </a:bodyPr>
          <a:lstStyle/>
          <a:p>
            <a:pPr algn="l">
              <a:lnSpc>
                <a:spcPts val="3479"/>
              </a:lnSpc>
            </a:pPr>
            <a:r>
              <a:rPr sz="2400" b="0" i="0">
                <a:solidFill>
                  <a:srgbClr val="6B4A52"/>
                </a:solidFill>
                <a:latin typeface="Verdana"/>
              </a:rPr>
              <a:t>Same question, pointed at us. What does a software engineer make a lucrative living off?</a:t>
            </a:r>
          </a:p>
        </p:txBody>
      </p:sp>
      <p:sp>
        <p:nvSpPr>
          <p:cNvPr id="5" name="Rounded Rectangle 4"/>
          <p:cNvSpPr/>
          <p:nvPr/>
        </p:nvSpPr>
        <p:spPr>
          <a:xfrm>
            <a:off x="812800" y="2509441"/>
            <a:ext cx="3420467" cy="3738959"/>
          </a:xfrm>
          <a:prstGeom prst="roundRect">
            <a:avLst>
              <a:gd name="adj" fmla="val 1856"/>
            </a:avLst>
          </a:prstGeom>
          <a:solidFill>
            <a:srgbClr val="E9E3E4"/>
          </a:solidFill>
          <a:ln w="19050">
            <a:solidFill>
              <a:srgbClr val="B35510"/>
            </a:solidFill>
          </a:ln>
          <a:effectLst/>
        </p:spPr>
        <p:txBody>
          <a:bodyPr rtlCol="0" anchor="ctr"/>
          <a:lstStyle/>
          <a:p>
            <a:pPr algn="ctr"/>
          </a:p>
        </p:txBody>
      </p:sp>
      <p:sp>
        <p:nvSpPr>
          <p:cNvPr id="6" name="TextBox 5"/>
          <p:cNvSpPr txBox="1"/>
          <p:nvPr/>
        </p:nvSpPr>
        <p:spPr>
          <a:xfrm>
            <a:off x="1035050" y="2693591"/>
            <a:ext cx="2975967"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The environment</a:t>
            </a:r>
          </a:p>
        </p:txBody>
      </p:sp>
      <p:pic>
        <p:nvPicPr>
          <p:cNvPr id="7" name="Picture 6" descr="9064f63930f0ae4f.png"/>
          <p:cNvPicPr>
            <a:picLocks noChangeAspect="1"/>
          </p:cNvPicPr>
          <p:nvPr/>
        </p:nvPicPr>
        <p:blipFill>
          <a:blip r:embed="rId3"/>
          <a:stretch>
            <a:fillRect/>
          </a:stretch>
        </p:blipFill>
        <p:spPr>
          <a:xfrm>
            <a:off x="1035050" y="3143250"/>
            <a:ext cx="2978150" cy="2933700"/>
          </a:xfrm>
          <a:prstGeom prst="rect">
            <a:avLst/>
          </a:prstGeom>
        </p:spPr>
      </p:pic>
      <p:sp>
        <p:nvSpPr>
          <p:cNvPr id="8" name="Rounded Rectangle 7"/>
          <p:cNvSpPr/>
          <p:nvPr/>
        </p:nvSpPr>
        <p:spPr>
          <a:xfrm>
            <a:off x="4385667" y="2509441"/>
            <a:ext cx="3420566" cy="3738959"/>
          </a:xfrm>
          <a:prstGeom prst="roundRect">
            <a:avLst>
              <a:gd name="adj" fmla="val 1856"/>
            </a:avLst>
          </a:prstGeom>
          <a:solidFill>
            <a:srgbClr val="E9E3E4"/>
          </a:solidFill>
          <a:ln w="19050">
            <a:solidFill>
              <a:srgbClr val="1C6091"/>
            </a:solidFill>
          </a:ln>
          <a:effectLst/>
        </p:spPr>
        <p:txBody>
          <a:bodyPr rtlCol="0" anchor="ctr"/>
          <a:lstStyle/>
          <a:p>
            <a:pPr algn="ctr"/>
          </a:p>
        </p:txBody>
      </p:sp>
      <p:sp>
        <p:nvSpPr>
          <p:cNvPr id="9" name="TextBox 8"/>
          <p:cNvSpPr txBox="1"/>
          <p:nvPr/>
        </p:nvSpPr>
        <p:spPr>
          <a:xfrm>
            <a:off x="4607917" y="2693591"/>
            <a:ext cx="2976066"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Data laborers</a:t>
            </a:r>
          </a:p>
        </p:txBody>
      </p:sp>
      <p:pic>
        <p:nvPicPr>
          <p:cNvPr id="10" name="Picture 9" descr="34af3f1348a51cd8.png"/>
          <p:cNvPicPr>
            <a:picLocks noChangeAspect="1"/>
          </p:cNvPicPr>
          <p:nvPr/>
        </p:nvPicPr>
        <p:blipFill>
          <a:blip r:embed="rId4"/>
          <a:stretch>
            <a:fillRect/>
          </a:stretch>
        </p:blipFill>
        <p:spPr>
          <a:xfrm>
            <a:off x="4603750" y="3143250"/>
            <a:ext cx="2978150" cy="2933700"/>
          </a:xfrm>
          <a:prstGeom prst="rect">
            <a:avLst/>
          </a:prstGeom>
        </p:spPr>
      </p:pic>
      <p:sp>
        <p:nvSpPr>
          <p:cNvPr id="11" name="Rounded Rectangle 10"/>
          <p:cNvSpPr/>
          <p:nvPr/>
        </p:nvSpPr>
        <p:spPr>
          <a:xfrm>
            <a:off x="7958634" y="2509441"/>
            <a:ext cx="3420566" cy="3738959"/>
          </a:xfrm>
          <a:prstGeom prst="roundRect">
            <a:avLst>
              <a:gd name="adj" fmla="val 1856"/>
            </a:avLst>
          </a:prstGeom>
          <a:solidFill>
            <a:srgbClr val="E9E3E4"/>
          </a:solidFill>
          <a:ln w="19050">
            <a:solidFill>
              <a:srgbClr val="9D3A29"/>
            </a:solidFill>
          </a:ln>
          <a:effectLst/>
        </p:spPr>
        <p:txBody>
          <a:bodyPr rtlCol="0" anchor="ctr"/>
          <a:lstStyle/>
          <a:p>
            <a:pPr algn="ctr"/>
          </a:p>
        </p:txBody>
      </p:sp>
      <p:sp>
        <p:nvSpPr>
          <p:cNvPr id="12" name="TextBox 11"/>
          <p:cNvSpPr txBox="1"/>
          <p:nvPr/>
        </p:nvSpPr>
        <p:spPr>
          <a:xfrm>
            <a:off x="8180884" y="2693591"/>
            <a:ext cx="2976066" cy="365760"/>
          </a:xfrm>
          <a:prstGeom prst="rect">
            <a:avLst/>
          </a:prstGeom>
          <a:noFill/>
        </p:spPr>
        <p:txBody>
          <a:bodyPr wrap="none" lIns="0" rIns="0" tIns="0" bIns="0" anchor="ctr">
            <a:noAutofit/>
          </a:bodyPr>
          <a:lstStyle/>
          <a:p>
            <a:pPr algn="l">
              <a:lnSpc>
                <a:spcPts val="2880"/>
              </a:lnSpc>
            </a:pPr>
            <a:r>
              <a:rPr sz="2400" b="1" i="0">
                <a:solidFill>
                  <a:srgbClr val="2C1A1F"/>
                </a:solidFill>
                <a:latin typeface="Georgia"/>
              </a:rPr>
              <a:t>Everyone downstream</a:t>
            </a:r>
          </a:p>
        </p:txBody>
      </p:sp>
      <p:pic>
        <p:nvPicPr>
          <p:cNvPr id="13" name="Picture 12" descr="2fe14d8a9b751a5b.jpg"/>
          <p:cNvPicPr>
            <a:picLocks noChangeAspect="1"/>
          </p:cNvPicPr>
          <p:nvPr/>
        </p:nvPicPr>
        <p:blipFill>
          <a:blip r:embed="rId5"/>
          <a:stretch>
            <a:fillRect/>
          </a:stretch>
        </p:blipFill>
        <p:spPr>
          <a:xfrm>
            <a:off x="8178800" y="3143250"/>
            <a:ext cx="2978150" cy="2933700"/>
          </a:xfrm>
          <a:prstGeom prst="rect">
            <a:avLst/>
          </a:prstGeom>
        </p:spPr>
      </p:pic>
      <p:sp>
        <p:nvSpPr>
          <p:cNvPr id="14" name="Rounded Rectangle 13"/>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5" name="TextBox 14"/>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23 / 28</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pic>
        <p:nvPicPr>
          <p:cNvPr id="3" name="Picture 2" descr="c180ac86cd37acca.jpg"/>
          <p:cNvPicPr>
            <a:picLocks noChangeAspect="1"/>
          </p:cNvPicPr>
          <p:nvPr/>
        </p:nvPicPr>
        <p:blipFill>
          <a:blip r:embed="rId3"/>
          <a:stretch>
            <a:fillRect/>
          </a:stretch>
        </p:blipFill>
        <p:spPr>
          <a:xfrm>
            <a:off x="812800" y="609600"/>
            <a:ext cx="3390900" cy="5638800"/>
          </a:xfrm>
          <a:prstGeom prst="rect">
            <a:avLst/>
          </a:prstGeom>
        </p:spPr>
      </p:pic>
      <p:pic>
        <p:nvPicPr>
          <p:cNvPr id="4" name="Picture 3" descr="d91e59cc191e17c2.jpg"/>
          <p:cNvPicPr>
            <a:picLocks noChangeAspect="1"/>
          </p:cNvPicPr>
          <p:nvPr/>
        </p:nvPicPr>
        <p:blipFill>
          <a:blip r:embed="rId4"/>
          <a:stretch>
            <a:fillRect/>
          </a:stretch>
        </p:blipFill>
        <p:spPr>
          <a:xfrm>
            <a:off x="812800" y="5118100"/>
            <a:ext cx="3390900" cy="1130300"/>
          </a:xfrm>
          <a:prstGeom prst="rect">
            <a:avLst/>
          </a:prstGeom>
        </p:spPr>
      </p:pic>
      <p:sp>
        <p:nvSpPr>
          <p:cNvPr id="5" name="TextBox 4"/>
          <p:cNvSpPr txBox="1"/>
          <p:nvPr/>
        </p:nvSpPr>
        <p:spPr>
          <a:xfrm>
            <a:off x="965200" y="5742980"/>
            <a:ext cx="3081834" cy="365760"/>
          </a:xfrm>
          <a:prstGeom prst="rect">
            <a:avLst/>
          </a:prstGeom>
          <a:noFill/>
        </p:spPr>
        <p:txBody>
          <a:bodyPr wrap="none" lIns="0" rIns="0" tIns="0" bIns="0" anchor="ctr">
            <a:noAutofit/>
          </a:bodyPr>
          <a:lstStyle/>
          <a:p>
            <a:pPr algn="l">
              <a:lnSpc>
                <a:spcPts val="2880"/>
              </a:lnSpc>
            </a:pPr>
            <a:r>
              <a:rPr sz="2400" b="0" i="0">
                <a:solidFill>
                  <a:srgbClr val="F2F1ED"/>
                </a:solidFill>
                <a:latin typeface="Georgia"/>
              </a:rPr>
              <a:t>Wernher von Braun</a:t>
            </a:r>
          </a:p>
        </p:txBody>
      </p:sp>
      <p:sp>
        <p:nvSpPr>
          <p:cNvPr id="6" name="Rounded Rectangle 5"/>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7" name="TextBox 6"/>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24 / 28</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pic>
        <p:nvPicPr>
          <p:cNvPr id="3" name="Picture 2" descr="c180ac86cd37acca.jpg"/>
          <p:cNvPicPr>
            <a:picLocks noChangeAspect="1"/>
          </p:cNvPicPr>
          <p:nvPr/>
        </p:nvPicPr>
        <p:blipFill>
          <a:blip r:embed="rId3"/>
          <a:stretch>
            <a:fillRect/>
          </a:stretch>
        </p:blipFill>
        <p:spPr>
          <a:xfrm>
            <a:off x="812800" y="609600"/>
            <a:ext cx="3390900" cy="5638800"/>
          </a:xfrm>
          <a:prstGeom prst="rect">
            <a:avLst/>
          </a:prstGeom>
        </p:spPr>
      </p:pic>
      <p:pic>
        <p:nvPicPr>
          <p:cNvPr id="4" name="Picture 3" descr="d91e59cc191e17c2.jpg"/>
          <p:cNvPicPr>
            <a:picLocks noChangeAspect="1"/>
          </p:cNvPicPr>
          <p:nvPr/>
        </p:nvPicPr>
        <p:blipFill>
          <a:blip r:embed="rId4"/>
          <a:stretch>
            <a:fillRect/>
          </a:stretch>
        </p:blipFill>
        <p:spPr>
          <a:xfrm>
            <a:off x="812800" y="5118100"/>
            <a:ext cx="3390900" cy="1130300"/>
          </a:xfrm>
          <a:prstGeom prst="rect">
            <a:avLst/>
          </a:prstGeom>
        </p:spPr>
      </p:pic>
      <p:sp>
        <p:nvSpPr>
          <p:cNvPr id="5" name="TextBox 4"/>
          <p:cNvSpPr txBox="1"/>
          <p:nvPr/>
        </p:nvSpPr>
        <p:spPr>
          <a:xfrm>
            <a:off x="965200" y="5742980"/>
            <a:ext cx="3081834" cy="365760"/>
          </a:xfrm>
          <a:prstGeom prst="rect">
            <a:avLst/>
          </a:prstGeom>
          <a:noFill/>
        </p:spPr>
        <p:txBody>
          <a:bodyPr wrap="none" lIns="0" rIns="0" tIns="0" bIns="0" anchor="ctr">
            <a:noAutofit/>
          </a:bodyPr>
          <a:lstStyle/>
          <a:p>
            <a:pPr algn="l">
              <a:lnSpc>
                <a:spcPts val="2880"/>
              </a:lnSpc>
            </a:pPr>
            <a:r>
              <a:rPr sz="2400" b="0" i="0">
                <a:solidFill>
                  <a:srgbClr val="F2F1ED"/>
                </a:solidFill>
                <a:latin typeface="Georgia"/>
              </a:rPr>
              <a:t>Wernher von Braun</a:t>
            </a:r>
          </a:p>
        </p:txBody>
      </p:sp>
      <p:pic>
        <p:nvPicPr>
          <p:cNvPr id="6" name="Picture 5" descr="a4e4a62c39f83ec3.jpg"/>
          <p:cNvPicPr>
            <a:picLocks noChangeAspect="1"/>
          </p:cNvPicPr>
          <p:nvPr/>
        </p:nvPicPr>
        <p:blipFill>
          <a:blip r:embed="rId5"/>
          <a:stretch>
            <a:fillRect/>
          </a:stretch>
        </p:blipFill>
        <p:spPr>
          <a:xfrm>
            <a:off x="4400550" y="609600"/>
            <a:ext cx="3390900" cy="5638800"/>
          </a:xfrm>
          <a:prstGeom prst="rect">
            <a:avLst/>
          </a:prstGeom>
        </p:spPr>
      </p:pic>
      <p:pic>
        <p:nvPicPr>
          <p:cNvPr id="7" name="Picture 6" descr="5aeafbcc25954a33.jpg"/>
          <p:cNvPicPr>
            <a:picLocks noChangeAspect="1"/>
          </p:cNvPicPr>
          <p:nvPr/>
        </p:nvPicPr>
        <p:blipFill>
          <a:blip r:embed="rId6"/>
          <a:stretch>
            <a:fillRect/>
          </a:stretch>
        </p:blipFill>
        <p:spPr>
          <a:xfrm>
            <a:off x="4400550" y="4591050"/>
            <a:ext cx="3390900" cy="1657350"/>
          </a:xfrm>
          <a:prstGeom prst="rect">
            <a:avLst/>
          </a:prstGeom>
        </p:spPr>
      </p:pic>
      <p:sp>
        <p:nvSpPr>
          <p:cNvPr id="8" name="TextBox 7"/>
          <p:cNvSpPr txBox="1"/>
          <p:nvPr/>
        </p:nvSpPr>
        <p:spPr>
          <a:xfrm>
            <a:off x="4555034" y="5217220"/>
            <a:ext cx="3107234" cy="854670"/>
          </a:xfrm>
          <a:prstGeom prst="rect">
            <a:avLst/>
          </a:prstGeom>
          <a:noFill/>
        </p:spPr>
        <p:txBody>
          <a:bodyPr wrap="square" lIns="0" rIns="0" tIns="0" bIns="0" anchor="ctr">
            <a:noAutofit/>
          </a:bodyPr>
          <a:lstStyle/>
          <a:p>
            <a:pPr algn="l">
              <a:lnSpc>
                <a:spcPts val="2340"/>
              </a:lnSpc>
            </a:pPr>
            <a:r>
              <a:rPr sz="1800" b="0" i="0">
                <a:solidFill>
                  <a:srgbClr val="F2F1ED"/>
                </a:solidFill>
                <a:latin typeface="Verdana"/>
              </a:rPr>
              <a:t>He invented the Saturn V — the rocket that carried Apollo to the Moon.</a:t>
            </a:r>
          </a:p>
        </p:txBody>
      </p:sp>
      <p:sp>
        <p:nvSpPr>
          <p:cNvPr id="9" name="Rounded Rectangle 8"/>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0" name="TextBox 9"/>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24 / 28</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pic>
        <p:nvPicPr>
          <p:cNvPr id="3" name="Picture 2" descr="c180ac86cd37acca.jpg"/>
          <p:cNvPicPr>
            <a:picLocks noChangeAspect="1"/>
          </p:cNvPicPr>
          <p:nvPr/>
        </p:nvPicPr>
        <p:blipFill>
          <a:blip r:embed="rId3"/>
          <a:stretch>
            <a:fillRect/>
          </a:stretch>
        </p:blipFill>
        <p:spPr>
          <a:xfrm>
            <a:off x="812800" y="609600"/>
            <a:ext cx="3390900" cy="5638800"/>
          </a:xfrm>
          <a:prstGeom prst="rect">
            <a:avLst/>
          </a:prstGeom>
        </p:spPr>
      </p:pic>
      <p:pic>
        <p:nvPicPr>
          <p:cNvPr id="4" name="Picture 3" descr="d91e59cc191e17c2.jpg"/>
          <p:cNvPicPr>
            <a:picLocks noChangeAspect="1"/>
          </p:cNvPicPr>
          <p:nvPr/>
        </p:nvPicPr>
        <p:blipFill>
          <a:blip r:embed="rId4"/>
          <a:stretch>
            <a:fillRect/>
          </a:stretch>
        </p:blipFill>
        <p:spPr>
          <a:xfrm>
            <a:off x="812800" y="5118100"/>
            <a:ext cx="3390900" cy="1130300"/>
          </a:xfrm>
          <a:prstGeom prst="rect">
            <a:avLst/>
          </a:prstGeom>
        </p:spPr>
      </p:pic>
      <p:sp>
        <p:nvSpPr>
          <p:cNvPr id="5" name="TextBox 4"/>
          <p:cNvSpPr txBox="1"/>
          <p:nvPr/>
        </p:nvSpPr>
        <p:spPr>
          <a:xfrm>
            <a:off x="965200" y="5742980"/>
            <a:ext cx="3081834" cy="365760"/>
          </a:xfrm>
          <a:prstGeom prst="rect">
            <a:avLst/>
          </a:prstGeom>
          <a:noFill/>
        </p:spPr>
        <p:txBody>
          <a:bodyPr wrap="none" lIns="0" rIns="0" tIns="0" bIns="0" anchor="ctr">
            <a:noAutofit/>
          </a:bodyPr>
          <a:lstStyle/>
          <a:p>
            <a:pPr algn="l">
              <a:lnSpc>
                <a:spcPts val="2880"/>
              </a:lnSpc>
            </a:pPr>
            <a:r>
              <a:rPr sz="2400" b="0" i="0">
                <a:solidFill>
                  <a:srgbClr val="F2F1ED"/>
                </a:solidFill>
                <a:latin typeface="Georgia"/>
              </a:rPr>
              <a:t>Wernher von Braun</a:t>
            </a:r>
          </a:p>
        </p:txBody>
      </p:sp>
      <p:pic>
        <p:nvPicPr>
          <p:cNvPr id="6" name="Picture 5" descr="a4e4a62c39f83ec3.jpg"/>
          <p:cNvPicPr>
            <a:picLocks noChangeAspect="1"/>
          </p:cNvPicPr>
          <p:nvPr/>
        </p:nvPicPr>
        <p:blipFill>
          <a:blip r:embed="rId5"/>
          <a:stretch>
            <a:fillRect/>
          </a:stretch>
        </p:blipFill>
        <p:spPr>
          <a:xfrm>
            <a:off x="4400550" y="609600"/>
            <a:ext cx="3390900" cy="5638800"/>
          </a:xfrm>
          <a:prstGeom prst="rect">
            <a:avLst/>
          </a:prstGeom>
        </p:spPr>
      </p:pic>
      <p:pic>
        <p:nvPicPr>
          <p:cNvPr id="7" name="Picture 6" descr="5aeafbcc25954a33.jpg"/>
          <p:cNvPicPr>
            <a:picLocks noChangeAspect="1"/>
          </p:cNvPicPr>
          <p:nvPr/>
        </p:nvPicPr>
        <p:blipFill>
          <a:blip r:embed="rId6"/>
          <a:stretch>
            <a:fillRect/>
          </a:stretch>
        </p:blipFill>
        <p:spPr>
          <a:xfrm>
            <a:off x="4400550" y="4591050"/>
            <a:ext cx="3390900" cy="1657350"/>
          </a:xfrm>
          <a:prstGeom prst="rect">
            <a:avLst/>
          </a:prstGeom>
        </p:spPr>
      </p:pic>
      <p:sp>
        <p:nvSpPr>
          <p:cNvPr id="8" name="TextBox 7"/>
          <p:cNvSpPr txBox="1"/>
          <p:nvPr/>
        </p:nvSpPr>
        <p:spPr>
          <a:xfrm>
            <a:off x="4555034" y="5217220"/>
            <a:ext cx="3107234" cy="854670"/>
          </a:xfrm>
          <a:prstGeom prst="rect">
            <a:avLst/>
          </a:prstGeom>
          <a:noFill/>
        </p:spPr>
        <p:txBody>
          <a:bodyPr wrap="square" lIns="0" rIns="0" tIns="0" bIns="0" anchor="ctr">
            <a:noAutofit/>
          </a:bodyPr>
          <a:lstStyle/>
          <a:p>
            <a:pPr algn="l">
              <a:lnSpc>
                <a:spcPts val="2340"/>
              </a:lnSpc>
            </a:pPr>
            <a:r>
              <a:rPr sz="1800" b="0" i="0">
                <a:solidFill>
                  <a:srgbClr val="F2F1ED"/>
                </a:solidFill>
                <a:latin typeface="Verdana"/>
              </a:rPr>
              <a:t>He invented the Saturn V — the rocket that carried Apollo to the Moon.</a:t>
            </a:r>
          </a:p>
        </p:txBody>
      </p:sp>
      <p:pic>
        <p:nvPicPr>
          <p:cNvPr id="9" name="Picture 8" descr="a2c0be83117de9ff.jpg"/>
          <p:cNvPicPr>
            <a:picLocks noChangeAspect="1"/>
          </p:cNvPicPr>
          <p:nvPr/>
        </p:nvPicPr>
        <p:blipFill>
          <a:blip r:embed="rId7"/>
          <a:stretch>
            <a:fillRect/>
          </a:stretch>
        </p:blipFill>
        <p:spPr>
          <a:xfrm>
            <a:off x="7988300" y="609600"/>
            <a:ext cx="3390900" cy="5638800"/>
          </a:xfrm>
          <a:prstGeom prst="rect">
            <a:avLst/>
          </a:prstGeom>
        </p:spPr>
      </p:pic>
      <p:pic>
        <p:nvPicPr>
          <p:cNvPr id="10" name="Picture 9" descr="b012e2987f7d0c56.jpg"/>
          <p:cNvPicPr>
            <a:picLocks noChangeAspect="1"/>
          </p:cNvPicPr>
          <p:nvPr/>
        </p:nvPicPr>
        <p:blipFill>
          <a:blip r:embed="rId8"/>
          <a:stretch>
            <a:fillRect/>
          </a:stretch>
        </p:blipFill>
        <p:spPr>
          <a:xfrm>
            <a:off x="7988300" y="609600"/>
            <a:ext cx="3390900" cy="2247900"/>
          </a:xfrm>
          <a:prstGeom prst="rect">
            <a:avLst/>
          </a:prstGeom>
        </p:spPr>
      </p:pic>
      <p:sp>
        <p:nvSpPr>
          <p:cNvPr id="11" name="TextBox 10"/>
          <p:cNvSpPr txBox="1"/>
          <p:nvPr/>
        </p:nvSpPr>
        <p:spPr>
          <a:xfrm>
            <a:off x="8144867" y="774700"/>
            <a:ext cx="3107333" cy="1448991"/>
          </a:xfrm>
          <a:prstGeom prst="rect">
            <a:avLst/>
          </a:prstGeom>
          <a:noFill/>
        </p:spPr>
        <p:txBody>
          <a:bodyPr wrap="square" lIns="0" rIns="0" tIns="0" bIns="0" anchor="ctr">
            <a:noAutofit/>
          </a:bodyPr>
          <a:lstStyle/>
          <a:p>
            <a:pPr algn="l">
              <a:lnSpc>
                <a:spcPts val="2340"/>
              </a:lnSpc>
            </a:pPr>
            <a:r>
              <a:rPr sz="1800" b="0" i="0">
                <a:solidFill>
                  <a:srgbClr val="F2F1ED"/>
                </a:solidFill>
                <a:latin typeface="Verdana"/>
              </a:rPr>
              <a:t>He also invented this — the V-2, the first ballistic missile, assembled by concentration-camp prisoners at Mittelbau-Dora.</a:t>
            </a:r>
          </a:p>
        </p:txBody>
      </p:sp>
      <p:sp>
        <p:nvSpPr>
          <p:cNvPr id="12" name="Rounded Rectangle 11"/>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3" name="TextBox 12"/>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24 / 28</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099fb43794f0b58e.jpg"/>
          <p:cNvPicPr>
            <a:picLocks noChangeAspect="1"/>
          </p:cNvPicPr>
          <p:nvPr/>
        </p:nvPicPr>
        <p:blipFill>
          <a:blip r:embed="rId2"/>
          <a:stretch>
            <a:fillRect/>
          </a:stretch>
        </p:blipFill>
        <p:spPr>
          <a:xfrm>
            <a:off x="0" y="0"/>
            <a:ext cx="457200" cy="6858000"/>
          </a:xfrm>
          <a:prstGeom prst="rect">
            <a:avLst/>
          </a:prstGeom>
        </p:spPr>
      </p:pic>
      <p:pic>
        <p:nvPicPr>
          <p:cNvPr id="3" name="Picture 2" descr="20a7321b388cb52c.jpg"/>
          <p:cNvPicPr>
            <a:picLocks noChangeAspect="1"/>
          </p:cNvPicPr>
          <p:nvPr/>
        </p:nvPicPr>
        <p:blipFill>
          <a:blip r:embed="rId3"/>
          <a:stretch>
            <a:fillRect/>
          </a:stretch>
        </p:blipFill>
        <p:spPr>
          <a:xfrm>
            <a:off x="812800" y="609600"/>
            <a:ext cx="3390900" cy="5638800"/>
          </a:xfrm>
          <a:prstGeom prst="rect">
            <a:avLst/>
          </a:prstGeom>
        </p:spPr>
      </p:pic>
      <p:pic>
        <p:nvPicPr>
          <p:cNvPr id="4" name="Picture 3" descr="fe8e91f7711dcc26.jpg"/>
          <p:cNvPicPr>
            <a:picLocks noChangeAspect="1"/>
          </p:cNvPicPr>
          <p:nvPr/>
        </p:nvPicPr>
        <p:blipFill>
          <a:blip r:embed="rId4"/>
          <a:stretch>
            <a:fillRect/>
          </a:stretch>
        </p:blipFill>
        <p:spPr>
          <a:xfrm>
            <a:off x="812800" y="5118100"/>
            <a:ext cx="3390900" cy="1130300"/>
          </a:xfrm>
          <a:prstGeom prst="rect">
            <a:avLst/>
          </a:prstGeom>
        </p:spPr>
      </p:pic>
      <p:sp>
        <p:nvSpPr>
          <p:cNvPr id="5" name="TextBox 4"/>
          <p:cNvSpPr txBox="1"/>
          <p:nvPr/>
        </p:nvSpPr>
        <p:spPr>
          <a:xfrm>
            <a:off x="965200" y="5742980"/>
            <a:ext cx="3081834" cy="365760"/>
          </a:xfrm>
          <a:prstGeom prst="rect">
            <a:avLst/>
          </a:prstGeom>
          <a:noFill/>
        </p:spPr>
        <p:txBody>
          <a:bodyPr wrap="none" lIns="0" rIns="0" tIns="0" bIns="0" anchor="ctr">
            <a:noAutofit/>
          </a:bodyPr>
          <a:lstStyle/>
          <a:p>
            <a:pPr algn="l">
              <a:lnSpc>
                <a:spcPts val="2880"/>
              </a:lnSpc>
            </a:pPr>
            <a:r>
              <a:rPr sz="2400" b="0" i="0">
                <a:solidFill>
                  <a:srgbClr val="F2F1ED"/>
                </a:solidFill>
                <a:latin typeface="Georgia"/>
              </a:rPr>
              <a:t>Wernher von Braun</a:t>
            </a:r>
          </a:p>
        </p:txBody>
      </p:sp>
      <p:pic>
        <p:nvPicPr>
          <p:cNvPr id="6" name="Picture 5" descr="4dd48b8525111ac7.jpg"/>
          <p:cNvPicPr>
            <a:picLocks noChangeAspect="1"/>
          </p:cNvPicPr>
          <p:nvPr/>
        </p:nvPicPr>
        <p:blipFill>
          <a:blip r:embed="rId5"/>
          <a:stretch>
            <a:fillRect/>
          </a:stretch>
        </p:blipFill>
        <p:spPr>
          <a:xfrm>
            <a:off x="4400550" y="609600"/>
            <a:ext cx="3390900" cy="5638800"/>
          </a:xfrm>
          <a:prstGeom prst="rect">
            <a:avLst/>
          </a:prstGeom>
        </p:spPr>
      </p:pic>
      <p:pic>
        <p:nvPicPr>
          <p:cNvPr id="7" name="Picture 6" descr="e5952418f8fe5832.jpg"/>
          <p:cNvPicPr>
            <a:picLocks noChangeAspect="1"/>
          </p:cNvPicPr>
          <p:nvPr/>
        </p:nvPicPr>
        <p:blipFill>
          <a:blip r:embed="rId6"/>
          <a:stretch>
            <a:fillRect/>
          </a:stretch>
        </p:blipFill>
        <p:spPr>
          <a:xfrm>
            <a:off x="4400550" y="4591050"/>
            <a:ext cx="3390900" cy="1657350"/>
          </a:xfrm>
          <a:prstGeom prst="rect">
            <a:avLst/>
          </a:prstGeom>
        </p:spPr>
      </p:pic>
      <p:sp>
        <p:nvSpPr>
          <p:cNvPr id="8" name="TextBox 7"/>
          <p:cNvSpPr txBox="1"/>
          <p:nvPr/>
        </p:nvSpPr>
        <p:spPr>
          <a:xfrm>
            <a:off x="4555034" y="5217220"/>
            <a:ext cx="3107234" cy="854670"/>
          </a:xfrm>
          <a:prstGeom prst="rect">
            <a:avLst/>
          </a:prstGeom>
          <a:noFill/>
        </p:spPr>
        <p:txBody>
          <a:bodyPr wrap="square" lIns="0" rIns="0" tIns="0" bIns="0" anchor="ctr">
            <a:noAutofit/>
          </a:bodyPr>
          <a:lstStyle/>
          <a:p>
            <a:pPr algn="l">
              <a:lnSpc>
                <a:spcPts val="2340"/>
              </a:lnSpc>
            </a:pPr>
            <a:r>
              <a:rPr sz="1800" b="0" i="0">
                <a:solidFill>
                  <a:srgbClr val="F2F1ED"/>
                </a:solidFill>
                <a:latin typeface="Verdana"/>
              </a:rPr>
              <a:t>He invented the Saturn V — the rocket that carried Apollo to the Moon.</a:t>
            </a:r>
          </a:p>
        </p:txBody>
      </p:sp>
      <p:pic>
        <p:nvPicPr>
          <p:cNvPr id="9" name="Picture 8" descr="17b4b828e05c4a01.jpg"/>
          <p:cNvPicPr>
            <a:picLocks noChangeAspect="1"/>
          </p:cNvPicPr>
          <p:nvPr/>
        </p:nvPicPr>
        <p:blipFill>
          <a:blip r:embed="rId7"/>
          <a:stretch>
            <a:fillRect/>
          </a:stretch>
        </p:blipFill>
        <p:spPr>
          <a:xfrm>
            <a:off x="7988300" y="609600"/>
            <a:ext cx="3390900" cy="5638800"/>
          </a:xfrm>
          <a:prstGeom prst="rect">
            <a:avLst/>
          </a:prstGeom>
        </p:spPr>
      </p:pic>
      <p:pic>
        <p:nvPicPr>
          <p:cNvPr id="10" name="Picture 9" descr="43bdb5681f7c557d.jpg"/>
          <p:cNvPicPr>
            <a:picLocks noChangeAspect="1"/>
          </p:cNvPicPr>
          <p:nvPr/>
        </p:nvPicPr>
        <p:blipFill>
          <a:blip r:embed="rId8"/>
          <a:stretch>
            <a:fillRect/>
          </a:stretch>
        </p:blipFill>
        <p:spPr>
          <a:xfrm>
            <a:off x="7988300" y="609600"/>
            <a:ext cx="3390900" cy="2247900"/>
          </a:xfrm>
          <a:prstGeom prst="rect">
            <a:avLst/>
          </a:prstGeom>
        </p:spPr>
      </p:pic>
      <p:sp>
        <p:nvSpPr>
          <p:cNvPr id="11" name="TextBox 10"/>
          <p:cNvSpPr txBox="1"/>
          <p:nvPr/>
        </p:nvSpPr>
        <p:spPr>
          <a:xfrm>
            <a:off x="8144867" y="774700"/>
            <a:ext cx="3107333" cy="1448991"/>
          </a:xfrm>
          <a:prstGeom prst="rect">
            <a:avLst/>
          </a:prstGeom>
          <a:noFill/>
        </p:spPr>
        <p:txBody>
          <a:bodyPr wrap="square" lIns="0" rIns="0" tIns="0" bIns="0" anchor="ctr">
            <a:noAutofit/>
          </a:bodyPr>
          <a:lstStyle/>
          <a:p>
            <a:pPr algn="l">
              <a:lnSpc>
                <a:spcPts val="2340"/>
              </a:lnSpc>
            </a:pPr>
            <a:r>
              <a:rPr sz="1800" b="0" i="0">
                <a:solidFill>
                  <a:srgbClr val="F2F1ED"/>
                </a:solidFill>
                <a:latin typeface="Verdana"/>
              </a:rPr>
              <a:t>He also invented this — the V-2, the first ballistic missile, assembled by concentration-camp prisoners at Mittelbau-Dora.</a:t>
            </a:r>
          </a:p>
        </p:txBody>
      </p:sp>
      <p:sp>
        <p:nvSpPr>
          <p:cNvPr id="12" name="Rectangle 11"/>
          <p:cNvSpPr/>
          <p:nvPr/>
        </p:nvSpPr>
        <p:spPr>
          <a:xfrm>
            <a:off x="0" y="0"/>
            <a:ext cx="12192000" cy="6858000"/>
          </a:xfrm>
          <a:prstGeom prst="rect">
            <a:avLst/>
          </a:prstGeom>
          <a:solidFill>
            <a:srgbClr val="F2F1ED">
              <a:alpha val="76000"/>
            </a:srgbClr>
          </a:solidFill>
          <a:ln>
            <a:noFill/>
          </a:ln>
          <a:effectLst/>
        </p:spPr>
        <p:txBody>
          <a:bodyPr rtlCol="0" anchor="ctr"/>
          <a:lstStyle/>
          <a:p>
            <a:pPr algn="ctr"/>
          </a:p>
        </p:txBody>
      </p:sp>
      <p:sp>
        <p:nvSpPr>
          <p:cNvPr id="13" name="TextBox 12"/>
          <p:cNvSpPr txBox="1"/>
          <p:nvPr/>
        </p:nvSpPr>
        <p:spPr>
          <a:xfrm>
            <a:off x="2146300" y="2268240"/>
            <a:ext cx="7899400" cy="1727200"/>
          </a:xfrm>
          <a:prstGeom prst="rect">
            <a:avLst/>
          </a:prstGeom>
          <a:noFill/>
        </p:spPr>
        <p:txBody>
          <a:bodyPr wrap="square" lIns="0" rIns="0" tIns="0" bIns="0" anchor="ctr">
            <a:noAutofit/>
          </a:bodyPr>
          <a:lstStyle/>
          <a:p>
            <a:pPr algn="ctr">
              <a:lnSpc>
                <a:spcPts val="4600"/>
              </a:lnSpc>
            </a:pPr>
            <a:r>
              <a:rPr sz="4000" b="0" i="0">
                <a:solidFill>
                  <a:srgbClr val="2C1A1F"/>
                </a:solidFill>
                <a:latin typeface="Georgia"/>
              </a:rPr>
              <a:t>“Once the rockets are up, who cares where they come down? That’s not my department!”</a:t>
            </a:r>
          </a:p>
        </p:txBody>
      </p:sp>
      <p:sp>
        <p:nvSpPr>
          <p:cNvPr id="14" name="TextBox 13"/>
          <p:cNvSpPr txBox="1"/>
          <p:nvPr/>
        </p:nvSpPr>
        <p:spPr>
          <a:xfrm>
            <a:off x="2529780" y="4224040"/>
            <a:ext cx="7132340" cy="365760"/>
          </a:xfrm>
          <a:prstGeom prst="rect">
            <a:avLst/>
          </a:prstGeom>
          <a:noFill/>
        </p:spPr>
        <p:txBody>
          <a:bodyPr wrap="none" lIns="0" rIns="0" tIns="0" bIns="0" anchor="ctr">
            <a:noAutofit/>
          </a:bodyPr>
          <a:lstStyle/>
          <a:p>
            <a:pPr algn="ctr">
              <a:lnSpc>
                <a:spcPts val="3479"/>
              </a:lnSpc>
            </a:pPr>
            <a:r>
              <a:rPr sz="2400" b="1" i="0">
                <a:solidFill>
                  <a:srgbClr val="6B4A52"/>
                </a:solidFill>
                <a:latin typeface="Roboto Mono"/>
              </a:rPr>
              <a:t>— Tom Lehrer, “Wernher von Braun,” 1965</a:t>
            </a:r>
          </a:p>
        </p:txBody>
      </p:sp>
      <p:sp>
        <p:nvSpPr>
          <p:cNvPr id="15" name="Rounded Rectangle 14"/>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6" name="TextBox 15"/>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24 / 28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1660029"/>
            <a:ext cx="10566400" cy="914400"/>
          </a:xfrm>
          <a:prstGeom prst="rect">
            <a:avLst/>
          </a:prstGeom>
          <a:noFill/>
        </p:spPr>
        <p:txBody>
          <a:bodyPr wrap="none" lIns="0" rIns="0" tIns="0" bIns="0" anchor="ctr">
            <a:noAutofit/>
          </a:bodyPr>
          <a:lstStyle/>
          <a:p>
            <a:pPr algn="l">
              <a:lnSpc>
                <a:spcPts val="6300"/>
              </a:lnSpc>
            </a:pPr>
            <a:r>
              <a:rPr sz="6000" b="0" i="0" spc="-120">
                <a:solidFill>
                  <a:srgbClr val="6B4A52"/>
                </a:solidFill>
                <a:latin typeface="Georgia"/>
              </a:rPr>
              <a:t>Move fast</a:t>
            </a:r>
            <a:r>
              <a:rPr sz="6000" b="0" i="0" spc="-120">
                <a:solidFill>
                  <a:srgbClr val="2C1A1F"/>
                </a:solidFill>
                <a:latin typeface="Georgia"/>
              </a:rPr>
              <a:t> and </a:t>
            </a:r>
            <a:r>
              <a:rPr sz="6000" b="0" i="0" spc="-120">
                <a:solidFill>
                  <a:srgbClr val="6B4A52"/>
                </a:solidFill>
                <a:latin typeface="Georgia"/>
              </a:rPr>
              <a:t>break things</a:t>
            </a:r>
            <a:r>
              <a:rPr sz="6000" b="0" i="0" spc="-120">
                <a:solidFill>
                  <a:srgbClr val="2C1A1F"/>
                </a:solidFill>
                <a:latin typeface="Georgia"/>
              </a:rPr>
              <a:t>.</a:t>
            </a:r>
          </a:p>
        </p:txBody>
      </p:sp>
      <p:sp>
        <p:nvSpPr>
          <p:cNvPr id="4" name="TextBox 3"/>
          <p:cNvSpPr txBox="1"/>
          <p:nvPr/>
        </p:nvSpPr>
        <p:spPr>
          <a:xfrm>
            <a:off x="812800" y="2701429"/>
            <a:ext cx="105664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Roboto Mono"/>
              </a:rPr>
              <a:t>— Facebook’s internal motto, 2009–2014</a:t>
            </a:r>
          </a:p>
        </p:txBody>
      </p:sp>
      <p:sp>
        <p:nvSpPr>
          <p:cNvPr id="5" name="Rounded Rectangle 4"/>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6" name="TextBox 5"/>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25 / 28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1660029"/>
            <a:ext cx="10566400" cy="914400"/>
          </a:xfrm>
          <a:prstGeom prst="rect">
            <a:avLst/>
          </a:prstGeom>
          <a:noFill/>
        </p:spPr>
        <p:txBody>
          <a:bodyPr wrap="none" lIns="0" rIns="0" tIns="0" bIns="0" anchor="ctr">
            <a:noAutofit/>
          </a:bodyPr>
          <a:lstStyle/>
          <a:p>
            <a:pPr algn="l">
              <a:lnSpc>
                <a:spcPts val="6300"/>
              </a:lnSpc>
            </a:pPr>
            <a:r>
              <a:rPr sz="6000" b="1" i="0" spc="-120">
                <a:solidFill>
                  <a:srgbClr val="861F41"/>
                </a:solidFill>
                <a:latin typeface="Georgia"/>
              </a:rPr>
              <a:t>Move fast</a:t>
            </a:r>
            <a:r>
              <a:rPr sz="6000" b="0" i="0" spc="-120">
                <a:solidFill>
                  <a:srgbClr val="2C1A1F"/>
                </a:solidFill>
                <a:latin typeface="Georgia"/>
              </a:rPr>
              <a:t> and </a:t>
            </a:r>
            <a:r>
              <a:rPr sz="6000" b="0" i="0" spc="-120">
                <a:solidFill>
                  <a:srgbClr val="6B4A52"/>
                </a:solidFill>
                <a:latin typeface="Georgia"/>
              </a:rPr>
              <a:t>break things</a:t>
            </a:r>
            <a:r>
              <a:rPr sz="6000" b="0" i="0" spc="-120">
                <a:solidFill>
                  <a:srgbClr val="2C1A1F"/>
                </a:solidFill>
                <a:latin typeface="Georgia"/>
              </a:rPr>
              <a:t>.</a:t>
            </a:r>
          </a:p>
        </p:txBody>
      </p:sp>
      <p:sp>
        <p:nvSpPr>
          <p:cNvPr id="4" name="TextBox 3"/>
          <p:cNvSpPr txBox="1"/>
          <p:nvPr/>
        </p:nvSpPr>
        <p:spPr>
          <a:xfrm>
            <a:off x="812800" y="2701429"/>
            <a:ext cx="105664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Roboto Mono"/>
              </a:rPr>
              <a:t>— Facebook’s internal motto, 2009–2014</a:t>
            </a:r>
          </a:p>
        </p:txBody>
      </p:sp>
      <p:sp>
        <p:nvSpPr>
          <p:cNvPr id="5" name="TextBox 4"/>
          <p:cNvSpPr txBox="1"/>
          <p:nvPr/>
        </p:nvSpPr>
        <p:spPr>
          <a:xfrm>
            <a:off x="812800" y="3702149"/>
            <a:ext cx="10566400" cy="426720"/>
          </a:xfrm>
          <a:prstGeom prst="rect">
            <a:avLst/>
          </a:prstGeom>
          <a:noFill/>
        </p:spPr>
        <p:txBody>
          <a:bodyPr wrap="none" lIns="0" rIns="0" tIns="0" bIns="0" anchor="ctr">
            <a:noAutofit/>
          </a:bodyPr>
          <a:lstStyle/>
          <a:p>
            <a:pPr algn="l">
              <a:lnSpc>
                <a:spcPts val="3360"/>
              </a:lnSpc>
            </a:pPr>
            <a:r>
              <a:rPr sz="2800" b="0" i="0">
                <a:solidFill>
                  <a:srgbClr val="6B4A52"/>
                </a:solidFill>
                <a:latin typeface="Georgia"/>
              </a:rPr>
              <a:t>Move fast — </a:t>
            </a:r>
            <a:r>
              <a:rPr sz="2800" b="1" i="0">
                <a:solidFill>
                  <a:srgbClr val="861F41"/>
                </a:solidFill>
                <a:latin typeface="Georgia"/>
              </a:rPr>
              <a:t>To where?</a:t>
            </a:r>
          </a:p>
        </p:txBody>
      </p:sp>
      <p:sp>
        <p:nvSpPr>
          <p:cNvPr id="6" name="Rounded Rectangle 5"/>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7" name="TextBox 6"/>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25 / 28</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1660029"/>
            <a:ext cx="10566400" cy="914400"/>
          </a:xfrm>
          <a:prstGeom prst="rect">
            <a:avLst/>
          </a:prstGeom>
          <a:noFill/>
        </p:spPr>
        <p:txBody>
          <a:bodyPr wrap="none" lIns="0" rIns="0" tIns="0" bIns="0" anchor="ctr">
            <a:noAutofit/>
          </a:bodyPr>
          <a:lstStyle/>
          <a:p>
            <a:pPr algn="l">
              <a:lnSpc>
                <a:spcPts val="6300"/>
              </a:lnSpc>
            </a:pPr>
            <a:r>
              <a:rPr sz="6000" b="1" i="0" spc="-120">
                <a:solidFill>
                  <a:srgbClr val="861F41"/>
                </a:solidFill>
                <a:latin typeface="Georgia"/>
              </a:rPr>
              <a:t>Move fast</a:t>
            </a:r>
            <a:r>
              <a:rPr sz="6000" b="0" i="0" spc="-120">
                <a:solidFill>
                  <a:srgbClr val="2C1A1F"/>
                </a:solidFill>
                <a:latin typeface="Georgia"/>
              </a:rPr>
              <a:t> and </a:t>
            </a:r>
            <a:r>
              <a:rPr sz="6000" b="1" i="0" spc="-120">
                <a:solidFill>
                  <a:srgbClr val="861F41"/>
                </a:solidFill>
                <a:latin typeface="Georgia"/>
              </a:rPr>
              <a:t>break things</a:t>
            </a:r>
            <a:r>
              <a:rPr sz="6000" b="0" i="0" spc="-120">
                <a:solidFill>
                  <a:srgbClr val="2C1A1F"/>
                </a:solidFill>
                <a:latin typeface="Georgia"/>
              </a:rPr>
              <a:t>.</a:t>
            </a:r>
          </a:p>
        </p:txBody>
      </p:sp>
      <p:sp>
        <p:nvSpPr>
          <p:cNvPr id="4" name="TextBox 3"/>
          <p:cNvSpPr txBox="1"/>
          <p:nvPr/>
        </p:nvSpPr>
        <p:spPr>
          <a:xfrm>
            <a:off x="812800" y="2701429"/>
            <a:ext cx="105664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Roboto Mono"/>
              </a:rPr>
              <a:t>— Facebook’s internal motto, 2009–2014</a:t>
            </a:r>
          </a:p>
        </p:txBody>
      </p:sp>
      <p:sp>
        <p:nvSpPr>
          <p:cNvPr id="5" name="TextBox 4"/>
          <p:cNvSpPr txBox="1"/>
          <p:nvPr/>
        </p:nvSpPr>
        <p:spPr>
          <a:xfrm>
            <a:off x="812800" y="3702149"/>
            <a:ext cx="10566400" cy="426720"/>
          </a:xfrm>
          <a:prstGeom prst="rect">
            <a:avLst/>
          </a:prstGeom>
          <a:noFill/>
        </p:spPr>
        <p:txBody>
          <a:bodyPr wrap="none" lIns="0" rIns="0" tIns="0" bIns="0" anchor="ctr">
            <a:noAutofit/>
          </a:bodyPr>
          <a:lstStyle/>
          <a:p>
            <a:pPr algn="l">
              <a:lnSpc>
                <a:spcPts val="3360"/>
              </a:lnSpc>
            </a:pPr>
            <a:r>
              <a:rPr sz="2800" b="0" i="0">
                <a:solidFill>
                  <a:srgbClr val="6B4A52"/>
                </a:solidFill>
                <a:latin typeface="Georgia"/>
              </a:rPr>
              <a:t>Move fast — </a:t>
            </a:r>
            <a:r>
              <a:rPr sz="2800" b="1" i="0">
                <a:solidFill>
                  <a:srgbClr val="861F41"/>
                </a:solidFill>
                <a:latin typeface="Georgia"/>
              </a:rPr>
              <a:t>To where?</a:t>
            </a:r>
          </a:p>
        </p:txBody>
      </p:sp>
      <p:sp>
        <p:nvSpPr>
          <p:cNvPr id="6" name="TextBox 5"/>
          <p:cNvSpPr txBox="1"/>
          <p:nvPr/>
        </p:nvSpPr>
        <p:spPr>
          <a:xfrm>
            <a:off x="812800" y="4331990"/>
            <a:ext cx="10591800" cy="820341"/>
          </a:xfrm>
          <a:prstGeom prst="rect">
            <a:avLst/>
          </a:prstGeom>
          <a:noFill/>
        </p:spPr>
        <p:txBody>
          <a:bodyPr wrap="square" lIns="0" rIns="0" tIns="0" bIns="0" anchor="ctr">
            <a:noAutofit/>
          </a:bodyPr>
          <a:lstStyle/>
          <a:p>
            <a:pPr algn="l">
              <a:lnSpc>
                <a:spcPts val="3360"/>
              </a:lnSpc>
            </a:pPr>
            <a:r>
              <a:rPr sz="2800" b="0" i="0">
                <a:solidFill>
                  <a:srgbClr val="6B4A52"/>
                </a:solidFill>
                <a:latin typeface="Georgia"/>
              </a:rPr>
              <a:t>Break things — </a:t>
            </a:r>
            <a:r>
              <a:rPr sz="2800" b="1" i="0">
                <a:solidFill>
                  <a:srgbClr val="861F41"/>
                </a:solidFill>
                <a:latin typeface="Georgia"/>
              </a:rPr>
              <a:t>what are we breaking? Who owns it? Who is impacted?</a:t>
            </a:r>
          </a:p>
        </p:txBody>
      </p:sp>
      <p:sp>
        <p:nvSpPr>
          <p:cNvPr id="7" name="Rounded Rectangle 6"/>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8" name="TextBox 7"/>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25 / 28</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Agency</a:t>
            </a:r>
          </a:p>
        </p:txBody>
      </p:sp>
      <p:sp>
        <p:nvSpPr>
          <p:cNvPr id="4" name="Rounded Rectangle 3"/>
          <p:cNvSpPr/>
          <p:nvPr/>
        </p:nvSpPr>
        <p:spPr>
          <a:xfrm>
            <a:off x="2286000" y="1625600"/>
            <a:ext cx="1227634" cy="152400"/>
          </a:xfrm>
          <a:prstGeom prst="roundRect">
            <a:avLst>
              <a:gd name="adj" fmla="val 16666"/>
            </a:avLst>
          </a:prstGeom>
          <a:solidFill>
            <a:srgbClr val="1C6091"/>
          </a:solidFill>
          <a:ln>
            <a:noFill/>
          </a:ln>
          <a:effectLst/>
        </p:spPr>
        <p:txBody>
          <a:bodyPr rtlCol="0" anchor="ctr"/>
          <a:lstStyle/>
          <a:p>
            <a:pPr algn="ctr"/>
          </a:p>
        </p:txBody>
      </p:sp>
      <p:sp>
        <p:nvSpPr>
          <p:cNvPr id="5" name="Rounded Rectangle 4"/>
          <p:cNvSpPr/>
          <p:nvPr/>
        </p:nvSpPr>
        <p:spPr>
          <a:xfrm>
            <a:off x="3564434" y="1625600"/>
            <a:ext cx="1227733" cy="152400"/>
          </a:xfrm>
          <a:prstGeom prst="roundRect">
            <a:avLst>
              <a:gd name="adj" fmla="val 16666"/>
            </a:avLst>
          </a:prstGeom>
          <a:solidFill>
            <a:srgbClr val="1C6091"/>
          </a:solidFill>
          <a:ln>
            <a:noFill/>
          </a:ln>
          <a:effectLst/>
        </p:spPr>
        <p:txBody>
          <a:bodyPr rtlCol="0" anchor="ctr"/>
          <a:lstStyle/>
          <a:p>
            <a:pPr algn="ctr"/>
          </a:p>
        </p:txBody>
      </p:sp>
      <p:sp>
        <p:nvSpPr>
          <p:cNvPr id="6" name="Rounded Rectangle 5"/>
          <p:cNvSpPr/>
          <p:nvPr/>
        </p:nvSpPr>
        <p:spPr>
          <a:xfrm>
            <a:off x="4842966" y="1625600"/>
            <a:ext cx="1227634" cy="152400"/>
          </a:xfrm>
          <a:prstGeom prst="roundRect">
            <a:avLst>
              <a:gd name="adj" fmla="val 16666"/>
            </a:avLst>
          </a:prstGeom>
          <a:solidFill>
            <a:srgbClr val="1C6091"/>
          </a:solidFill>
          <a:ln>
            <a:noFill/>
          </a:ln>
          <a:effectLst/>
        </p:spPr>
        <p:txBody>
          <a:bodyPr rtlCol="0" anchor="ctr"/>
          <a:lstStyle/>
          <a:p>
            <a:pPr algn="ctr"/>
          </a:p>
        </p:txBody>
      </p:sp>
      <p:sp>
        <p:nvSpPr>
          <p:cNvPr id="7" name="Rounded Rectangle 6"/>
          <p:cNvSpPr/>
          <p:nvPr/>
        </p:nvSpPr>
        <p:spPr>
          <a:xfrm>
            <a:off x="6121400" y="1625600"/>
            <a:ext cx="1227733" cy="152400"/>
          </a:xfrm>
          <a:prstGeom prst="roundRect">
            <a:avLst>
              <a:gd name="adj" fmla="val 16666"/>
            </a:avLst>
          </a:prstGeom>
          <a:solidFill>
            <a:srgbClr val="1C6091"/>
          </a:solidFill>
          <a:ln>
            <a:noFill/>
          </a:ln>
          <a:effectLst/>
        </p:spPr>
        <p:txBody>
          <a:bodyPr rtlCol="0" anchor="ctr"/>
          <a:lstStyle/>
          <a:p>
            <a:pPr algn="ctr"/>
          </a:p>
        </p:txBody>
      </p:sp>
      <p:sp>
        <p:nvSpPr>
          <p:cNvPr id="8" name="Rounded Rectangle 7"/>
          <p:cNvSpPr/>
          <p:nvPr/>
        </p:nvSpPr>
        <p:spPr>
          <a:xfrm>
            <a:off x="7399933" y="1625600"/>
            <a:ext cx="1227634" cy="152400"/>
          </a:xfrm>
          <a:prstGeom prst="roundRect">
            <a:avLst>
              <a:gd name="adj" fmla="val 16666"/>
            </a:avLst>
          </a:prstGeom>
          <a:solidFill>
            <a:srgbClr val="1C6091"/>
          </a:solidFill>
          <a:ln>
            <a:noFill/>
          </a:ln>
          <a:effectLst/>
        </p:spPr>
        <p:txBody>
          <a:bodyPr rtlCol="0" anchor="ctr"/>
          <a:lstStyle/>
          <a:p>
            <a:pPr algn="ctr"/>
          </a:p>
        </p:txBody>
      </p:sp>
      <p:sp>
        <p:nvSpPr>
          <p:cNvPr id="9" name="Rounded Rectangle 8"/>
          <p:cNvSpPr/>
          <p:nvPr/>
        </p:nvSpPr>
        <p:spPr>
          <a:xfrm>
            <a:off x="8678366" y="1625600"/>
            <a:ext cx="1227634" cy="152400"/>
          </a:xfrm>
          <a:prstGeom prst="roundRect">
            <a:avLst>
              <a:gd name="adj" fmla="val 16666"/>
            </a:avLst>
          </a:prstGeom>
          <a:solidFill>
            <a:srgbClr val="1C6091"/>
          </a:solidFill>
          <a:ln>
            <a:noFill/>
          </a:ln>
          <a:effectLst/>
        </p:spPr>
        <p:txBody>
          <a:bodyPr rtlCol="0" anchor="ctr"/>
          <a:lstStyle/>
          <a:p>
            <a:pPr algn="ctr"/>
          </a:p>
        </p:txBody>
      </p:sp>
      <p:pic>
        <p:nvPicPr>
          <p:cNvPr id="10" name="Picture 9" descr="3d701fc6be1a7470.png"/>
          <p:cNvPicPr>
            <a:picLocks noChangeAspect="1"/>
          </p:cNvPicPr>
          <p:nvPr/>
        </p:nvPicPr>
        <p:blipFill>
          <a:blip r:embed="rId3"/>
          <a:stretch>
            <a:fillRect/>
          </a:stretch>
        </p:blipFill>
        <p:spPr>
          <a:xfrm>
            <a:off x="3238500" y="3327400"/>
            <a:ext cx="5715000" cy="2921000"/>
          </a:xfrm>
          <a:prstGeom prst="rect">
            <a:avLst/>
          </a:prstGeom>
        </p:spPr>
      </p:pic>
      <p:pic>
        <p:nvPicPr>
          <p:cNvPr id="11" name="Picture 10" descr="072aeb7573c8357d.jpg"/>
          <p:cNvPicPr>
            <a:picLocks noChangeAspect="1"/>
          </p:cNvPicPr>
          <p:nvPr/>
        </p:nvPicPr>
        <p:blipFill>
          <a:blip r:embed="rId4"/>
          <a:stretch>
            <a:fillRect/>
          </a:stretch>
        </p:blipFill>
        <p:spPr>
          <a:xfrm>
            <a:off x="8115300" y="2692400"/>
            <a:ext cx="2413000" cy="3556000"/>
          </a:xfrm>
          <a:prstGeom prst="rect">
            <a:avLst/>
          </a:prstGeom>
        </p:spPr>
      </p:pic>
      <p:sp>
        <p:nvSpPr>
          <p:cNvPr id="12" name="Rounded Rectangle 11"/>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3" name="TextBox 12"/>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26 / 28</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Agency</a:t>
            </a:r>
          </a:p>
        </p:txBody>
      </p:sp>
      <p:sp>
        <p:nvSpPr>
          <p:cNvPr id="4" name="Rounded Rectangle 3"/>
          <p:cNvSpPr/>
          <p:nvPr/>
        </p:nvSpPr>
        <p:spPr>
          <a:xfrm>
            <a:off x="2286000" y="1625600"/>
            <a:ext cx="1227634" cy="152400"/>
          </a:xfrm>
          <a:prstGeom prst="roundRect">
            <a:avLst>
              <a:gd name="adj" fmla="val 16666"/>
            </a:avLst>
          </a:prstGeom>
          <a:solidFill>
            <a:srgbClr val="1C6091"/>
          </a:solidFill>
          <a:ln>
            <a:noFill/>
          </a:ln>
          <a:effectLst/>
        </p:spPr>
        <p:txBody>
          <a:bodyPr rtlCol="0" anchor="ctr"/>
          <a:lstStyle/>
          <a:p>
            <a:pPr algn="ctr"/>
          </a:p>
        </p:txBody>
      </p:sp>
      <p:sp>
        <p:nvSpPr>
          <p:cNvPr id="5" name="Rounded Rectangle 4"/>
          <p:cNvSpPr/>
          <p:nvPr/>
        </p:nvSpPr>
        <p:spPr>
          <a:xfrm>
            <a:off x="3564434" y="1625600"/>
            <a:ext cx="1227733" cy="152400"/>
          </a:xfrm>
          <a:prstGeom prst="roundRect">
            <a:avLst>
              <a:gd name="adj" fmla="val 16666"/>
            </a:avLst>
          </a:prstGeom>
          <a:solidFill>
            <a:srgbClr val="1C6091"/>
          </a:solidFill>
          <a:ln>
            <a:noFill/>
          </a:ln>
          <a:effectLst/>
        </p:spPr>
        <p:txBody>
          <a:bodyPr rtlCol="0" anchor="ctr"/>
          <a:lstStyle/>
          <a:p>
            <a:pPr algn="ctr"/>
          </a:p>
        </p:txBody>
      </p:sp>
      <p:sp>
        <p:nvSpPr>
          <p:cNvPr id="6" name="Rounded Rectangle 5"/>
          <p:cNvSpPr/>
          <p:nvPr/>
        </p:nvSpPr>
        <p:spPr>
          <a:xfrm>
            <a:off x="4842966" y="1625600"/>
            <a:ext cx="1227634" cy="152400"/>
          </a:xfrm>
          <a:prstGeom prst="roundRect">
            <a:avLst>
              <a:gd name="adj" fmla="val 16666"/>
            </a:avLst>
          </a:prstGeom>
          <a:solidFill>
            <a:srgbClr val="1C6091"/>
          </a:solidFill>
          <a:ln>
            <a:noFill/>
          </a:ln>
          <a:effectLst/>
        </p:spPr>
        <p:txBody>
          <a:bodyPr rtlCol="0" anchor="ctr"/>
          <a:lstStyle/>
          <a:p>
            <a:pPr algn="ctr"/>
          </a:p>
        </p:txBody>
      </p:sp>
      <p:sp>
        <p:nvSpPr>
          <p:cNvPr id="7" name="Rounded Rectangle 6"/>
          <p:cNvSpPr/>
          <p:nvPr/>
        </p:nvSpPr>
        <p:spPr>
          <a:xfrm>
            <a:off x="6121400" y="1625600"/>
            <a:ext cx="1227733" cy="152400"/>
          </a:xfrm>
          <a:prstGeom prst="roundRect">
            <a:avLst>
              <a:gd name="adj" fmla="val 16666"/>
            </a:avLst>
          </a:prstGeom>
          <a:solidFill>
            <a:srgbClr val="1C6091"/>
          </a:solidFill>
          <a:ln>
            <a:noFill/>
          </a:ln>
          <a:effectLst/>
        </p:spPr>
        <p:txBody>
          <a:bodyPr rtlCol="0" anchor="ctr"/>
          <a:lstStyle/>
          <a:p>
            <a:pPr algn="ctr"/>
          </a:p>
        </p:txBody>
      </p:sp>
      <p:sp>
        <p:nvSpPr>
          <p:cNvPr id="8" name="Rounded Rectangle 7"/>
          <p:cNvSpPr/>
          <p:nvPr/>
        </p:nvSpPr>
        <p:spPr>
          <a:xfrm>
            <a:off x="7399933" y="1625600"/>
            <a:ext cx="1227634" cy="152400"/>
          </a:xfrm>
          <a:prstGeom prst="roundRect">
            <a:avLst>
              <a:gd name="adj" fmla="val 16666"/>
            </a:avLst>
          </a:prstGeom>
          <a:solidFill>
            <a:srgbClr val="1C6091"/>
          </a:solidFill>
          <a:ln>
            <a:noFill/>
          </a:ln>
          <a:effectLst/>
        </p:spPr>
        <p:txBody>
          <a:bodyPr rtlCol="0" anchor="ctr"/>
          <a:lstStyle/>
          <a:p>
            <a:pPr algn="ctr"/>
          </a:p>
        </p:txBody>
      </p:sp>
      <p:sp>
        <p:nvSpPr>
          <p:cNvPr id="9" name="Rounded Rectangle 8"/>
          <p:cNvSpPr/>
          <p:nvPr/>
        </p:nvSpPr>
        <p:spPr>
          <a:xfrm>
            <a:off x="8678366" y="1625600"/>
            <a:ext cx="1227634" cy="152400"/>
          </a:xfrm>
          <a:prstGeom prst="roundRect">
            <a:avLst>
              <a:gd name="adj" fmla="val 16666"/>
            </a:avLst>
          </a:prstGeom>
          <a:solidFill>
            <a:srgbClr val="1C6091">
              <a:alpha val="15000"/>
            </a:srgbClr>
          </a:solidFill>
          <a:ln>
            <a:noFill/>
          </a:ln>
          <a:effectLst/>
        </p:spPr>
        <p:txBody>
          <a:bodyPr rtlCol="0" anchor="ctr"/>
          <a:lstStyle/>
          <a:p>
            <a:pPr algn="ctr"/>
          </a:p>
        </p:txBody>
      </p:sp>
      <p:pic>
        <p:nvPicPr>
          <p:cNvPr id="10" name="Picture 9" descr="d998a3adefa65ebf.jpg"/>
          <p:cNvPicPr>
            <a:picLocks noChangeAspect="1"/>
          </p:cNvPicPr>
          <p:nvPr/>
        </p:nvPicPr>
        <p:blipFill>
          <a:blip r:embed="rId3"/>
          <a:stretch>
            <a:fillRect/>
          </a:stretch>
        </p:blipFill>
        <p:spPr>
          <a:xfrm>
            <a:off x="3238500" y="3327400"/>
            <a:ext cx="5715000" cy="2921000"/>
          </a:xfrm>
          <a:prstGeom prst="rect">
            <a:avLst/>
          </a:prstGeom>
        </p:spPr>
      </p:pic>
      <p:pic>
        <p:nvPicPr>
          <p:cNvPr id="11" name="Picture 10" descr="072aeb7573c8357d.jpg"/>
          <p:cNvPicPr>
            <a:picLocks noChangeAspect="1"/>
          </p:cNvPicPr>
          <p:nvPr/>
        </p:nvPicPr>
        <p:blipFill>
          <a:blip r:embed="rId4"/>
          <a:stretch>
            <a:fillRect/>
          </a:stretch>
        </p:blipFill>
        <p:spPr>
          <a:xfrm>
            <a:off x="8115300" y="2692400"/>
            <a:ext cx="2413000" cy="3556000"/>
          </a:xfrm>
          <a:prstGeom prst="rect">
            <a:avLst/>
          </a:prstGeom>
        </p:spPr>
      </p:pic>
      <p:sp>
        <p:nvSpPr>
          <p:cNvPr id="12" name="Rounded Rectangle 11"/>
          <p:cNvSpPr/>
          <p:nvPr/>
        </p:nvSpPr>
        <p:spPr>
          <a:xfrm>
            <a:off x="4507449" y="4202971"/>
            <a:ext cx="992703" cy="674558"/>
          </a:xfrm>
          <a:prstGeom prst="roundRect">
            <a:avLst>
              <a:gd name="adj" fmla="val 3765"/>
            </a:avLst>
          </a:prstGeom>
          <a:solidFill>
            <a:srgbClr val="E1CFC6"/>
          </a:solidFill>
          <a:ln w="19050">
            <a:solidFill>
              <a:srgbClr val="B35510"/>
            </a:solidFill>
          </a:ln>
          <a:effectLst/>
        </p:spPr>
        <p:txBody>
          <a:bodyPr rtlCol="0" anchor="ctr"/>
          <a:lstStyle/>
          <a:p>
            <a:pPr algn="ctr"/>
          </a:p>
        </p:txBody>
      </p:sp>
      <p:sp>
        <p:nvSpPr>
          <p:cNvPr id="13" name="Rectangle 12"/>
          <p:cNvSpPr/>
          <p:nvPr/>
        </p:nvSpPr>
        <p:spPr>
          <a:xfrm>
            <a:off x="4526499" y="4370551"/>
            <a:ext cx="914400" cy="19050"/>
          </a:xfrm>
          <a:prstGeom prst="rect">
            <a:avLst/>
          </a:prstGeom>
          <a:noFill/>
          <a:ln>
            <a:noFill/>
          </a:ln>
          <a:effectLst/>
        </p:spPr>
        <p:txBody>
          <a:bodyPr rtlCol="0" anchor="ctr"/>
          <a:lstStyle/>
          <a:p>
            <a:pPr algn="ctr"/>
          </a:p>
        </p:txBody>
      </p:sp>
      <p:sp>
        <p:nvSpPr>
          <p:cNvPr id="14" name="Rectangle 13"/>
          <p:cNvSpPr/>
          <p:nvPr/>
        </p:nvSpPr>
        <p:spPr>
          <a:xfrm>
            <a:off x="4526499" y="4370551"/>
            <a:ext cx="914400" cy="19050"/>
          </a:xfrm>
          <a:prstGeom prst="rect">
            <a:avLst/>
          </a:prstGeom>
          <a:solidFill>
            <a:srgbClr val="B35510">
              <a:alpha val="40000"/>
            </a:srgbClr>
          </a:solidFill>
          <a:ln>
            <a:noFill/>
          </a:ln>
          <a:effectLst/>
        </p:spPr>
        <p:txBody>
          <a:bodyPr rtlCol="0" anchor="ctr"/>
          <a:lstStyle/>
          <a:p>
            <a:pPr algn="ctr"/>
          </a:p>
        </p:txBody>
      </p:sp>
      <p:sp>
        <p:nvSpPr>
          <p:cNvPr id="15" name="TextBox 14"/>
          <p:cNvSpPr txBox="1"/>
          <p:nvPr/>
        </p:nvSpPr>
        <p:spPr>
          <a:xfrm>
            <a:off x="4526499" y="4427872"/>
            <a:ext cx="954603" cy="218428"/>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visa</a:t>
            </a:r>
          </a:p>
        </p:txBody>
      </p:sp>
      <p:sp>
        <p:nvSpPr>
          <p:cNvPr id="16" name="Rounded Rectangle 15"/>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17" name="TextBox 16"/>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26 / 28</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Agency</a:t>
            </a:r>
          </a:p>
        </p:txBody>
      </p:sp>
      <p:sp>
        <p:nvSpPr>
          <p:cNvPr id="4" name="Rounded Rectangle 3"/>
          <p:cNvSpPr/>
          <p:nvPr/>
        </p:nvSpPr>
        <p:spPr>
          <a:xfrm>
            <a:off x="2286000" y="1625600"/>
            <a:ext cx="1227634" cy="152400"/>
          </a:xfrm>
          <a:prstGeom prst="roundRect">
            <a:avLst>
              <a:gd name="adj" fmla="val 16666"/>
            </a:avLst>
          </a:prstGeom>
          <a:solidFill>
            <a:srgbClr val="1C6091"/>
          </a:solidFill>
          <a:ln>
            <a:noFill/>
          </a:ln>
          <a:effectLst/>
        </p:spPr>
        <p:txBody>
          <a:bodyPr rtlCol="0" anchor="ctr"/>
          <a:lstStyle/>
          <a:p>
            <a:pPr algn="ctr"/>
          </a:p>
        </p:txBody>
      </p:sp>
      <p:sp>
        <p:nvSpPr>
          <p:cNvPr id="5" name="Rounded Rectangle 4"/>
          <p:cNvSpPr/>
          <p:nvPr/>
        </p:nvSpPr>
        <p:spPr>
          <a:xfrm>
            <a:off x="3564434" y="1625600"/>
            <a:ext cx="1227733" cy="152400"/>
          </a:xfrm>
          <a:prstGeom prst="roundRect">
            <a:avLst>
              <a:gd name="adj" fmla="val 16666"/>
            </a:avLst>
          </a:prstGeom>
          <a:solidFill>
            <a:srgbClr val="1C6091"/>
          </a:solidFill>
          <a:ln>
            <a:noFill/>
          </a:ln>
          <a:effectLst/>
        </p:spPr>
        <p:txBody>
          <a:bodyPr rtlCol="0" anchor="ctr"/>
          <a:lstStyle/>
          <a:p>
            <a:pPr algn="ctr"/>
          </a:p>
        </p:txBody>
      </p:sp>
      <p:sp>
        <p:nvSpPr>
          <p:cNvPr id="6" name="Rounded Rectangle 5"/>
          <p:cNvSpPr/>
          <p:nvPr/>
        </p:nvSpPr>
        <p:spPr>
          <a:xfrm>
            <a:off x="4842966" y="1625600"/>
            <a:ext cx="1227634" cy="152400"/>
          </a:xfrm>
          <a:prstGeom prst="roundRect">
            <a:avLst>
              <a:gd name="adj" fmla="val 16666"/>
            </a:avLst>
          </a:prstGeom>
          <a:solidFill>
            <a:srgbClr val="1C6091"/>
          </a:solidFill>
          <a:ln>
            <a:noFill/>
          </a:ln>
          <a:effectLst/>
        </p:spPr>
        <p:txBody>
          <a:bodyPr rtlCol="0" anchor="ctr"/>
          <a:lstStyle/>
          <a:p>
            <a:pPr algn="ctr"/>
          </a:p>
        </p:txBody>
      </p:sp>
      <p:sp>
        <p:nvSpPr>
          <p:cNvPr id="7" name="Rounded Rectangle 6"/>
          <p:cNvSpPr/>
          <p:nvPr/>
        </p:nvSpPr>
        <p:spPr>
          <a:xfrm>
            <a:off x="6121400" y="1625600"/>
            <a:ext cx="1227733" cy="152400"/>
          </a:xfrm>
          <a:prstGeom prst="roundRect">
            <a:avLst>
              <a:gd name="adj" fmla="val 16666"/>
            </a:avLst>
          </a:prstGeom>
          <a:solidFill>
            <a:srgbClr val="1C6091"/>
          </a:solidFill>
          <a:ln>
            <a:noFill/>
          </a:ln>
          <a:effectLst/>
        </p:spPr>
        <p:txBody>
          <a:bodyPr rtlCol="0" anchor="ctr"/>
          <a:lstStyle/>
          <a:p>
            <a:pPr algn="ctr"/>
          </a:p>
        </p:txBody>
      </p:sp>
      <p:sp>
        <p:nvSpPr>
          <p:cNvPr id="8" name="Rounded Rectangle 7"/>
          <p:cNvSpPr/>
          <p:nvPr/>
        </p:nvSpPr>
        <p:spPr>
          <a:xfrm>
            <a:off x="7399933" y="1625600"/>
            <a:ext cx="1227634"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9" name="Rounded Rectangle 8"/>
          <p:cNvSpPr/>
          <p:nvPr/>
        </p:nvSpPr>
        <p:spPr>
          <a:xfrm>
            <a:off x="8678366" y="1625600"/>
            <a:ext cx="1227634" cy="152400"/>
          </a:xfrm>
          <a:prstGeom prst="roundRect">
            <a:avLst>
              <a:gd name="adj" fmla="val 16666"/>
            </a:avLst>
          </a:prstGeom>
          <a:solidFill>
            <a:srgbClr val="1C6091">
              <a:alpha val="15000"/>
            </a:srgbClr>
          </a:solidFill>
          <a:ln>
            <a:noFill/>
          </a:ln>
          <a:effectLst/>
        </p:spPr>
        <p:txBody>
          <a:bodyPr rtlCol="0" anchor="ctr"/>
          <a:lstStyle/>
          <a:p>
            <a:pPr algn="ctr"/>
          </a:p>
        </p:txBody>
      </p:sp>
      <p:pic>
        <p:nvPicPr>
          <p:cNvPr id="10" name="Picture 9" descr="1a92b2759b91b272.jpg"/>
          <p:cNvPicPr>
            <a:picLocks noChangeAspect="1"/>
          </p:cNvPicPr>
          <p:nvPr/>
        </p:nvPicPr>
        <p:blipFill>
          <a:blip r:embed="rId3"/>
          <a:stretch>
            <a:fillRect/>
          </a:stretch>
        </p:blipFill>
        <p:spPr>
          <a:xfrm>
            <a:off x="3238500" y="3327400"/>
            <a:ext cx="5715000" cy="2921000"/>
          </a:xfrm>
          <a:prstGeom prst="rect">
            <a:avLst/>
          </a:prstGeom>
        </p:spPr>
      </p:pic>
      <p:pic>
        <p:nvPicPr>
          <p:cNvPr id="11" name="Picture 10" descr="072aeb7573c8357d.jpg"/>
          <p:cNvPicPr>
            <a:picLocks noChangeAspect="1"/>
          </p:cNvPicPr>
          <p:nvPr/>
        </p:nvPicPr>
        <p:blipFill>
          <a:blip r:embed="rId4"/>
          <a:stretch>
            <a:fillRect/>
          </a:stretch>
        </p:blipFill>
        <p:spPr>
          <a:xfrm>
            <a:off x="8115300" y="2692400"/>
            <a:ext cx="2413000" cy="3556000"/>
          </a:xfrm>
          <a:prstGeom prst="rect">
            <a:avLst/>
          </a:prstGeom>
        </p:spPr>
      </p:pic>
      <p:sp>
        <p:nvSpPr>
          <p:cNvPr id="12" name="Rounded Rectangle 11"/>
          <p:cNvSpPr/>
          <p:nvPr/>
        </p:nvSpPr>
        <p:spPr>
          <a:xfrm>
            <a:off x="4507449" y="4202971"/>
            <a:ext cx="992703" cy="674558"/>
          </a:xfrm>
          <a:prstGeom prst="roundRect">
            <a:avLst>
              <a:gd name="adj" fmla="val 3765"/>
            </a:avLst>
          </a:prstGeom>
          <a:solidFill>
            <a:srgbClr val="E1CFC6"/>
          </a:solidFill>
          <a:ln w="19050">
            <a:solidFill>
              <a:srgbClr val="B35510"/>
            </a:solidFill>
          </a:ln>
          <a:effectLst/>
        </p:spPr>
        <p:txBody>
          <a:bodyPr rtlCol="0" anchor="ctr"/>
          <a:lstStyle/>
          <a:p>
            <a:pPr algn="ctr"/>
          </a:p>
        </p:txBody>
      </p:sp>
      <p:sp>
        <p:nvSpPr>
          <p:cNvPr id="13" name="Rectangle 12"/>
          <p:cNvSpPr/>
          <p:nvPr/>
        </p:nvSpPr>
        <p:spPr>
          <a:xfrm>
            <a:off x="4526499" y="4370551"/>
            <a:ext cx="914400" cy="19050"/>
          </a:xfrm>
          <a:prstGeom prst="rect">
            <a:avLst/>
          </a:prstGeom>
          <a:noFill/>
          <a:ln>
            <a:noFill/>
          </a:ln>
          <a:effectLst/>
        </p:spPr>
        <p:txBody>
          <a:bodyPr rtlCol="0" anchor="ctr"/>
          <a:lstStyle/>
          <a:p>
            <a:pPr algn="ctr"/>
          </a:p>
        </p:txBody>
      </p:sp>
      <p:sp>
        <p:nvSpPr>
          <p:cNvPr id="14" name="Rectangle 13"/>
          <p:cNvSpPr/>
          <p:nvPr/>
        </p:nvSpPr>
        <p:spPr>
          <a:xfrm>
            <a:off x="4526499" y="4370551"/>
            <a:ext cx="914400" cy="19050"/>
          </a:xfrm>
          <a:prstGeom prst="rect">
            <a:avLst/>
          </a:prstGeom>
          <a:solidFill>
            <a:srgbClr val="B35510">
              <a:alpha val="40000"/>
            </a:srgbClr>
          </a:solidFill>
          <a:ln>
            <a:noFill/>
          </a:ln>
          <a:effectLst/>
        </p:spPr>
        <p:txBody>
          <a:bodyPr rtlCol="0" anchor="ctr"/>
          <a:lstStyle/>
          <a:p>
            <a:pPr algn="ctr"/>
          </a:p>
        </p:txBody>
      </p:sp>
      <p:sp>
        <p:nvSpPr>
          <p:cNvPr id="15" name="TextBox 14"/>
          <p:cNvSpPr txBox="1"/>
          <p:nvPr/>
        </p:nvSpPr>
        <p:spPr>
          <a:xfrm>
            <a:off x="4526499" y="4427872"/>
            <a:ext cx="954603" cy="218428"/>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visa</a:t>
            </a:r>
          </a:p>
        </p:txBody>
      </p:sp>
      <p:sp>
        <p:nvSpPr>
          <p:cNvPr id="16" name="Rounded Rectangle 15"/>
          <p:cNvSpPr/>
          <p:nvPr/>
        </p:nvSpPr>
        <p:spPr>
          <a:xfrm>
            <a:off x="5533425" y="4250722"/>
            <a:ext cx="1703000" cy="667956"/>
          </a:xfrm>
          <a:prstGeom prst="roundRect">
            <a:avLst>
              <a:gd name="adj" fmla="val 3802"/>
            </a:avLst>
          </a:prstGeom>
          <a:solidFill>
            <a:srgbClr val="E1CFC6"/>
          </a:solidFill>
          <a:ln w="19050">
            <a:solidFill>
              <a:srgbClr val="B35510"/>
            </a:solidFill>
          </a:ln>
          <a:effectLst/>
        </p:spPr>
        <p:txBody>
          <a:bodyPr rtlCol="0" anchor="ctr"/>
          <a:lstStyle/>
          <a:p>
            <a:pPr algn="ctr"/>
          </a:p>
        </p:txBody>
      </p:sp>
      <p:sp>
        <p:nvSpPr>
          <p:cNvPr id="17" name="Rectangle 16"/>
          <p:cNvSpPr/>
          <p:nvPr/>
        </p:nvSpPr>
        <p:spPr>
          <a:xfrm>
            <a:off x="5552475" y="4418302"/>
            <a:ext cx="1644650" cy="19050"/>
          </a:xfrm>
          <a:prstGeom prst="rect">
            <a:avLst/>
          </a:prstGeom>
          <a:noFill/>
          <a:ln>
            <a:noFill/>
          </a:ln>
          <a:effectLst/>
        </p:spPr>
        <p:txBody>
          <a:bodyPr rtlCol="0" anchor="ctr"/>
          <a:lstStyle/>
          <a:p>
            <a:pPr algn="ctr"/>
          </a:p>
        </p:txBody>
      </p:sp>
      <p:sp>
        <p:nvSpPr>
          <p:cNvPr id="18" name="Rectangle 17"/>
          <p:cNvSpPr/>
          <p:nvPr/>
        </p:nvSpPr>
        <p:spPr>
          <a:xfrm>
            <a:off x="5552475" y="4418302"/>
            <a:ext cx="1644650" cy="19050"/>
          </a:xfrm>
          <a:prstGeom prst="rect">
            <a:avLst/>
          </a:prstGeom>
          <a:solidFill>
            <a:srgbClr val="B35510">
              <a:alpha val="40000"/>
            </a:srgbClr>
          </a:solidFill>
          <a:ln>
            <a:noFill/>
          </a:ln>
          <a:effectLst/>
        </p:spPr>
        <p:txBody>
          <a:bodyPr rtlCol="0" anchor="ctr"/>
          <a:lstStyle/>
          <a:p>
            <a:pPr algn="ctr"/>
          </a:p>
        </p:txBody>
      </p:sp>
      <p:sp>
        <p:nvSpPr>
          <p:cNvPr id="19" name="TextBox 18"/>
          <p:cNvSpPr txBox="1"/>
          <p:nvPr/>
        </p:nvSpPr>
        <p:spPr>
          <a:xfrm>
            <a:off x="5552475" y="4464702"/>
            <a:ext cx="1664900" cy="233646"/>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student loans</a:t>
            </a:r>
          </a:p>
        </p:txBody>
      </p:sp>
      <p:sp>
        <p:nvSpPr>
          <p:cNvPr id="20" name="Rounded Rectangle 19"/>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21" name="TextBox 20"/>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26 / 28</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Agency</a:t>
            </a:r>
          </a:p>
        </p:txBody>
      </p:sp>
      <p:sp>
        <p:nvSpPr>
          <p:cNvPr id="4" name="Rounded Rectangle 3"/>
          <p:cNvSpPr/>
          <p:nvPr/>
        </p:nvSpPr>
        <p:spPr>
          <a:xfrm>
            <a:off x="2286000" y="1625600"/>
            <a:ext cx="1227634" cy="152400"/>
          </a:xfrm>
          <a:prstGeom prst="roundRect">
            <a:avLst>
              <a:gd name="adj" fmla="val 16666"/>
            </a:avLst>
          </a:prstGeom>
          <a:solidFill>
            <a:srgbClr val="1C6091"/>
          </a:solidFill>
          <a:ln>
            <a:noFill/>
          </a:ln>
          <a:effectLst/>
        </p:spPr>
        <p:txBody>
          <a:bodyPr rtlCol="0" anchor="ctr"/>
          <a:lstStyle/>
          <a:p>
            <a:pPr algn="ctr"/>
          </a:p>
        </p:txBody>
      </p:sp>
      <p:sp>
        <p:nvSpPr>
          <p:cNvPr id="5" name="Rounded Rectangle 4"/>
          <p:cNvSpPr/>
          <p:nvPr/>
        </p:nvSpPr>
        <p:spPr>
          <a:xfrm>
            <a:off x="3564434" y="1625600"/>
            <a:ext cx="1227733" cy="152400"/>
          </a:xfrm>
          <a:prstGeom prst="roundRect">
            <a:avLst>
              <a:gd name="adj" fmla="val 16666"/>
            </a:avLst>
          </a:prstGeom>
          <a:solidFill>
            <a:srgbClr val="1C6091"/>
          </a:solidFill>
          <a:ln>
            <a:noFill/>
          </a:ln>
          <a:effectLst/>
        </p:spPr>
        <p:txBody>
          <a:bodyPr rtlCol="0" anchor="ctr"/>
          <a:lstStyle/>
          <a:p>
            <a:pPr algn="ctr"/>
          </a:p>
        </p:txBody>
      </p:sp>
      <p:sp>
        <p:nvSpPr>
          <p:cNvPr id="6" name="Rounded Rectangle 5"/>
          <p:cNvSpPr/>
          <p:nvPr/>
        </p:nvSpPr>
        <p:spPr>
          <a:xfrm>
            <a:off x="4842966" y="1625600"/>
            <a:ext cx="1227634" cy="152400"/>
          </a:xfrm>
          <a:prstGeom prst="roundRect">
            <a:avLst>
              <a:gd name="adj" fmla="val 16666"/>
            </a:avLst>
          </a:prstGeom>
          <a:solidFill>
            <a:srgbClr val="1C6091"/>
          </a:solidFill>
          <a:ln>
            <a:noFill/>
          </a:ln>
          <a:effectLst/>
        </p:spPr>
        <p:txBody>
          <a:bodyPr rtlCol="0" anchor="ctr"/>
          <a:lstStyle/>
          <a:p>
            <a:pPr algn="ctr"/>
          </a:p>
        </p:txBody>
      </p:sp>
      <p:sp>
        <p:nvSpPr>
          <p:cNvPr id="7" name="Rounded Rectangle 6"/>
          <p:cNvSpPr/>
          <p:nvPr/>
        </p:nvSpPr>
        <p:spPr>
          <a:xfrm>
            <a:off x="6121400" y="1625600"/>
            <a:ext cx="1227733"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8" name="Rounded Rectangle 7"/>
          <p:cNvSpPr/>
          <p:nvPr/>
        </p:nvSpPr>
        <p:spPr>
          <a:xfrm>
            <a:off x="7399933" y="1625600"/>
            <a:ext cx="1227634"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9" name="Rounded Rectangle 8"/>
          <p:cNvSpPr/>
          <p:nvPr/>
        </p:nvSpPr>
        <p:spPr>
          <a:xfrm>
            <a:off x="8678366" y="1625600"/>
            <a:ext cx="1227634" cy="152400"/>
          </a:xfrm>
          <a:prstGeom prst="roundRect">
            <a:avLst>
              <a:gd name="adj" fmla="val 16666"/>
            </a:avLst>
          </a:prstGeom>
          <a:solidFill>
            <a:srgbClr val="1C6091">
              <a:alpha val="15000"/>
            </a:srgbClr>
          </a:solidFill>
          <a:ln>
            <a:noFill/>
          </a:ln>
          <a:effectLst/>
        </p:spPr>
        <p:txBody>
          <a:bodyPr rtlCol="0" anchor="ctr"/>
          <a:lstStyle/>
          <a:p>
            <a:pPr algn="ctr"/>
          </a:p>
        </p:txBody>
      </p:sp>
      <p:pic>
        <p:nvPicPr>
          <p:cNvPr id="10" name="Picture 9" descr="e85107d3a85d386f.jpg"/>
          <p:cNvPicPr>
            <a:picLocks noChangeAspect="1"/>
          </p:cNvPicPr>
          <p:nvPr/>
        </p:nvPicPr>
        <p:blipFill>
          <a:blip r:embed="rId3"/>
          <a:stretch>
            <a:fillRect/>
          </a:stretch>
        </p:blipFill>
        <p:spPr>
          <a:xfrm>
            <a:off x="3238500" y="3327400"/>
            <a:ext cx="5715000" cy="2921000"/>
          </a:xfrm>
          <a:prstGeom prst="rect">
            <a:avLst/>
          </a:prstGeom>
        </p:spPr>
      </p:pic>
      <p:pic>
        <p:nvPicPr>
          <p:cNvPr id="11" name="Picture 10" descr="072aeb7573c8357d.jpg"/>
          <p:cNvPicPr>
            <a:picLocks noChangeAspect="1"/>
          </p:cNvPicPr>
          <p:nvPr/>
        </p:nvPicPr>
        <p:blipFill>
          <a:blip r:embed="rId4"/>
          <a:stretch>
            <a:fillRect/>
          </a:stretch>
        </p:blipFill>
        <p:spPr>
          <a:xfrm>
            <a:off x="8115300" y="2692400"/>
            <a:ext cx="2413000" cy="3556000"/>
          </a:xfrm>
          <a:prstGeom prst="rect">
            <a:avLst/>
          </a:prstGeom>
        </p:spPr>
      </p:pic>
      <p:sp>
        <p:nvSpPr>
          <p:cNvPr id="12" name="Rounded Rectangle 11"/>
          <p:cNvSpPr/>
          <p:nvPr/>
        </p:nvSpPr>
        <p:spPr>
          <a:xfrm>
            <a:off x="4507449" y="4202971"/>
            <a:ext cx="992703" cy="674558"/>
          </a:xfrm>
          <a:prstGeom prst="roundRect">
            <a:avLst>
              <a:gd name="adj" fmla="val 3765"/>
            </a:avLst>
          </a:prstGeom>
          <a:solidFill>
            <a:srgbClr val="E1CFC6"/>
          </a:solidFill>
          <a:ln w="19050">
            <a:solidFill>
              <a:srgbClr val="B35510"/>
            </a:solidFill>
          </a:ln>
          <a:effectLst/>
        </p:spPr>
        <p:txBody>
          <a:bodyPr rtlCol="0" anchor="ctr"/>
          <a:lstStyle/>
          <a:p>
            <a:pPr algn="ctr"/>
          </a:p>
        </p:txBody>
      </p:sp>
      <p:sp>
        <p:nvSpPr>
          <p:cNvPr id="13" name="Rectangle 12"/>
          <p:cNvSpPr/>
          <p:nvPr/>
        </p:nvSpPr>
        <p:spPr>
          <a:xfrm>
            <a:off x="4526499" y="4370551"/>
            <a:ext cx="914400" cy="19050"/>
          </a:xfrm>
          <a:prstGeom prst="rect">
            <a:avLst/>
          </a:prstGeom>
          <a:noFill/>
          <a:ln>
            <a:noFill/>
          </a:ln>
          <a:effectLst/>
        </p:spPr>
        <p:txBody>
          <a:bodyPr rtlCol="0" anchor="ctr"/>
          <a:lstStyle/>
          <a:p>
            <a:pPr algn="ctr"/>
          </a:p>
        </p:txBody>
      </p:sp>
      <p:sp>
        <p:nvSpPr>
          <p:cNvPr id="14" name="Rectangle 13"/>
          <p:cNvSpPr/>
          <p:nvPr/>
        </p:nvSpPr>
        <p:spPr>
          <a:xfrm>
            <a:off x="4526499" y="4370551"/>
            <a:ext cx="914400" cy="19050"/>
          </a:xfrm>
          <a:prstGeom prst="rect">
            <a:avLst/>
          </a:prstGeom>
          <a:solidFill>
            <a:srgbClr val="B35510">
              <a:alpha val="40000"/>
            </a:srgbClr>
          </a:solidFill>
          <a:ln>
            <a:noFill/>
          </a:ln>
          <a:effectLst/>
        </p:spPr>
        <p:txBody>
          <a:bodyPr rtlCol="0" anchor="ctr"/>
          <a:lstStyle/>
          <a:p>
            <a:pPr algn="ctr"/>
          </a:p>
        </p:txBody>
      </p:sp>
      <p:sp>
        <p:nvSpPr>
          <p:cNvPr id="15" name="TextBox 14"/>
          <p:cNvSpPr txBox="1"/>
          <p:nvPr/>
        </p:nvSpPr>
        <p:spPr>
          <a:xfrm>
            <a:off x="4526499" y="4427872"/>
            <a:ext cx="954603" cy="218428"/>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visa</a:t>
            </a:r>
          </a:p>
        </p:txBody>
      </p:sp>
      <p:sp>
        <p:nvSpPr>
          <p:cNvPr id="16" name="Rounded Rectangle 15"/>
          <p:cNvSpPr/>
          <p:nvPr/>
        </p:nvSpPr>
        <p:spPr>
          <a:xfrm>
            <a:off x="5533425" y="4250722"/>
            <a:ext cx="1703000" cy="667956"/>
          </a:xfrm>
          <a:prstGeom prst="roundRect">
            <a:avLst>
              <a:gd name="adj" fmla="val 3802"/>
            </a:avLst>
          </a:prstGeom>
          <a:solidFill>
            <a:srgbClr val="E1CFC6"/>
          </a:solidFill>
          <a:ln w="19050">
            <a:solidFill>
              <a:srgbClr val="B35510"/>
            </a:solidFill>
          </a:ln>
          <a:effectLst/>
        </p:spPr>
        <p:txBody>
          <a:bodyPr rtlCol="0" anchor="ctr"/>
          <a:lstStyle/>
          <a:p>
            <a:pPr algn="ctr"/>
          </a:p>
        </p:txBody>
      </p:sp>
      <p:sp>
        <p:nvSpPr>
          <p:cNvPr id="17" name="Rectangle 16"/>
          <p:cNvSpPr/>
          <p:nvPr/>
        </p:nvSpPr>
        <p:spPr>
          <a:xfrm>
            <a:off x="5552475" y="4418302"/>
            <a:ext cx="1644650" cy="19050"/>
          </a:xfrm>
          <a:prstGeom prst="rect">
            <a:avLst/>
          </a:prstGeom>
          <a:noFill/>
          <a:ln>
            <a:noFill/>
          </a:ln>
          <a:effectLst/>
        </p:spPr>
        <p:txBody>
          <a:bodyPr rtlCol="0" anchor="ctr"/>
          <a:lstStyle/>
          <a:p>
            <a:pPr algn="ctr"/>
          </a:p>
        </p:txBody>
      </p:sp>
      <p:sp>
        <p:nvSpPr>
          <p:cNvPr id="18" name="Rectangle 17"/>
          <p:cNvSpPr/>
          <p:nvPr/>
        </p:nvSpPr>
        <p:spPr>
          <a:xfrm>
            <a:off x="5552475" y="4418302"/>
            <a:ext cx="1644650" cy="19050"/>
          </a:xfrm>
          <a:prstGeom prst="rect">
            <a:avLst/>
          </a:prstGeom>
          <a:solidFill>
            <a:srgbClr val="B35510">
              <a:alpha val="40000"/>
            </a:srgbClr>
          </a:solidFill>
          <a:ln>
            <a:noFill/>
          </a:ln>
          <a:effectLst/>
        </p:spPr>
        <p:txBody>
          <a:bodyPr rtlCol="0" anchor="ctr"/>
          <a:lstStyle/>
          <a:p>
            <a:pPr algn="ctr"/>
          </a:p>
        </p:txBody>
      </p:sp>
      <p:sp>
        <p:nvSpPr>
          <p:cNvPr id="19" name="TextBox 18"/>
          <p:cNvSpPr txBox="1"/>
          <p:nvPr/>
        </p:nvSpPr>
        <p:spPr>
          <a:xfrm>
            <a:off x="5552475" y="4464702"/>
            <a:ext cx="1664900" cy="233646"/>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student loans</a:t>
            </a:r>
          </a:p>
        </p:txBody>
      </p:sp>
      <p:sp>
        <p:nvSpPr>
          <p:cNvPr id="20" name="Rounded Rectangle 19"/>
          <p:cNvSpPr/>
          <p:nvPr/>
        </p:nvSpPr>
        <p:spPr>
          <a:xfrm>
            <a:off x="4693720" y="3550417"/>
            <a:ext cx="1223410" cy="709667"/>
          </a:xfrm>
          <a:prstGeom prst="roundRect">
            <a:avLst>
              <a:gd name="adj" fmla="val 3579"/>
            </a:avLst>
          </a:prstGeom>
          <a:solidFill>
            <a:srgbClr val="E1CFC6"/>
          </a:solidFill>
          <a:ln w="19050">
            <a:solidFill>
              <a:srgbClr val="B35510"/>
            </a:solidFill>
          </a:ln>
          <a:effectLst/>
        </p:spPr>
        <p:txBody>
          <a:bodyPr rtlCol="0" anchor="ctr"/>
          <a:lstStyle/>
          <a:p>
            <a:pPr algn="ctr"/>
          </a:p>
        </p:txBody>
      </p:sp>
      <p:sp>
        <p:nvSpPr>
          <p:cNvPr id="21" name="Rectangle 20"/>
          <p:cNvSpPr/>
          <p:nvPr/>
        </p:nvSpPr>
        <p:spPr>
          <a:xfrm>
            <a:off x="4712770" y="3717997"/>
            <a:ext cx="1136650" cy="19050"/>
          </a:xfrm>
          <a:prstGeom prst="rect">
            <a:avLst/>
          </a:prstGeom>
          <a:noFill/>
          <a:ln>
            <a:noFill/>
          </a:ln>
          <a:effectLst/>
        </p:spPr>
        <p:txBody>
          <a:bodyPr rtlCol="0" anchor="ctr"/>
          <a:lstStyle/>
          <a:p>
            <a:pPr algn="ctr"/>
          </a:p>
        </p:txBody>
      </p:sp>
      <p:sp>
        <p:nvSpPr>
          <p:cNvPr id="22" name="Rectangle 21"/>
          <p:cNvSpPr/>
          <p:nvPr/>
        </p:nvSpPr>
        <p:spPr>
          <a:xfrm>
            <a:off x="4712770" y="3717997"/>
            <a:ext cx="1136650" cy="19050"/>
          </a:xfrm>
          <a:prstGeom prst="rect">
            <a:avLst/>
          </a:prstGeom>
          <a:solidFill>
            <a:srgbClr val="B35510">
              <a:alpha val="40000"/>
            </a:srgbClr>
          </a:solidFill>
          <a:ln>
            <a:noFill/>
          </a:ln>
          <a:effectLst/>
        </p:spPr>
        <p:txBody>
          <a:bodyPr rtlCol="0" anchor="ctr"/>
          <a:lstStyle/>
          <a:p>
            <a:pPr algn="ctr"/>
          </a:p>
        </p:txBody>
      </p:sp>
      <p:sp>
        <p:nvSpPr>
          <p:cNvPr id="23" name="TextBox 22"/>
          <p:cNvSpPr txBox="1"/>
          <p:nvPr/>
        </p:nvSpPr>
        <p:spPr>
          <a:xfrm>
            <a:off x="4712770" y="3783802"/>
            <a:ext cx="1185310" cy="236571"/>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family</a:t>
            </a:r>
          </a:p>
        </p:txBody>
      </p:sp>
      <p:sp>
        <p:nvSpPr>
          <p:cNvPr id="24" name="Rounded Rectangle 23"/>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25" name="TextBox 24"/>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26 / 28</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Agency</a:t>
            </a:r>
          </a:p>
        </p:txBody>
      </p:sp>
      <p:sp>
        <p:nvSpPr>
          <p:cNvPr id="4" name="Rounded Rectangle 3"/>
          <p:cNvSpPr/>
          <p:nvPr/>
        </p:nvSpPr>
        <p:spPr>
          <a:xfrm>
            <a:off x="2286000" y="1625600"/>
            <a:ext cx="1227634" cy="152400"/>
          </a:xfrm>
          <a:prstGeom prst="roundRect">
            <a:avLst>
              <a:gd name="adj" fmla="val 16666"/>
            </a:avLst>
          </a:prstGeom>
          <a:solidFill>
            <a:srgbClr val="1C6091"/>
          </a:solidFill>
          <a:ln>
            <a:noFill/>
          </a:ln>
          <a:effectLst/>
        </p:spPr>
        <p:txBody>
          <a:bodyPr rtlCol="0" anchor="ctr"/>
          <a:lstStyle/>
          <a:p>
            <a:pPr algn="ctr"/>
          </a:p>
        </p:txBody>
      </p:sp>
      <p:sp>
        <p:nvSpPr>
          <p:cNvPr id="5" name="Rounded Rectangle 4"/>
          <p:cNvSpPr/>
          <p:nvPr/>
        </p:nvSpPr>
        <p:spPr>
          <a:xfrm>
            <a:off x="3564434" y="1625600"/>
            <a:ext cx="1227733" cy="152400"/>
          </a:xfrm>
          <a:prstGeom prst="roundRect">
            <a:avLst>
              <a:gd name="adj" fmla="val 16666"/>
            </a:avLst>
          </a:prstGeom>
          <a:solidFill>
            <a:srgbClr val="1C6091"/>
          </a:solidFill>
          <a:ln>
            <a:noFill/>
          </a:ln>
          <a:effectLst/>
        </p:spPr>
        <p:txBody>
          <a:bodyPr rtlCol="0" anchor="ctr"/>
          <a:lstStyle/>
          <a:p>
            <a:pPr algn="ctr"/>
          </a:p>
        </p:txBody>
      </p:sp>
      <p:sp>
        <p:nvSpPr>
          <p:cNvPr id="6" name="Rounded Rectangle 5"/>
          <p:cNvSpPr/>
          <p:nvPr/>
        </p:nvSpPr>
        <p:spPr>
          <a:xfrm>
            <a:off x="4842966" y="1625600"/>
            <a:ext cx="1227634"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7" name="Rounded Rectangle 6"/>
          <p:cNvSpPr/>
          <p:nvPr/>
        </p:nvSpPr>
        <p:spPr>
          <a:xfrm>
            <a:off x="6121400" y="1625600"/>
            <a:ext cx="1227733"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8" name="Rounded Rectangle 7"/>
          <p:cNvSpPr/>
          <p:nvPr/>
        </p:nvSpPr>
        <p:spPr>
          <a:xfrm>
            <a:off x="7399933" y="1625600"/>
            <a:ext cx="1227634"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9" name="Rounded Rectangle 8"/>
          <p:cNvSpPr/>
          <p:nvPr/>
        </p:nvSpPr>
        <p:spPr>
          <a:xfrm>
            <a:off x="8678366" y="1625600"/>
            <a:ext cx="1227634" cy="152400"/>
          </a:xfrm>
          <a:prstGeom prst="roundRect">
            <a:avLst>
              <a:gd name="adj" fmla="val 16666"/>
            </a:avLst>
          </a:prstGeom>
          <a:solidFill>
            <a:srgbClr val="1C6091">
              <a:alpha val="15000"/>
            </a:srgbClr>
          </a:solidFill>
          <a:ln>
            <a:noFill/>
          </a:ln>
          <a:effectLst/>
        </p:spPr>
        <p:txBody>
          <a:bodyPr rtlCol="0" anchor="ctr"/>
          <a:lstStyle/>
          <a:p>
            <a:pPr algn="ctr"/>
          </a:p>
        </p:txBody>
      </p:sp>
      <p:pic>
        <p:nvPicPr>
          <p:cNvPr id="10" name="Picture 9" descr="1b791052d828cc2f.jpg"/>
          <p:cNvPicPr>
            <a:picLocks noChangeAspect="1"/>
          </p:cNvPicPr>
          <p:nvPr/>
        </p:nvPicPr>
        <p:blipFill>
          <a:blip r:embed="rId3"/>
          <a:stretch>
            <a:fillRect/>
          </a:stretch>
        </p:blipFill>
        <p:spPr>
          <a:xfrm>
            <a:off x="3238500" y="3327400"/>
            <a:ext cx="5715000" cy="2921000"/>
          </a:xfrm>
          <a:prstGeom prst="rect">
            <a:avLst/>
          </a:prstGeom>
        </p:spPr>
      </p:pic>
      <p:pic>
        <p:nvPicPr>
          <p:cNvPr id="11" name="Picture 10" descr="072aeb7573c8357d.jpg"/>
          <p:cNvPicPr>
            <a:picLocks noChangeAspect="1"/>
          </p:cNvPicPr>
          <p:nvPr/>
        </p:nvPicPr>
        <p:blipFill>
          <a:blip r:embed="rId4"/>
          <a:stretch>
            <a:fillRect/>
          </a:stretch>
        </p:blipFill>
        <p:spPr>
          <a:xfrm>
            <a:off x="8115300" y="2692400"/>
            <a:ext cx="2413000" cy="3556000"/>
          </a:xfrm>
          <a:prstGeom prst="rect">
            <a:avLst/>
          </a:prstGeom>
        </p:spPr>
      </p:pic>
      <p:sp>
        <p:nvSpPr>
          <p:cNvPr id="12" name="Rounded Rectangle 11"/>
          <p:cNvSpPr/>
          <p:nvPr/>
        </p:nvSpPr>
        <p:spPr>
          <a:xfrm>
            <a:off x="4507449" y="4202971"/>
            <a:ext cx="992703" cy="674558"/>
          </a:xfrm>
          <a:prstGeom prst="roundRect">
            <a:avLst>
              <a:gd name="adj" fmla="val 3765"/>
            </a:avLst>
          </a:prstGeom>
          <a:solidFill>
            <a:srgbClr val="E1CFC6"/>
          </a:solidFill>
          <a:ln w="19050">
            <a:solidFill>
              <a:srgbClr val="B35510"/>
            </a:solidFill>
          </a:ln>
          <a:effectLst/>
        </p:spPr>
        <p:txBody>
          <a:bodyPr rtlCol="0" anchor="ctr"/>
          <a:lstStyle/>
          <a:p>
            <a:pPr algn="ctr"/>
          </a:p>
        </p:txBody>
      </p:sp>
      <p:sp>
        <p:nvSpPr>
          <p:cNvPr id="13" name="Rectangle 12"/>
          <p:cNvSpPr/>
          <p:nvPr/>
        </p:nvSpPr>
        <p:spPr>
          <a:xfrm>
            <a:off x="4526499" y="4370551"/>
            <a:ext cx="914400" cy="19050"/>
          </a:xfrm>
          <a:prstGeom prst="rect">
            <a:avLst/>
          </a:prstGeom>
          <a:noFill/>
          <a:ln>
            <a:noFill/>
          </a:ln>
          <a:effectLst/>
        </p:spPr>
        <p:txBody>
          <a:bodyPr rtlCol="0" anchor="ctr"/>
          <a:lstStyle/>
          <a:p>
            <a:pPr algn="ctr"/>
          </a:p>
        </p:txBody>
      </p:sp>
      <p:sp>
        <p:nvSpPr>
          <p:cNvPr id="14" name="Rectangle 13"/>
          <p:cNvSpPr/>
          <p:nvPr/>
        </p:nvSpPr>
        <p:spPr>
          <a:xfrm>
            <a:off x="4526499" y="4370551"/>
            <a:ext cx="914400" cy="19050"/>
          </a:xfrm>
          <a:prstGeom prst="rect">
            <a:avLst/>
          </a:prstGeom>
          <a:solidFill>
            <a:srgbClr val="B35510">
              <a:alpha val="40000"/>
            </a:srgbClr>
          </a:solidFill>
          <a:ln>
            <a:noFill/>
          </a:ln>
          <a:effectLst/>
        </p:spPr>
        <p:txBody>
          <a:bodyPr rtlCol="0" anchor="ctr"/>
          <a:lstStyle/>
          <a:p>
            <a:pPr algn="ctr"/>
          </a:p>
        </p:txBody>
      </p:sp>
      <p:sp>
        <p:nvSpPr>
          <p:cNvPr id="15" name="TextBox 14"/>
          <p:cNvSpPr txBox="1"/>
          <p:nvPr/>
        </p:nvSpPr>
        <p:spPr>
          <a:xfrm>
            <a:off x="4526499" y="4427872"/>
            <a:ext cx="954603" cy="218428"/>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visa</a:t>
            </a:r>
          </a:p>
        </p:txBody>
      </p:sp>
      <p:sp>
        <p:nvSpPr>
          <p:cNvPr id="16" name="Rounded Rectangle 15"/>
          <p:cNvSpPr/>
          <p:nvPr/>
        </p:nvSpPr>
        <p:spPr>
          <a:xfrm>
            <a:off x="5533425" y="4250722"/>
            <a:ext cx="1703000" cy="667956"/>
          </a:xfrm>
          <a:prstGeom prst="roundRect">
            <a:avLst>
              <a:gd name="adj" fmla="val 3802"/>
            </a:avLst>
          </a:prstGeom>
          <a:solidFill>
            <a:srgbClr val="E1CFC6"/>
          </a:solidFill>
          <a:ln w="19050">
            <a:solidFill>
              <a:srgbClr val="B35510"/>
            </a:solidFill>
          </a:ln>
          <a:effectLst/>
        </p:spPr>
        <p:txBody>
          <a:bodyPr rtlCol="0" anchor="ctr"/>
          <a:lstStyle/>
          <a:p>
            <a:pPr algn="ctr"/>
          </a:p>
        </p:txBody>
      </p:sp>
      <p:sp>
        <p:nvSpPr>
          <p:cNvPr id="17" name="Rectangle 16"/>
          <p:cNvSpPr/>
          <p:nvPr/>
        </p:nvSpPr>
        <p:spPr>
          <a:xfrm>
            <a:off x="5552475" y="4418302"/>
            <a:ext cx="1644650" cy="19050"/>
          </a:xfrm>
          <a:prstGeom prst="rect">
            <a:avLst/>
          </a:prstGeom>
          <a:noFill/>
          <a:ln>
            <a:noFill/>
          </a:ln>
          <a:effectLst/>
        </p:spPr>
        <p:txBody>
          <a:bodyPr rtlCol="0" anchor="ctr"/>
          <a:lstStyle/>
          <a:p>
            <a:pPr algn="ctr"/>
          </a:p>
        </p:txBody>
      </p:sp>
      <p:sp>
        <p:nvSpPr>
          <p:cNvPr id="18" name="Rectangle 17"/>
          <p:cNvSpPr/>
          <p:nvPr/>
        </p:nvSpPr>
        <p:spPr>
          <a:xfrm>
            <a:off x="5552475" y="4418302"/>
            <a:ext cx="1644650" cy="19050"/>
          </a:xfrm>
          <a:prstGeom prst="rect">
            <a:avLst/>
          </a:prstGeom>
          <a:solidFill>
            <a:srgbClr val="B35510">
              <a:alpha val="40000"/>
            </a:srgbClr>
          </a:solidFill>
          <a:ln>
            <a:noFill/>
          </a:ln>
          <a:effectLst/>
        </p:spPr>
        <p:txBody>
          <a:bodyPr rtlCol="0" anchor="ctr"/>
          <a:lstStyle/>
          <a:p>
            <a:pPr algn="ctr"/>
          </a:p>
        </p:txBody>
      </p:sp>
      <p:sp>
        <p:nvSpPr>
          <p:cNvPr id="19" name="TextBox 18"/>
          <p:cNvSpPr txBox="1"/>
          <p:nvPr/>
        </p:nvSpPr>
        <p:spPr>
          <a:xfrm>
            <a:off x="5552475" y="4464702"/>
            <a:ext cx="1664900" cy="233646"/>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student loans</a:t>
            </a:r>
          </a:p>
        </p:txBody>
      </p:sp>
      <p:sp>
        <p:nvSpPr>
          <p:cNvPr id="20" name="Rounded Rectangle 19"/>
          <p:cNvSpPr/>
          <p:nvPr/>
        </p:nvSpPr>
        <p:spPr>
          <a:xfrm>
            <a:off x="4693720" y="3550417"/>
            <a:ext cx="1223410" cy="709667"/>
          </a:xfrm>
          <a:prstGeom prst="roundRect">
            <a:avLst>
              <a:gd name="adj" fmla="val 3579"/>
            </a:avLst>
          </a:prstGeom>
          <a:solidFill>
            <a:srgbClr val="E1CFC6"/>
          </a:solidFill>
          <a:ln w="19050">
            <a:solidFill>
              <a:srgbClr val="B35510"/>
            </a:solidFill>
          </a:ln>
          <a:effectLst/>
        </p:spPr>
        <p:txBody>
          <a:bodyPr rtlCol="0" anchor="ctr"/>
          <a:lstStyle/>
          <a:p>
            <a:pPr algn="ctr"/>
          </a:p>
        </p:txBody>
      </p:sp>
      <p:sp>
        <p:nvSpPr>
          <p:cNvPr id="21" name="Rectangle 20"/>
          <p:cNvSpPr/>
          <p:nvPr/>
        </p:nvSpPr>
        <p:spPr>
          <a:xfrm>
            <a:off x="4712770" y="3717997"/>
            <a:ext cx="1136650" cy="19050"/>
          </a:xfrm>
          <a:prstGeom prst="rect">
            <a:avLst/>
          </a:prstGeom>
          <a:noFill/>
          <a:ln>
            <a:noFill/>
          </a:ln>
          <a:effectLst/>
        </p:spPr>
        <p:txBody>
          <a:bodyPr rtlCol="0" anchor="ctr"/>
          <a:lstStyle/>
          <a:p>
            <a:pPr algn="ctr"/>
          </a:p>
        </p:txBody>
      </p:sp>
      <p:sp>
        <p:nvSpPr>
          <p:cNvPr id="22" name="Rectangle 21"/>
          <p:cNvSpPr/>
          <p:nvPr/>
        </p:nvSpPr>
        <p:spPr>
          <a:xfrm>
            <a:off x="4712770" y="3717997"/>
            <a:ext cx="1136650" cy="19050"/>
          </a:xfrm>
          <a:prstGeom prst="rect">
            <a:avLst/>
          </a:prstGeom>
          <a:solidFill>
            <a:srgbClr val="B35510">
              <a:alpha val="40000"/>
            </a:srgbClr>
          </a:solidFill>
          <a:ln>
            <a:noFill/>
          </a:ln>
          <a:effectLst/>
        </p:spPr>
        <p:txBody>
          <a:bodyPr rtlCol="0" anchor="ctr"/>
          <a:lstStyle/>
          <a:p>
            <a:pPr algn="ctr"/>
          </a:p>
        </p:txBody>
      </p:sp>
      <p:sp>
        <p:nvSpPr>
          <p:cNvPr id="23" name="TextBox 22"/>
          <p:cNvSpPr txBox="1"/>
          <p:nvPr/>
        </p:nvSpPr>
        <p:spPr>
          <a:xfrm>
            <a:off x="4712770" y="3783802"/>
            <a:ext cx="1185310" cy="236571"/>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family</a:t>
            </a:r>
          </a:p>
        </p:txBody>
      </p:sp>
      <p:sp>
        <p:nvSpPr>
          <p:cNvPr id="24" name="Rounded Rectangle 23"/>
          <p:cNvSpPr/>
          <p:nvPr/>
        </p:nvSpPr>
        <p:spPr>
          <a:xfrm>
            <a:off x="5928266" y="3484657"/>
            <a:ext cx="1453068" cy="752287"/>
          </a:xfrm>
          <a:prstGeom prst="roundRect">
            <a:avLst>
              <a:gd name="adj" fmla="val 3376"/>
            </a:avLst>
          </a:prstGeom>
          <a:solidFill>
            <a:srgbClr val="E1CFC6"/>
          </a:solidFill>
          <a:ln w="19050">
            <a:solidFill>
              <a:srgbClr val="B35510"/>
            </a:solidFill>
          </a:ln>
          <a:effectLst/>
        </p:spPr>
        <p:txBody>
          <a:bodyPr rtlCol="0" anchor="ctr"/>
          <a:lstStyle/>
          <a:p>
            <a:pPr algn="ctr"/>
          </a:p>
        </p:txBody>
      </p:sp>
      <p:sp>
        <p:nvSpPr>
          <p:cNvPr id="25" name="Rectangle 24"/>
          <p:cNvSpPr/>
          <p:nvPr/>
        </p:nvSpPr>
        <p:spPr>
          <a:xfrm>
            <a:off x="5947316" y="3652237"/>
            <a:ext cx="1358900" cy="19050"/>
          </a:xfrm>
          <a:prstGeom prst="rect">
            <a:avLst/>
          </a:prstGeom>
          <a:noFill/>
          <a:ln>
            <a:noFill/>
          </a:ln>
          <a:effectLst/>
        </p:spPr>
        <p:txBody>
          <a:bodyPr rtlCol="0" anchor="ctr"/>
          <a:lstStyle/>
          <a:p>
            <a:pPr algn="ctr"/>
          </a:p>
        </p:txBody>
      </p:sp>
      <p:sp>
        <p:nvSpPr>
          <p:cNvPr id="26" name="Rectangle 25"/>
          <p:cNvSpPr/>
          <p:nvPr/>
        </p:nvSpPr>
        <p:spPr>
          <a:xfrm>
            <a:off x="5947316" y="3652237"/>
            <a:ext cx="1358900" cy="19050"/>
          </a:xfrm>
          <a:prstGeom prst="rect">
            <a:avLst/>
          </a:prstGeom>
          <a:solidFill>
            <a:srgbClr val="B35510">
              <a:alpha val="40000"/>
            </a:srgbClr>
          </a:solidFill>
          <a:ln>
            <a:noFill/>
          </a:ln>
          <a:effectLst/>
        </p:spPr>
        <p:txBody>
          <a:bodyPr rtlCol="0" anchor="ctr"/>
          <a:lstStyle/>
          <a:p>
            <a:pPr algn="ctr"/>
          </a:p>
        </p:txBody>
      </p:sp>
      <p:sp>
        <p:nvSpPr>
          <p:cNvPr id="27" name="TextBox 26"/>
          <p:cNvSpPr txBox="1"/>
          <p:nvPr/>
        </p:nvSpPr>
        <p:spPr>
          <a:xfrm>
            <a:off x="5947316" y="3720502"/>
            <a:ext cx="1414968" cy="274292"/>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mortgage</a:t>
            </a:r>
          </a:p>
        </p:txBody>
      </p:sp>
      <p:sp>
        <p:nvSpPr>
          <p:cNvPr id="28" name="Rounded Rectangle 27"/>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29" name="TextBox 28"/>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26 / 28</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Agency</a:t>
            </a:r>
          </a:p>
        </p:txBody>
      </p:sp>
      <p:sp>
        <p:nvSpPr>
          <p:cNvPr id="4" name="Rounded Rectangle 3"/>
          <p:cNvSpPr/>
          <p:nvPr/>
        </p:nvSpPr>
        <p:spPr>
          <a:xfrm>
            <a:off x="2286000" y="1625600"/>
            <a:ext cx="1227634" cy="152400"/>
          </a:xfrm>
          <a:prstGeom prst="roundRect">
            <a:avLst>
              <a:gd name="adj" fmla="val 16666"/>
            </a:avLst>
          </a:prstGeom>
          <a:solidFill>
            <a:srgbClr val="1C6091"/>
          </a:solidFill>
          <a:ln>
            <a:noFill/>
          </a:ln>
          <a:effectLst/>
        </p:spPr>
        <p:txBody>
          <a:bodyPr rtlCol="0" anchor="ctr"/>
          <a:lstStyle/>
          <a:p>
            <a:pPr algn="ctr"/>
          </a:p>
        </p:txBody>
      </p:sp>
      <p:sp>
        <p:nvSpPr>
          <p:cNvPr id="5" name="Rounded Rectangle 4"/>
          <p:cNvSpPr/>
          <p:nvPr/>
        </p:nvSpPr>
        <p:spPr>
          <a:xfrm>
            <a:off x="3564434" y="1625600"/>
            <a:ext cx="1227733"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6" name="Rounded Rectangle 5"/>
          <p:cNvSpPr/>
          <p:nvPr/>
        </p:nvSpPr>
        <p:spPr>
          <a:xfrm>
            <a:off x="4842966" y="1625600"/>
            <a:ext cx="1227634"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7" name="Rounded Rectangle 6"/>
          <p:cNvSpPr/>
          <p:nvPr/>
        </p:nvSpPr>
        <p:spPr>
          <a:xfrm>
            <a:off x="6121400" y="1625600"/>
            <a:ext cx="1227733"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8" name="Rounded Rectangle 7"/>
          <p:cNvSpPr/>
          <p:nvPr/>
        </p:nvSpPr>
        <p:spPr>
          <a:xfrm>
            <a:off x="7399933" y="1625600"/>
            <a:ext cx="1227634"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9" name="Rounded Rectangle 8"/>
          <p:cNvSpPr/>
          <p:nvPr/>
        </p:nvSpPr>
        <p:spPr>
          <a:xfrm>
            <a:off x="8678366" y="1625600"/>
            <a:ext cx="1227634" cy="152400"/>
          </a:xfrm>
          <a:prstGeom prst="roundRect">
            <a:avLst>
              <a:gd name="adj" fmla="val 16666"/>
            </a:avLst>
          </a:prstGeom>
          <a:solidFill>
            <a:srgbClr val="1C6091">
              <a:alpha val="15000"/>
            </a:srgbClr>
          </a:solidFill>
          <a:ln>
            <a:noFill/>
          </a:ln>
          <a:effectLst/>
        </p:spPr>
        <p:txBody>
          <a:bodyPr rtlCol="0" anchor="ctr"/>
          <a:lstStyle/>
          <a:p>
            <a:pPr algn="ctr"/>
          </a:p>
        </p:txBody>
      </p:sp>
      <p:pic>
        <p:nvPicPr>
          <p:cNvPr id="10" name="Picture 9" descr="85081c4c91036e0b.jpg"/>
          <p:cNvPicPr>
            <a:picLocks noChangeAspect="1"/>
          </p:cNvPicPr>
          <p:nvPr/>
        </p:nvPicPr>
        <p:blipFill>
          <a:blip r:embed="rId3"/>
          <a:stretch>
            <a:fillRect/>
          </a:stretch>
        </p:blipFill>
        <p:spPr>
          <a:xfrm>
            <a:off x="3238500" y="3327400"/>
            <a:ext cx="5715000" cy="2921000"/>
          </a:xfrm>
          <a:prstGeom prst="rect">
            <a:avLst/>
          </a:prstGeom>
        </p:spPr>
      </p:pic>
      <p:pic>
        <p:nvPicPr>
          <p:cNvPr id="11" name="Picture 10" descr="072aeb7573c8357d.jpg"/>
          <p:cNvPicPr>
            <a:picLocks noChangeAspect="1"/>
          </p:cNvPicPr>
          <p:nvPr/>
        </p:nvPicPr>
        <p:blipFill>
          <a:blip r:embed="rId4"/>
          <a:stretch>
            <a:fillRect/>
          </a:stretch>
        </p:blipFill>
        <p:spPr>
          <a:xfrm>
            <a:off x="8115300" y="2692400"/>
            <a:ext cx="2413000" cy="3556000"/>
          </a:xfrm>
          <a:prstGeom prst="rect">
            <a:avLst/>
          </a:prstGeom>
        </p:spPr>
      </p:pic>
      <p:sp>
        <p:nvSpPr>
          <p:cNvPr id="12" name="Rounded Rectangle 11"/>
          <p:cNvSpPr/>
          <p:nvPr/>
        </p:nvSpPr>
        <p:spPr>
          <a:xfrm>
            <a:off x="4507449" y="4202971"/>
            <a:ext cx="992703" cy="674558"/>
          </a:xfrm>
          <a:prstGeom prst="roundRect">
            <a:avLst>
              <a:gd name="adj" fmla="val 3765"/>
            </a:avLst>
          </a:prstGeom>
          <a:solidFill>
            <a:srgbClr val="E1CFC6"/>
          </a:solidFill>
          <a:ln w="19050">
            <a:solidFill>
              <a:srgbClr val="B35510"/>
            </a:solidFill>
          </a:ln>
          <a:effectLst/>
        </p:spPr>
        <p:txBody>
          <a:bodyPr rtlCol="0" anchor="ctr"/>
          <a:lstStyle/>
          <a:p>
            <a:pPr algn="ctr"/>
          </a:p>
        </p:txBody>
      </p:sp>
      <p:sp>
        <p:nvSpPr>
          <p:cNvPr id="13" name="Rectangle 12"/>
          <p:cNvSpPr/>
          <p:nvPr/>
        </p:nvSpPr>
        <p:spPr>
          <a:xfrm>
            <a:off x="4526499" y="4370551"/>
            <a:ext cx="914400" cy="19050"/>
          </a:xfrm>
          <a:prstGeom prst="rect">
            <a:avLst/>
          </a:prstGeom>
          <a:noFill/>
          <a:ln>
            <a:noFill/>
          </a:ln>
          <a:effectLst/>
        </p:spPr>
        <p:txBody>
          <a:bodyPr rtlCol="0" anchor="ctr"/>
          <a:lstStyle/>
          <a:p>
            <a:pPr algn="ctr"/>
          </a:p>
        </p:txBody>
      </p:sp>
      <p:sp>
        <p:nvSpPr>
          <p:cNvPr id="14" name="Rectangle 13"/>
          <p:cNvSpPr/>
          <p:nvPr/>
        </p:nvSpPr>
        <p:spPr>
          <a:xfrm>
            <a:off x="4526499" y="4370551"/>
            <a:ext cx="914400" cy="19050"/>
          </a:xfrm>
          <a:prstGeom prst="rect">
            <a:avLst/>
          </a:prstGeom>
          <a:solidFill>
            <a:srgbClr val="B35510">
              <a:alpha val="40000"/>
            </a:srgbClr>
          </a:solidFill>
          <a:ln>
            <a:noFill/>
          </a:ln>
          <a:effectLst/>
        </p:spPr>
        <p:txBody>
          <a:bodyPr rtlCol="0" anchor="ctr"/>
          <a:lstStyle/>
          <a:p>
            <a:pPr algn="ctr"/>
          </a:p>
        </p:txBody>
      </p:sp>
      <p:sp>
        <p:nvSpPr>
          <p:cNvPr id="15" name="TextBox 14"/>
          <p:cNvSpPr txBox="1"/>
          <p:nvPr/>
        </p:nvSpPr>
        <p:spPr>
          <a:xfrm>
            <a:off x="4526499" y="4427872"/>
            <a:ext cx="954603" cy="218428"/>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visa</a:t>
            </a:r>
          </a:p>
        </p:txBody>
      </p:sp>
      <p:sp>
        <p:nvSpPr>
          <p:cNvPr id="16" name="Rounded Rectangle 15"/>
          <p:cNvSpPr/>
          <p:nvPr/>
        </p:nvSpPr>
        <p:spPr>
          <a:xfrm>
            <a:off x="5533425" y="4250722"/>
            <a:ext cx="1703000" cy="667956"/>
          </a:xfrm>
          <a:prstGeom prst="roundRect">
            <a:avLst>
              <a:gd name="adj" fmla="val 3802"/>
            </a:avLst>
          </a:prstGeom>
          <a:solidFill>
            <a:srgbClr val="E1CFC6"/>
          </a:solidFill>
          <a:ln w="19050">
            <a:solidFill>
              <a:srgbClr val="B35510"/>
            </a:solidFill>
          </a:ln>
          <a:effectLst/>
        </p:spPr>
        <p:txBody>
          <a:bodyPr rtlCol="0" anchor="ctr"/>
          <a:lstStyle/>
          <a:p>
            <a:pPr algn="ctr"/>
          </a:p>
        </p:txBody>
      </p:sp>
      <p:sp>
        <p:nvSpPr>
          <p:cNvPr id="17" name="Rectangle 16"/>
          <p:cNvSpPr/>
          <p:nvPr/>
        </p:nvSpPr>
        <p:spPr>
          <a:xfrm>
            <a:off x="5552475" y="4418302"/>
            <a:ext cx="1644650" cy="19050"/>
          </a:xfrm>
          <a:prstGeom prst="rect">
            <a:avLst/>
          </a:prstGeom>
          <a:noFill/>
          <a:ln>
            <a:noFill/>
          </a:ln>
          <a:effectLst/>
        </p:spPr>
        <p:txBody>
          <a:bodyPr rtlCol="0" anchor="ctr"/>
          <a:lstStyle/>
          <a:p>
            <a:pPr algn="ctr"/>
          </a:p>
        </p:txBody>
      </p:sp>
      <p:sp>
        <p:nvSpPr>
          <p:cNvPr id="18" name="Rectangle 17"/>
          <p:cNvSpPr/>
          <p:nvPr/>
        </p:nvSpPr>
        <p:spPr>
          <a:xfrm>
            <a:off x="5552475" y="4418302"/>
            <a:ext cx="1644650" cy="19050"/>
          </a:xfrm>
          <a:prstGeom prst="rect">
            <a:avLst/>
          </a:prstGeom>
          <a:solidFill>
            <a:srgbClr val="B35510">
              <a:alpha val="40000"/>
            </a:srgbClr>
          </a:solidFill>
          <a:ln>
            <a:noFill/>
          </a:ln>
          <a:effectLst/>
        </p:spPr>
        <p:txBody>
          <a:bodyPr rtlCol="0" anchor="ctr"/>
          <a:lstStyle/>
          <a:p>
            <a:pPr algn="ctr"/>
          </a:p>
        </p:txBody>
      </p:sp>
      <p:sp>
        <p:nvSpPr>
          <p:cNvPr id="19" name="TextBox 18"/>
          <p:cNvSpPr txBox="1"/>
          <p:nvPr/>
        </p:nvSpPr>
        <p:spPr>
          <a:xfrm>
            <a:off x="5552475" y="4464702"/>
            <a:ext cx="1664900" cy="233646"/>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student loans</a:t>
            </a:r>
          </a:p>
        </p:txBody>
      </p:sp>
      <p:sp>
        <p:nvSpPr>
          <p:cNvPr id="20" name="Rounded Rectangle 19"/>
          <p:cNvSpPr/>
          <p:nvPr/>
        </p:nvSpPr>
        <p:spPr>
          <a:xfrm>
            <a:off x="4693720" y="3550417"/>
            <a:ext cx="1223410" cy="709667"/>
          </a:xfrm>
          <a:prstGeom prst="roundRect">
            <a:avLst>
              <a:gd name="adj" fmla="val 3579"/>
            </a:avLst>
          </a:prstGeom>
          <a:solidFill>
            <a:srgbClr val="E1CFC6"/>
          </a:solidFill>
          <a:ln w="19050">
            <a:solidFill>
              <a:srgbClr val="B35510"/>
            </a:solidFill>
          </a:ln>
          <a:effectLst/>
        </p:spPr>
        <p:txBody>
          <a:bodyPr rtlCol="0" anchor="ctr"/>
          <a:lstStyle/>
          <a:p>
            <a:pPr algn="ctr"/>
          </a:p>
        </p:txBody>
      </p:sp>
      <p:sp>
        <p:nvSpPr>
          <p:cNvPr id="21" name="Rectangle 20"/>
          <p:cNvSpPr/>
          <p:nvPr/>
        </p:nvSpPr>
        <p:spPr>
          <a:xfrm>
            <a:off x="4712770" y="3717997"/>
            <a:ext cx="1136650" cy="19050"/>
          </a:xfrm>
          <a:prstGeom prst="rect">
            <a:avLst/>
          </a:prstGeom>
          <a:noFill/>
          <a:ln>
            <a:noFill/>
          </a:ln>
          <a:effectLst/>
        </p:spPr>
        <p:txBody>
          <a:bodyPr rtlCol="0" anchor="ctr"/>
          <a:lstStyle/>
          <a:p>
            <a:pPr algn="ctr"/>
          </a:p>
        </p:txBody>
      </p:sp>
      <p:sp>
        <p:nvSpPr>
          <p:cNvPr id="22" name="Rectangle 21"/>
          <p:cNvSpPr/>
          <p:nvPr/>
        </p:nvSpPr>
        <p:spPr>
          <a:xfrm>
            <a:off x="4712770" y="3717997"/>
            <a:ext cx="1136650" cy="19050"/>
          </a:xfrm>
          <a:prstGeom prst="rect">
            <a:avLst/>
          </a:prstGeom>
          <a:solidFill>
            <a:srgbClr val="B35510">
              <a:alpha val="40000"/>
            </a:srgbClr>
          </a:solidFill>
          <a:ln>
            <a:noFill/>
          </a:ln>
          <a:effectLst/>
        </p:spPr>
        <p:txBody>
          <a:bodyPr rtlCol="0" anchor="ctr"/>
          <a:lstStyle/>
          <a:p>
            <a:pPr algn="ctr"/>
          </a:p>
        </p:txBody>
      </p:sp>
      <p:sp>
        <p:nvSpPr>
          <p:cNvPr id="23" name="TextBox 22"/>
          <p:cNvSpPr txBox="1"/>
          <p:nvPr/>
        </p:nvSpPr>
        <p:spPr>
          <a:xfrm>
            <a:off x="4712770" y="3783802"/>
            <a:ext cx="1185310" cy="236571"/>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family</a:t>
            </a:r>
          </a:p>
        </p:txBody>
      </p:sp>
      <p:sp>
        <p:nvSpPr>
          <p:cNvPr id="24" name="Rounded Rectangle 23"/>
          <p:cNvSpPr/>
          <p:nvPr/>
        </p:nvSpPr>
        <p:spPr>
          <a:xfrm>
            <a:off x="5928266" y="3484657"/>
            <a:ext cx="1453068" cy="752287"/>
          </a:xfrm>
          <a:prstGeom prst="roundRect">
            <a:avLst>
              <a:gd name="adj" fmla="val 3376"/>
            </a:avLst>
          </a:prstGeom>
          <a:solidFill>
            <a:srgbClr val="E1CFC6"/>
          </a:solidFill>
          <a:ln w="19050">
            <a:solidFill>
              <a:srgbClr val="B35510"/>
            </a:solidFill>
          </a:ln>
          <a:effectLst/>
        </p:spPr>
        <p:txBody>
          <a:bodyPr rtlCol="0" anchor="ctr"/>
          <a:lstStyle/>
          <a:p>
            <a:pPr algn="ctr"/>
          </a:p>
        </p:txBody>
      </p:sp>
      <p:sp>
        <p:nvSpPr>
          <p:cNvPr id="25" name="Rectangle 24"/>
          <p:cNvSpPr/>
          <p:nvPr/>
        </p:nvSpPr>
        <p:spPr>
          <a:xfrm>
            <a:off x="5947316" y="3652237"/>
            <a:ext cx="1358900" cy="19050"/>
          </a:xfrm>
          <a:prstGeom prst="rect">
            <a:avLst/>
          </a:prstGeom>
          <a:noFill/>
          <a:ln>
            <a:noFill/>
          </a:ln>
          <a:effectLst/>
        </p:spPr>
        <p:txBody>
          <a:bodyPr rtlCol="0" anchor="ctr"/>
          <a:lstStyle/>
          <a:p>
            <a:pPr algn="ctr"/>
          </a:p>
        </p:txBody>
      </p:sp>
      <p:sp>
        <p:nvSpPr>
          <p:cNvPr id="26" name="Rectangle 25"/>
          <p:cNvSpPr/>
          <p:nvPr/>
        </p:nvSpPr>
        <p:spPr>
          <a:xfrm>
            <a:off x="5947316" y="3652237"/>
            <a:ext cx="1358900" cy="19050"/>
          </a:xfrm>
          <a:prstGeom prst="rect">
            <a:avLst/>
          </a:prstGeom>
          <a:solidFill>
            <a:srgbClr val="B35510">
              <a:alpha val="40000"/>
            </a:srgbClr>
          </a:solidFill>
          <a:ln>
            <a:noFill/>
          </a:ln>
          <a:effectLst/>
        </p:spPr>
        <p:txBody>
          <a:bodyPr rtlCol="0" anchor="ctr"/>
          <a:lstStyle/>
          <a:p>
            <a:pPr algn="ctr"/>
          </a:p>
        </p:txBody>
      </p:sp>
      <p:sp>
        <p:nvSpPr>
          <p:cNvPr id="27" name="TextBox 26"/>
          <p:cNvSpPr txBox="1"/>
          <p:nvPr/>
        </p:nvSpPr>
        <p:spPr>
          <a:xfrm>
            <a:off x="5947316" y="3720502"/>
            <a:ext cx="1414968" cy="274292"/>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mortgage</a:t>
            </a:r>
          </a:p>
        </p:txBody>
      </p:sp>
      <p:sp>
        <p:nvSpPr>
          <p:cNvPr id="28" name="Rounded Rectangle 27"/>
          <p:cNvSpPr/>
          <p:nvPr/>
        </p:nvSpPr>
        <p:spPr>
          <a:xfrm>
            <a:off x="5179436" y="2879876"/>
            <a:ext cx="1617228" cy="691848"/>
          </a:xfrm>
          <a:prstGeom prst="roundRect">
            <a:avLst>
              <a:gd name="adj" fmla="val 3671"/>
            </a:avLst>
          </a:prstGeom>
          <a:solidFill>
            <a:srgbClr val="E1CFC6"/>
          </a:solidFill>
          <a:ln w="19050">
            <a:solidFill>
              <a:srgbClr val="B35510"/>
            </a:solidFill>
          </a:ln>
          <a:effectLst/>
        </p:spPr>
        <p:txBody>
          <a:bodyPr rtlCol="0" anchor="ctr"/>
          <a:lstStyle/>
          <a:p>
            <a:pPr algn="ctr"/>
          </a:p>
        </p:txBody>
      </p:sp>
      <p:sp>
        <p:nvSpPr>
          <p:cNvPr id="29" name="Rectangle 28"/>
          <p:cNvSpPr/>
          <p:nvPr/>
        </p:nvSpPr>
        <p:spPr>
          <a:xfrm>
            <a:off x="5198486" y="3047456"/>
            <a:ext cx="1549400" cy="19050"/>
          </a:xfrm>
          <a:prstGeom prst="rect">
            <a:avLst/>
          </a:prstGeom>
          <a:noFill/>
          <a:ln>
            <a:noFill/>
          </a:ln>
          <a:effectLst/>
        </p:spPr>
        <p:txBody>
          <a:bodyPr rtlCol="0" anchor="ctr"/>
          <a:lstStyle/>
          <a:p>
            <a:pPr algn="ctr"/>
          </a:p>
        </p:txBody>
      </p:sp>
      <p:sp>
        <p:nvSpPr>
          <p:cNvPr id="30" name="Rectangle 29"/>
          <p:cNvSpPr/>
          <p:nvPr/>
        </p:nvSpPr>
        <p:spPr>
          <a:xfrm>
            <a:off x="5198486" y="3047456"/>
            <a:ext cx="1549400" cy="19050"/>
          </a:xfrm>
          <a:prstGeom prst="rect">
            <a:avLst/>
          </a:prstGeom>
          <a:solidFill>
            <a:srgbClr val="B35510">
              <a:alpha val="40000"/>
            </a:srgbClr>
          </a:solidFill>
          <a:ln>
            <a:noFill/>
          </a:ln>
          <a:effectLst/>
        </p:spPr>
        <p:txBody>
          <a:bodyPr rtlCol="0" anchor="ctr"/>
          <a:lstStyle/>
          <a:p>
            <a:pPr algn="ctr"/>
          </a:p>
        </p:txBody>
      </p:sp>
      <p:sp>
        <p:nvSpPr>
          <p:cNvPr id="31" name="TextBox 30"/>
          <p:cNvSpPr txBox="1"/>
          <p:nvPr/>
        </p:nvSpPr>
        <p:spPr>
          <a:xfrm>
            <a:off x="5198486" y="3098215"/>
            <a:ext cx="1579128" cy="248829"/>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expectations</a:t>
            </a:r>
          </a:p>
        </p:txBody>
      </p:sp>
      <p:sp>
        <p:nvSpPr>
          <p:cNvPr id="32" name="Rounded Rectangle 31"/>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33" name="TextBox 32"/>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26 / 28</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Agency</a:t>
            </a:r>
          </a:p>
        </p:txBody>
      </p:sp>
      <p:sp>
        <p:nvSpPr>
          <p:cNvPr id="4" name="Rounded Rectangle 3"/>
          <p:cNvSpPr/>
          <p:nvPr/>
        </p:nvSpPr>
        <p:spPr>
          <a:xfrm>
            <a:off x="2286000" y="1625600"/>
            <a:ext cx="1227634" cy="152400"/>
          </a:xfrm>
          <a:prstGeom prst="roundRect">
            <a:avLst>
              <a:gd name="adj" fmla="val 16666"/>
            </a:avLst>
          </a:prstGeom>
          <a:solidFill>
            <a:srgbClr val="1C6091"/>
          </a:solidFill>
          <a:ln>
            <a:noFill/>
          </a:ln>
          <a:effectLst/>
        </p:spPr>
        <p:txBody>
          <a:bodyPr rtlCol="0" anchor="ctr"/>
          <a:lstStyle/>
          <a:p>
            <a:pPr algn="ctr"/>
          </a:p>
        </p:txBody>
      </p:sp>
      <p:sp>
        <p:nvSpPr>
          <p:cNvPr id="5" name="Rounded Rectangle 4"/>
          <p:cNvSpPr/>
          <p:nvPr/>
        </p:nvSpPr>
        <p:spPr>
          <a:xfrm>
            <a:off x="3564434" y="1625600"/>
            <a:ext cx="1227733"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6" name="Rounded Rectangle 5"/>
          <p:cNvSpPr/>
          <p:nvPr/>
        </p:nvSpPr>
        <p:spPr>
          <a:xfrm>
            <a:off x="4842966" y="1625600"/>
            <a:ext cx="1227634"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7" name="Rounded Rectangle 6"/>
          <p:cNvSpPr/>
          <p:nvPr/>
        </p:nvSpPr>
        <p:spPr>
          <a:xfrm>
            <a:off x="6121400" y="1625600"/>
            <a:ext cx="1227733"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8" name="Rounded Rectangle 7"/>
          <p:cNvSpPr/>
          <p:nvPr/>
        </p:nvSpPr>
        <p:spPr>
          <a:xfrm>
            <a:off x="7399933" y="1625600"/>
            <a:ext cx="1227634"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9" name="Rounded Rectangle 8"/>
          <p:cNvSpPr/>
          <p:nvPr/>
        </p:nvSpPr>
        <p:spPr>
          <a:xfrm>
            <a:off x="8678366" y="1625600"/>
            <a:ext cx="1227634" cy="152400"/>
          </a:xfrm>
          <a:prstGeom prst="roundRect">
            <a:avLst>
              <a:gd name="adj" fmla="val 16666"/>
            </a:avLst>
          </a:prstGeom>
          <a:solidFill>
            <a:srgbClr val="1C6091">
              <a:alpha val="15000"/>
            </a:srgbClr>
          </a:solidFill>
          <a:ln>
            <a:noFill/>
          </a:ln>
          <a:effectLst/>
        </p:spPr>
        <p:txBody>
          <a:bodyPr rtlCol="0" anchor="ctr"/>
          <a:lstStyle/>
          <a:p>
            <a:pPr algn="ctr"/>
          </a:p>
        </p:txBody>
      </p:sp>
      <p:pic>
        <p:nvPicPr>
          <p:cNvPr id="10" name="Picture 9" descr="85081c4c91036e0b.jpg"/>
          <p:cNvPicPr>
            <a:picLocks noChangeAspect="1"/>
          </p:cNvPicPr>
          <p:nvPr/>
        </p:nvPicPr>
        <p:blipFill>
          <a:blip r:embed="rId3"/>
          <a:stretch>
            <a:fillRect/>
          </a:stretch>
        </p:blipFill>
        <p:spPr>
          <a:xfrm>
            <a:off x="3238500" y="3327400"/>
            <a:ext cx="5715000" cy="2921000"/>
          </a:xfrm>
          <a:prstGeom prst="rect">
            <a:avLst/>
          </a:prstGeom>
        </p:spPr>
      </p:pic>
      <p:pic>
        <p:nvPicPr>
          <p:cNvPr id="11" name="Picture 10" descr="072aeb7573c8357d.jpg"/>
          <p:cNvPicPr>
            <a:picLocks noChangeAspect="1"/>
          </p:cNvPicPr>
          <p:nvPr/>
        </p:nvPicPr>
        <p:blipFill>
          <a:blip r:embed="rId4"/>
          <a:stretch>
            <a:fillRect/>
          </a:stretch>
        </p:blipFill>
        <p:spPr>
          <a:xfrm>
            <a:off x="8115300" y="2692400"/>
            <a:ext cx="2413000" cy="3556000"/>
          </a:xfrm>
          <a:prstGeom prst="rect">
            <a:avLst/>
          </a:prstGeom>
        </p:spPr>
      </p:pic>
      <p:sp>
        <p:nvSpPr>
          <p:cNvPr id="12" name="Rounded Rectangle 11"/>
          <p:cNvSpPr/>
          <p:nvPr/>
        </p:nvSpPr>
        <p:spPr>
          <a:xfrm>
            <a:off x="4507449" y="4202971"/>
            <a:ext cx="992703" cy="674558"/>
          </a:xfrm>
          <a:prstGeom prst="roundRect">
            <a:avLst>
              <a:gd name="adj" fmla="val 3765"/>
            </a:avLst>
          </a:prstGeom>
          <a:solidFill>
            <a:srgbClr val="E1CFC6"/>
          </a:solidFill>
          <a:ln w="19050">
            <a:solidFill>
              <a:srgbClr val="B35510"/>
            </a:solidFill>
          </a:ln>
          <a:effectLst/>
        </p:spPr>
        <p:txBody>
          <a:bodyPr rtlCol="0" anchor="ctr"/>
          <a:lstStyle/>
          <a:p>
            <a:pPr algn="ctr"/>
          </a:p>
        </p:txBody>
      </p:sp>
      <p:sp>
        <p:nvSpPr>
          <p:cNvPr id="13" name="Rectangle 12"/>
          <p:cNvSpPr/>
          <p:nvPr/>
        </p:nvSpPr>
        <p:spPr>
          <a:xfrm>
            <a:off x="4526499" y="4370551"/>
            <a:ext cx="914400" cy="19050"/>
          </a:xfrm>
          <a:prstGeom prst="rect">
            <a:avLst/>
          </a:prstGeom>
          <a:noFill/>
          <a:ln>
            <a:noFill/>
          </a:ln>
          <a:effectLst/>
        </p:spPr>
        <p:txBody>
          <a:bodyPr rtlCol="0" anchor="ctr"/>
          <a:lstStyle/>
          <a:p>
            <a:pPr algn="ctr"/>
          </a:p>
        </p:txBody>
      </p:sp>
      <p:sp>
        <p:nvSpPr>
          <p:cNvPr id="14" name="Rectangle 13"/>
          <p:cNvSpPr/>
          <p:nvPr/>
        </p:nvSpPr>
        <p:spPr>
          <a:xfrm>
            <a:off x="4526499" y="4370551"/>
            <a:ext cx="914400" cy="19050"/>
          </a:xfrm>
          <a:prstGeom prst="rect">
            <a:avLst/>
          </a:prstGeom>
          <a:solidFill>
            <a:srgbClr val="B35510">
              <a:alpha val="40000"/>
            </a:srgbClr>
          </a:solidFill>
          <a:ln>
            <a:noFill/>
          </a:ln>
          <a:effectLst/>
        </p:spPr>
        <p:txBody>
          <a:bodyPr rtlCol="0" anchor="ctr"/>
          <a:lstStyle/>
          <a:p>
            <a:pPr algn="ctr"/>
          </a:p>
        </p:txBody>
      </p:sp>
      <p:sp>
        <p:nvSpPr>
          <p:cNvPr id="15" name="TextBox 14"/>
          <p:cNvSpPr txBox="1"/>
          <p:nvPr/>
        </p:nvSpPr>
        <p:spPr>
          <a:xfrm>
            <a:off x="4526499" y="4427872"/>
            <a:ext cx="954603" cy="218428"/>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visa</a:t>
            </a:r>
          </a:p>
        </p:txBody>
      </p:sp>
      <p:sp>
        <p:nvSpPr>
          <p:cNvPr id="16" name="Rounded Rectangle 15"/>
          <p:cNvSpPr/>
          <p:nvPr/>
        </p:nvSpPr>
        <p:spPr>
          <a:xfrm>
            <a:off x="5533425" y="4250722"/>
            <a:ext cx="1703000" cy="667956"/>
          </a:xfrm>
          <a:prstGeom prst="roundRect">
            <a:avLst>
              <a:gd name="adj" fmla="val 3802"/>
            </a:avLst>
          </a:prstGeom>
          <a:solidFill>
            <a:srgbClr val="E1CFC6"/>
          </a:solidFill>
          <a:ln w="19050">
            <a:solidFill>
              <a:srgbClr val="B35510"/>
            </a:solidFill>
          </a:ln>
          <a:effectLst/>
        </p:spPr>
        <p:txBody>
          <a:bodyPr rtlCol="0" anchor="ctr"/>
          <a:lstStyle/>
          <a:p>
            <a:pPr algn="ctr"/>
          </a:p>
        </p:txBody>
      </p:sp>
      <p:sp>
        <p:nvSpPr>
          <p:cNvPr id="17" name="Rectangle 16"/>
          <p:cNvSpPr/>
          <p:nvPr/>
        </p:nvSpPr>
        <p:spPr>
          <a:xfrm>
            <a:off x="5552475" y="4418302"/>
            <a:ext cx="1644650" cy="19050"/>
          </a:xfrm>
          <a:prstGeom prst="rect">
            <a:avLst/>
          </a:prstGeom>
          <a:noFill/>
          <a:ln>
            <a:noFill/>
          </a:ln>
          <a:effectLst/>
        </p:spPr>
        <p:txBody>
          <a:bodyPr rtlCol="0" anchor="ctr"/>
          <a:lstStyle/>
          <a:p>
            <a:pPr algn="ctr"/>
          </a:p>
        </p:txBody>
      </p:sp>
      <p:sp>
        <p:nvSpPr>
          <p:cNvPr id="18" name="Rectangle 17"/>
          <p:cNvSpPr/>
          <p:nvPr/>
        </p:nvSpPr>
        <p:spPr>
          <a:xfrm>
            <a:off x="5552475" y="4418302"/>
            <a:ext cx="1644650" cy="19050"/>
          </a:xfrm>
          <a:prstGeom prst="rect">
            <a:avLst/>
          </a:prstGeom>
          <a:solidFill>
            <a:srgbClr val="B35510">
              <a:alpha val="40000"/>
            </a:srgbClr>
          </a:solidFill>
          <a:ln>
            <a:noFill/>
          </a:ln>
          <a:effectLst/>
        </p:spPr>
        <p:txBody>
          <a:bodyPr rtlCol="0" anchor="ctr"/>
          <a:lstStyle/>
          <a:p>
            <a:pPr algn="ctr"/>
          </a:p>
        </p:txBody>
      </p:sp>
      <p:sp>
        <p:nvSpPr>
          <p:cNvPr id="19" name="TextBox 18"/>
          <p:cNvSpPr txBox="1"/>
          <p:nvPr/>
        </p:nvSpPr>
        <p:spPr>
          <a:xfrm>
            <a:off x="5552475" y="4464702"/>
            <a:ext cx="1664900" cy="233646"/>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student loans</a:t>
            </a:r>
          </a:p>
        </p:txBody>
      </p:sp>
      <p:sp>
        <p:nvSpPr>
          <p:cNvPr id="20" name="Rounded Rectangle 19"/>
          <p:cNvSpPr/>
          <p:nvPr/>
        </p:nvSpPr>
        <p:spPr>
          <a:xfrm>
            <a:off x="4693720" y="3550417"/>
            <a:ext cx="1223410" cy="709667"/>
          </a:xfrm>
          <a:prstGeom prst="roundRect">
            <a:avLst>
              <a:gd name="adj" fmla="val 3579"/>
            </a:avLst>
          </a:prstGeom>
          <a:solidFill>
            <a:srgbClr val="E1CFC6"/>
          </a:solidFill>
          <a:ln w="19050">
            <a:solidFill>
              <a:srgbClr val="B35510"/>
            </a:solidFill>
          </a:ln>
          <a:effectLst/>
        </p:spPr>
        <p:txBody>
          <a:bodyPr rtlCol="0" anchor="ctr"/>
          <a:lstStyle/>
          <a:p>
            <a:pPr algn="ctr"/>
          </a:p>
        </p:txBody>
      </p:sp>
      <p:sp>
        <p:nvSpPr>
          <p:cNvPr id="21" name="Rectangle 20"/>
          <p:cNvSpPr/>
          <p:nvPr/>
        </p:nvSpPr>
        <p:spPr>
          <a:xfrm>
            <a:off x="4712770" y="3717997"/>
            <a:ext cx="1136650" cy="19050"/>
          </a:xfrm>
          <a:prstGeom prst="rect">
            <a:avLst/>
          </a:prstGeom>
          <a:noFill/>
          <a:ln>
            <a:noFill/>
          </a:ln>
          <a:effectLst/>
        </p:spPr>
        <p:txBody>
          <a:bodyPr rtlCol="0" anchor="ctr"/>
          <a:lstStyle/>
          <a:p>
            <a:pPr algn="ctr"/>
          </a:p>
        </p:txBody>
      </p:sp>
      <p:sp>
        <p:nvSpPr>
          <p:cNvPr id="22" name="Rectangle 21"/>
          <p:cNvSpPr/>
          <p:nvPr/>
        </p:nvSpPr>
        <p:spPr>
          <a:xfrm>
            <a:off x="4712770" y="3717997"/>
            <a:ext cx="1136650" cy="19050"/>
          </a:xfrm>
          <a:prstGeom prst="rect">
            <a:avLst/>
          </a:prstGeom>
          <a:solidFill>
            <a:srgbClr val="B35510">
              <a:alpha val="40000"/>
            </a:srgbClr>
          </a:solidFill>
          <a:ln>
            <a:noFill/>
          </a:ln>
          <a:effectLst/>
        </p:spPr>
        <p:txBody>
          <a:bodyPr rtlCol="0" anchor="ctr"/>
          <a:lstStyle/>
          <a:p>
            <a:pPr algn="ctr"/>
          </a:p>
        </p:txBody>
      </p:sp>
      <p:sp>
        <p:nvSpPr>
          <p:cNvPr id="23" name="TextBox 22"/>
          <p:cNvSpPr txBox="1"/>
          <p:nvPr/>
        </p:nvSpPr>
        <p:spPr>
          <a:xfrm>
            <a:off x="4712770" y="3783802"/>
            <a:ext cx="1185310" cy="236571"/>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family</a:t>
            </a:r>
          </a:p>
        </p:txBody>
      </p:sp>
      <p:sp>
        <p:nvSpPr>
          <p:cNvPr id="24" name="Rounded Rectangle 23"/>
          <p:cNvSpPr/>
          <p:nvPr/>
        </p:nvSpPr>
        <p:spPr>
          <a:xfrm>
            <a:off x="5928266" y="3484657"/>
            <a:ext cx="1453068" cy="752287"/>
          </a:xfrm>
          <a:prstGeom prst="roundRect">
            <a:avLst>
              <a:gd name="adj" fmla="val 3376"/>
            </a:avLst>
          </a:prstGeom>
          <a:solidFill>
            <a:srgbClr val="E1CFC6"/>
          </a:solidFill>
          <a:ln w="19050">
            <a:solidFill>
              <a:srgbClr val="B35510"/>
            </a:solidFill>
          </a:ln>
          <a:effectLst/>
        </p:spPr>
        <p:txBody>
          <a:bodyPr rtlCol="0" anchor="ctr"/>
          <a:lstStyle/>
          <a:p>
            <a:pPr algn="ctr"/>
          </a:p>
        </p:txBody>
      </p:sp>
      <p:sp>
        <p:nvSpPr>
          <p:cNvPr id="25" name="Rectangle 24"/>
          <p:cNvSpPr/>
          <p:nvPr/>
        </p:nvSpPr>
        <p:spPr>
          <a:xfrm>
            <a:off x="5947316" y="3652237"/>
            <a:ext cx="1358900" cy="19050"/>
          </a:xfrm>
          <a:prstGeom prst="rect">
            <a:avLst/>
          </a:prstGeom>
          <a:noFill/>
          <a:ln>
            <a:noFill/>
          </a:ln>
          <a:effectLst/>
        </p:spPr>
        <p:txBody>
          <a:bodyPr rtlCol="0" anchor="ctr"/>
          <a:lstStyle/>
          <a:p>
            <a:pPr algn="ctr"/>
          </a:p>
        </p:txBody>
      </p:sp>
      <p:sp>
        <p:nvSpPr>
          <p:cNvPr id="26" name="Rectangle 25"/>
          <p:cNvSpPr/>
          <p:nvPr/>
        </p:nvSpPr>
        <p:spPr>
          <a:xfrm>
            <a:off x="5947316" y="3652237"/>
            <a:ext cx="1358900" cy="19050"/>
          </a:xfrm>
          <a:prstGeom prst="rect">
            <a:avLst/>
          </a:prstGeom>
          <a:solidFill>
            <a:srgbClr val="B35510">
              <a:alpha val="40000"/>
            </a:srgbClr>
          </a:solidFill>
          <a:ln>
            <a:noFill/>
          </a:ln>
          <a:effectLst/>
        </p:spPr>
        <p:txBody>
          <a:bodyPr rtlCol="0" anchor="ctr"/>
          <a:lstStyle/>
          <a:p>
            <a:pPr algn="ctr"/>
          </a:p>
        </p:txBody>
      </p:sp>
      <p:sp>
        <p:nvSpPr>
          <p:cNvPr id="27" name="TextBox 26"/>
          <p:cNvSpPr txBox="1"/>
          <p:nvPr/>
        </p:nvSpPr>
        <p:spPr>
          <a:xfrm>
            <a:off x="5947316" y="3720502"/>
            <a:ext cx="1414968" cy="274292"/>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mortgage</a:t>
            </a:r>
          </a:p>
        </p:txBody>
      </p:sp>
      <p:sp>
        <p:nvSpPr>
          <p:cNvPr id="28" name="Rounded Rectangle 27"/>
          <p:cNvSpPr/>
          <p:nvPr/>
        </p:nvSpPr>
        <p:spPr>
          <a:xfrm>
            <a:off x="5179436" y="2879876"/>
            <a:ext cx="1617228" cy="691848"/>
          </a:xfrm>
          <a:prstGeom prst="roundRect">
            <a:avLst>
              <a:gd name="adj" fmla="val 3671"/>
            </a:avLst>
          </a:prstGeom>
          <a:solidFill>
            <a:srgbClr val="E1CFC6"/>
          </a:solidFill>
          <a:ln w="19050">
            <a:solidFill>
              <a:srgbClr val="B35510"/>
            </a:solidFill>
          </a:ln>
          <a:effectLst/>
        </p:spPr>
        <p:txBody>
          <a:bodyPr rtlCol="0" anchor="ctr"/>
          <a:lstStyle/>
          <a:p>
            <a:pPr algn="ctr"/>
          </a:p>
        </p:txBody>
      </p:sp>
      <p:sp>
        <p:nvSpPr>
          <p:cNvPr id="29" name="Rectangle 28"/>
          <p:cNvSpPr/>
          <p:nvPr/>
        </p:nvSpPr>
        <p:spPr>
          <a:xfrm>
            <a:off x="5198486" y="3047456"/>
            <a:ext cx="1549400" cy="19050"/>
          </a:xfrm>
          <a:prstGeom prst="rect">
            <a:avLst/>
          </a:prstGeom>
          <a:noFill/>
          <a:ln>
            <a:noFill/>
          </a:ln>
          <a:effectLst/>
        </p:spPr>
        <p:txBody>
          <a:bodyPr rtlCol="0" anchor="ctr"/>
          <a:lstStyle/>
          <a:p>
            <a:pPr algn="ctr"/>
          </a:p>
        </p:txBody>
      </p:sp>
      <p:sp>
        <p:nvSpPr>
          <p:cNvPr id="30" name="Rectangle 29"/>
          <p:cNvSpPr/>
          <p:nvPr/>
        </p:nvSpPr>
        <p:spPr>
          <a:xfrm>
            <a:off x="5198486" y="3047456"/>
            <a:ext cx="1549400" cy="19050"/>
          </a:xfrm>
          <a:prstGeom prst="rect">
            <a:avLst/>
          </a:prstGeom>
          <a:solidFill>
            <a:srgbClr val="B35510">
              <a:alpha val="40000"/>
            </a:srgbClr>
          </a:solidFill>
          <a:ln>
            <a:noFill/>
          </a:ln>
          <a:effectLst/>
        </p:spPr>
        <p:txBody>
          <a:bodyPr rtlCol="0" anchor="ctr"/>
          <a:lstStyle/>
          <a:p>
            <a:pPr algn="ctr"/>
          </a:p>
        </p:txBody>
      </p:sp>
      <p:sp>
        <p:nvSpPr>
          <p:cNvPr id="31" name="TextBox 30"/>
          <p:cNvSpPr txBox="1"/>
          <p:nvPr/>
        </p:nvSpPr>
        <p:spPr>
          <a:xfrm>
            <a:off x="5198486" y="3098215"/>
            <a:ext cx="1579128" cy="248829"/>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expectations</a:t>
            </a:r>
          </a:p>
        </p:txBody>
      </p:sp>
      <p:sp>
        <p:nvSpPr>
          <p:cNvPr id="32" name="TextBox 31"/>
          <p:cNvSpPr txBox="1"/>
          <p:nvPr/>
        </p:nvSpPr>
        <p:spPr>
          <a:xfrm>
            <a:off x="812800" y="2260600"/>
            <a:ext cx="10566400" cy="426720"/>
          </a:xfrm>
          <a:prstGeom prst="rect">
            <a:avLst/>
          </a:prstGeom>
          <a:noFill/>
        </p:spPr>
        <p:txBody>
          <a:bodyPr wrap="none" lIns="0" rIns="0" tIns="0" bIns="0" anchor="ctr">
            <a:noAutofit/>
          </a:bodyPr>
          <a:lstStyle/>
          <a:p>
            <a:pPr algn="ctr">
              <a:lnSpc>
                <a:spcPts val="3500"/>
              </a:lnSpc>
            </a:pPr>
            <a:r>
              <a:rPr sz="2800" b="0" i="0">
                <a:solidFill>
                  <a:srgbClr val="861F41"/>
                </a:solidFill>
                <a:latin typeface="Georgia"/>
              </a:rPr>
              <a:t>Everyone has different levels of agency. But everyone has some agency.</a:t>
            </a:r>
          </a:p>
        </p:txBody>
      </p:sp>
      <p:sp>
        <p:nvSpPr>
          <p:cNvPr id="33" name="Rounded Rectangle 32"/>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34" name="TextBox 33"/>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26 / 28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609600"/>
            <a:ext cx="10566400" cy="609600"/>
          </a:xfrm>
          <a:prstGeom prst="rect">
            <a:avLst/>
          </a:prstGeom>
          <a:noFill/>
        </p:spPr>
        <p:txBody>
          <a:bodyPr wrap="none" lIns="0" rIns="0" tIns="0" bIns="0" anchor="ctr">
            <a:noAutofit/>
          </a:bodyPr>
          <a:lstStyle/>
          <a:p>
            <a:pPr algn="l">
              <a:lnSpc>
                <a:spcPts val="4400"/>
              </a:lnSpc>
            </a:pPr>
            <a:r>
              <a:rPr sz="4000" b="1" i="0">
                <a:solidFill>
                  <a:srgbClr val="861F41"/>
                </a:solidFill>
                <a:latin typeface="Georgia"/>
              </a:rPr>
              <a:t>Agency</a:t>
            </a:r>
          </a:p>
        </p:txBody>
      </p:sp>
      <p:sp>
        <p:nvSpPr>
          <p:cNvPr id="4" name="Rounded Rectangle 3"/>
          <p:cNvSpPr/>
          <p:nvPr/>
        </p:nvSpPr>
        <p:spPr>
          <a:xfrm>
            <a:off x="2286000" y="1625600"/>
            <a:ext cx="1227634" cy="152400"/>
          </a:xfrm>
          <a:prstGeom prst="roundRect">
            <a:avLst>
              <a:gd name="adj" fmla="val 16666"/>
            </a:avLst>
          </a:prstGeom>
          <a:solidFill>
            <a:srgbClr val="1C6091"/>
          </a:solidFill>
          <a:ln>
            <a:noFill/>
          </a:ln>
          <a:effectLst/>
        </p:spPr>
        <p:txBody>
          <a:bodyPr rtlCol="0" anchor="ctr"/>
          <a:lstStyle/>
          <a:p>
            <a:pPr algn="ctr"/>
          </a:p>
        </p:txBody>
      </p:sp>
      <p:sp>
        <p:nvSpPr>
          <p:cNvPr id="5" name="Rounded Rectangle 4"/>
          <p:cNvSpPr/>
          <p:nvPr/>
        </p:nvSpPr>
        <p:spPr>
          <a:xfrm>
            <a:off x="3564434" y="1625600"/>
            <a:ext cx="1227733"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6" name="Rounded Rectangle 5"/>
          <p:cNvSpPr/>
          <p:nvPr/>
        </p:nvSpPr>
        <p:spPr>
          <a:xfrm>
            <a:off x="4842966" y="1625600"/>
            <a:ext cx="1227634"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7" name="Rounded Rectangle 6"/>
          <p:cNvSpPr/>
          <p:nvPr/>
        </p:nvSpPr>
        <p:spPr>
          <a:xfrm>
            <a:off x="6121400" y="1625600"/>
            <a:ext cx="1227733"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8" name="Rounded Rectangle 7"/>
          <p:cNvSpPr/>
          <p:nvPr/>
        </p:nvSpPr>
        <p:spPr>
          <a:xfrm>
            <a:off x="7399933" y="1625600"/>
            <a:ext cx="1227634" cy="152400"/>
          </a:xfrm>
          <a:prstGeom prst="roundRect">
            <a:avLst>
              <a:gd name="adj" fmla="val 16666"/>
            </a:avLst>
          </a:prstGeom>
          <a:solidFill>
            <a:srgbClr val="1C6091">
              <a:alpha val="15000"/>
            </a:srgbClr>
          </a:solidFill>
          <a:ln>
            <a:noFill/>
          </a:ln>
          <a:effectLst/>
        </p:spPr>
        <p:txBody>
          <a:bodyPr rtlCol="0" anchor="ctr"/>
          <a:lstStyle/>
          <a:p>
            <a:pPr algn="ctr"/>
          </a:p>
        </p:txBody>
      </p:sp>
      <p:sp>
        <p:nvSpPr>
          <p:cNvPr id="9" name="Rounded Rectangle 8"/>
          <p:cNvSpPr/>
          <p:nvPr/>
        </p:nvSpPr>
        <p:spPr>
          <a:xfrm>
            <a:off x="8678366" y="1625600"/>
            <a:ext cx="1227634" cy="152400"/>
          </a:xfrm>
          <a:prstGeom prst="roundRect">
            <a:avLst>
              <a:gd name="adj" fmla="val 16666"/>
            </a:avLst>
          </a:prstGeom>
          <a:solidFill>
            <a:srgbClr val="1C6091">
              <a:alpha val="15000"/>
            </a:srgbClr>
          </a:solidFill>
          <a:ln>
            <a:noFill/>
          </a:ln>
          <a:effectLst/>
        </p:spPr>
        <p:txBody>
          <a:bodyPr rtlCol="0" anchor="ctr"/>
          <a:lstStyle/>
          <a:p>
            <a:pPr algn="ctr"/>
          </a:p>
        </p:txBody>
      </p:sp>
      <p:pic>
        <p:nvPicPr>
          <p:cNvPr id="10" name="Picture 9" descr="85081c4c91036e0b.jpg"/>
          <p:cNvPicPr>
            <a:picLocks noChangeAspect="1"/>
          </p:cNvPicPr>
          <p:nvPr/>
        </p:nvPicPr>
        <p:blipFill>
          <a:blip r:embed="rId3"/>
          <a:stretch>
            <a:fillRect/>
          </a:stretch>
        </p:blipFill>
        <p:spPr>
          <a:xfrm>
            <a:off x="3238500" y="3327400"/>
            <a:ext cx="5715000" cy="2921000"/>
          </a:xfrm>
          <a:prstGeom prst="rect">
            <a:avLst/>
          </a:prstGeom>
        </p:spPr>
      </p:pic>
      <p:pic>
        <p:nvPicPr>
          <p:cNvPr id="11" name="Picture 10" descr="afe985a3e9b404e2.jpg"/>
          <p:cNvPicPr>
            <a:picLocks noChangeAspect="1"/>
          </p:cNvPicPr>
          <p:nvPr/>
        </p:nvPicPr>
        <p:blipFill>
          <a:blip r:embed="rId4"/>
          <a:stretch>
            <a:fillRect/>
          </a:stretch>
        </p:blipFill>
        <p:spPr>
          <a:xfrm>
            <a:off x="8115300" y="2692400"/>
            <a:ext cx="2413000" cy="3556000"/>
          </a:xfrm>
          <a:prstGeom prst="rect">
            <a:avLst/>
          </a:prstGeom>
        </p:spPr>
      </p:pic>
      <p:sp>
        <p:nvSpPr>
          <p:cNvPr id="12" name="Rounded Rectangle 11"/>
          <p:cNvSpPr/>
          <p:nvPr/>
        </p:nvSpPr>
        <p:spPr>
          <a:xfrm>
            <a:off x="4507449" y="4202971"/>
            <a:ext cx="992703" cy="674558"/>
          </a:xfrm>
          <a:prstGeom prst="roundRect">
            <a:avLst>
              <a:gd name="adj" fmla="val 3765"/>
            </a:avLst>
          </a:prstGeom>
          <a:solidFill>
            <a:srgbClr val="E1CFC6"/>
          </a:solidFill>
          <a:ln w="19050">
            <a:solidFill>
              <a:srgbClr val="B35510"/>
            </a:solidFill>
          </a:ln>
          <a:effectLst/>
        </p:spPr>
        <p:txBody>
          <a:bodyPr rtlCol="0" anchor="ctr"/>
          <a:lstStyle/>
          <a:p>
            <a:pPr algn="ctr"/>
          </a:p>
        </p:txBody>
      </p:sp>
      <p:sp>
        <p:nvSpPr>
          <p:cNvPr id="13" name="Rectangle 12"/>
          <p:cNvSpPr/>
          <p:nvPr/>
        </p:nvSpPr>
        <p:spPr>
          <a:xfrm>
            <a:off x="4526499" y="4370551"/>
            <a:ext cx="914400" cy="19050"/>
          </a:xfrm>
          <a:prstGeom prst="rect">
            <a:avLst/>
          </a:prstGeom>
          <a:noFill/>
          <a:ln>
            <a:noFill/>
          </a:ln>
          <a:effectLst/>
        </p:spPr>
        <p:txBody>
          <a:bodyPr rtlCol="0" anchor="ctr"/>
          <a:lstStyle/>
          <a:p>
            <a:pPr algn="ctr"/>
          </a:p>
        </p:txBody>
      </p:sp>
      <p:sp>
        <p:nvSpPr>
          <p:cNvPr id="14" name="Rectangle 13"/>
          <p:cNvSpPr/>
          <p:nvPr/>
        </p:nvSpPr>
        <p:spPr>
          <a:xfrm>
            <a:off x="4526499" y="4370551"/>
            <a:ext cx="914400" cy="19050"/>
          </a:xfrm>
          <a:prstGeom prst="rect">
            <a:avLst/>
          </a:prstGeom>
          <a:solidFill>
            <a:srgbClr val="B35510">
              <a:alpha val="40000"/>
            </a:srgbClr>
          </a:solidFill>
          <a:ln>
            <a:noFill/>
          </a:ln>
          <a:effectLst/>
        </p:spPr>
        <p:txBody>
          <a:bodyPr rtlCol="0" anchor="ctr"/>
          <a:lstStyle/>
          <a:p>
            <a:pPr algn="ctr"/>
          </a:p>
        </p:txBody>
      </p:sp>
      <p:sp>
        <p:nvSpPr>
          <p:cNvPr id="15" name="TextBox 14"/>
          <p:cNvSpPr txBox="1"/>
          <p:nvPr/>
        </p:nvSpPr>
        <p:spPr>
          <a:xfrm>
            <a:off x="4526499" y="4427872"/>
            <a:ext cx="954603" cy="218428"/>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visa</a:t>
            </a:r>
          </a:p>
        </p:txBody>
      </p:sp>
      <p:sp>
        <p:nvSpPr>
          <p:cNvPr id="16" name="Rounded Rectangle 15"/>
          <p:cNvSpPr/>
          <p:nvPr/>
        </p:nvSpPr>
        <p:spPr>
          <a:xfrm>
            <a:off x="5533425" y="4250722"/>
            <a:ext cx="1703000" cy="667956"/>
          </a:xfrm>
          <a:prstGeom prst="roundRect">
            <a:avLst>
              <a:gd name="adj" fmla="val 3802"/>
            </a:avLst>
          </a:prstGeom>
          <a:solidFill>
            <a:srgbClr val="E1CFC6"/>
          </a:solidFill>
          <a:ln w="19050">
            <a:solidFill>
              <a:srgbClr val="B35510"/>
            </a:solidFill>
          </a:ln>
          <a:effectLst/>
        </p:spPr>
        <p:txBody>
          <a:bodyPr rtlCol="0" anchor="ctr"/>
          <a:lstStyle/>
          <a:p>
            <a:pPr algn="ctr"/>
          </a:p>
        </p:txBody>
      </p:sp>
      <p:sp>
        <p:nvSpPr>
          <p:cNvPr id="17" name="Rectangle 16"/>
          <p:cNvSpPr/>
          <p:nvPr/>
        </p:nvSpPr>
        <p:spPr>
          <a:xfrm>
            <a:off x="5552475" y="4418302"/>
            <a:ext cx="1644650" cy="19050"/>
          </a:xfrm>
          <a:prstGeom prst="rect">
            <a:avLst/>
          </a:prstGeom>
          <a:noFill/>
          <a:ln>
            <a:noFill/>
          </a:ln>
          <a:effectLst/>
        </p:spPr>
        <p:txBody>
          <a:bodyPr rtlCol="0" anchor="ctr"/>
          <a:lstStyle/>
          <a:p>
            <a:pPr algn="ctr"/>
          </a:p>
        </p:txBody>
      </p:sp>
      <p:sp>
        <p:nvSpPr>
          <p:cNvPr id="18" name="Rectangle 17"/>
          <p:cNvSpPr/>
          <p:nvPr/>
        </p:nvSpPr>
        <p:spPr>
          <a:xfrm>
            <a:off x="5552475" y="4418302"/>
            <a:ext cx="1644650" cy="19050"/>
          </a:xfrm>
          <a:prstGeom prst="rect">
            <a:avLst/>
          </a:prstGeom>
          <a:solidFill>
            <a:srgbClr val="B35510">
              <a:alpha val="40000"/>
            </a:srgbClr>
          </a:solidFill>
          <a:ln>
            <a:noFill/>
          </a:ln>
          <a:effectLst/>
        </p:spPr>
        <p:txBody>
          <a:bodyPr rtlCol="0" anchor="ctr"/>
          <a:lstStyle/>
          <a:p>
            <a:pPr algn="ctr"/>
          </a:p>
        </p:txBody>
      </p:sp>
      <p:sp>
        <p:nvSpPr>
          <p:cNvPr id="19" name="TextBox 18"/>
          <p:cNvSpPr txBox="1"/>
          <p:nvPr/>
        </p:nvSpPr>
        <p:spPr>
          <a:xfrm>
            <a:off x="5552475" y="4464702"/>
            <a:ext cx="1664900" cy="233646"/>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student loans</a:t>
            </a:r>
          </a:p>
        </p:txBody>
      </p:sp>
      <p:sp>
        <p:nvSpPr>
          <p:cNvPr id="20" name="Rounded Rectangle 19"/>
          <p:cNvSpPr/>
          <p:nvPr/>
        </p:nvSpPr>
        <p:spPr>
          <a:xfrm>
            <a:off x="4693720" y="3550417"/>
            <a:ext cx="1223410" cy="709667"/>
          </a:xfrm>
          <a:prstGeom prst="roundRect">
            <a:avLst>
              <a:gd name="adj" fmla="val 3579"/>
            </a:avLst>
          </a:prstGeom>
          <a:solidFill>
            <a:srgbClr val="E1CFC6"/>
          </a:solidFill>
          <a:ln w="19050">
            <a:solidFill>
              <a:srgbClr val="B35510"/>
            </a:solidFill>
          </a:ln>
          <a:effectLst/>
        </p:spPr>
        <p:txBody>
          <a:bodyPr rtlCol="0" anchor="ctr"/>
          <a:lstStyle/>
          <a:p>
            <a:pPr algn="ctr"/>
          </a:p>
        </p:txBody>
      </p:sp>
      <p:sp>
        <p:nvSpPr>
          <p:cNvPr id="21" name="Rectangle 20"/>
          <p:cNvSpPr/>
          <p:nvPr/>
        </p:nvSpPr>
        <p:spPr>
          <a:xfrm>
            <a:off x="4712770" y="3717997"/>
            <a:ext cx="1136650" cy="19050"/>
          </a:xfrm>
          <a:prstGeom prst="rect">
            <a:avLst/>
          </a:prstGeom>
          <a:noFill/>
          <a:ln>
            <a:noFill/>
          </a:ln>
          <a:effectLst/>
        </p:spPr>
        <p:txBody>
          <a:bodyPr rtlCol="0" anchor="ctr"/>
          <a:lstStyle/>
          <a:p>
            <a:pPr algn="ctr"/>
          </a:p>
        </p:txBody>
      </p:sp>
      <p:sp>
        <p:nvSpPr>
          <p:cNvPr id="22" name="Rectangle 21"/>
          <p:cNvSpPr/>
          <p:nvPr/>
        </p:nvSpPr>
        <p:spPr>
          <a:xfrm>
            <a:off x="4712770" y="3717997"/>
            <a:ext cx="1136650" cy="19050"/>
          </a:xfrm>
          <a:prstGeom prst="rect">
            <a:avLst/>
          </a:prstGeom>
          <a:solidFill>
            <a:srgbClr val="B35510">
              <a:alpha val="40000"/>
            </a:srgbClr>
          </a:solidFill>
          <a:ln>
            <a:noFill/>
          </a:ln>
          <a:effectLst/>
        </p:spPr>
        <p:txBody>
          <a:bodyPr rtlCol="0" anchor="ctr"/>
          <a:lstStyle/>
          <a:p>
            <a:pPr algn="ctr"/>
          </a:p>
        </p:txBody>
      </p:sp>
      <p:sp>
        <p:nvSpPr>
          <p:cNvPr id="23" name="TextBox 22"/>
          <p:cNvSpPr txBox="1"/>
          <p:nvPr/>
        </p:nvSpPr>
        <p:spPr>
          <a:xfrm>
            <a:off x="4712770" y="3783802"/>
            <a:ext cx="1185310" cy="236571"/>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family</a:t>
            </a:r>
          </a:p>
        </p:txBody>
      </p:sp>
      <p:sp>
        <p:nvSpPr>
          <p:cNvPr id="24" name="Rounded Rectangle 23"/>
          <p:cNvSpPr/>
          <p:nvPr/>
        </p:nvSpPr>
        <p:spPr>
          <a:xfrm>
            <a:off x="5928266" y="3484657"/>
            <a:ext cx="1453068" cy="752287"/>
          </a:xfrm>
          <a:prstGeom prst="roundRect">
            <a:avLst>
              <a:gd name="adj" fmla="val 3376"/>
            </a:avLst>
          </a:prstGeom>
          <a:solidFill>
            <a:srgbClr val="E1CFC6"/>
          </a:solidFill>
          <a:ln w="19050">
            <a:solidFill>
              <a:srgbClr val="B35510"/>
            </a:solidFill>
          </a:ln>
          <a:effectLst/>
        </p:spPr>
        <p:txBody>
          <a:bodyPr rtlCol="0" anchor="ctr"/>
          <a:lstStyle/>
          <a:p>
            <a:pPr algn="ctr"/>
          </a:p>
        </p:txBody>
      </p:sp>
      <p:sp>
        <p:nvSpPr>
          <p:cNvPr id="25" name="Rectangle 24"/>
          <p:cNvSpPr/>
          <p:nvPr/>
        </p:nvSpPr>
        <p:spPr>
          <a:xfrm>
            <a:off x="5947316" y="3652237"/>
            <a:ext cx="1358900" cy="19050"/>
          </a:xfrm>
          <a:prstGeom prst="rect">
            <a:avLst/>
          </a:prstGeom>
          <a:noFill/>
          <a:ln>
            <a:noFill/>
          </a:ln>
          <a:effectLst/>
        </p:spPr>
        <p:txBody>
          <a:bodyPr rtlCol="0" anchor="ctr"/>
          <a:lstStyle/>
          <a:p>
            <a:pPr algn="ctr"/>
          </a:p>
        </p:txBody>
      </p:sp>
      <p:sp>
        <p:nvSpPr>
          <p:cNvPr id="26" name="Rectangle 25"/>
          <p:cNvSpPr/>
          <p:nvPr/>
        </p:nvSpPr>
        <p:spPr>
          <a:xfrm>
            <a:off x="5947316" y="3652237"/>
            <a:ext cx="1358900" cy="19050"/>
          </a:xfrm>
          <a:prstGeom prst="rect">
            <a:avLst/>
          </a:prstGeom>
          <a:solidFill>
            <a:srgbClr val="B35510">
              <a:alpha val="40000"/>
            </a:srgbClr>
          </a:solidFill>
          <a:ln>
            <a:noFill/>
          </a:ln>
          <a:effectLst/>
        </p:spPr>
        <p:txBody>
          <a:bodyPr rtlCol="0" anchor="ctr"/>
          <a:lstStyle/>
          <a:p>
            <a:pPr algn="ctr"/>
          </a:p>
        </p:txBody>
      </p:sp>
      <p:sp>
        <p:nvSpPr>
          <p:cNvPr id="27" name="TextBox 26"/>
          <p:cNvSpPr txBox="1"/>
          <p:nvPr/>
        </p:nvSpPr>
        <p:spPr>
          <a:xfrm>
            <a:off x="5947316" y="3720502"/>
            <a:ext cx="1414968" cy="274292"/>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mortgage</a:t>
            </a:r>
          </a:p>
        </p:txBody>
      </p:sp>
      <p:sp>
        <p:nvSpPr>
          <p:cNvPr id="28" name="Rounded Rectangle 27"/>
          <p:cNvSpPr/>
          <p:nvPr/>
        </p:nvSpPr>
        <p:spPr>
          <a:xfrm>
            <a:off x="5179436" y="2879876"/>
            <a:ext cx="1617228" cy="691848"/>
          </a:xfrm>
          <a:prstGeom prst="roundRect">
            <a:avLst>
              <a:gd name="adj" fmla="val 3671"/>
            </a:avLst>
          </a:prstGeom>
          <a:solidFill>
            <a:srgbClr val="E1CFC6"/>
          </a:solidFill>
          <a:ln w="19050">
            <a:solidFill>
              <a:srgbClr val="B35510"/>
            </a:solidFill>
          </a:ln>
          <a:effectLst/>
        </p:spPr>
        <p:txBody>
          <a:bodyPr rtlCol="0" anchor="ctr"/>
          <a:lstStyle/>
          <a:p>
            <a:pPr algn="ctr"/>
          </a:p>
        </p:txBody>
      </p:sp>
      <p:sp>
        <p:nvSpPr>
          <p:cNvPr id="29" name="Rectangle 28"/>
          <p:cNvSpPr/>
          <p:nvPr/>
        </p:nvSpPr>
        <p:spPr>
          <a:xfrm>
            <a:off x="5198486" y="3047456"/>
            <a:ext cx="1549400" cy="19050"/>
          </a:xfrm>
          <a:prstGeom prst="rect">
            <a:avLst/>
          </a:prstGeom>
          <a:noFill/>
          <a:ln>
            <a:noFill/>
          </a:ln>
          <a:effectLst/>
        </p:spPr>
        <p:txBody>
          <a:bodyPr rtlCol="0" anchor="ctr"/>
          <a:lstStyle/>
          <a:p>
            <a:pPr algn="ctr"/>
          </a:p>
        </p:txBody>
      </p:sp>
      <p:sp>
        <p:nvSpPr>
          <p:cNvPr id="30" name="Rectangle 29"/>
          <p:cNvSpPr/>
          <p:nvPr/>
        </p:nvSpPr>
        <p:spPr>
          <a:xfrm>
            <a:off x="5198486" y="3047456"/>
            <a:ext cx="1549400" cy="19050"/>
          </a:xfrm>
          <a:prstGeom prst="rect">
            <a:avLst/>
          </a:prstGeom>
          <a:solidFill>
            <a:srgbClr val="B35510">
              <a:alpha val="40000"/>
            </a:srgbClr>
          </a:solidFill>
          <a:ln>
            <a:noFill/>
          </a:ln>
          <a:effectLst/>
        </p:spPr>
        <p:txBody>
          <a:bodyPr rtlCol="0" anchor="ctr"/>
          <a:lstStyle/>
          <a:p>
            <a:pPr algn="ctr"/>
          </a:p>
        </p:txBody>
      </p:sp>
      <p:sp>
        <p:nvSpPr>
          <p:cNvPr id="31" name="TextBox 30"/>
          <p:cNvSpPr txBox="1"/>
          <p:nvPr/>
        </p:nvSpPr>
        <p:spPr>
          <a:xfrm>
            <a:off x="5198486" y="3098215"/>
            <a:ext cx="1579128" cy="248829"/>
          </a:xfrm>
          <a:prstGeom prst="rect">
            <a:avLst/>
          </a:prstGeom>
          <a:noFill/>
        </p:spPr>
        <p:txBody>
          <a:bodyPr wrap="none" lIns="0" rIns="0" tIns="0" bIns="0" anchor="ctr">
            <a:noAutofit/>
          </a:bodyPr>
          <a:lstStyle/>
          <a:p>
            <a:pPr algn="ctr">
              <a:lnSpc>
                <a:spcPts val="1680"/>
              </a:lnSpc>
            </a:pPr>
            <a:r>
              <a:rPr sz="1400" b="0" i="0">
                <a:solidFill>
                  <a:srgbClr val="2C1A1F"/>
                </a:solidFill>
                <a:latin typeface="Verdana"/>
              </a:rPr>
              <a:t>expectations</a:t>
            </a:r>
          </a:p>
        </p:txBody>
      </p:sp>
      <p:sp>
        <p:nvSpPr>
          <p:cNvPr id="32" name="TextBox 31"/>
          <p:cNvSpPr txBox="1"/>
          <p:nvPr/>
        </p:nvSpPr>
        <p:spPr>
          <a:xfrm>
            <a:off x="812800" y="2260600"/>
            <a:ext cx="10566400" cy="426720"/>
          </a:xfrm>
          <a:prstGeom prst="rect">
            <a:avLst/>
          </a:prstGeom>
          <a:noFill/>
        </p:spPr>
        <p:txBody>
          <a:bodyPr wrap="none" lIns="0" rIns="0" tIns="0" bIns="0" anchor="ctr">
            <a:noAutofit/>
          </a:bodyPr>
          <a:lstStyle/>
          <a:p>
            <a:pPr algn="ctr">
              <a:lnSpc>
                <a:spcPts val="3500"/>
              </a:lnSpc>
            </a:pPr>
            <a:r>
              <a:rPr sz="2800" b="0" i="0">
                <a:solidFill>
                  <a:srgbClr val="861F41"/>
                </a:solidFill>
                <a:latin typeface="Georgia"/>
              </a:rPr>
              <a:t>Everyone has different levels of agency. But everyone has some agency.</a:t>
            </a:r>
          </a:p>
        </p:txBody>
      </p:sp>
      <p:pic>
        <p:nvPicPr>
          <p:cNvPr id="33" name="Picture 32" descr="a32f6f3f05fcadc0.jpg"/>
          <p:cNvPicPr>
            <a:picLocks noChangeAspect="1"/>
          </p:cNvPicPr>
          <p:nvPr/>
        </p:nvPicPr>
        <p:blipFill>
          <a:blip r:embed="rId5"/>
          <a:stretch>
            <a:fillRect/>
          </a:stretch>
        </p:blipFill>
        <p:spPr>
          <a:xfrm>
            <a:off x="9105900" y="3479800"/>
            <a:ext cx="685800" cy="584200"/>
          </a:xfrm>
          <a:prstGeom prst="rect">
            <a:avLst/>
          </a:prstGeom>
        </p:spPr>
      </p:pic>
      <p:sp>
        <p:nvSpPr>
          <p:cNvPr id="34" name="Rounded Rectangle 33"/>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35" name="TextBox 34"/>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26 / 28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3f41fa361cae9518.jpg"/>
          <p:cNvPicPr>
            <a:picLocks noChangeAspect="1"/>
          </p:cNvPicPr>
          <p:nvPr/>
        </p:nvPicPr>
        <p:blipFill>
          <a:blip r:embed="rId2"/>
          <a:stretch>
            <a:fillRect/>
          </a:stretch>
        </p:blipFill>
        <p:spPr>
          <a:xfrm>
            <a:off x="0" y="0"/>
            <a:ext cx="457200" cy="6858000"/>
          </a:xfrm>
          <a:prstGeom prst="rect">
            <a:avLst/>
          </a:prstGeom>
        </p:spPr>
      </p:pic>
      <p:sp>
        <p:nvSpPr>
          <p:cNvPr id="3" name="TextBox 2"/>
          <p:cNvSpPr txBox="1"/>
          <p:nvPr/>
        </p:nvSpPr>
        <p:spPr>
          <a:xfrm>
            <a:off x="812800" y="2306340"/>
            <a:ext cx="10591800" cy="1644650"/>
          </a:xfrm>
          <a:prstGeom prst="rect">
            <a:avLst/>
          </a:prstGeom>
          <a:noFill/>
        </p:spPr>
        <p:txBody>
          <a:bodyPr wrap="square" lIns="0" rIns="0" tIns="0" bIns="0" anchor="ctr">
            <a:noAutofit/>
          </a:bodyPr>
          <a:lstStyle/>
          <a:p>
            <a:pPr algn="l">
              <a:lnSpc>
                <a:spcPts val="6300"/>
              </a:lnSpc>
            </a:pPr>
            <a:r>
              <a:rPr sz="6000" b="1" i="0" spc="-120">
                <a:solidFill>
                  <a:srgbClr val="861F41"/>
                </a:solidFill>
                <a:latin typeface="Georgia"/>
              </a:rPr>
              <a:t>Decide where to move</a:t>
            </a:r>
            <a:r>
              <a:rPr sz="6000" b="0" i="0" spc="-120">
                <a:solidFill>
                  <a:srgbClr val="2C1A1F"/>
                </a:solidFill>
                <a:latin typeface="Georgia"/>
              </a:rPr>
              <a:t> and </a:t>
            </a:r>
            <a:r>
              <a:rPr sz="6000" b="1" i="0" spc="-120">
                <a:solidFill>
                  <a:srgbClr val="861F41"/>
                </a:solidFill>
                <a:latin typeface="Georgia"/>
              </a:rPr>
              <a:t>get there thoughtfully</a:t>
            </a:r>
            <a:r>
              <a:rPr sz="6000" b="0" i="0" spc="-120">
                <a:solidFill>
                  <a:srgbClr val="2C1A1F"/>
                </a:solidFill>
                <a:latin typeface="Georgia"/>
              </a:rPr>
              <a:t>.</a:t>
            </a:r>
          </a:p>
        </p:txBody>
      </p:sp>
      <p:sp>
        <p:nvSpPr>
          <p:cNvPr id="4" name="TextBox 3"/>
          <p:cNvSpPr txBox="1"/>
          <p:nvPr/>
        </p:nvSpPr>
        <p:spPr>
          <a:xfrm>
            <a:off x="812800" y="4147840"/>
            <a:ext cx="10566400" cy="365760"/>
          </a:xfrm>
          <a:prstGeom prst="rect">
            <a:avLst/>
          </a:prstGeom>
          <a:noFill/>
        </p:spPr>
        <p:txBody>
          <a:bodyPr wrap="none" lIns="0" rIns="0" tIns="0" bIns="0" anchor="ctr">
            <a:noAutofit/>
          </a:bodyPr>
          <a:lstStyle/>
          <a:p>
            <a:pPr algn="l">
              <a:lnSpc>
                <a:spcPts val="3479"/>
              </a:lnSpc>
            </a:pPr>
            <a:r>
              <a:rPr sz="2400" b="0" i="0">
                <a:solidFill>
                  <a:srgbClr val="6B4A52"/>
                </a:solidFill>
                <a:latin typeface="Roboto Mono"/>
              </a:rPr>
              <a:t>— the same motto, rewritten</a:t>
            </a:r>
          </a:p>
        </p:txBody>
      </p:sp>
      <p:sp>
        <p:nvSpPr>
          <p:cNvPr id="5" name="Rounded Rectangle 4"/>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6" name="TextBox 5"/>
          <p:cNvSpPr txBox="1"/>
          <p:nvPr/>
        </p:nvSpPr>
        <p:spPr>
          <a:xfrm>
            <a:off x="11035705" y="6337300"/>
            <a:ext cx="699095" cy="274320"/>
          </a:xfrm>
          <a:prstGeom prst="rect">
            <a:avLst/>
          </a:prstGeom>
          <a:noFill/>
        </p:spPr>
        <p:txBody>
          <a:bodyPr wrap="none" lIns="0" rIns="0" tIns="0" bIns="0" anchor="ctr">
            <a:noAutofit/>
          </a:bodyPr>
          <a:lstStyle/>
          <a:p>
            <a:pPr algn="l">
              <a:lnSpc>
                <a:spcPts val="2160"/>
              </a:lnSpc>
            </a:pPr>
            <a:r>
              <a:rPr sz="1800" b="0" i="0">
                <a:solidFill>
                  <a:srgbClr val="6B4A52"/>
                </a:solidFill>
                <a:latin typeface="Verdana"/>
              </a:rPr>
              <a:t>27 / 28</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2F1ED"/>
        </a:solidFill>
        <a:effectLst/>
      </p:bgPr>
    </p:bg>
    <p:spTree>
      <p:nvGrpSpPr>
        <p:cNvPr id="1" name=""/>
        <p:cNvGrpSpPr/>
        <p:nvPr/>
      </p:nvGrpSpPr>
      <p:grpSpPr/>
      <p:pic>
        <p:nvPicPr>
          <p:cNvPr id="2" name="Picture 1" descr="430e7983f0677439.jpg"/>
          <p:cNvPicPr>
            <a:picLocks noChangeAspect="1"/>
          </p:cNvPicPr>
          <p:nvPr/>
        </p:nvPicPr>
        <p:blipFill>
          <a:blip r:embed="rId2"/>
          <a:stretch>
            <a:fillRect/>
          </a:stretch>
        </p:blipFill>
        <p:spPr>
          <a:xfrm>
            <a:off x="8255000" y="5016500"/>
            <a:ext cx="1905000" cy="1905000"/>
          </a:xfrm>
          <a:prstGeom prst="rect">
            <a:avLst/>
          </a:prstGeom>
        </p:spPr>
      </p:pic>
      <p:pic>
        <p:nvPicPr>
          <p:cNvPr id="3" name="Picture 2" descr="032a92bcfd56a163.jpg"/>
          <p:cNvPicPr>
            <a:picLocks noChangeAspect="1"/>
          </p:cNvPicPr>
          <p:nvPr/>
        </p:nvPicPr>
        <p:blipFill>
          <a:blip r:embed="rId3"/>
          <a:stretch>
            <a:fillRect/>
          </a:stretch>
        </p:blipFill>
        <p:spPr>
          <a:xfrm>
            <a:off x="0" y="4826000"/>
            <a:ext cx="12192000" cy="2032000"/>
          </a:xfrm>
          <a:prstGeom prst="rect">
            <a:avLst/>
          </a:prstGeom>
        </p:spPr>
      </p:pic>
      <p:sp>
        <p:nvSpPr>
          <p:cNvPr id="4" name="Rounded Rectangle 3"/>
          <p:cNvSpPr/>
          <p:nvPr/>
        </p:nvSpPr>
        <p:spPr>
          <a:xfrm>
            <a:off x="2678112" y="2774950"/>
            <a:ext cx="6835775" cy="1003300"/>
          </a:xfrm>
          <a:prstGeom prst="roundRect">
            <a:avLst>
              <a:gd name="adj" fmla="val 50000"/>
            </a:avLst>
          </a:prstGeom>
          <a:solidFill>
            <a:srgbClr val="F2F1ED"/>
          </a:solidFill>
          <a:ln>
            <a:noFill/>
          </a:ln>
          <a:effectLst/>
        </p:spPr>
        <p:txBody>
          <a:bodyPr rtlCol="0" anchor="ctr"/>
          <a:lstStyle/>
          <a:p>
            <a:pPr algn="ctr"/>
          </a:p>
        </p:txBody>
      </p:sp>
      <p:sp>
        <p:nvSpPr>
          <p:cNvPr id="5" name="TextBox 4"/>
          <p:cNvSpPr txBox="1"/>
          <p:nvPr/>
        </p:nvSpPr>
        <p:spPr>
          <a:xfrm>
            <a:off x="2982912" y="2851150"/>
            <a:ext cx="6226175" cy="914400"/>
          </a:xfrm>
          <a:prstGeom prst="rect">
            <a:avLst/>
          </a:prstGeom>
          <a:noFill/>
        </p:spPr>
        <p:txBody>
          <a:bodyPr wrap="none" lIns="0" rIns="0" tIns="0" bIns="0" anchor="ctr">
            <a:noAutofit/>
          </a:bodyPr>
          <a:lstStyle/>
          <a:p>
            <a:pPr algn="ctr">
              <a:lnSpc>
                <a:spcPts val="6300"/>
              </a:lnSpc>
            </a:pPr>
            <a:r>
              <a:rPr sz="6000" b="1" i="0" spc="-120">
                <a:solidFill>
                  <a:srgbClr val="861F41"/>
                </a:solidFill>
                <a:latin typeface="Georgia"/>
              </a:rPr>
              <a:t>Thanks! Questions?</a:t>
            </a:r>
          </a:p>
        </p:txBody>
      </p:sp>
      <p:sp>
        <p:nvSpPr>
          <p:cNvPr id="6" name="Rounded Rectangle 5"/>
          <p:cNvSpPr/>
          <p:nvPr/>
        </p:nvSpPr>
        <p:spPr>
          <a:xfrm>
            <a:off x="10883305" y="6286500"/>
            <a:ext cx="1003895" cy="368300"/>
          </a:xfrm>
          <a:prstGeom prst="roundRect">
            <a:avLst>
              <a:gd name="adj" fmla="val 50000"/>
            </a:avLst>
          </a:prstGeom>
          <a:solidFill>
            <a:srgbClr val="E9E3E4"/>
          </a:solidFill>
          <a:ln>
            <a:noFill/>
          </a:ln>
          <a:effectLst/>
        </p:spPr>
        <p:txBody>
          <a:bodyPr rtlCol="0" anchor="ctr"/>
          <a:lstStyle/>
          <a:p>
            <a:pPr algn="ctr"/>
          </a:p>
        </p:txBody>
      </p:sp>
      <p:sp>
        <p:nvSpPr>
          <p:cNvPr id="7" name="TextBox 6"/>
          <p:cNvSpPr txBox="1"/>
          <p:nvPr/>
        </p:nvSpPr>
        <p:spPr>
          <a:xfrm>
            <a:off x="11035705" y="6337300"/>
            <a:ext cx="699095" cy="274320"/>
          </a:xfrm>
          <a:prstGeom prst="rect">
            <a:avLst/>
          </a:prstGeom>
          <a:noFill/>
        </p:spPr>
        <p:txBody>
          <a:bodyPr wrap="none" lIns="0" rIns="0" tIns="0" bIns="0" anchor="ctr">
            <a:noAutofit/>
          </a:bodyPr>
          <a:lstStyle/>
          <a:p>
            <a:pPr algn="ctr">
              <a:lnSpc>
                <a:spcPts val="2160"/>
              </a:lnSpc>
            </a:pPr>
            <a:r>
              <a:rPr sz="1800" b="0" i="0">
                <a:solidFill>
                  <a:srgbClr val="6B4A52"/>
                </a:solidFill>
                <a:latin typeface="Verdana"/>
              </a:rPr>
              <a:t>28 / 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